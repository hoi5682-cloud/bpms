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4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5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6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7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32" r:id="rId5"/>
  </p:sldMasterIdLst>
  <p:notesMasterIdLst>
    <p:notesMasterId r:id="rId42"/>
  </p:notesMasterIdLst>
  <p:sldIdLst>
    <p:sldId id="277" r:id="rId6"/>
    <p:sldId id="281" r:id="rId7"/>
    <p:sldId id="1257" r:id="rId8"/>
    <p:sldId id="259" r:id="rId9"/>
    <p:sldId id="1258" r:id="rId10"/>
    <p:sldId id="263" r:id="rId11"/>
    <p:sldId id="256" r:id="rId12"/>
    <p:sldId id="257" r:id="rId13"/>
    <p:sldId id="258" r:id="rId14"/>
    <p:sldId id="260" r:id="rId15"/>
    <p:sldId id="1266" r:id="rId16"/>
    <p:sldId id="261" r:id="rId17"/>
    <p:sldId id="264" r:id="rId18"/>
    <p:sldId id="333" r:id="rId19"/>
    <p:sldId id="1273" r:id="rId20"/>
    <p:sldId id="1283" r:id="rId21"/>
    <p:sldId id="265" r:id="rId22"/>
    <p:sldId id="1276" r:id="rId23"/>
    <p:sldId id="1007" r:id="rId24"/>
    <p:sldId id="1289" r:id="rId25"/>
    <p:sldId id="1143" r:id="rId26"/>
    <p:sldId id="1096" r:id="rId27"/>
    <p:sldId id="512" r:id="rId28"/>
    <p:sldId id="302" r:id="rId29"/>
    <p:sldId id="266" r:id="rId30"/>
    <p:sldId id="262" r:id="rId31"/>
    <p:sldId id="2147483647" r:id="rId32"/>
    <p:sldId id="313" r:id="rId33"/>
    <p:sldId id="326" r:id="rId34"/>
    <p:sldId id="2146850900" r:id="rId35"/>
    <p:sldId id="2147479440" r:id="rId36"/>
    <p:sldId id="2147379941" r:id="rId37"/>
    <p:sldId id="311" r:id="rId38"/>
    <p:sldId id="319" r:id="rId39"/>
    <p:sldId id="607" r:id="rId40"/>
    <p:sldId id="609" r:id="rId4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83B4296-8FEC-471F-A297-3D6AA2CCC35C}">
          <p14:sldIdLst>
            <p14:sldId id="277"/>
            <p14:sldId id="281"/>
            <p14:sldId id="1257"/>
          </p14:sldIdLst>
        </p14:section>
        <p14:section name="タイトルなしのセクション" id="{458961AB-F8B3-4877-A255-DF73D5199827}">
          <p14:sldIdLst>
            <p14:sldId id="259"/>
            <p14:sldId id="1258"/>
            <p14:sldId id="263"/>
            <p14:sldId id="256"/>
            <p14:sldId id="257"/>
            <p14:sldId id="258"/>
            <p14:sldId id="260"/>
            <p14:sldId id="1266"/>
            <p14:sldId id="261"/>
          </p14:sldIdLst>
        </p14:section>
        <p14:section name="タイトルなしのセクション" id="{624AD516-C121-4330-8799-830CCBC521E7}">
          <p14:sldIdLst>
            <p14:sldId id="264"/>
            <p14:sldId id="333"/>
            <p14:sldId id="1273"/>
            <p14:sldId id="1283"/>
          </p14:sldIdLst>
        </p14:section>
        <p14:section name="タイトルなしのセクション" id="{09DD52C1-D5A3-42F6-B682-7A76CF36A1AB}">
          <p14:sldIdLst>
            <p14:sldId id="265"/>
            <p14:sldId id="1276"/>
            <p14:sldId id="1007"/>
            <p14:sldId id="1289"/>
            <p14:sldId id="1143"/>
            <p14:sldId id="1096"/>
            <p14:sldId id="512"/>
          </p14:sldIdLst>
        </p14:section>
        <p14:section name="タイトルなしのセクション" id="{A1DA4F7B-29C6-48FB-91C5-34F8AA50053C}">
          <p14:sldIdLst>
            <p14:sldId id="302"/>
            <p14:sldId id="266"/>
          </p14:sldIdLst>
        </p14:section>
        <p14:section name="タイトルなしのセクション" id="{7C01B7E7-2887-4B1D-8C58-E76111C1C89E}">
          <p14:sldIdLst>
            <p14:sldId id="262"/>
            <p14:sldId id="2147483647"/>
            <p14:sldId id="313"/>
            <p14:sldId id="326"/>
            <p14:sldId id="2146850900"/>
            <p14:sldId id="2147479440"/>
            <p14:sldId id="2147379941"/>
            <p14:sldId id="311"/>
            <p14:sldId id="319"/>
            <p14:sldId id="607"/>
            <p14:sldId id="6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538075-3FC7-D828-DCC5-01E296503406}" v="4" dt="2025-04-17T13:01:31.030"/>
    <p1510:client id="{46ED2C71-DF58-C105-0F45-2CF05506EA16}" v="8" dt="2025-04-17T12:48:55.566"/>
    <p1510:client id="{56299346-4EC0-5079-DCBC-81863822477F}" v="1" dt="2025-04-17T08:22:46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B03C3-0A86-4EC1-A750-7681CFB1856E}" type="datetimeFigureOut">
              <a:rPr kumimoji="1" lang="ja-JP" altLang="en-US" smtClean="0"/>
              <a:t>2025/4/18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1BE62-BC29-40C8-ACA9-0C93CF4558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8746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8BA1D-C711-49BA-9AF8-9EDF82793BF3}" type="slidenum">
              <a:rPr kumimoji="0" lang="en-US" altLang="ja-JP" sz="800" b="0" i="0" u="none" strike="noStrike" kern="1200" cap="none" spc="0" normalizeH="0" baseline="0" noProof="0" smtClean="0">
                <a:ln>
                  <a:noFill/>
                </a:ln>
                <a:solidFill>
                  <a:srgbClr val="4B4F5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4B4F54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6" name="スライド イメージ プレースホルダー 5"/>
          <p:cNvSpPr>
            <a:spLocks noGrp="1" noRot="1" noChangeAspect="1"/>
          </p:cNvSpPr>
          <p:nvPr>
            <p:ph type="sldImg"/>
          </p:nvPr>
        </p:nvSpPr>
        <p:spPr>
          <a:xfrm>
            <a:off x="684213" y="755650"/>
            <a:ext cx="5500687" cy="3095625"/>
          </a:xfrm>
        </p:spPr>
      </p:sp>
      <p:sp>
        <p:nvSpPr>
          <p:cNvPr id="7" name="ノート プレースホルダー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7815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4213" y="755650"/>
            <a:ext cx="5500687" cy="3095625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ja-JP" altLang="en-US" sz="1200">
                <a:solidFill>
                  <a:schemeClr val="tx1"/>
                </a:solidFill>
              </a:rPr>
              <a:t>ここに、新たに寿命管理を（特に校正をする手順）新たに行う現法に対して、寿命管理のやり方</a:t>
            </a:r>
            <a:r>
              <a:rPr lang="en-US" altLang="ja-JP" sz="1200">
                <a:solidFill>
                  <a:schemeClr val="tx1"/>
                </a:solidFill>
              </a:rPr>
              <a:t>/</a:t>
            </a:r>
            <a:r>
              <a:rPr lang="ja-JP" altLang="en-US" sz="1200">
                <a:solidFill>
                  <a:schemeClr val="tx1"/>
                </a:solidFill>
              </a:rPr>
              <a:t>手順</a:t>
            </a:r>
            <a:r>
              <a:rPr lang="en-US" altLang="ja-JP" sz="1200">
                <a:solidFill>
                  <a:schemeClr val="tx1"/>
                </a:solidFill>
              </a:rPr>
              <a:t>/</a:t>
            </a:r>
            <a:r>
              <a:rPr lang="ja-JP" altLang="en-US" sz="1200">
                <a:solidFill>
                  <a:schemeClr val="tx1"/>
                </a:solidFill>
              </a:rPr>
              <a:t>注意点についても伝えていく必要がある </a:t>
            </a:r>
            <a:r>
              <a:rPr lang="en-US" altLang="ja-JP" sz="1200">
                <a:solidFill>
                  <a:schemeClr val="tx1"/>
                </a:solidFill>
              </a:rPr>
              <a:t>(</a:t>
            </a:r>
            <a:r>
              <a:rPr lang="ja-JP" altLang="en-US" sz="1200">
                <a:solidFill>
                  <a:schemeClr val="tx1"/>
                </a:solidFill>
              </a:rPr>
              <a:t>今管理している手順書等をだれが持ってるのか調べる必要がある</a:t>
            </a:r>
            <a:r>
              <a:rPr lang="en-US" altLang="ja-JP" sz="1200">
                <a:solidFill>
                  <a:schemeClr val="tx1"/>
                </a:solidFill>
              </a:rPr>
              <a:t>)</a:t>
            </a:r>
          </a:p>
          <a:p>
            <a:pPr algn="l"/>
            <a:r>
              <a:rPr kumimoji="1" lang="ja-JP" altLang="en-US" sz="1200">
                <a:solidFill>
                  <a:schemeClr val="tx1"/>
                </a:solidFill>
              </a:rPr>
              <a:t>・・・</a:t>
            </a:r>
            <a:r>
              <a:rPr kumimoji="1" lang="en-US" altLang="ja-JP" sz="1200">
                <a:solidFill>
                  <a:schemeClr val="tx1"/>
                </a:solidFill>
              </a:rPr>
              <a:t>IS</a:t>
            </a:r>
            <a:r>
              <a:rPr kumimoji="1" lang="ja-JP" altLang="en-US" sz="1200">
                <a:solidFill>
                  <a:schemeClr val="tx1"/>
                </a:solidFill>
              </a:rPr>
              <a:t>山本さんエスカレーション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8BA1D-C711-49BA-9AF8-9EDF82793BF3}" type="slidenum">
              <a:rPr kumimoji="0" lang="en-US" altLang="ja-JP" sz="800" b="0" i="0" u="none" strike="noStrike" kern="1200" cap="none" spc="0" normalizeH="0" baseline="0" noProof="0" smtClean="0">
                <a:ln>
                  <a:noFill/>
                </a:ln>
                <a:solidFill>
                  <a:srgbClr val="4B4F5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ja-JP" altLang="en-US" sz="800" b="0" i="0" u="none" strike="noStrike" kern="1200" cap="none" spc="0" normalizeH="0" baseline="0" noProof="0">
              <a:ln>
                <a:noFill/>
              </a:ln>
              <a:solidFill>
                <a:srgbClr val="4B4F54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5442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4213" y="755650"/>
            <a:ext cx="5500687" cy="3095625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8BA1D-C711-49BA-9AF8-9EDF82793BF3}" type="slidenum">
              <a:rPr kumimoji="0" lang="en-US" altLang="ja-JP" sz="800" b="0" i="0" u="none" strike="noStrike" kern="1200" cap="none" spc="0" normalizeH="0" baseline="0" noProof="0" smtClean="0">
                <a:ln>
                  <a:noFill/>
                </a:ln>
                <a:solidFill>
                  <a:srgbClr val="4B4F5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4B4F54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4939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4213" y="755650"/>
            <a:ext cx="5500687" cy="3095625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8BA1D-C711-49BA-9AF8-9EDF82793BF3}" type="slidenum">
              <a:rPr kumimoji="0" lang="en-US" altLang="ja-JP" sz="800" b="0" i="0" u="none" strike="noStrike" kern="1200" cap="none" spc="0" normalizeH="0" baseline="0" noProof="0" smtClean="0">
                <a:ln>
                  <a:noFill/>
                </a:ln>
                <a:solidFill>
                  <a:srgbClr val="4B4F5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4B4F54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3238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4213" y="755650"/>
            <a:ext cx="5500687" cy="3095625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tx1"/>
                </a:solidFill>
              </a:rPr>
              <a:t>皆さまへの影響</a:t>
            </a:r>
            <a:endParaRPr kumimoji="1" lang="en-US" altLang="ja-JP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sz="1200">
                <a:solidFill>
                  <a:schemeClr val="tx1"/>
                </a:solidFill>
              </a:rPr>
              <a:t>パーツ</a:t>
            </a:r>
            <a:r>
              <a:rPr kumimoji="1" lang="en-US" altLang="ja-JP" sz="1200">
                <a:solidFill>
                  <a:schemeClr val="tx1"/>
                </a:solidFill>
              </a:rPr>
              <a:t>S/N</a:t>
            </a:r>
            <a:r>
              <a:rPr kumimoji="1" lang="ja-JP" altLang="en-US" sz="1200">
                <a:solidFill>
                  <a:schemeClr val="tx1"/>
                </a:solidFill>
              </a:rPr>
              <a:t>を記録したいです</a:t>
            </a:r>
            <a:br>
              <a:rPr kumimoji="1" lang="en-US" altLang="ja-JP" sz="1200">
                <a:solidFill>
                  <a:schemeClr val="tx1"/>
                </a:solidFill>
              </a:rPr>
            </a:br>
            <a:r>
              <a:rPr kumimoji="1" lang="en-US" altLang="ja-JP" sz="1200">
                <a:solidFill>
                  <a:schemeClr val="tx1"/>
                </a:solidFill>
              </a:rPr>
              <a:t>TML/TTS</a:t>
            </a:r>
            <a:r>
              <a:rPr kumimoji="1" lang="ja-JP" altLang="en-US" sz="1200">
                <a:solidFill>
                  <a:schemeClr val="tx1"/>
                </a:solidFill>
              </a:rPr>
              <a:t> </a:t>
            </a:r>
            <a:r>
              <a:rPr kumimoji="1" lang="en-US" altLang="ja-JP" sz="1200">
                <a:solidFill>
                  <a:schemeClr val="tx1"/>
                </a:solidFill>
              </a:rPr>
              <a:t>:</a:t>
            </a:r>
            <a:r>
              <a:rPr kumimoji="1" lang="ja-JP" altLang="en-US" sz="1200">
                <a:solidFill>
                  <a:schemeClr val="tx1"/>
                </a:solidFill>
              </a:rPr>
              <a:t> </a:t>
            </a:r>
            <a:r>
              <a:rPr kumimoji="1" lang="en-US" altLang="ja-JP" sz="1200">
                <a:solidFill>
                  <a:schemeClr val="tx1"/>
                </a:solidFill>
              </a:rPr>
              <a:t>MES</a:t>
            </a:r>
            <a:r>
              <a:rPr kumimoji="1" lang="ja-JP" altLang="en-US" sz="1200">
                <a:solidFill>
                  <a:schemeClr val="tx1"/>
                </a:solidFill>
              </a:rPr>
              <a:t>稼働後</a:t>
            </a:r>
            <a:r>
              <a:rPr kumimoji="1" lang="en-US" altLang="ja-JP" sz="1200">
                <a:solidFill>
                  <a:schemeClr val="tx1"/>
                </a:solidFill>
              </a:rPr>
              <a:t>MES</a:t>
            </a:r>
            <a:r>
              <a:rPr kumimoji="1" lang="ja-JP" altLang="en-US" sz="1200">
                <a:solidFill>
                  <a:schemeClr val="tx1"/>
                </a:solidFill>
              </a:rPr>
              <a:t>で記録してね</a:t>
            </a:r>
            <a:br>
              <a:rPr kumimoji="1" lang="en-US" altLang="ja-JP" sz="1200">
                <a:solidFill>
                  <a:schemeClr val="tx1"/>
                </a:solidFill>
              </a:rPr>
            </a:br>
            <a:r>
              <a:rPr kumimoji="1" lang="en-US" altLang="ja-JP" sz="1200">
                <a:solidFill>
                  <a:schemeClr val="tx1"/>
                </a:solidFill>
              </a:rPr>
              <a:t>TKL</a:t>
            </a:r>
            <a:r>
              <a:rPr kumimoji="1" lang="ja-JP" altLang="en-US" sz="1200">
                <a:solidFill>
                  <a:schemeClr val="tx1"/>
                </a:solidFill>
              </a:rPr>
              <a:t>：</a:t>
            </a:r>
            <a:r>
              <a:rPr kumimoji="1" lang="en-US" altLang="ja-JP" sz="1200">
                <a:solidFill>
                  <a:schemeClr val="tx1"/>
                </a:solidFill>
              </a:rPr>
              <a:t>PMS</a:t>
            </a:r>
            <a:r>
              <a:rPr kumimoji="1" lang="ja-JP" altLang="en-US" sz="1200">
                <a:solidFill>
                  <a:schemeClr val="tx1"/>
                </a:solidFill>
              </a:rPr>
              <a:t>で記録してね</a:t>
            </a:r>
            <a:endParaRPr kumimoji="1" lang="en-US" altLang="ja-JP" sz="120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sz="1200">
                <a:solidFill>
                  <a:schemeClr val="tx1"/>
                </a:solidFill>
              </a:rPr>
              <a:t>記録対象は品証指定です</a:t>
            </a:r>
            <a:br>
              <a:rPr kumimoji="1" lang="en-US" altLang="ja-JP" sz="1200">
                <a:solidFill>
                  <a:schemeClr val="tx1"/>
                </a:solidFill>
              </a:rPr>
            </a:br>
            <a:r>
              <a:rPr kumimoji="1" lang="ja-JP" altLang="en-US" sz="1200">
                <a:solidFill>
                  <a:schemeClr val="tx1"/>
                </a:solidFill>
              </a:rPr>
              <a:t>・記録対象を</a:t>
            </a:r>
            <a:r>
              <a:rPr kumimoji="1" lang="en-US" altLang="ja-JP" sz="1200">
                <a:solidFill>
                  <a:schemeClr val="tx1"/>
                </a:solidFill>
              </a:rPr>
              <a:t>SAP</a:t>
            </a:r>
            <a:r>
              <a:rPr kumimoji="1" lang="ja-JP" altLang="en-US" sz="1200">
                <a:solidFill>
                  <a:schemeClr val="tx1"/>
                </a:solidFill>
              </a:rPr>
              <a:t>品目マスタに登録</a:t>
            </a:r>
            <a:r>
              <a:rPr kumimoji="1" lang="en-US" altLang="ja-JP" sz="1200">
                <a:solidFill>
                  <a:schemeClr val="tx1"/>
                </a:solidFill>
              </a:rPr>
              <a:t>=&gt;</a:t>
            </a:r>
            <a:r>
              <a:rPr kumimoji="1" lang="ja-JP" altLang="en-US" sz="1200">
                <a:solidFill>
                  <a:schemeClr val="tx1"/>
                </a:solidFill>
              </a:rPr>
              <a:t>各システム連携</a:t>
            </a:r>
            <a:br>
              <a:rPr kumimoji="1" lang="en-US" altLang="ja-JP" sz="1200">
                <a:solidFill>
                  <a:schemeClr val="tx1"/>
                </a:solidFill>
              </a:rPr>
            </a:br>
            <a:r>
              <a:rPr kumimoji="1" lang="ja-JP" altLang="en-US" sz="1200">
                <a:solidFill>
                  <a:schemeClr val="tx1"/>
                </a:solidFill>
              </a:rPr>
              <a:t>・件数は基本変わりません、後ほど詳細を・・・</a:t>
            </a:r>
            <a:endParaRPr kumimoji="1" lang="en-US" altLang="ja-JP" sz="120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sz="1200">
                <a:solidFill>
                  <a:schemeClr val="tx1"/>
                </a:solidFill>
              </a:rPr>
              <a:t>トレサビフラグの精度向上</a:t>
            </a:r>
            <a:br>
              <a:rPr kumimoji="1" lang="en-US" altLang="ja-JP" sz="1200">
                <a:solidFill>
                  <a:schemeClr val="tx1"/>
                </a:solidFill>
              </a:rPr>
            </a:br>
            <a:r>
              <a:rPr kumimoji="1" lang="ja-JP" altLang="en-US" sz="1200">
                <a:solidFill>
                  <a:schemeClr val="tx1"/>
                </a:solidFill>
              </a:rPr>
              <a:t>・</a:t>
            </a:r>
            <a:r>
              <a:rPr kumimoji="1" lang="en-US" altLang="ja-JP" sz="1200">
                <a:solidFill>
                  <a:schemeClr val="tx1"/>
                </a:solidFill>
              </a:rPr>
              <a:t>S/N</a:t>
            </a:r>
            <a:r>
              <a:rPr kumimoji="1" lang="ja-JP" altLang="en-US" sz="1200">
                <a:solidFill>
                  <a:schemeClr val="tx1"/>
                </a:solidFill>
              </a:rPr>
              <a:t>刻印ない奴教えてね</a:t>
            </a:r>
            <a:endParaRPr kumimoji="1" lang="en-US" altLang="ja-JP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kumimoji="1" lang="en-US" altLang="ja-JP" sz="1200">
              <a:solidFill>
                <a:schemeClr val="tx1"/>
              </a:solidFill>
            </a:endParaRPr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8BA1D-C711-49BA-9AF8-9EDF82793BF3}" type="slidenum">
              <a:rPr kumimoji="0" lang="en-US" altLang="ja-JP" sz="800" b="0" i="0" u="none" strike="noStrike" kern="1200" cap="none" spc="0" normalizeH="0" baseline="0" noProof="0" smtClean="0">
                <a:ln>
                  <a:noFill/>
                </a:ln>
                <a:solidFill>
                  <a:srgbClr val="4B4F5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4B4F54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3164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4213" y="755650"/>
            <a:ext cx="5500687" cy="3095625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8BA1D-C711-49BA-9AF8-9EDF82793BF3}" type="slidenum">
              <a:rPr kumimoji="0" lang="en-US" altLang="ja-JP" sz="800" b="0" i="0" u="none" strike="noStrike" kern="1200" cap="none" spc="0" normalizeH="0" baseline="0" noProof="0" smtClean="0">
                <a:ln>
                  <a:noFill/>
                </a:ln>
                <a:solidFill>
                  <a:srgbClr val="4B4F5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4B4F54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9122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4213" y="755650"/>
            <a:ext cx="5500687" cy="3095625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tx1"/>
                </a:solidFill>
              </a:rPr>
              <a:t>皆さまへの影響</a:t>
            </a:r>
            <a:endParaRPr kumimoji="1" lang="en-US" altLang="ja-JP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sz="1200">
                <a:solidFill>
                  <a:schemeClr val="tx1"/>
                </a:solidFill>
              </a:rPr>
              <a:t>パーツ</a:t>
            </a:r>
            <a:r>
              <a:rPr kumimoji="1" lang="en-US" altLang="ja-JP" sz="1200">
                <a:solidFill>
                  <a:schemeClr val="tx1"/>
                </a:solidFill>
              </a:rPr>
              <a:t>S/N</a:t>
            </a:r>
            <a:r>
              <a:rPr kumimoji="1" lang="ja-JP" altLang="en-US" sz="1200">
                <a:solidFill>
                  <a:schemeClr val="tx1"/>
                </a:solidFill>
              </a:rPr>
              <a:t>を記録したいです</a:t>
            </a:r>
            <a:br>
              <a:rPr kumimoji="1" lang="en-US" altLang="ja-JP" sz="1200">
                <a:solidFill>
                  <a:schemeClr val="tx1"/>
                </a:solidFill>
              </a:rPr>
            </a:br>
            <a:r>
              <a:rPr kumimoji="1" lang="en-US" altLang="ja-JP" sz="1200">
                <a:solidFill>
                  <a:schemeClr val="tx1"/>
                </a:solidFill>
              </a:rPr>
              <a:t>TML/TTS</a:t>
            </a:r>
            <a:r>
              <a:rPr kumimoji="1" lang="ja-JP" altLang="en-US" sz="1200">
                <a:solidFill>
                  <a:schemeClr val="tx1"/>
                </a:solidFill>
              </a:rPr>
              <a:t> </a:t>
            </a:r>
            <a:r>
              <a:rPr kumimoji="1" lang="en-US" altLang="ja-JP" sz="1200">
                <a:solidFill>
                  <a:schemeClr val="tx1"/>
                </a:solidFill>
              </a:rPr>
              <a:t>:</a:t>
            </a:r>
            <a:r>
              <a:rPr kumimoji="1" lang="ja-JP" altLang="en-US" sz="1200">
                <a:solidFill>
                  <a:schemeClr val="tx1"/>
                </a:solidFill>
              </a:rPr>
              <a:t> </a:t>
            </a:r>
            <a:r>
              <a:rPr kumimoji="1" lang="en-US" altLang="ja-JP" sz="1200">
                <a:solidFill>
                  <a:schemeClr val="tx1"/>
                </a:solidFill>
              </a:rPr>
              <a:t>MES</a:t>
            </a:r>
            <a:r>
              <a:rPr kumimoji="1" lang="ja-JP" altLang="en-US" sz="1200">
                <a:solidFill>
                  <a:schemeClr val="tx1"/>
                </a:solidFill>
              </a:rPr>
              <a:t>稼働後</a:t>
            </a:r>
            <a:r>
              <a:rPr kumimoji="1" lang="en-US" altLang="ja-JP" sz="1200">
                <a:solidFill>
                  <a:schemeClr val="tx1"/>
                </a:solidFill>
              </a:rPr>
              <a:t>MES</a:t>
            </a:r>
            <a:r>
              <a:rPr kumimoji="1" lang="ja-JP" altLang="en-US" sz="1200">
                <a:solidFill>
                  <a:schemeClr val="tx1"/>
                </a:solidFill>
              </a:rPr>
              <a:t>で記録してね</a:t>
            </a:r>
            <a:br>
              <a:rPr kumimoji="1" lang="en-US" altLang="ja-JP" sz="1200">
                <a:solidFill>
                  <a:schemeClr val="tx1"/>
                </a:solidFill>
              </a:rPr>
            </a:br>
            <a:r>
              <a:rPr kumimoji="1" lang="en-US" altLang="ja-JP" sz="1200">
                <a:solidFill>
                  <a:schemeClr val="tx1"/>
                </a:solidFill>
              </a:rPr>
              <a:t>TKL</a:t>
            </a:r>
            <a:r>
              <a:rPr kumimoji="1" lang="ja-JP" altLang="en-US" sz="1200">
                <a:solidFill>
                  <a:schemeClr val="tx1"/>
                </a:solidFill>
              </a:rPr>
              <a:t>：</a:t>
            </a:r>
            <a:r>
              <a:rPr kumimoji="1" lang="en-US" altLang="ja-JP" sz="1200">
                <a:solidFill>
                  <a:schemeClr val="tx1"/>
                </a:solidFill>
              </a:rPr>
              <a:t>PMS</a:t>
            </a:r>
            <a:r>
              <a:rPr kumimoji="1" lang="ja-JP" altLang="en-US" sz="1200">
                <a:solidFill>
                  <a:schemeClr val="tx1"/>
                </a:solidFill>
              </a:rPr>
              <a:t>で記録してね</a:t>
            </a:r>
            <a:endParaRPr kumimoji="1" lang="en-US" altLang="ja-JP" sz="120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sz="1200">
                <a:solidFill>
                  <a:schemeClr val="tx1"/>
                </a:solidFill>
              </a:rPr>
              <a:t>記録対象は品証指定です</a:t>
            </a:r>
            <a:br>
              <a:rPr kumimoji="1" lang="en-US" altLang="ja-JP" sz="1200">
                <a:solidFill>
                  <a:schemeClr val="tx1"/>
                </a:solidFill>
              </a:rPr>
            </a:br>
            <a:r>
              <a:rPr kumimoji="1" lang="ja-JP" altLang="en-US" sz="1200">
                <a:solidFill>
                  <a:schemeClr val="tx1"/>
                </a:solidFill>
              </a:rPr>
              <a:t>・記録対象を</a:t>
            </a:r>
            <a:r>
              <a:rPr kumimoji="1" lang="en-US" altLang="ja-JP" sz="1200">
                <a:solidFill>
                  <a:schemeClr val="tx1"/>
                </a:solidFill>
              </a:rPr>
              <a:t>SAP</a:t>
            </a:r>
            <a:r>
              <a:rPr kumimoji="1" lang="ja-JP" altLang="en-US" sz="1200">
                <a:solidFill>
                  <a:schemeClr val="tx1"/>
                </a:solidFill>
              </a:rPr>
              <a:t>品目マスタに登録</a:t>
            </a:r>
            <a:r>
              <a:rPr kumimoji="1" lang="en-US" altLang="ja-JP" sz="1200">
                <a:solidFill>
                  <a:schemeClr val="tx1"/>
                </a:solidFill>
              </a:rPr>
              <a:t>=&gt;</a:t>
            </a:r>
            <a:r>
              <a:rPr kumimoji="1" lang="ja-JP" altLang="en-US" sz="1200">
                <a:solidFill>
                  <a:schemeClr val="tx1"/>
                </a:solidFill>
              </a:rPr>
              <a:t>各システム連携</a:t>
            </a:r>
            <a:br>
              <a:rPr kumimoji="1" lang="en-US" altLang="ja-JP" sz="1200">
                <a:solidFill>
                  <a:schemeClr val="tx1"/>
                </a:solidFill>
              </a:rPr>
            </a:br>
            <a:r>
              <a:rPr kumimoji="1" lang="ja-JP" altLang="en-US" sz="1200">
                <a:solidFill>
                  <a:schemeClr val="tx1"/>
                </a:solidFill>
              </a:rPr>
              <a:t>・件数は基本変わりません、後ほど詳細を・・・</a:t>
            </a:r>
            <a:endParaRPr kumimoji="1" lang="en-US" altLang="ja-JP" sz="120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ja-JP" altLang="en-US" sz="1200">
                <a:solidFill>
                  <a:schemeClr val="tx1"/>
                </a:solidFill>
              </a:rPr>
              <a:t>トレサビフラグの精度向上</a:t>
            </a:r>
            <a:br>
              <a:rPr kumimoji="1" lang="en-US" altLang="ja-JP" sz="1200">
                <a:solidFill>
                  <a:schemeClr val="tx1"/>
                </a:solidFill>
              </a:rPr>
            </a:br>
            <a:r>
              <a:rPr kumimoji="1" lang="ja-JP" altLang="en-US" sz="1200">
                <a:solidFill>
                  <a:schemeClr val="tx1"/>
                </a:solidFill>
              </a:rPr>
              <a:t>・</a:t>
            </a:r>
            <a:r>
              <a:rPr kumimoji="1" lang="en-US" altLang="ja-JP" sz="1200">
                <a:solidFill>
                  <a:schemeClr val="tx1"/>
                </a:solidFill>
              </a:rPr>
              <a:t>S/N</a:t>
            </a:r>
            <a:r>
              <a:rPr kumimoji="1" lang="ja-JP" altLang="en-US" sz="1200">
                <a:solidFill>
                  <a:schemeClr val="tx1"/>
                </a:solidFill>
              </a:rPr>
              <a:t>刻印ない奴教えてね</a:t>
            </a:r>
            <a:endParaRPr kumimoji="1" lang="en-US" altLang="ja-JP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kumimoji="1" lang="en-US" altLang="ja-JP" sz="1200">
              <a:solidFill>
                <a:schemeClr val="tx1"/>
              </a:solidFill>
            </a:endParaRPr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8BA1D-C711-49BA-9AF8-9EDF82793BF3}" type="slidenum">
              <a:rPr kumimoji="0" lang="en-US" altLang="ja-JP" sz="800" b="0" i="0" u="none" strike="noStrike" kern="1200" cap="none" spc="0" normalizeH="0" baseline="0" noProof="0" smtClean="0">
                <a:ln>
                  <a:noFill/>
                </a:ln>
                <a:solidFill>
                  <a:srgbClr val="4B4F5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4B4F54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1030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21030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99858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5.emf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7.emf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4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5.emf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2035460-F578-4F98-993F-A0275E60A416}"/>
              </a:ext>
            </a:extLst>
          </p:cNvPr>
          <p:cNvSpPr/>
          <p:nvPr userDrawn="1"/>
        </p:nvSpPr>
        <p:spPr>
          <a:xfrm>
            <a:off x="-2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4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52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7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53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1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54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38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0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3232E91-13EE-41B3-8DD6-09C64D65F4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3" y="2057575"/>
            <a:ext cx="2646949" cy="2646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1D8DD6C-9F37-4344-A254-981E0917A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0" y="497641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966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EDAC7EB-BAC0-46B4-9BC3-267BE45716F4}"/>
              </a:ext>
            </a:extLst>
          </p:cNvPr>
          <p:cNvSpPr/>
          <p:nvPr userDrawn="1"/>
        </p:nvSpPr>
        <p:spPr>
          <a:xfrm>
            <a:off x="-2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44CE38B5-1270-44B9-A932-0AD29E2964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3" y="2057576"/>
            <a:ext cx="2646949" cy="2645998"/>
          </a:xfrm>
          <a:prstGeom prst="rect">
            <a:avLst/>
          </a:prstGeom>
        </p:spPr>
      </p:pic>
      <p:sp>
        <p:nvSpPr>
          <p:cNvPr id="30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4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1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7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1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38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4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0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A7D67631-153A-4C17-A934-65245FC3C9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0" y="497641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830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A9EFC8F-0973-4F3E-A0F8-E52308DB95B9}"/>
              </a:ext>
            </a:extLst>
          </p:cNvPr>
          <p:cNvSpPr/>
          <p:nvPr userDrawn="1"/>
        </p:nvSpPr>
        <p:spPr>
          <a:xfrm>
            <a:off x="-2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15E8D220-BBBA-41D5-A557-7823E0DD74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3" y="2057576"/>
            <a:ext cx="2646948" cy="2645998"/>
          </a:xfrm>
          <a:prstGeom prst="rect">
            <a:avLst/>
          </a:prstGeom>
        </p:spPr>
      </p:pic>
      <p:sp>
        <p:nvSpPr>
          <p:cNvPr id="30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4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1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7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1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38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4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1917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FFDE0584-19B3-4E82-A7ED-90F638ABF1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0" y="497641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915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DC08E82-CE4A-4E37-AB74-C953909881CC}"/>
              </a:ext>
            </a:extLst>
          </p:cNvPr>
          <p:cNvSpPr/>
          <p:nvPr userDrawn="1"/>
        </p:nvSpPr>
        <p:spPr>
          <a:xfrm>
            <a:off x="-2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A9B4CE8F-0F06-4FBD-9EBC-E66238AE45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3" y="2057576"/>
            <a:ext cx="2646948" cy="2645998"/>
          </a:xfrm>
          <a:prstGeom prst="rect">
            <a:avLst/>
          </a:prstGeom>
        </p:spPr>
      </p:pic>
      <p:sp>
        <p:nvSpPr>
          <p:cNvPr id="31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4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7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1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4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38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1917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B2702B39-9FE7-44D0-A505-89E4D48D7B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0" y="497641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6541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E24FD84-70DC-4F3F-AE0F-4A1E4B7F7FB7}"/>
              </a:ext>
            </a:extLst>
          </p:cNvPr>
          <p:cNvSpPr/>
          <p:nvPr userDrawn="1"/>
        </p:nvSpPr>
        <p:spPr>
          <a:xfrm>
            <a:off x="-2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FF258DE4-5C86-4B02-B97D-A8833F0E56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3" y="2057576"/>
            <a:ext cx="2646948" cy="2645998"/>
          </a:xfrm>
          <a:prstGeom prst="rect">
            <a:avLst/>
          </a:prstGeom>
        </p:spPr>
      </p:pic>
      <p:sp>
        <p:nvSpPr>
          <p:cNvPr id="31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4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7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1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4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38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0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50A44464-993C-4C35-A7E8-11075AF7F2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0" y="497641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30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B878FF0-A917-42DB-8E6D-760F7ED50C07}"/>
              </a:ext>
            </a:extLst>
          </p:cNvPr>
          <p:cNvSpPr/>
          <p:nvPr userDrawn="1"/>
        </p:nvSpPr>
        <p:spPr>
          <a:xfrm>
            <a:off x="-2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24A40BD-9C79-4406-8CEB-5740E1B5B0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3" y="2057576"/>
            <a:ext cx="2646948" cy="2645998"/>
          </a:xfrm>
          <a:prstGeom prst="rect">
            <a:avLst/>
          </a:prstGeom>
        </p:spPr>
      </p:pic>
      <p:sp>
        <p:nvSpPr>
          <p:cNvPr id="30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4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1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7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1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38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4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0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052A05B8-CED5-4B54-B45D-94455273ED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0" y="497641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7528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プレースホルダー 9"/>
          <p:cNvSpPr>
            <a:spLocks noGrp="1"/>
          </p:cNvSpPr>
          <p:nvPr>
            <p:ph type="body" sz="quarter" idx="15" hasCustomPrompt="1"/>
          </p:nvPr>
        </p:nvSpPr>
        <p:spPr>
          <a:xfrm>
            <a:off x="10809360" y="1382713"/>
            <a:ext cx="774470" cy="4794682"/>
          </a:xfr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tabLst>
                <a:tab pos="10744200" algn="dec"/>
              </a:tabLst>
              <a:defRPr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1</a:t>
            </a:r>
          </a:p>
          <a:p>
            <a:pPr lvl="0"/>
            <a:r>
              <a:rPr kumimoji="1" lang="en-US" altLang="ja-JP"/>
              <a:t>4</a:t>
            </a:r>
          </a:p>
          <a:p>
            <a:pPr lvl="0"/>
            <a:r>
              <a:rPr kumimoji="1" lang="en-US" altLang="ja-JP"/>
              <a:t>6</a:t>
            </a:r>
          </a:p>
          <a:p>
            <a:pPr lvl="0"/>
            <a:r>
              <a:rPr kumimoji="1" lang="en-US" altLang="ja-JP"/>
              <a:t>9</a:t>
            </a:r>
          </a:p>
          <a:p>
            <a:pPr lvl="0"/>
            <a:r>
              <a:rPr kumimoji="1" lang="en-US" altLang="ja-JP"/>
              <a:t>14</a:t>
            </a:r>
          </a:p>
          <a:p>
            <a:pPr lvl="0"/>
            <a:r>
              <a:rPr kumimoji="1" lang="en-US" altLang="ja-JP"/>
              <a:t>18</a:t>
            </a:r>
          </a:p>
          <a:p>
            <a:pPr lvl="0"/>
            <a:r>
              <a:rPr kumimoji="1" lang="en-US" altLang="ja-JP"/>
              <a:t>20</a:t>
            </a:r>
            <a:endParaRPr kumimoji="1" lang="ja-JP" altLang="en-US"/>
          </a:p>
        </p:txBody>
      </p:sp>
      <p:sp>
        <p:nvSpPr>
          <p:cNvPr id="7" name="テキスト プレースホルダー 9"/>
          <p:cNvSpPr>
            <a:spLocks noGrp="1"/>
          </p:cNvSpPr>
          <p:nvPr>
            <p:ph type="body" sz="quarter" idx="14" hasCustomPrompt="1"/>
          </p:nvPr>
        </p:nvSpPr>
        <p:spPr>
          <a:xfrm>
            <a:off x="654221" y="1382712"/>
            <a:ext cx="10160336" cy="4791259"/>
          </a:xfr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lvl="0"/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lvl="0"/>
            <a:endParaRPr kumimoji="1" lang="en-US" altLang="ja-JP"/>
          </a:p>
          <a:p>
            <a:pPr lvl="0"/>
            <a:endParaRPr kumimoji="1" lang="en-US" altLang="ja-JP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kumimoji="1" lang="ja-JP" altLang="en-US"/>
              <a:t>目次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959" y="418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58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3"/>
          <p:cNvSpPr>
            <a:spLocks noGrp="1"/>
          </p:cNvSpPr>
          <p:nvPr>
            <p:ph type="body" sz="quarter" idx="13" hasCustomPrompt="1"/>
          </p:nvPr>
        </p:nvSpPr>
        <p:spPr>
          <a:xfrm>
            <a:off x="670389" y="1382713"/>
            <a:ext cx="10908676" cy="4794682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24pt</a:t>
            </a:r>
            <a:r>
              <a:rPr kumimoji="1" lang="ja-JP" altLang="en-US"/>
              <a:t>のメイリオで入力します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2988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 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49431" y="3595688"/>
            <a:ext cx="10919007" cy="2578284"/>
          </a:xfrm>
          <a:prstGeom prst="rect">
            <a:avLst/>
          </a:prstGeom>
          <a:solidFill>
            <a:srgbClr val="4B4F54"/>
          </a:solidFill>
        </p:spPr>
        <p:txBody>
          <a:bodyPr tIns="731520"/>
          <a:lstStyle>
            <a:lvl1pPr marL="0" indent="0" algn="ct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アイコンをクリックして図を挿入します</a:t>
            </a:r>
          </a:p>
        </p:txBody>
      </p:sp>
      <p:sp>
        <p:nvSpPr>
          <p:cNvPr id="10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670389" y="1382713"/>
            <a:ext cx="10908676" cy="1994332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24pt</a:t>
            </a:r>
            <a:r>
              <a:rPr kumimoji="1" lang="ja-JP" altLang="en-US"/>
              <a:t>のメイリオで入力します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461572"/>
            <a:ext cx="10919008" cy="523220"/>
          </a:xfrm>
        </p:spPr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355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Fram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173972"/>
          </a:xfrm>
          <a:prstGeom prst="rect">
            <a:avLst/>
          </a:prstGeom>
          <a:solidFill>
            <a:srgbClr val="4B4F54"/>
          </a:solidFill>
        </p:spPr>
        <p:txBody>
          <a:bodyPr tIns="2286000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アイコンをクリックして図を挿入します</a:t>
            </a:r>
          </a:p>
        </p:txBody>
      </p:sp>
      <p:sp>
        <p:nvSpPr>
          <p:cNvPr id="4" name="フッター プレースホルダー 2"/>
          <p:cNvSpPr>
            <a:spLocks noGrp="1"/>
          </p:cNvSpPr>
          <p:nvPr userDrawn="1"/>
        </p:nvSpPr>
        <p:spPr>
          <a:xfrm>
            <a:off x="8635170" y="183315"/>
            <a:ext cx="2975920" cy="240033"/>
          </a:xfrm>
          <a:prstGeom prst="rect">
            <a:avLst/>
          </a:prstGeom>
        </p:spPr>
        <p:txBody>
          <a:bodyPr vert="horz" wrap="none" lIns="0" tIns="0" rIns="18000" bIns="720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en-US" altLang="ja-JP" sz="800" kern="1200" smtClean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baseline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Internal Use Only</a:t>
            </a:r>
            <a:endParaRPr lang="en-US" altLang="ja-JP" sz="1200" b="0">
              <a:solidFill>
                <a:schemeClr val="bg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29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461572"/>
            <a:ext cx="10919008" cy="523220"/>
          </a:xfrm>
        </p:spPr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3401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/>
          <p:nvPr userDrawn="1"/>
        </p:nvSpPr>
        <p:spPr bwMode="ltGray">
          <a:xfrm>
            <a:off x="1" y="0"/>
            <a:ext cx="12192000" cy="61739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244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9728" y="2905200"/>
            <a:ext cx="10919008" cy="5232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ja-JP" altLang="en-US"/>
              <a:t>セクション名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1917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74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 userDrawn="1"/>
        </p:nvSpPr>
        <p:spPr>
          <a:xfrm>
            <a:off x="2451805" y="1651665"/>
            <a:ext cx="745118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ja-JP" altLang="en-US" sz="3600" b="1">
                <a:solidFill>
                  <a:schemeClr val="accent6"/>
                </a:solidFill>
              </a:rPr>
              <a:t>本資料の取扱上の注意</a:t>
            </a:r>
          </a:p>
          <a:p>
            <a:pPr marL="0" indent="0" algn="ctr">
              <a:buNone/>
            </a:pPr>
            <a:endParaRPr lang="en-US" altLang="ja-JP" sz="1600" b="1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ja-JP" altLang="en-US" sz="1600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800"/>
              <a:t>本資料には機密情報が含まれています。情報管理責任者による承諾なしに第三者への開示はできません。</a:t>
            </a:r>
            <a:endParaRPr lang="en-US" altLang="ja-JP" sz="2800"/>
          </a:p>
          <a:p>
            <a:pPr marL="0" indent="0">
              <a:buNone/>
            </a:pPr>
            <a:endParaRPr lang="ja-JP" altLang="en-US" sz="2800"/>
          </a:p>
          <a:p>
            <a:pPr marL="0" indent="0" algn="ctr">
              <a:buNone/>
            </a:pPr>
            <a:r>
              <a:rPr lang="ja-JP" altLang="en-US" sz="2800"/>
              <a:t>東京エレクトロン</a:t>
            </a:r>
          </a:p>
        </p:txBody>
      </p:sp>
    </p:spTree>
    <p:extLst>
      <p:ext uri="{BB962C8B-B14F-4D97-AF65-F5344CB8AC3E}">
        <p14:creationId xmlns:p14="http://schemas.microsoft.com/office/powerpoint/2010/main" val="278348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-1"/>
            <a:ext cx="12191997" cy="685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正方形/長方形 43"/>
          <p:cNvSpPr/>
          <p:nvPr userDrawn="1"/>
        </p:nvSpPr>
        <p:spPr>
          <a:xfrm>
            <a:off x="1917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981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461572"/>
            <a:ext cx="10919008" cy="523220"/>
          </a:xfrm>
        </p:spPr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2293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654221" y="461964"/>
            <a:ext cx="10918493" cy="53036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30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824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fety, Quality and Compli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花 が含まれている画像&#10;&#10;自動的に生成された説明">
            <a:extLst>
              <a:ext uri="{FF2B5EF4-FFF2-40B4-BE49-F238E27FC236}">
                <a16:creationId xmlns:a16="http://schemas.microsoft.com/office/drawing/2014/main" id="{319EDCB6-8248-5DA5-61BB-A884BDFCCD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" y="0"/>
            <a:ext cx="12182473" cy="6858000"/>
          </a:xfrm>
          <a:prstGeom prst="rect">
            <a:avLst/>
          </a:prstGeom>
        </p:spPr>
      </p:pic>
      <p:pic>
        <p:nvPicPr>
          <p:cNvPr id="4" name="図 3" descr="挿絵, 記号 が含まれている画像&#10;&#10;自動的に生成された説明">
            <a:extLst>
              <a:ext uri="{FF2B5EF4-FFF2-40B4-BE49-F238E27FC236}">
                <a16:creationId xmlns:a16="http://schemas.microsoft.com/office/drawing/2014/main" id="{0F55EF69-8F01-32B4-6F2F-A865512733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701" y="3845615"/>
            <a:ext cx="4026949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53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57634"/>
            <a:ext cx="12190081" cy="6405494"/>
          </a:xfrm>
          <a:prstGeom prst="rect">
            <a:avLst/>
          </a:prstGeom>
        </p:spPr>
      </p:pic>
      <p:sp>
        <p:nvSpPr>
          <p:cNvPr id="6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4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52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7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53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1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54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38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-994518" y="1"/>
            <a:ext cx="824135" cy="7027703"/>
            <a:chOff x="-994259" y="0"/>
            <a:chExt cx="823920" cy="6988993"/>
          </a:xfrm>
        </p:grpSpPr>
        <p:sp>
          <p:nvSpPr>
            <p:cNvPr id="10" name="Rectangle 33"/>
            <p:cNvSpPr>
              <a:spLocks noChangeAspect="1"/>
            </p:cNvSpPr>
            <p:nvPr userDrawn="1"/>
          </p:nvSpPr>
          <p:spPr>
            <a:xfrm>
              <a:off x="-913489" y="0"/>
              <a:ext cx="743150" cy="681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altLang="ja-JP" sz="900"/>
                <a:t>Cyan</a:t>
              </a:r>
            </a:p>
          </p:txBody>
        </p:sp>
        <p:sp>
          <p:nvSpPr>
            <p:cNvPr id="11" name="Rectangle 30"/>
            <p:cNvSpPr>
              <a:spLocks noChangeAspect="1"/>
            </p:cNvSpPr>
            <p:nvPr userDrawn="1"/>
          </p:nvSpPr>
          <p:spPr>
            <a:xfrm>
              <a:off x="-913490" y="2042809"/>
              <a:ext cx="743150" cy="681349"/>
            </a:xfrm>
            <a:prstGeom prst="rect">
              <a:avLst/>
            </a:prstGeom>
            <a:solidFill>
              <a:srgbClr val="FFFF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4B4F54"/>
                  </a:solidFill>
                </a:rPr>
                <a:t>White</a:t>
              </a:r>
            </a:p>
          </p:txBody>
        </p:sp>
        <p:sp>
          <p:nvSpPr>
            <p:cNvPr id="12" name="Rectangle 31"/>
            <p:cNvSpPr>
              <a:spLocks noChangeAspect="1"/>
            </p:cNvSpPr>
            <p:nvPr userDrawn="1"/>
          </p:nvSpPr>
          <p:spPr>
            <a:xfrm>
              <a:off x="-917627" y="681348"/>
              <a:ext cx="743150" cy="681349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Gray</a:t>
              </a:r>
            </a:p>
          </p:txBody>
        </p:sp>
        <p:sp>
          <p:nvSpPr>
            <p:cNvPr id="13" name="Rectangle 39"/>
            <p:cNvSpPr>
              <a:spLocks noChangeAspect="1"/>
            </p:cNvSpPr>
            <p:nvPr userDrawn="1"/>
          </p:nvSpPr>
          <p:spPr>
            <a:xfrm>
              <a:off x="-913490" y="2724157"/>
              <a:ext cx="743150" cy="6813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Magenta</a:t>
              </a:r>
            </a:p>
          </p:txBody>
        </p:sp>
        <p:sp>
          <p:nvSpPr>
            <p:cNvPr id="14" name="Rectangle 41"/>
            <p:cNvSpPr>
              <a:spLocks noChangeAspect="1"/>
            </p:cNvSpPr>
            <p:nvPr userDrawn="1"/>
          </p:nvSpPr>
          <p:spPr>
            <a:xfrm>
              <a:off x="-913490" y="4087970"/>
              <a:ext cx="743150" cy="6813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Turquoise</a:t>
              </a:r>
            </a:p>
          </p:txBody>
        </p:sp>
        <p:sp>
          <p:nvSpPr>
            <p:cNvPr id="15" name="Rectangle 42"/>
            <p:cNvSpPr>
              <a:spLocks noChangeAspect="1"/>
            </p:cNvSpPr>
            <p:nvPr userDrawn="1"/>
          </p:nvSpPr>
          <p:spPr>
            <a:xfrm>
              <a:off x="-913490" y="4765237"/>
              <a:ext cx="743150" cy="68134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Green</a:t>
              </a:r>
            </a:p>
          </p:txBody>
        </p:sp>
        <p:sp>
          <p:nvSpPr>
            <p:cNvPr id="16" name="Rectangle 43"/>
            <p:cNvSpPr>
              <a:spLocks noChangeAspect="1"/>
            </p:cNvSpPr>
            <p:nvPr userDrawn="1"/>
          </p:nvSpPr>
          <p:spPr>
            <a:xfrm>
              <a:off x="-913490" y="5451781"/>
              <a:ext cx="743150" cy="681349"/>
            </a:xfrm>
            <a:prstGeom prst="rect">
              <a:avLst/>
            </a:prstGeom>
            <a:solidFill>
              <a:srgbClr val="EE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Yellow</a:t>
              </a:r>
            </a:p>
          </p:txBody>
        </p:sp>
        <p:sp>
          <p:nvSpPr>
            <p:cNvPr id="17" name="TextBox 58"/>
            <p:cNvSpPr txBox="1"/>
            <p:nvPr userDrawn="1"/>
          </p:nvSpPr>
          <p:spPr>
            <a:xfrm>
              <a:off x="-990122" y="226034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255</a:t>
              </a:r>
            </a:p>
          </p:txBody>
        </p:sp>
        <p:sp>
          <p:nvSpPr>
            <p:cNvPr id="18" name="TextBox 59"/>
            <p:cNvSpPr txBox="1"/>
            <p:nvPr userDrawn="1"/>
          </p:nvSpPr>
          <p:spPr>
            <a:xfrm>
              <a:off x="-994259" y="896067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19" name="TextBox 60"/>
            <p:cNvSpPr txBox="1"/>
            <p:nvPr userDrawn="1"/>
          </p:nvSpPr>
          <p:spPr>
            <a:xfrm>
              <a:off x="-990121" y="20842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169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224</a:t>
              </a:r>
            </a:p>
          </p:txBody>
        </p:sp>
        <p:sp>
          <p:nvSpPr>
            <p:cNvPr id="20" name="TextBox 62"/>
            <p:cNvSpPr txBox="1"/>
            <p:nvPr userDrawn="1"/>
          </p:nvSpPr>
          <p:spPr>
            <a:xfrm>
              <a:off x="-990121" y="294854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218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132</a:t>
              </a:r>
            </a:p>
          </p:txBody>
        </p:sp>
        <p:sp>
          <p:nvSpPr>
            <p:cNvPr id="21" name="TextBox 64"/>
            <p:cNvSpPr txBox="1"/>
            <p:nvPr userDrawn="1"/>
          </p:nvSpPr>
          <p:spPr>
            <a:xfrm>
              <a:off x="-990122" y="431661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178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169</a:t>
              </a:r>
            </a:p>
          </p:txBody>
        </p:sp>
        <p:sp>
          <p:nvSpPr>
            <p:cNvPr id="22" name="TextBox 65"/>
            <p:cNvSpPr txBox="1"/>
            <p:nvPr userDrawn="1"/>
          </p:nvSpPr>
          <p:spPr>
            <a:xfrm>
              <a:off x="-990122" y="500065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120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190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32</a:t>
              </a:r>
            </a:p>
          </p:txBody>
        </p:sp>
        <p:sp>
          <p:nvSpPr>
            <p:cNvPr id="23" name="TextBox 66"/>
            <p:cNvSpPr txBox="1"/>
            <p:nvPr userDrawn="1"/>
          </p:nvSpPr>
          <p:spPr>
            <a:xfrm>
              <a:off x="-990122" y="5684689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238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0</a:t>
              </a:r>
            </a:p>
          </p:txBody>
        </p:sp>
        <p:sp>
          <p:nvSpPr>
            <p:cNvPr id="24" name="Rectangle 43"/>
            <p:cNvSpPr>
              <a:spLocks noChangeAspect="1"/>
            </p:cNvSpPr>
            <p:nvPr userDrawn="1"/>
          </p:nvSpPr>
          <p:spPr>
            <a:xfrm>
              <a:off x="-913490" y="6138327"/>
              <a:ext cx="743150" cy="681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Orange</a:t>
              </a:r>
            </a:p>
          </p:txBody>
        </p:sp>
        <p:sp>
          <p:nvSpPr>
            <p:cNvPr id="25" name="TextBox 66"/>
            <p:cNvSpPr txBox="1"/>
            <p:nvPr userDrawn="1"/>
          </p:nvSpPr>
          <p:spPr>
            <a:xfrm>
              <a:off x="-990121" y="6388997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106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19</a:t>
              </a:r>
            </a:p>
          </p:txBody>
        </p:sp>
        <p:sp>
          <p:nvSpPr>
            <p:cNvPr id="26" name="Rectangle 40"/>
            <p:cNvSpPr>
              <a:spLocks noChangeAspect="1"/>
            </p:cNvSpPr>
            <p:nvPr userDrawn="1"/>
          </p:nvSpPr>
          <p:spPr>
            <a:xfrm>
              <a:off x="-917627" y="3401424"/>
              <a:ext cx="743150" cy="6813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Purple</a:t>
              </a:r>
            </a:p>
          </p:txBody>
        </p:sp>
        <p:sp>
          <p:nvSpPr>
            <p:cNvPr id="27" name="TextBox 63"/>
            <p:cNvSpPr txBox="1"/>
            <p:nvPr userDrawn="1"/>
          </p:nvSpPr>
          <p:spPr>
            <a:xfrm>
              <a:off x="-990122" y="363258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R	128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G	49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B	167</a:t>
              </a:r>
            </a:p>
          </p:txBody>
        </p:sp>
        <p:sp>
          <p:nvSpPr>
            <p:cNvPr id="28" name="Rectangle 31"/>
            <p:cNvSpPr>
              <a:spLocks noChangeAspect="1"/>
            </p:cNvSpPr>
            <p:nvPr userDrawn="1"/>
          </p:nvSpPr>
          <p:spPr>
            <a:xfrm>
              <a:off x="-917627" y="1362697"/>
              <a:ext cx="743150" cy="68134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chemeClr val="tx1"/>
                  </a:solidFill>
                </a:rPr>
                <a:t>Light Gray</a:t>
              </a:r>
            </a:p>
          </p:txBody>
        </p:sp>
        <p:sp>
          <p:nvSpPr>
            <p:cNvPr id="29" name="TextBox 59"/>
            <p:cNvSpPr txBox="1"/>
            <p:nvPr userDrawn="1"/>
          </p:nvSpPr>
          <p:spPr>
            <a:xfrm>
              <a:off x="-994259" y="1577416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新生東京エレクトロンタイトルメイリオ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4" name="正方形/長方形 3"/>
          <p:cNvSpPr/>
          <p:nvPr userDrawn="1"/>
        </p:nvSpPr>
        <p:spPr>
          <a:xfrm>
            <a:off x="0" y="5964"/>
            <a:ext cx="12190081" cy="6851485"/>
          </a:xfrm>
          <a:prstGeom prst="rect">
            <a:avLst/>
          </a:prstGeom>
          <a:noFill/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446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プレースホルダー 9"/>
          <p:cNvSpPr>
            <a:spLocks noGrp="1"/>
          </p:cNvSpPr>
          <p:nvPr>
            <p:ph type="body" sz="quarter" idx="15" hasCustomPrompt="1"/>
          </p:nvPr>
        </p:nvSpPr>
        <p:spPr>
          <a:xfrm>
            <a:off x="10809360" y="1382713"/>
            <a:ext cx="774470" cy="4794682"/>
          </a:xfr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tabLst>
                <a:tab pos="10744200" algn="dec"/>
              </a:tabLst>
              <a:defRPr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1</a:t>
            </a:r>
          </a:p>
          <a:p>
            <a:pPr lvl="0"/>
            <a:r>
              <a:rPr kumimoji="1" lang="en-US" altLang="ja-JP"/>
              <a:t>4</a:t>
            </a:r>
          </a:p>
          <a:p>
            <a:pPr lvl="0"/>
            <a:r>
              <a:rPr kumimoji="1" lang="en-US" altLang="ja-JP"/>
              <a:t>6</a:t>
            </a:r>
          </a:p>
          <a:p>
            <a:pPr lvl="0"/>
            <a:r>
              <a:rPr kumimoji="1" lang="en-US" altLang="ja-JP"/>
              <a:t>9</a:t>
            </a:r>
          </a:p>
          <a:p>
            <a:pPr lvl="0"/>
            <a:r>
              <a:rPr kumimoji="1" lang="en-US" altLang="ja-JP"/>
              <a:t>14</a:t>
            </a:r>
          </a:p>
          <a:p>
            <a:pPr lvl="0"/>
            <a:r>
              <a:rPr kumimoji="1" lang="en-US" altLang="ja-JP"/>
              <a:t>18</a:t>
            </a:r>
          </a:p>
          <a:p>
            <a:pPr lvl="0"/>
            <a:r>
              <a:rPr kumimoji="1" lang="en-US" altLang="ja-JP"/>
              <a:t>20</a:t>
            </a:r>
            <a:endParaRPr kumimoji="1" lang="ja-JP" altLang="en-US"/>
          </a:p>
        </p:txBody>
      </p:sp>
      <p:sp>
        <p:nvSpPr>
          <p:cNvPr id="7" name="テキスト プレースホルダー 9"/>
          <p:cNvSpPr>
            <a:spLocks noGrp="1"/>
          </p:cNvSpPr>
          <p:nvPr>
            <p:ph type="body" sz="quarter" idx="14" hasCustomPrompt="1"/>
          </p:nvPr>
        </p:nvSpPr>
        <p:spPr>
          <a:xfrm>
            <a:off x="654221" y="1382712"/>
            <a:ext cx="10160336" cy="4791259"/>
          </a:xfr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lvl="0"/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lvl="0"/>
            <a:endParaRPr kumimoji="1" lang="en-US" altLang="ja-JP"/>
          </a:p>
          <a:p>
            <a:pPr lvl="0"/>
            <a:endParaRPr kumimoji="1" lang="en-US" altLang="ja-JP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kumimoji="1" lang="ja-JP" altLang="en-US"/>
              <a:t>目次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1369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3"/>
          <p:cNvSpPr>
            <a:spLocks noGrp="1"/>
          </p:cNvSpPr>
          <p:nvPr>
            <p:ph type="body" sz="quarter" idx="13" hasCustomPrompt="1"/>
          </p:nvPr>
        </p:nvSpPr>
        <p:spPr>
          <a:xfrm>
            <a:off x="670389" y="1382713"/>
            <a:ext cx="10908676" cy="4794682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24pt</a:t>
            </a:r>
            <a:r>
              <a:rPr kumimoji="1" lang="ja-JP" altLang="en-US"/>
              <a:t>のメイリオで入力します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5617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/>
          <p:nvPr userDrawn="1"/>
        </p:nvSpPr>
        <p:spPr bwMode="ltGray">
          <a:xfrm>
            <a:off x="1" y="0"/>
            <a:ext cx="12192000" cy="61739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244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9728" y="2905200"/>
            <a:ext cx="10919008" cy="523220"/>
          </a:xfrm>
        </p:spPr>
        <p:txBody>
          <a:bodyPr/>
          <a:lstStyle/>
          <a:p>
            <a:pPr lvl="0"/>
            <a:r>
              <a:rPr kumimoji="1" lang="ja-JP" altLang="en-US"/>
              <a:t>セクション名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471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 userDrawn="1"/>
        </p:nvSpPr>
        <p:spPr>
          <a:xfrm>
            <a:off x="2451805" y="1651665"/>
            <a:ext cx="745118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ja-JP" altLang="en-US" sz="3600" b="1">
                <a:solidFill>
                  <a:schemeClr val="accent6"/>
                </a:solidFill>
              </a:rPr>
              <a:t>本資料の取扱上の注意</a:t>
            </a:r>
          </a:p>
          <a:p>
            <a:pPr marL="0" indent="0" algn="ctr">
              <a:buNone/>
            </a:pPr>
            <a:endParaRPr lang="en-US" altLang="ja-JP" sz="1600" b="1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ja-JP" altLang="en-US" sz="1600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800"/>
              <a:t>本資料には機密情報が含まれています。情報管理責任者による承諾なしに第三者への開示はできません。</a:t>
            </a:r>
            <a:endParaRPr lang="en-US" altLang="ja-JP" sz="2800"/>
          </a:p>
          <a:p>
            <a:pPr marL="0" indent="0">
              <a:buNone/>
            </a:pPr>
            <a:endParaRPr lang="ja-JP" altLang="en-US" sz="2800"/>
          </a:p>
          <a:p>
            <a:pPr marL="0" indent="0" algn="ctr">
              <a:buNone/>
            </a:pPr>
            <a:r>
              <a:rPr lang="ja-JP" altLang="en-US" sz="2800"/>
              <a:t>東京エレクトロン</a:t>
            </a:r>
          </a:p>
        </p:txBody>
      </p:sp>
    </p:spTree>
    <p:extLst>
      <p:ext uri="{BB962C8B-B14F-4D97-AF65-F5344CB8AC3E}">
        <p14:creationId xmlns:p14="http://schemas.microsoft.com/office/powerpoint/2010/main" val="313173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461572"/>
            <a:ext cx="10919008" cy="523220"/>
          </a:xfrm>
        </p:spPr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258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461572"/>
            <a:ext cx="10919008" cy="523220"/>
          </a:xfrm>
        </p:spPr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19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654221" y="461964"/>
            <a:ext cx="10918493" cy="53036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30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Headline (30pt Arial, sentence case)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216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head (top)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B8BBF38-CFD8-9DC5-2CCB-2091B561773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5595006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415" imgH="416" progId="TCLayout.ActiveDocument.1">
                  <p:embed/>
                </p:oleObj>
              </mc:Choice>
              <mc:Fallback>
                <p:oleObj name="think-cell スライド" r:id="rId3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B8BBF38-CFD8-9DC5-2CCB-2091B56177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ubtitle">
            <a:extLst>
              <a:ext uri="{FF2B5EF4-FFF2-40B4-BE49-F238E27FC236}">
                <a16:creationId xmlns:a16="http://schemas.microsoft.com/office/drawing/2014/main" id="{1F5D0AC9-20E5-44AB-A57F-159FD31A7C3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00779" y="1013229"/>
            <a:ext cx="11376000" cy="353943"/>
          </a:xfrm>
          <a:prstGeom prst="rect">
            <a:avLst/>
          </a:prstGeom>
        </p:spPr>
        <p:txBody>
          <a:bodyPr wrap="square" tIns="0" anchor="t">
            <a:spAutoFit/>
          </a:bodyPr>
          <a:lstStyle>
            <a:lvl1pPr marL="0" marR="0" indent="0" algn="l" defTabSz="17345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 b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/>
              <a:t>Insert subtitle here at </a:t>
            </a:r>
            <a:r>
              <a:rPr lang="en-US" altLang="ja-JP"/>
              <a:t>20</a:t>
            </a:r>
            <a:r>
              <a:rPr lang="en-US"/>
              <a:t>pt, align to the baseline of the title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962A254E-2854-48FA-8F65-0066AC7FF3B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0779" y="100783"/>
            <a:ext cx="11376000" cy="353943"/>
          </a:xfrm>
          <a:prstGeom prst="rect">
            <a:avLst/>
          </a:prstGeom>
        </p:spPr>
        <p:txBody>
          <a:bodyPr wrap="square" tIns="0" anchor="ctr">
            <a:spAutoFit/>
          </a:bodyPr>
          <a:lstStyle>
            <a:lvl1pPr marL="0" marR="0" indent="0" algn="l" defTabSz="17345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 b="1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noProof="0"/>
              <a:t>Insert subhead here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4F6B60F4-9919-41FE-A603-015DB9F0B9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79" y="518316"/>
            <a:ext cx="11376000" cy="432000"/>
          </a:xfrm>
        </p:spPr>
        <p:txBody>
          <a:bodyPr vert="horz" tIns="0" bIns="0" anchor="b" anchorCtr="0">
            <a:noAutofit/>
          </a:bodyPr>
          <a:lstStyle>
            <a:lvl1pPr>
              <a:lnSpc>
                <a:spcPct val="80000"/>
              </a:lnSpc>
              <a:defRPr sz="2800" b="1">
                <a:latin typeface="+mn-ea"/>
                <a:ea typeface="+mn-ea"/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77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Photo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64"/>
            <a:ext cx="12190081" cy="6857165"/>
          </a:xfrm>
          <a:prstGeom prst="rect">
            <a:avLst/>
          </a:prstGeom>
        </p:spPr>
      </p:pic>
      <p:sp>
        <p:nvSpPr>
          <p:cNvPr id="6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4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52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7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53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1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54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38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8" name="フッター プレースホルダー 2"/>
          <p:cNvSpPr>
            <a:spLocks noGrp="1"/>
          </p:cNvSpPr>
          <p:nvPr userDrawn="1"/>
        </p:nvSpPr>
        <p:spPr>
          <a:xfrm>
            <a:off x="8635169" y="457635"/>
            <a:ext cx="2975920" cy="240033"/>
          </a:xfrm>
          <a:prstGeom prst="rect">
            <a:avLst/>
          </a:prstGeom>
        </p:spPr>
        <p:txBody>
          <a:bodyPr vert="horz" wrap="none" lIns="0" tIns="0" rIns="18000" bIns="720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en-US" altLang="ja-JP" sz="800" kern="1200" smtClean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baseline="0">
                <a:solidFill>
                  <a:schemeClr val="tx1"/>
                </a:solidFill>
                <a:latin typeface="Arial"/>
                <a:ea typeface="+mj-ea"/>
                <a:cs typeface="Arial" panose="020B0604020202020204" pitchFamily="34" charset="0"/>
              </a:rPr>
              <a:t>Internal Use Only</a:t>
            </a:r>
            <a:endParaRPr lang="en-US" altLang="ja-JP" sz="1200" b="0">
              <a:solidFill>
                <a:schemeClr val="tx1"/>
              </a:solidFill>
              <a:latin typeface="Arial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3251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461572"/>
            <a:ext cx="10919008" cy="523220"/>
          </a:xfrm>
        </p:spPr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2815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 userDrawn="1"/>
        </p:nvSpPr>
        <p:spPr>
          <a:xfrm>
            <a:off x="2451805" y="1651665"/>
            <a:ext cx="745118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ja-JP" altLang="en-US" sz="3600" b="1">
                <a:solidFill>
                  <a:srgbClr val="FF0000"/>
                </a:solidFill>
              </a:rPr>
              <a:t>本資料の取扱上の注意</a:t>
            </a:r>
          </a:p>
          <a:p>
            <a:pPr marL="0" indent="0" algn="ctr">
              <a:buNone/>
            </a:pPr>
            <a:endParaRPr lang="en-US" altLang="ja-JP" sz="1600" b="1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ja-JP" altLang="en-US" sz="1600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800"/>
              <a:t>本資料には機密情報が含まれています。当社の書面による承諾なしに複写、または第三者への開示はできません。</a:t>
            </a:r>
          </a:p>
          <a:p>
            <a:pPr marL="0" indent="0" algn="ctr">
              <a:buNone/>
            </a:pPr>
            <a:endParaRPr lang="ja-JP" altLang="en-US" sz="2800"/>
          </a:p>
          <a:p>
            <a:pPr marL="0" indent="0" algn="ctr">
              <a:buNone/>
            </a:pPr>
            <a:r>
              <a:rPr lang="ja-JP" altLang="en-US" sz="2800"/>
              <a:t>東京エレクトロン</a:t>
            </a:r>
          </a:p>
        </p:txBody>
      </p:sp>
    </p:spTree>
    <p:extLst>
      <p:ext uri="{BB962C8B-B14F-4D97-AF65-F5344CB8AC3E}">
        <p14:creationId xmlns:p14="http://schemas.microsoft.com/office/powerpoint/2010/main" val="22269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60" imgH="659" progId="TCLayout.ActiveDocument.1">
                  <p:embed/>
                </p:oleObj>
              </mc:Choice>
              <mc:Fallback>
                <p:oleObj name="think-cell Slide" r:id="rId3" imgW="660" imgH="659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テキスト プレースホルダー 3"/>
          <p:cNvSpPr>
            <a:spLocks noGrp="1"/>
          </p:cNvSpPr>
          <p:nvPr>
            <p:ph type="body" sz="quarter" idx="13" hasCustomPrompt="1"/>
          </p:nvPr>
        </p:nvSpPr>
        <p:spPr>
          <a:xfrm>
            <a:off x="670389" y="1382713"/>
            <a:ext cx="10908676" cy="4794682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en-US" altLang="ja-JP"/>
              <a:t>Body text, Arial 24pt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654221" y="461964"/>
            <a:ext cx="10918493" cy="53036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30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Headline (30pt Arial, sentence case)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845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ph type="title"/>
          </p:nvPr>
        </p:nvSpPr>
        <p:spPr>
          <a:xfrm>
            <a:off x="108963" y="536781"/>
            <a:ext cx="10919008" cy="523220"/>
          </a:xfrm>
          <a:prstGeom prst="rect">
            <a:avLst/>
          </a:prstGeom>
        </p:spPr>
        <p:txBody>
          <a:bodyPr lIns="72000" tIns="36000" rIns="72000" bIns="36000" anchor="b"/>
          <a:lstStyle>
            <a:lvl1pPr>
              <a:defRPr sz="2400"/>
            </a:lvl1pPr>
          </a:lstStyle>
          <a:p>
            <a:pPr lvl="0"/>
            <a:endParaRPr kumimoji="1" lang="ja-JP" altLang="en-US"/>
          </a:p>
        </p:txBody>
      </p:sp>
      <p:sp>
        <p:nvSpPr>
          <p:cNvPr id="6" name="コンテンツ プレースホルダー 1"/>
          <p:cNvSpPr txBox="1">
            <a:spLocks/>
          </p:cNvSpPr>
          <p:nvPr userDrawn="1"/>
        </p:nvSpPr>
        <p:spPr>
          <a:xfrm>
            <a:off x="347433" y="1906457"/>
            <a:ext cx="11523001" cy="680818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kumimoji="1" sz="1600" b="0" kern="1200">
                <a:solidFill>
                  <a:schemeClr val="tx1"/>
                </a:solidFill>
                <a:latin typeface="+mn-ea"/>
                <a:ea typeface="+mn-ea"/>
                <a:cs typeface="Meiryo UI" panose="020B0604030504040204" pitchFamily="50" charset="-128"/>
              </a:defRPr>
            </a:lvl1pPr>
            <a:lvl2pPr marL="225425" indent="0" algn="l" defTabSz="914400" rtl="0" eaLnBrk="1" latinLnBrk="0" hangingPunct="1">
              <a:lnSpc>
                <a:spcPct val="100000"/>
              </a:lnSpc>
              <a:spcBef>
                <a:spcPts val="624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kumimoji="1" sz="1600" kern="120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kumimoji="1" sz="1600" kern="1200" baseline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defRPr>
            </a:lvl3pPr>
            <a:lvl4pPr marL="688975" indent="0" algn="l" defTabSz="914400" rtl="0" eaLnBrk="1" latinLnBrk="0" hangingPunct="1">
              <a:lnSpc>
                <a:spcPct val="100000"/>
              </a:lnSpc>
              <a:spcBef>
                <a:spcPts val="528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kumimoji="1" sz="1600" kern="1200" baseline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kumimoji="1" sz="1600" kern="1200" baseline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000000"/>
              </a:buClr>
              <a:defRPr/>
            </a:pPr>
            <a:endParaRPr lang="ja-JP" altLang="en-US" sz="1800">
              <a:solidFill>
                <a:srgbClr val="000000"/>
              </a:solidFill>
            </a:endParaRP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108963" y="1193075"/>
            <a:ext cx="11947632" cy="5110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717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461572"/>
            <a:ext cx="10919008" cy="523220"/>
          </a:xfrm>
        </p:spPr>
        <p:txBody>
          <a:bodyPr/>
          <a:lstStyle/>
          <a:p>
            <a:pPr lvl="0"/>
            <a:r>
              <a:rPr kumimoji="1" lang="en-US" altLang="ja-JP"/>
              <a:t>Headline (30pt Arial, sentence case)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332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/>
          <p:nvPr userDrawn="1"/>
        </p:nvSpPr>
        <p:spPr bwMode="ltGray">
          <a:xfrm>
            <a:off x="1" y="0"/>
            <a:ext cx="12192000" cy="61739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244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9728" y="2905200"/>
            <a:ext cx="10919008" cy="5232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ja-JP" altLang="en-US"/>
              <a:t>セクション名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1917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76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654221" y="461964"/>
            <a:ext cx="10918493" cy="53036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30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14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3"/>
          <p:cNvSpPr>
            <a:spLocks noGrp="1"/>
          </p:cNvSpPr>
          <p:nvPr>
            <p:ph type="body" sz="quarter" idx="13" hasCustomPrompt="1"/>
          </p:nvPr>
        </p:nvSpPr>
        <p:spPr>
          <a:xfrm>
            <a:off x="670389" y="1382713"/>
            <a:ext cx="10908676" cy="4794682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24pt</a:t>
            </a:r>
            <a:r>
              <a:rPr kumimoji="1" lang="ja-JP" altLang="en-US"/>
              <a:t>のメイリオで入力します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0516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2035460-F578-4F98-993F-A0275E60A416}"/>
              </a:ext>
            </a:extLst>
          </p:cNvPr>
          <p:cNvSpPr/>
          <p:nvPr userDrawn="1"/>
        </p:nvSpPr>
        <p:spPr>
          <a:xfrm>
            <a:off x="-2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4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52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7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53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1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54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38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0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3232E91-13EE-41B3-8DD6-09C64D65F4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3" y="2057575"/>
            <a:ext cx="2646949" cy="2646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1D8DD6C-9F37-4344-A254-981E0917A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0" y="497641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10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EDAC7EB-BAC0-46B4-9BC3-267BE45716F4}"/>
              </a:ext>
            </a:extLst>
          </p:cNvPr>
          <p:cNvSpPr/>
          <p:nvPr userDrawn="1"/>
        </p:nvSpPr>
        <p:spPr>
          <a:xfrm>
            <a:off x="-2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44CE38B5-1270-44B9-A932-0AD29E2964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3" y="2057576"/>
            <a:ext cx="2646949" cy="2645998"/>
          </a:xfrm>
          <a:prstGeom prst="rect">
            <a:avLst/>
          </a:prstGeom>
        </p:spPr>
      </p:pic>
      <p:sp>
        <p:nvSpPr>
          <p:cNvPr id="30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4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1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7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1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38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4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0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A7D67631-153A-4C17-A934-65245FC3C9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0" y="497641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30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A9EFC8F-0973-4F3E-A0F8-E52308DB95B9}"/>
              </a:ext>
            </a:extLst>
          </p:cNvPr>
          <p:cNvSpPr/>
          <p:nvPr userDrawn="1"/>
        </p:nvSpPr>
        <p:spPr>
          <a:xfrm>
            <a:off x="-2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15E8D220-BBBA-41D5-A557-7823E0DD74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3" y="2057576"/>
            <a:ext cx="2646948" cy="2645998"/>
          </a:xfrm>
          <a:prstGeom prst="rect">
            <a:avLst/>
          </a:prstGeom>
        </p:spPr>
      </p:pic>
      <p:sp>
        <p:nvSpPr>
          <p:cNvPr id="30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4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1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7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1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38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4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1917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FFDE0584-19B3-4E82-A7ED-90F638ABF1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0" y="497641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95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DC08E82-CE4A-4E37-AB74-C953909881CC}"/>
              </a:ext>
            </a:extLst>
          </p:cNvPr>
          <p:cNvSpPr/>
          <p:nvPr userDrawn="1"/>
        </p:nvSpPr>
        <p:spPr>
          <a:xfrm>
            <a:off x="-2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A9B4CE8F-0F06-4FBD-9EBC-E66238AE45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3" y="2057576"/>
            <a:ext cx="2646948" cy="2645998"/>
          </a:xfrm>
          <a:prstGeom prst="rect">
            <a:avLst/>
          </a:prstGeom>
        </p:spPr>
      </p:pic>
      <p:sp>
        <p:nvSpPr>
          <p:cNvPr id="31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4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7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1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4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38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1917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B2702B39-9FE7-44D0-A505-89E4D48D7B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0" y="497641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53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E24FD84-70DC-4F3F-AE0F-4A1E4B7F7FB7}"/>
              </a:ext>
            </a:extLst>
          </p:cNvPr>
          <p:cNvSpPr/>
          <p:nvPr userDrawn="1"/>
        </p:nvSpPr>
        <p:spPr>
          <a:xfrm>
            <a:off x="-2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FF258DE4-5C86-4B02-B97D-A8833F0E56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3" y="2057576"/>
            <a:ext cx="2646948" cy="2645998"/>
          </a:xfrm>
          <a:prstGeom prst="rect">
            <a:avLst/>
          </a:prstGeom>
        </p:spPr>
      </p:pic>
      <p:sp>
        <p:nvSpPr>
          <p:cNvPr id="31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4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7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1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4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38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0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50A44464-993C-4C35-A7E8-11075AF7F2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0" y="497641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995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B878FF0-A917-42DB-8E6D-760F7ED50C07}"/>
              </a:ext>
            </a:extLst>
          </p:cNvPr>
          <p:cNvSpPr/>
          <p:nvPr userDrawn="1"/>
        </p:nvSpPr>
        <p:spPr>
          <a:xfrm>
            <a:off x="-2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24A40BD-9C79-4406-8CEB-5740E1B5B0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3" y="2057576"/>
            <a:ext cx="2646948" cy="2645998"/>
          </a:xfrm>
          <a:prstGeom prst="rect">
            <a:avLst/>
          </a:prstGeom>
        </p:spPr>
      </p:pic>
      <p:sp>
        <p:nvSpPr>
          <p:cNvPr id="30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4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1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7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1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38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4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0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052A05B8-CED5-4B54-B45D-94455273ED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0" y="497641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1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プレースホルダー 9"/>
          <p:cNvSpPr>
            <a:spLocks noGrp="1"/>
          </p:cNvSpPr>
          <p:nvPr>
            <p:ph type="body" sz="quarter" idx="15" hasCustomPrompt="1"/>
          </p:nvPr>
        </p:nvSpPr>
        <p:spPr>
          <a:xfrm>
            <a:off x="10809360" y="1382713"/>
            <a:ext cx="774470" cy="479468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tabLst>
                <a:tab pos="10744200" algn="dec"/>
              </a:tabLst>
              <a:defRPr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1</a:t>
            </a:r>
          </a:p>
          <a:p>
            <a:pPr lvl="0"/>
            <a:r>
              <a:rPr kumimoji="1" lang="en-US" altLang="ja-JP"/>
              <a:t>4</a:t>
            </a:r>
          </a:p>
          <a:p>
            <a:pPr lvl="0"/>
            <a:r>
              <a:rPr kumimoji="1" lang="en-US" altLang="ja-JP"/>
              <a:t>6</a:t>
            </a:r>
          </a:p>
          <a:p>
            <a:pPr lvl="0"/>
            <a:r>
              <a:rPr kumimoji="1" lang="en-US" altLang="ja-JP"/>
              <a:t>9</a:t>
            </a:r>
          </a:p>
          <a:p>
            <a:pPr lvl="0"/>
            <a:r>
              <a:rPr kumimoji="1" lang="en-US" altLang="ja-JP"/>
              <a:t>14</a:t>
            </a:r>
          </a:p>
          <a:p>
            <a:pPr lvl="0"/>
            <a:r>
              <a:rPr kumimoji="1" lang="en-US" altLang="ja-JP"/>
              <a:t>18</a:t>
            </a:r>
          </a:p>
          <a:p>
            <a:pPr lvl="0"/>
            <a:r>
              <a:rPr kumimoji="1" lang="en-US" altLang="ja-JP"/>
              <a:t>20</a:t>
            </a:r>
            <a:endParaRPr kumimoji="1" lang="ja-JP" altLang="en-US"/>
          </a:p>
        </p:txBody>
      </p:sp>
      <p:sp>
        <p:nvSpPr>
          <p:cNvPr id="7" name="テキスト プレースホルダー 9"/>
          <p:cNvSpPr>
            <a:spLocks noGrp="1"/>
          </p:cNvSpPr>
          <p:nvPr>
            <p:ph type="body" sz="quarter" idx="14" hasCustomPrompt="1"/>
          </p:nvPr>
        </p:nvSpPr>
        <p:spPr>
          <a:xfrm>
            <a:off x="654221" y="1382712"/>
            <a:ext cx="10160336" cy="4791259"/>
          </a:xfrm>
          <a:prstGeom prst="rect">
            <a:avLst/>
          </a:prstGeo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lvl="0"/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lvl="0"/>
            <a:endParaRPr kumimoji="1" lang="en-US" altLang="ja-JP"/>
          </a:p>
          <a:p>
            <a:pPr lvl="0"/>
            <a:endParaRPr kumimoji="1" lang="en-US" altLang="ja-JP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kumimoji="1" lang="ja-JP" altLang="en-US"/>
              <a:t>目次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959" y="418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96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プレースホルダー 3"/>
          <p:cNvSpPr>
            <a:spLocks noGrp="1"/>
          </p:cNvSpPr>
          <p:nvPr>
            <p:ph type="body" sz="quarter" idx="13" hasCustomPrompt="1"/>
          </p:nvPr>
        </p:nvSpPr>
        <p:spPr>
          <a:xfrm>
            <a:off x="670390" y="1382713"/>
            <a:ext cx="5295547" cy="478948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24pt</a:t>
            </a:r>
            <a:r>
              <a:rPr kumimoji="1" lang="ja-JP" altLang="en-US"/>
              <a:t>のメイリオで入力します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テキスト プレースホルダー 3"/>
          <p:cNvSpPr>
            <a:spLocks noGrp="1"/>
          </p:cNvSpPr>
          <p:nvPr>
            <p:ph type="body" sz="quarter" idx="16" hasCustomPrompt="1"/>
          </p:nvPr>
        </p:nvSpPr>
        <p:spPr>
          <a:xfrm>
            <a:off x="6269080" y="1389640"/>
            <a:ext cx="5295547" cy="478948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24pt</a:t>
            </a:r>
            <a:r>
              <a:rPr kumimoji="1" lang="ja-JP" altLang="en-US"/>
              <a:t>のメイリオで入力します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461572"/>
            <a:ext cx="10919008" cy="523220"/>
          </a:xfrm>
        </p:spPr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837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461572"/>
            <a:ext cx="10919008" cy="523220"/>
          </a:xfrm>
        </p:spPr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0723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 userDrawn="1"/>
        </p:nvSpPr>
        <p:spPr>
          <a:xfrm>
            <a:off x="2451805" y="1651665"/>
            <a:ext cx="745118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ja-JP" altLang="en-US" sz="3600" b="1">
                <a:solidFill>
                  <a:schemeClr val="accent6"/>
                </a:solidFill>
              </a:rPr>
              <a:t>本資料の取扱上の注意</a:t>
            </a:r>
          </a:p>
          <a:p>
            <a:pPr marL="0" indent="0" algn="ctr">
              <a:buNone/>
            </a:pPr>
            <a:endParaRPr lang="en-US" altLang="ja-JP" sz="1600" b="1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ja-JP" altLang="en-US" sz="1600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800"/>
              <a:t>本資料には機密情報が含まれています。情報管理責任者による承諾なしに第三者への開示はできません。</a:t>
            </a:r>
            <a:endParaRPr lang="en-US" altLang="ja-JP" sz="2800"/>
          </a:p>
          <a:p>
            <a:pPr marL="0" indent="0">
              <a:buNone/>
            </a:pPr>
            <a:endParaRPr lang="ja-JP" altLang="en-US" sz="2800"/>
          </a:p>
          <a:p>
            <a:pPr marL="0" indent="0" algn="ctr">
              <a:buNone/>
            </a:pPr>
            <a:r>
              <a:rPr lang="ja-JP" altLang="en-US" sz="2800"/>
              <a:t>東京エレクトロン</a:t>
            </a:r>
          </a:p>
        </p:txBody>
      </p:sp>
    </p:spTree>
    <p:extLst>
      <p:ext uri="{BB962C8B-B14F-4D97-AF65-F5344CB8AC3E}">
        <p14:creationId xmlns:p14="http://schemas.microsoft.com/office/powerpoint/2010/main" val="2325071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Photo 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49431" y="3595688"/>
            <a:ext cx="10919007" cy="2578284"/>
          </a:xfrm>
          <a:prstGeom prst="rect">
            <a:avLst/>
          </a:prstGeom>
          <a:solidFill>
            <a:srgbClr val="4B4F54"/>
          </a:solidFill>
        </p:spPr>
        <p:txBody>
          <a:bodyPr tIns="731520"/>
          <a:lstStyle>
            <a:lvl1pPr marL="0" indent="0" algn="ct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アイコンをクリックして図を挿入します</a:t>
            </a:r>
          </a:p>
        </p:txBody>
      </p:sp>
      <p:sp>
        <p:nvSpPr>
          <p:cNvPr id="10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670389" y="1382713"/>
            <a:ext cx="10908676" cy="1994332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24pt</a:t>
            </a:r>
            <a:r>
              <a:rPr kumimoji="1" lang="ja-JP" altLang="en-US"/>
              <a:t>のメイリオで入力します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461572"/>
            <a:ext cx="10919008" cy="523220"/>
          </a:xfrm>
        </p:spPr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701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917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57634"/>
            <a:ext cx="12190081" cy="6405494"/>
          </a:xfrm>
          <a:prstGeom prst="rect">
            <a:avLst/>
          </a:prstGeom>
        </p:spPr>
      </p:pic>
      <p:sp>
        <p:nvSpPr>
          <p:cNvPr id="6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4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52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7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53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1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54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38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-994518" y="1"/>
            <a:ext cx="824135" cy="7027703"/>
            <a:chOff x="-994259" y="0"/>
            <a:chExt cx="823920" cy="6988993"/>
          </a:xfrm>
        </p:grpSpPr>
        <p:sp>
          <p:nvSpPr>
            <p:cNvPr id="10" name="Rectangle 33"/>
            <p:cNvSpPr>
              <a:spLocks noChangeAspect="1"/>
            </p:cNvSpPr>
            <p:nvPr userDrawn="1"/>
          </p:nvSpPr>
          <p:spPr>
            <a:xfrm>
              <a:off x="-913489" y="0"/>
              <a:ext cx="743150" cy="681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altLang="ja-JP" sz="900"/>
                <a:t>Cyan</a:t>
              </a:r>
            </a:p>
          </p:txBody>
        </p:sp>
        <p:sp>
          <p:nvSpPr>
            <p:cNvPr id="11" name="Rectangle 30"/>
            <p:cNvSpPr>
              <a:spLocks noChangeAspect="1"/>
            </p:cNvSpPr>
            <p:nvPr userDrawn="1"/>
          </p:nvSpPr>
          <p:spPr>
            <a:xfrm>
              <a:off x="-913490" y="2042809"/>
              <a:ext cx="743150" cy="681349"/>
            </a:xfrm>
            <a:prstGeom prst="rect">
              <a:avLst/>
            </a:prstGeom>
            <a:solidFill>
              <a:srgbClr val="FFFF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4B4F54"/>
                  </a:solidFill>
                </a:rPr>
                <a:t>White</a:t>
              </a:r>
            </a:p>
          </p:txBody>
        </p:sp>
        <p:sp>
          <p:nvSpPr>
            <p:cNvPr id="12" name="Rectangle 31"/>
            <p:cNvSpPr>
              <a:spLocks noChangeAspect="1"/>
            </p:cNvSpPr>
            <p:nvPr userDrawn="1"/>
          </p:nvSpPr>
          <p:spPr>
            <a:xfrm>
              <a:off x="-917627" y="681348"/>
              <a:ext cx="743150" cy="681349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Gray</a:t>
              </a:r>
            </a:p>
          </p:txBody>
        </p:sp>
        <p:sp>
          <p:nvSpPr>
            <p:cNvPr id="13" name="Rectangle 39"/>
            <p:cNvSpPr>
              <a:spLocks noChangeAspect="1"/>
            </p:cNvSpPr>
            <p:nvPr userDrawn="1"/>
          </p:nvSpPr>
          <p:spPr>
            <a:xfrm>
              <a:off x="-913490" y="2724157"/>
              <a:ext cx="743150" cy="6813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Magenta</a:t>
              </a:r>
            </a:p>
          </p:txBody>
        </p:sp>
        <p:sp>
          <p:nvSpPr>
            <p:cNvPr id="14" name="Rectangle 41"/>
            <p:cNvSpPr>
              <a:spLocks noChangeAspect="1"/>
            </p:cNvSpPr>
            <p:nvPr userDrawn="1"/>
          </p:nvSpPr>
          <p:spPr>
            <a:xfrm>
              <a:off x="-913490" y="4087970"/>
              <a:ext cx="743150" cy="6813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Turquoise</a:t>
              </a:r>
            </a:p>
          </p:txBody>
        </p:sp>
        <p:sp>
          <p:nvSpPr>
            <p:cNvPr id="15" name="Rectangle 42"/>
            <p:cNvSpPr>
              <a:spLocks noChangeAspect="1"/>
            </p:cNvSpPr>
            <p:nvPr userDrawn="1"/>
          </p:nvSpPr>
          <p:spPr>
            <a:xfrm>
              <a:off x="-913490" y="4765237"/>
              <a:ext cx="743150" cy="68134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Green</a:t>
              </a:r>
            </a:p>
          </p:txBody>
        </p:sp>
        <p:sp>
          <p:nvSpPr>
            <p:cNvPr id="16" name="Rectangle 43"/>
            <p:cNvSpPr>
              <a:spLocks noChangeAspect="1"/>
            </p:cNvSpPr>
            <p:nvPr userDrawn="1"/>
          </p:nvSpPr>
          <p:spPr>
            <a:xfrm>
              <a:off x="-913490" y="5451781"/>
              <a:ext cx="743150" cy="681349"/>
            </a:xfrm>
            <a:prstGeom prst="rect">
              <a:avLst/>
            </a:prstGeom>
            <a:solidFill>
              <a:srgbClr val="EE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Yellow</a:t>
              </a:r>
            </a:p>
          </p:txBody>
        </p:sp>
        <p:sp>
          <p:nvSpPr>
            <p:cNvPr id="17" name="TextBox 58"/>
            <p:cNvSpPr txBox="1"/>
            <p:nvPr userDrawn="1"/>
          </p:nvSpPr>
          <p:spPr>
            <a:xfrm>
              <a:off x="-990122" y="226034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255</a:t>
              </a:r>
            </a:p>
          </p:txBody>
        </p:sp>
        <p:sp>
          <p:nvSpPr>
            <p:cNvPr id="18" name="TextBox 59"/>
            <p:cNvSpPr txBox="1"/>
            <p:nvPr userDrawn="1"/>
          </p:nvSpPr>
          <p:spPr>
            <a:xfrm>
              <a:off x="-994259" y="896067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19" name="TextBox 60"/>
            <p:cNvSpPr txBox="1"/>
            <p:nvPr userDrawn="1"/>
          </p:nvSpPr>
          <p:spPr>
            <a:xfrm>
              <a:off x="-990121" y="20842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169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224</a:t>
              </a:r>
            </a:p>
          </p:txBody>
        </p:sp>
        <p:sp>
          <p:nvSpPr>
            <p:cNvPr id="20" name="TextBox 62"/>
            <p:cNvSpPr txBox="1"/>
            <p:nvPr userDrawn="1"/>
          </p:nvSpPr>
          <p:spPr>
            <a:xfrm>
              <a:off x="-990121" y="294854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218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132</a:t>
              </a:r>
            </a:p>
          </p:txBody>
        </p:sp>
        <p:sp>
          <p:nvSpPr>
            <p:cNvPr id="21" name="TextBox 64"/>
            <p:cNvSpPr txBox="1"/>
            <p:nvPr userDrawn="1"/>
          </p:nvSpPr>
          <p:spPr>
            <a:xfrm>
              <a:off x="-990122" y="431661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178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169</a:t>
              </a:r>
            </a:p>
          </p:txBody>
        </p:sp>
        <p:sp>
          <p:nvSpPr>
            <p:cNvPr id="22" name="TextBox 65"/>
            <p:cNvSpPr txBox="1"/>
            <p:nvPr userDrawn="1"/>
          </p:nvSpPr>
          <p:spPr>
            <a:xfrm>
              <a:off x="-990122" y="500065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120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190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32</a:t>
              </a:r>
            </a:p>
          </p:txBody>
        </p:sp>
        <p:sp>
          <p:nvSpPr>
            <p:cNvPr id="23" name="TextBox 66"/>
            <p:cNvSpPr txBox="1"/>
            <p:nvPr userDrawn="1"/>
          </p:nvSpPr>
          <p:spPr>
            <a:xfrm>
              <a:off x="-990122" y="5684689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238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0</a:t>
              </a:r>
            </a:p>
          </p:txBody>
        </p:sp>
        <p:sp>
          <p:nvSpPr>
            <p:cNvPr id="24" name="Rectangle 43"/>
            <p:cNvSpPr>
              <a:spLocks noChangeAspect="1"/>
            </p:cNvSpPr>
            <p:nvPr userDrawn="1"/>
          </p:nvSpPr>
          <p:spPr>
            <a:xfrm>
              <a:off x="-913490" y="6138327"/>
              <a:ext cx="743150" cy="681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Orange</a:t>
              </a:r>
            </a:p>
          </p:txBody>
        </p:sp>
        <p:sp>
          <p:nvSpPr>
            <p:cNvPr id="25" name="TextBox 66"/>
            <p:cNvSpPr txBox="1"/>
            <p:nvPr userDrawn="1"/>
          </p:nvSpPr>
          <p:spPr>
            <a:xfrm>
              <a:off x="-990121" y="6388997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106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19</a:t>
              </a:r>
            </a:p>
          </p:txBody>
        </p:sp>
        <p:sp>
          <p:nvSpPr>
            <p:cNvPr id="26" name="Rectangle 40"/>
            <p:cNvSpPr>
              <a:spLocks noChangeAspect="1"/>
            </p:cNvSpPr>
            <p:nvPr userDrawn="1"/>
          </p:nvSpPr>
          <p:spPr>
            <a:xfrm>
              <a:off x="-917627" y="3401424"/>
              <a:ext cx="743150" cy="6813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Purple</a:t>
              </a:r>
            </a:p>
          </p:txBody>
        </p:sp>
        <p:sp>
          <p:nvSpPr>
            <p:cNvPr id="27" name="TextBox 63"/>
            <p:cNvSpPr txBox="1"/>
            <p:nvPr userDrawn="1"/>
          </p:nvSpPr>
          <p:spPr>
            <a:xfrm>
              <a:off x="-990122" y="363258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R	128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G	49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B	167</a:t>
              </a:r>
            </a:p>
          </p:txBody>
        </p:sp>
        <p:sp>
          <p:nvSpPr>
            <p:cNvPr id="28" name="Rectangle 31"/>
            <p:cNvSpPr>
              <a:spLocks noChangeAspect="1"/>
            </p:cNvSpPr>
            <p:nvPr userDrawn="1"/>
          </p:nvSpPr>
          <p:spPr>
            <a:xfrm>
              <a:off x="-917627" y="1362697"/>
              <a:ext cx="743150" cy="68134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chemeClr val="tx1"/>
                  </a:solidFill>
                </a:rPr>
                <a:t>Light Gray</a:t>
              </a:r>
            </a:p>
          </p:txBody>
        </p:sp>
        <p:sp>
          <p:nvSpPr>
            <p:cNvPr id="29" name="TextBox 59"/>
            <p:cNvSpPr txBox="1"/>
            <p:nvPr userDrawn="1"/>
          </p:nvSpPr>
          <p:spPr>
            <a:xfrm>
              <a:off x="-994259" y="1577416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新生東京エレクトロンタイトルメイリオ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4" name="正方形/長方形 3"/>
          <p:cNvSpPr/>
          <p:nvPr userDrawn="1"/>
        </p:nvSpPr>
        <p:spPr>
          <a:xfrm>
            <a:off x="0" y="5964"/>
            <a:ext cx="12190081" cy="6851485"/>
          </a:xfrm>
          <a:prstGeom prst="rect">
            <a:avLst/>
          </a:prstGeom>
          <a:noFill/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913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プレースホルダー 9"/>
          <p:cNvSpPr>
            <a:spLocks noGrp="1"/>
          </p:cNvSpPr>
          <p:nvPr>
            <p:ph type="body" sz="quarter" idx="15" hasCustomPrompt="1"/>
          </p:nvPr>
        </p:nvSpPr>
        <p:spPr>
          <a:xfrm>
            <a:off x="10809360" y="1382713"/>
            <a:ext cx="774470" cy="479468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tabLst>
                <a:tab pos="10744200" algn="dec"/>
              </a:tabLst>
              <a:defRPr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1</a:t>
            </a:r>
          </a:p>
          <a:p>
            <a:pPr lvl="0"/>
            <a:r>
              <a:rPr kumimoji="1" lang="en-US" altLang="ja-JP"/>
              <a:t>4</a:t>
            </a:r>
          </a:p>
          <a:p>
            <a:pPr lvl="0"/>
            <a:r>
              <a:rPr kumimoji="1" lang="en-US" altLang="ja-JP"/>
              <a:t>6</a:t>
            </a:r>
          </a:p>
          <a:p>
            <a:pPr lvl="0"/>
            <a:r>
              <a:rPr kumimoji="1" lang="en-US" altLang="ja-JP"/>
              <a:t>9</a:t>
            </a:r>
          </a:p>
          <a:p>
            <a:pPr lvl="0"/>
            <a:r>
              <a:rPr kumimoji="1" lang="en-US" altLang="ja-JP"/>
              <a:t>14</a:t>
            </a:r>
          </a:p>
          <a:p>
            <a:pPr lvl="0"/>
            <a:r>
              <a:rPr kumimoji="1" lang="en-US" altLang="ja-JP"/>
              <a:t>18</a:t>
            </a:r>
          </a:p>
          <a:p>
            <a:pPr lvl="0"/>
            <a:r>
              <a:rPr kumimoji="1" lang="en-US" altLang="ja-JP"/>
              <a:t>20</a:t>
            </a:r>
            <a:endParaRPr kumimoji="1" lang="ja-JP" altLang="en-US"/>
          </a:p>
        </p:txBody>
      </p:sp>
      <p:sp>
        <p:nvSpPr>
          <p:cNvPr id="7" name="テキスト プレースホルダー 9"/>
          <p:cNvSpPr>
            <a:spLocks noGrp="1"/>
          </p:cNvSpPr>
          <p:nvPr>
            <p:ph type="body" sz="quarter" idx="14" hasCustomPrompt="1"/>
          </p:nvPr>
        </p:nvSpPr>
        <p:spPr>
          <a:xfrm>
            <a:off x="654221" y="1382712"/>
            <a:ext cx="10160336" cy="4791259"/>
          </a:xfrm>
          <a:prstGeom prst="rect">
            <a:avLst/>
          </a:prstGeo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lvl="0"/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lvl="0"/>
            <a:endParaRPr kumimoji="1" lang="en-US" altLang="ja-JP"/>
          </a:p>
          <a:p>
            <a:pPr lvl="0"/>
            <a:endParaRPr kumimoji="1" lang="en-US" altLang="ja-JP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kumimoji="1" lang="ja-JP" altLang="en-US"/>
              <a:t>目次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24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3"/>
          <p:cNvSpPr>
            <a:spLocks noGrp="1"/>
          </p:cNvSpPr>
          <p:nvPr>
            <p:ph type="body" sz="quarter" idx="13" hasCustomPrompt="1"/>
          </p:nvPr>
        </p:nvSpPr>
        <p:spPr>
          <a:xfrm>
            <a:off x="670389" y="1382713"/>
            <a:ext cx="10908676" cy="4794682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24pt</a:t>
            </a:r>
            <a:r>
              <a:rPr kumimoji="1" lang="ja-JP" altLang="en-US"/>
              <a:t>のメイリオで入力します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984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/>
          <p:nvPr userDrawn="1"/>
        </p:nvSpPr>
        <p:spPr bwMode="ltGray">
          <a:xfrm>
            <a:off x="1" y="0"/>
            <a:ext cx="12192000" cy="61739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244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9728" y="2905200"/>
            <a:ext cx="10919008" cy="523220"/>
          </a:xfrm>
        </p:spPr>
        <p:txBody>
          <a:bodyPr/>
          <a:lstStyle/>
          <a:p>
            <a:pPr lvl="0"/>
            <a:r>
              <a:rPr kumimoji="1" lang="ja-JP" altLang="en-US"/>
              <a:t>セクション名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359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654221" y="461964"/>
            <a:ext cx="10918493" cy="53036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30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943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2035460-F578-4F98-993F-A0275E60A416}"/>
              </a:ext>
            </a:extLst>
          </p:cNvPr>
          <p:cNvSpPr/>
          <p:nvPr userDrawn="1"/>
        </p:nvSpPr>
        <p:spPr>
          <a:xfrm>
            <a:off x="-1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799">
              <a:solidFill>
                <a:schemeClr val="tx1"/>
              </a:solidFill>
            </a:endParaRPr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6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52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9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53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3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54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40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799">
              <a:solidFill>
                <a:schemeClr val="tx1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3232E91-13EE-41B3-8DD6-09C64D65F4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4" y="2057575"/>
            <a:ext cx="2646949" cy="2646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1D8DD6C-9F37-4344-A254-981E0917A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1" y="497643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113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EDAC7EB-BAC0-46B4-9BC3-267BE45716F4}"/>
              </a:ext>
            </a:extLst>
          </p:cNvPr>
          <p:cNvSpPr/>
          <p:nvPr userDrawn="1"/>
        </p:nvSpPr>
        <p:spPr>
          <a:xfrm>
            <a:off x="-1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799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44CE38B5-1270-44B9-A932-0AD29E2964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4" y="2057576"/>
            <a:ext cx="2646949" cy="2645998"/>
          </a:xfrm>
          <a:prstGeom prst="rect">
            <a:avLst/>
          </a:prstGeom>
        </p:spPr>
      </p:pic>
      <p:sp>
        <p:nvSpPr>
          <p:cNvPr id="30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6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1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9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3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40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4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1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799">
              <a:solidFill>
                <a:schemeClr val="tx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A7D67631-153A-4C17-A934-65245FC3C9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1" y="497643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88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A9EFC8F-0973-4F3E-A0F8-E52308DB95B9}"/>
              </a:ext>
            </a:extLst>
          </p:cNvPr>
          <p:cNvSpPr/>
          <p:nvPr userDrawn="1"/>
        </p:nvSpPr>
        <p:spPr>
          <a:xfrm>
            <a:off x="-1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799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15E8D220-BBBA-41D5-A557-7823E0DD74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3" y="2057576"/>
            <a:ext cx="2646948" cy="2645998"/>
          </a:xfrm>
          <a:prstGeom prst="rect">
            <a:avLst/>
          </a:prstGeom>
        </p:spPr>
      </p:pic>
      <p:sp>
        <p:nvSpPr>
          <p:cNvPr id="30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6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1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9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3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40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4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1917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799">
              <a:solidFill>
                <a:schemeClr val="tx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FFDE0584-19B3-4E82-A7ED-90F638ABF1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1" y="497643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749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DC08E82-CE4A-4E37-AB74-C953909881CC}"/>
              </a:ext>
            </a:extLst>
          </p:cNvPr>
          <p:cNvSpPr/>
          <p:nvPr userDrawn="1"/>
        </p:nvSpPr>
        <p:spPr>
          <a:xfrm>
            <a:off x="-1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799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A9B4CE8F-0F06-4FBD-9EBC-E66238AE45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3" y="2057576"/>
            <a:ext cx="2646948" cy="2645998"/>
          </a:xfrm>
          <a:prstGeom prst="rect">
            <a:avLst/>
          </a:prstGeom>
        </p:spPr>
      </p:pic>
      <p:sp>
        <p:nvSpPr>
          <p:cNvPr id="31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6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9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3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4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40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1917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799">
              <a:solidFill>
                <a:schemeClr val="tx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B2702B39-9FE7-44D0-A505-89E4D48D7B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1" y="497643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41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E24FD84-70DC-4F3F-AE0F-4A1E4B7F7FB7}"/>
              </a:ext>
            </a:extLst>
          </p:cNvPr>
          <p:cNvSpPr/>
          <p:nvPr userDrawn="1"/>
        </p:nvSpPr>
        <p:spPr>
          <a:xfrm>
            <a:off x="-1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799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FF258DE4-5C86-4B02-B97D-A8833F0E56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3" y="2057576"/>
            <a:ext cx="2646948" cy="2645998"/>
          </a:xfrm>
          <a:prstGeom prst="rect">
            <a:avLst/>
          </a:prstGeom>
        </p:spPr>
      </p:pic>
      <p:sp>
        <p:nvSpPr>
          <p:cNvPr id="31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6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9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3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4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40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1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799">
              <a:solidFill>
                <a:schemeClr val="tx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50A44464-993C-4C35-A7E8-11075AF7F2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1" y="497643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0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B878FF0-A917-42DB-8E6D-760F7ED50C07}"/>
              </a:ext>
            </a:extLst>
          </p:cNvPr>
          <p:cNvSpPr/>
          <p:nvPr userDrawn="1"/>
        </p:nvSpPr>
        <p:spPr>
          <a:xfrm>
            <a:off x="-1" y="2730500"/>
            <a:ext cx="12190079" cy="4127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799">
              <a:solidFill>
                <a:schemeClr val="tx1"/>
              </a:solidFill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24A40BD-9C79-4406-8CEB-5740E1B5B0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753" y="2057576"/>
            <a:ext cx="2646948" cy="2645998"/>
          </a:xfrm>
          <a:prstGeom prst="rect">
            <a:avLst/>
          </a:prstGeom>
        </p:spPr>
      </p:pic>
      <p:sp>
        <p:nvSpPr>
          <p:cNvPr id="30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649430" y="4495616"/>
            <a:ext cx="5575164" cy="3905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日付</a:t>
            </a:r>
            <a:r>
              <a:rPr kumimoji="1" lang="en-US" altLang="ja-JP"/>
              <a:t>18pt</a:t>
            </a:r>
            <a:r>
              <a:rPr kumimoji="1" lang="ja-JP" altLang="en-US"/>
              <a:t>（指定表示形式：</a:t>
            </a:r>
            <a:r>
              <a:rPr kumimoji="1" lang="en-US" altLang="ja-JP"/>
              <a:t>2015</a:t>
            </a:r>
            <a:r>
              <a:rPr kumimoji="1" lang="ja-JP" altLang="en-US"/>
              <a:t>年</a:t>
            </a:r>
            <a:r>
              <a:rPr kumimoji="1" lang="en-US" altLang="ja-JP"/>
              <a:t>10</a:t>
            </a:r>
            <a:r>
              <a:rPr kumimoji="1" lang="ja-JP" altLang="en-US"/>
              <a:t>月</a:t>
            </a:r>
            <a:r>
              <a:rPr kumimoji="1" lang="en-US" altLang="ja-JP"/>
              <a:t>1</a:t>
            </a:r>
            <a:r>
              <a:rPr kumimoji="1" lang="ja-JP" altLang="en-US"/>
              <a:t>日）</a:t>
            </a:r>
          </a:p>
        </p:txBody>
      </p:sp>
      <p:sp>
        <p:nvSpPr>
          <p:cNvPr id="31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649430" y="5026839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プレゼンテーター名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32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430" y="5329393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  <a:r>
              <a:rPr kumimoji="1" lang="en-US" altLang="ja-JP"/>
              <a:t>18pt</a:t>
            </a:r>
          </a:p>
        </p:txBody>
      </p:sp>
      <p:sp>
        <p:nvSpPr>
          <p:cNvPr id="33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649430" y="5620540"/>
            <a:ext cx="5575164" cy="2911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CN" altLang="en-US"/>
              <a:t>部署名／会社名</a:t>
            </a:r>
            <a:r>
              <a:rPr kumimoji="1" lang="en-US" altLang="zh-CN"/>
              <a:t>18pt</a:t>
            </a:r>
            <a:endParaRPr kumimoji="1" lang="ja-JP" altLang="en-US"/>
          </a:p>
        </p:txBody>
      </p:sp>
      <p:sp>
        <p:nvSpPr>
          <p:cNvPr id="34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0" y="3204000"/>
            <a:ext cx="7893256" cy="910800"/>
          </a:xfrm>
        </p:spPr>
        <p:txBody>
          <a:bodyPr/>
          <a:lstStyle>
            <a:lvl1pPr marL="0" marR="0" indent="0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1" lang="ja-JP" altLang="en-US"/>
              <a:t>東京エレクトロン タイトル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1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799">
              <a:solidFill>
                <a:schemeClr val="tx1"/>
              </a:solidFill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052A05B8-CED5-4B54-B45D-94455273ED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61" y="497643"/>
            <a:ext cx="1283083" cy="7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63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genda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プレースホルダー 9"/>
          <p:cNvSpPr>
            <a:spLocks noGrp="1"/>
          </p:cNvSpPr>
          <p:nvPr>
            <p:ph type="body" sz="quarter" idx="15" hasCustomPrompt="1"/>
          </p:nvPr>
        </p:nvSpPr>
        <p:spPr>
          <a:xfrm>
            <a:off x="10809360" y="1382713"/>
            <a:ext cx="774470" cy="479468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tabLst>
                <a:tab pos="10740977" algn="dec"/>
              </a:tabLst>
              <a:defRPr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1</a:t>
            </a:r>
          </a:p>
          <a:p>
            <a:pPr lvl="0"/>
            <a:r>
              <a:rPr kumimoji="1" lang="en-US" altLang="ja-JP"/>
              <a:t>4</a:t>
            </a:r>
          </a:p>
          <a:p>
            <a:pPr lvl="0"/>
            <a:r>
              <a:rPr kumimoji="1" lang="en-US" altLang="ja-JP"/>
              <a:t>6</a:t>
            </a:r>
          </a:p>
          <a:p>
            <a:pPr lvl="0"/>
            <a:r>
              <a:rPr kumimoji="1" lang="en-US" altLang="ja-JP"/>
              <a:t>9</a:t>
            </a:r>
          </a:p>
          <a:p>
            <a:pPr lvl="0"/>
            <a:r>
              <a:rPr kumimoji="1" lang="en-US" altLang="ja-JP"/>
              <a:t>14</a:t>
            </a:r>
          </a:p>
          <a:p>
            <a:pPr lvl="0"/>
            <a:r>
              <a:rPr kumimoji="1" lang="en-US" altLang="ja-JP"/>
              <a:t>18</a:t>
            </a:r>
          </a:p>
          <a:p>
            <a:pPr lvl="0"/>
            <a:r>
              <a:rPr kumimoji="1" lang="en-US" altLang="ja-JP"/>
              <a:t>20</a:t>
            </a:r>
            <a:endParaRPr kumimoji="1" lang="ja-JP" altLang="en-US"/>
          </a:p>
        </p:txBody>
      </p:sp>
      <p:sp>
        <p:nvSpPr>
          <p:cNvPr id="7" name="テキスト プレースホルダー 9"/>
          <p:cNvSpPr>
            <a:spLocks noGrp="1"/>
          </p:cNvSpPr>
          <p:nvPr>
            <p:ph type="body" sz="quarter" idx="14" hasCustomPrompt="1"/>
          </p:nvPr>
        </p:nvSpPr>
        <p:spPr>
          <a:xfrm>
            <a:off x="654221" y="1382712"/>
            <a:ext cx="10160336" cy="4791259"/>
          </a:xfrm>
          <a:prstGeom prst="rect">
            <a:avLst/>
          </a:prstGeom>
        </p:spPr>
        <p:txBody>
          <a:bodyPr/>
          <a:lstStyle>
            <a:lvl1pPr marL="457063" marR="0" indent="-457063" algn="l" defTabSz="91412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0977" algn="dec"/>
              </a:tabLst>
              <a:defRPr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lvl="0"/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063" marR="0" lvl="0" indent="-457063" algn="l" defTabSz="91412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0977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063" marR="0" lvl="0" indent="-457063" algn="l" defTabSz="91412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0977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063" marR="0" lvl="0" indent="-457063" algn="l" defTabSz="91412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0977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063" marR="0" lvl="0" indent="-457063" algn="l" defTabSz="91412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0977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063" marR="0" lvl="0" indent="-457063" algn="l" defTabSz="91412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0977" algn="dec"/>
              </a:tabLst>
              <a:defRPr/>
            </a:pPr>
            <a:r>
              <a:rPr kumimoji="1" lang="ja-JP" altLang="en-US"/>
              <a:t>ダミーテキスト</a:t>
            </a:r>
            <a:r>
              <a:rPr kumimoji="1" lang="en-US" altLang="ja-JP"/>
              <a:t>24pt</a:t>
            </a:r>
            <a:r>
              <a:rPr kumimoji="1" lang="ja-JP" altLang="en-US"/>
              <a:t>  ･･･････････････････････････････････････････</a:t>
            </a:r>
            <a:endParaRPr kumimoji="1" lang="en-US" altLang="ja-JP"/>
          </a:p>
          <a:p>
            <a:pPr lvl="0"/>
            <a:endParaRPr kumimoji="1" lang="en-US" altLang="ja-JP"/>
          </a:p>
          <a:p>
            <a:pPr lvl="0"/>
            <a:endParaRPr kumimoji="1" lang="en-US" altLang="ja-JP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kumimoji="1" lang="ja-JP" altLang="en-US"/>
              <a:t>目次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959" y="420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 sz="1799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52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/>
          <p:nvPr userDrawn="1"/>
        </p:nvSpPr>
        <p:spPr bwMode="ltGray">
          <a:xfrm>
            <a:off x="2" y="0"/>
            <a:ext cx="12192000" cy="61739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244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89728" y="2905200"/>
            <a:ext cx="10919008" cy="5232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ja-JP" altLang="en-US"/>
              <a:t>セクション名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1917" y="833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799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805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 userDrawn="1"/>
        </p:nvSpPr>
        <p:spPr>
          <a:xfrm>
            <a:off x="2451806" y="1651667"/>
            <a:ext cx="745118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ja-JP" altLang="en-US" sz="3599" b="1">
                <a:solidFill>
                  <a:schemeClr val="accent6"/>
                </a:solidFill>
              </a:rPr>
              <a:t>本資料の取扱上の注意</a:t>
            </a:r>
          </a:p>
          <a:p>
            <a:pPr marL="0" indent="0" algn="ctr">
              <a:buNone/>
            </a:pPr>
            <a:endParaRPr lang="en-US" altLang="ja-JP" sz="1600" b="1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ja-JP" altLang="en-US" sz="1600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799"/>
              <a:t>本資料には機密情報が含まれています。情報管理責任者による承諾なしに第三者への開示はできません。</a:t>
            </a:r>
            <a:endParaRPr lang="en-US" altLang="ja-JP" sz="2799"/>
          </a:p>
          <a:p>
            <a:pPr marL="0" indent="0">
              <a:buNone/>
            </a:pPr>
            <a:endParaRPr lang="ja-JP" altLang="en-US" sz="2799"/>
          </a:p>
          <a:p>
            <a:pPr marL="0" indent="0" algn="ctr">
              <a:buNone/>
            </a:pPr>
            <a:r>
              <a:rPr lang="ja-JP" altLang="en-US" sz="2799"/>
              <a:t>東京エレクトロン</a:t>
            </a:r>
          </a:p>
        </p:txBody>
      </p:sp>
    </p:spTree>
    <p:extLst>
      <p:ext uri="{BB962C8B-B14F-4D97-AF65-F5344CB8AC3E}">
        <p14:creationId xmlns:p14="http://schemas.microsoft.com/office/powerpoint/2010/main" val="243436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654222" y="461964"/>
            <a:ext cx="10918493" cy="53036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999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10" name="テキスト プレースホルダー 3"/>
          <p:cNvSpPr>
            <a:spLocks noGrp="1"/>
          </p:cNvSpPr>
          <p:nvPr>
            <p:ph type="body" sz="quarter" idx="13" hasCustomPrompt="1"/>
          </p:nvPr>
        </p:nvSpPr>
        <p:spPr>
          <a:xfrm>
            <a:off x="670391" y="1382713"/>
            <a:ext cx="5295547" cy="478948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24pt</a:t>
            </a:r>
            <a:r>
              <a:rPr kumimoji="1" lang="ja-JP" altLang="en-US"/>
              <a:t>のメイリオで入力します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テキスト プレースホルダー 3"/>
          <p:cNvSpPr>
            <a:spLocks noGrp="1"/>
          </p:cNvSpPr>
          <p:nvPr>
            <p:ph type="body" sz="quarter" idx="16" hasCustomPrompt="1"/>
          </p:nvPr>
        </p:nvSpPr>
        <p:spPr>
          <a:xfrm>
            <a:off x="6269081" y="1389640"/>
            <a:ext cx="5295547" cy="478948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24pt</a:t>
            </a:r>
            <a:r>
              <a:rPr kumimoji="1" lang="ja-JP" altLang="en-US"/>
              <a:t>のメイリオで入力します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7745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654222" y="461964"/>
            <a:ext cx="10918493" cy="53036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999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6289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654221" y="461964"/>
            <a:ext cx="10918493" cy="53036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30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10" name="テキスト プレースホルダー 3"/>
          <p:cNvSpPr>
            <a:spLocks noGrp="1"/>
          </p:cNvSpPr>
          <p:nvPr>
            <p:ph type="body" sz="quarter" idx="13" hasCustomPrompt="1"/>
          </p:nvPr>
        </p:nvSpPr>
        <p:spPr>
          <a:xfrm>
            <a:off x="670390" y="1382713"/>
            <a:ext cx="5295547" cy="478948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24pt</a:t>
            </a:r>
            <a:r>
              <a:rPr kumimoji="1" lang="ja-JP" altLang="en-US"/>
              <a:t>のメイリオで入力します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テキスト プレースホルダー 3"/>
          <p:cNvSpPr>
            <a:spLocks noGrp="1"/>
          </p:cNvSpPr>
          <p:nvPr>
            <p:ph type="body" sz="quarter" idx="16" hasCustomPrompt="1"/>
          </p:nvPr>
        </p:nvSpPr>
        <p:spPr>
          <a:xfrm>
            <a:off x="6269080" y="1389640"/>
            <a:ext cx="5295547" cy="478948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本文は</a:t>
            </a:r>
            <a:r>
              <a:rPr kumimoji="1" lang="en-US" altLang="ja-JP"/>
              <a:t>24pt</a:t>
            </a:r>
            <a:r>
              <a:rPr kumimoji="1" lang="ja-JP" altLang="en-US"/>
              <a:t>のメイリオで入力します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9544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, Sub-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6495025"/>
              </p:ext>
            </p:extLst>
          </p:nvPr>
        </p:nvGraphicFramePr>
        <p:xfrm>
          <a:off x="1960" y="1595"/>
          <a:ext cx="1954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470" imgH="469" progId="TCLayout.ActiveDocument.1">
                  <p:embed/>
                </p:oleObj>
              </mc:Choice>
              <mc:Fallback>
                <p:oleObj name="think-cell スライド" r:id="rId4" imgW="470" imgH="469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5"/>
                        <a:ext cx="1954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 hidden="1">
            <a:extLst>
              <a:ext uri="{FF2B5EF4-FFF2-40B4-BE49-F238E27FC236}">
                <a16:creationId xmlns:a16="http://schemas.microsoft.com/office/drawing/2014/main" id="{E9D77052-51AC-4D7E-B108-2079FE5218E4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gray">
          <a:xfrm>
            <a:off x="3" y="0"/>
            <a:ext cx="195385" cy="158750"/>
          </a:xfrm>
          <a:prstGeom prst="rect">
            <a:avLst/>
          </a:prstGeom>
          <a:solidFill>
            <a:srgbClr val="778888">
              <a:lumMod val="20000"/>
              <a:lumOff val="80000"/>
            </a:srgbClr>
          </a:solidFill>
          <a:ln w="6350">
            <a:solidFill>
              <a:srgbClr val="778888">
                <a:lumMod val="20000"/>
                <a:lumOff val="80000"/>
              </a:srgbClr>
            </a:solidFill>
            <a:miter lim="800000"/>
            <a:headEnd/>
            <a:tailEnd/>
          </a:ln>
          <a:effectLst/>
        </p:spPr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669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597" b="1" i="0" kern="0" baseline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1B717F86-B451-DBAB-E520-08377DD7E4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499" y="404665"/>
            <a:ext cx="11523001" cy="576411"/>
          </a:xfrm>
        </p:spPr>
        <p:txBody>
          <a:bodyPr/>
          <a:lstStyle/>
          <a:p>
            <a:pPr lvl="0"/>
            <a:r>
              <a:rPr kumimoji="1" lang="ja-JP" altLang="en-US"/>
              <a:t>タイトル </a:t>
            </a:r>
            <a:r>
              <a:rPr kumimoji="1" lang="en-US" altLang="ja-JP"/>
              <a:t>Meiryo</a:t>
            </a:r>
            <a:r>
              <a:rPr kumimoji="1" lang="ja-JP" altLang="en-US"/>
              <a:t> </a:t>
            </a:r>
            <a:r>
              <a:rPr kumimoji="1" lang="en-US" altLang="ja-JP"/>
              <a:t>UI 30pt</a:t>
            </a:r>
            <a:endParaRPr kumimoji="1" lang="ja-JP" altLang="en-US"/>
          </a:p>
        </p:txBody>
      </p:sp>
      <p:sp>
        <p:nvSpPr>
          <p:cNvPr id="6" name="テキスト プレースホルダー 3">
            <a:extLst>
              <a:ext uri="{FF2B5EF4-FFF2-40B4-BE49-F238E27FC236}">
                <a16:creationId xmlns:a16="http://schemas.microsoft.com/office/drawing/2014/main" id="{AF1CDE01-ABAD-DD4A-7851-479D520D66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480" y="1052999"/>
            <a:ext cx="11523620" cy="4320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ヘッドライン </a:t>
            </a:r>
            <a:r>
              <a:rPr kumimoji="1" lang="en-US" altLang="ja-JP"/>
              <a:t>Meiryo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</a:p>
        </p:txBody>
      </p:sp>
    </p:spTree>
    <p:extLst>
      <p:ext uri="{BB962C8B-B14F-4D97-AF65-F5344CB8AC3E}">
        <p14:creationId xmlns:p14="http://schemas.microsoft.com/office/powerpoint/2010/main" val="148341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  <p15:guide id="2" pos="3612">
          <p15:clr>
            <a:srgbClr val="FBAE40"/>
          </p15:clr>
        </p15:guide>
        <p15:guide id="3" pos="4066">
          <p15:clr>
            <a:srgbClr val="FBAE40"/>
          </p15:clr>
        </p15:guide>
        <p15:guide id="4" orient="horz" pos="3884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head (top)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B8BBF38-CFD8-9DC5-2CCB-2091B561773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5595006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415" imgH="416" progId="TCLayout.ActiveDocument.1">
                  <p:embed/>
                </p:oleObj>
              </mc:Choice>
              <mc:Fallback>
                <p:oleObj name="think-cell スライド" r:id="rId3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B8BBF38-CFD8-9DC5-2CCB-2091B56177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ubtitle">
            <a:extLst>
              <a:ext uri="{FF2B5EF4-FFF2-40B4-BE49-F238E27FC236}">
                <a16:creationId xmlns:a16="http://schemas.microsoft.com/office/drawing/2014/main" id="{1F5D0AC9-20E5-44AB-A57F-159FD31A7C3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00779" y="1013229"/>
            <a:ext cx="11376000" cy="353943"/>
          </a:xfrm>
          <a:prstGeom prst="rect">
            <a:avLst/>
          </a:prstGeom>
        </p:spPr>
        <p:txBody>
          <a:bodyPr wrap="square" tIns="0" anchor="t">
            <a:spAutoFit/>
          </a:bodyPr>
          <a:lstStyle>
            <a:lvl1pPr marL="0" marR="0" indent="0" algn="l" defTabSz="17345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 b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/>
              <a:t>Insert subtitle here at </a:t>
            </a:r>
            <a:r>
              <a:rPr lang="en-US" altLang="ja-JP"/>
              <a:t>20</a:t>
            </a:r>
            <a:r>
              <a:rPr lang="en-US"/>
              <a:t>pt, align to the baseline of the title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962A254E-2854-48FA-8F65-0066AC7FF3B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0779" y="100783"/>
            <a:ext cx="11376000" cy="353943"/>
          </a:xfrm>
          <a:prstGeom prst="rect">
            <a:avLst/>
          </a:prstGeom>
        </p:spPr>
        <p:txBody>
          <a:bodyPr wrap="square" tIns="0" anchor="ctr">
            <a:spAutoFit/>
          </a:bodyPr>
          <a:lstStyle>
            <a:lvl1pPr marL="0" marR="0" indent="0" algn="l" defTabSz="17345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2000" b="1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noProof="0"/>
              <a:t>Insert subhead here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4F6B60F4-9919-41FE-A603-015DB9F0B9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79" y="518316"/>
            <a:ext cx="11376000" cy="432000"/>
          </a:xfrm>
        </p:spPr>
        <p:txBody>
          <a:bodyPr vert="horz" tIns="0" bIns="0" anchor="b" anchorCtr="0">
            <a:noAutofit/>
          </a:bodyPr>
          <a:lstStyle>
            <a:lvl1pPr>
              <a:lnSpc>
                <a:spcPct val="80000"/>
              </a:lnSpc>
              <a:defRPr sz="2800" b="1">
                <a:latin typeface="+mn-ea"/>
                <a:ea typeface="+mn-ea"/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31727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461572"/>
            <a:ext cx="10919008" cy="523220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6" name="コンテンツ プレースホルダー 1"/>
          <p:cNvSpPr txBox="1">
            <a:spLocks/>
          </p:cNvSpPr>
          <p:nvPr userDrawn="1"/>
        </p:nvSpPr>
        <p:spPr>
          <a:xfrm>
            <a:off x="347434" y="1906457"/>
            <a:ext cx="11523001" cy="680818"/>
          </a:xfrm>
          <a:prstGeom prst="rect">
            <a:avLst/>
          </a:prstGeom>
        </p:spPr>
        <p:txBody>
          <a:bodyPr vert="horz" lIns="29258" tIns="29258" rIns="29258" bIns="29258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kumimoji="1" sz="1600" b="0" kern="1200">
                <a:solidFill>
                  <a:schemeClr val="tx1"/>
                </a:solidFill>
                <a:latin typeface="+mn-ea"/>
                <a:ea typeface="+mn-ea"/>
                <a:cs typeface="Meiryo UI" panose="020B0604030504040204" pitchFamily="50" charset="-128"/>
              </a:defRPr>
            </a:lvl1pPr>
            <a:lvl2pPr marL="225425" indent="0" algn="l" defTabSz="914400" rtl="0" eaLnBrk="1" latinLnBrk="0" hangingPunct="1">
              <a:lnSpc>
                <a:spcPct val="100000"/>
              </a:lnSpc>
              <a:spcBef>
                <a:spcPts val="624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kumimoji="1" sz="1600" kern="120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kumimoji="1" sz="1600" kern="1200" baseline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defRPr>
            </a:lvl3pPr>
            <a:lvl4pPr marL="688975" indent="0" algn="l" defTabSz="914400" rtl="0" eaLnBrk="1" latinLnBrk="0" hangingPunct="1">
              <a:lnSpc>
                <a:spcPct val="100000"/>
              </a:lnSpc>
              <a:spcBef>
                <a:spcPts val="528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kumimoji="1" sz="1600" kern="1200" baseline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kumimoji="1" sz="1600" kern="1200" baseline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000000"/>
              </a:buClr>
              <a:defRPr/>
            </a:pPr>
            <a:endParaRPr lang="ja-JP" altLang="en-US" sz="1463">
              <a:solidFill>
                <a:srgbClr val="000000"/>
              </a:solidFill>
            </a:endParaRP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649431" y="1345474"/>
            <a:ext cx="10919008" cy="509501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9879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wo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461572"/>
            <a:ext cx="10919008" cy="523220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kumimoji="1" lang="ja-JP" altLang="en-US"/>
              <a:t>見出し メイリオ</a:t>
            </a:r>
            <a:r>
              <a:rPr kumimoji="1" lang="en-US" altLang="ja-JP"/>
              <a:t>30pt</a:t>
            </a:r>
            <a:endParaRPr kumimoji="1" lang="ja-JP" altLang="en-US"/>
          </a:p>
        </p:txBody>
      </p:sp>
      <p:sp>
        <p:nvSpPr>
          <p:cNvPr id="6" name="コンテンツ プレースホルダー 1"/>
          <p:cNvSpPr txBox="1">
            <a:spLocks/>
          </p:cNvSpPr>
          <p:nvPr userDrawn="1"/>
        </p:nvSpPr>
        <p:spPr>
          <a:xfrm>
            <a:off x="347434" y="1906457"/>
            <a:ext cx="11523001" cy="680818"/>
          </a:xfrm>
          <a:prstGeom prst="rect">
            <a:avLst/>
          </a:prstGeom>
        </p:spPr>
        <p:txBody>
          <a:bodyPr vert="horz" lIns="29258" tIns="29258" rIns="29258" bIns="29258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kumimoji="1" sz="1600" b="0" kern="1200">
                <a:solidFill>
                  <a:schemeClr val="tx1"/>
                </a:solidFill>
                <a:latin typeface="+mn-ea"/>
                <a:ea typeface="+mn-ea"/>
                <a:cs typeface="Meiryo UI" panose="020B0604030504040204" pitchFamily="50" charset="-128"/>
              </a:defRPr>
            </a:lvl1pPr>
            <a:lvl2pPr marL="225425" indent="0" algn="l" defTabSz="914400" rtl="0" eaLnBrk="1" latinLnBrk="0" hangingPunct="1">
              <a:lnSpc>
                <a:spcPct val="100000"/>
              </a:lnSpc>
              <a:spcBef>
                <a:spcPts val="624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kumimoji="1" sz="1600" kern="120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kumimoji="1" sz="1600" kern="1200" baseline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defRPr>
            </a:lvl3pPr>
            <a:lvl4pPr marL="688975" indent="0" algn="l" defTabSz="914400" rtl="0" eaLnBrk="1" latinLnBrk="0" hangingPunct="1">
              <a:lnSpc>
                <a:spcPct val="100000"/>
              </a:lnSpc>
              <a:spcBef>
                <a:spcPts val="528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kumimoji="1" sz="1600" kern="1200" baseline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itchFamily="34" charset="0"/>
              <a:buNone/>
              <a:defRPr kumimoji="1" sz="1600" kern="1200" baseline="0">
                <a:solidFill>
                  <a:srgbClr val="000000"/>
                </a:solidFill>
                <a:latin typeface="+mn-ea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Clr>
                <a:srgbClr val="000000"/>
              </a:buClr>
              <a:defRPr/>
            </a:pPr>
            <a:endParaRPr lang="ja-JP" altLang="en-US" sz="1463">
              <a:solidFill>
                <a:srgbClr val="000000"/>
              </a:solidFill>
            </a:endParaRP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649431" y="1345474"/>
            <a:ext cx="10919008" cy="509501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90460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Photo 1">
    <p:bg>
      <p:bgPr>
        <a:solidFill>
          <a:srgbClr val="201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520A450A-F134-408F-B9DD-F5C2078C69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63182"/>
            <a:ext cx="12192000" cy="3094819"/>
          </a:xfrm>
          <a:prstGeom prst="rect">
            <a:avLst/>
          </a:prstGeom>
        </p:spPr>
      </p:pic>
      <p:sp>
        <p:nvSpPr>
          <p:cNvPr id="30" name="テキスト プレースホルダー 6"/>
          <p:cNvSpPr>
            <a:spLocks noGrp="1"/>
          </p:cNvSpPr>
          <p:nvPr>
            <p:ph type="body" sz="quarter" idx="11" hasCustomPrompt="1"/>
          </p:nvPr>
        </p:nvSpPr>
        <p:spPr>
          <a:xfrm>
            <a:off x="649430" y="2615044"/>
            <a:ext cx="5565637" cy="381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>
                <a:solidFill>
                  <a:srgbClr val="FFFFFF"/>
                </a:solidFill>
              </a:rPr>
              <a:t>Date 18pt (e.g., October 1, 2024)</a:t>
            </a:r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12" hasCustomPrompt="1"/>
          </p:nvPr>
        </p:nvSpPr>
        <p:spPr>
          <a:xfrm>
            <a:off x="649430" y="3152747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Presenter 18pt</a:t>
            </a:r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49430" y="3444629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Title 18pt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649430" y="3737350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Department / Company name 18pt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sp>
        <p:nvSpPr>
          <p:cNvPr id="54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1789200"/>
            <a:ext cx="10919008" cy="523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Presentation Title, Arial 30pt Title Case</a:t>
            </a:r>
            <a:endParaRPr kumimoji="1" lang="ja-JP" altLang="en-US"/>
          </a:p>
        </p:txBody>
      </p:sp>
      <p:sp>
        <p:nvSpPr>
          <p:cNvPr id="55" name="フッター プレースホルダー 2"/>
          <p:cNvSpPr>
            <a:spLocks noGrp="1"/>
          </p:cNvSpPr>
          <p:nvPr userDrawn="1"/>
        </p:nvSpPr>
        <p:spPr>
          <a:xfrm>
            <a:off x="8362579" y="183315"/>
            <a:ext cx="3248511" cy="240033"/>
          </a:xfrm>
          <a:prstGeom prst="rect">
            <a:avLst/>
          </a:prstGeom>
        </p:spPr>
        <p:txBody>
          <a:bodyPr vert="horz" wrap="none" lIns="0" tIns="0" rIns="18000" bIns="720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en-US" altLang="ja-JP" sz="800" kern="1200" smtClean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baseline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Internal Use Only</a:t>
            </a:r>
            <a:endParaRPr lang="en-US" altLang="ja-JP" sz="1200" b="0">
              <a:solidFill>
                <a:schemeClr val="bg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C6040401-7DF0-4B56-A9FE-03471B757289}"/>
              </a:ext>
            </a:extLst>
          </p:cNvPr>
          <p:cNvGrpSpPr/>
          <p:nvPr userDrawn="1"/>
        </p:nvGrpSpPr>
        <p:grpSpPr>
          <a:xfrm>
            <a:off x="-994518" y="0"/>
            <a:ext cx="824135" cy="6857448"/>
            <a:chOff x="-994259" y="0"/>
            <a:chExt cx="823920" cy="6819676"/>
          </a:xfrm>
        </p:grpSpPr>
        <p:sp>
          <p:nvSpPr>
            <p:cNvPr id="12" name="Rectangle 33">
              <a:extLst>
                <a:ext uri="{FF2B5EF4-FFF2-40B4-BE49-F238E27FC236}">
                  <a16:creationId xmlns:a16="http://schemas.microsoft.com/office/drawing/2014/main" id="{DC1235BD-17B1-4E20-A930-F3F7852A5D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89" y="0"/>
              <a:ext cx="743150" cy="681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altLang="ja-JP" sz="900"/>
                <a:t>Cyan</a:t>
              </a:r>
            </a:p>
          </p:txBody>
        </p:sp>
        <p:sp>
          <p:nvSpPr>
            <p:cNvPr id="13" name="Rectangle 30">
              <a:extLst>
                <a:ext uri="{FF2B5EF4-FFF2-40B4-BE49-F238E27FC236}">
                  <a16:creationId xmlns:a16="http://schemas.microsoft.com/office/drawing/2014/main" id="{38C71532-A64F-4222-BDBA-D1C3C93345D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2042809"/>
              <a:ext cx="743150" cy="681349"/>
            </a:xfrm>
            <a:prstGeom prst="rect">
              <a:avLst/>
            </a:prstGeom>
            <a:solidFill>
              <a:srgbClr val="FFFF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4B4F54"/>
                  </a:solidFill>
                </a:rPr>
                <a:t>White</a:t>
              </a:r>
            </a:p>
          </p:txBody>
        </p:sp>
        <p:sp>
          <p:nvSpPr>
            <p:cNvPr id="14" name="Rectangle 31">
              <a:extLst>
                <a:ext uri="{FF2B5EF4-FFF2-40B4-BE49-F238E27FC236}">
                  <a16:creationId xmlns:a16="http://schemas.microsoft.com/office/drawing/2014/main" id="{7AAAC3F9-4DFA-4A26-A8F8-4B10E80A16C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681348"/>
              <a:ext cx="743150" cy="681349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Gray</a:t>
              </a:r>
            </a:p>
          </p:txBody>
        </p:sp>
        <p:sp>
          <p:nvSpPr>
            <p:cNvPr id="15" name="Rectangle 39">
              <a:extLst>
                <a:ext uri="{FF2B5EF4-FFF2-40B4-BE49-F238E27FC236}">
                  <a16:creationId xmlns:a16="http://schemas.microsoft.com/office/drawing/2014/main" id="{71333BE1-1914-49B0-9374-B216ACFE9A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2724157"/>
              <a:ext cx="743150" cy="6813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Magenta</a:t>
              </a:r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AD30D4BD-E220-4AF7-B0CC-95A4CEDA758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4087970"/>
              <a:ext cx="743150" cy="6813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Turquoise</a:t>
              </a:r>
            </a:p>
          </p:txBody>
        </p:sp>
        <p:sp>
          <p:nvSpPr>
            <p:cNvPr id="17" name="Rectangle 42">
              <a:extLst>
                <a:ext uri="{FF2B5EF4-FFF2-40B4-BE49-F238E27FC236}">
                  <a16:creationId xmlns:a16="http://schemas.microsoft.com/office/drawing/2014/main" id="{1F6AB3E9-68A9-4B3D-92A1-0E5D4520F0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4765237"/>
              <a:ext cx="743150" cy="68134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Green</a:t>
              </a:r>
            </a:p>
          </p:txBody>
        </p:sp>
        <p:sp>
          <p:nvSpPr>
            <p:cNvPr id="18" name="Rectangle 43">
              <a:extLst>
                <a:ext uri="{FF2B5EF4-FFF2-40B4-BE49-F238E27FC236}">
                  <a16:creationId xmlns:a16="http://schemas.microsoft.com/office/drawing/2014/main" id="{7289A3AA-50C3-4F8D-A765-A3C4640E6EA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5451781"/>
              <a:ext cx="743150" cy="681349"/>
            </a:xfrm>
            <a:prstGeom prst="rect">
              <a:avLst/>
            </a:prstGeom>
            <a:solidFill>
              <a:srgbClr val="EE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Yellow</a:t>
              </a:r>
            </a:p>
          </p:txBody>
        </p:sp>
        <p:sp>
          <p:nvSpPr>
            <p:cNvPr id="19" name="TextBox 58">
              <a:extLst>
                <a:ext uri="{FF2B5EF4-FFF2-40B4-BE49-F238E27FC236}">
                  <a16:creationId xmlns:a16="http://schemas.microsoft.com/office/drawing/2014/main" id="{E2FE0EAA-5BE8-4666-8CC1-34A5EAFC7796}"/>
                </a:ext>
              </a:extLst>
            </p:cNvPr>
            <p:cNvSpPr txBox="1"/>
            <p:nvPr userDrawn="1"/>
          </p:nvSpPr>
          <p:spPr>
            <a:xfrm>
              <a:off x="-990122" y="226034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255</a:t>
              </a:r>
            </a:p>
          </p:txBody>
        </p:sp>
        <p:sp>
          <p:nvSpPr>
            <p:cNvPr id="20" name="TextBox 59">
              <a:extLst>
                <a:ext uri="{FF2B5EF4-FFF2-40B4-BE49-F238E27FC236}">
                  <a16:creationId xmlns:a16="http://schemas.microsoft.com/office/drawing/2014/main" id="{7705BB73-BCF6-4105-85FE-907670274ADC}"/>
                </a:ext>
              </a:extLst>
            </p:cNvPr>
            <p:cNvSpPr txBox="1"/>
            <p:nvPr userDrawn="1"/>
          </p:nvSpPr>
          <p:spPr>
            <a:xfrm>
              <a:off x="-994259" y="896067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21" name="TextBox 60">
              <a:extLst>
                <a:ext uri="{FF2B5EF4-FFF2-40B4-BE49-F238E27FC236}">
                  <a16:creationId xmlns:a16="http://schemas.microsoft.com/office/drawing/2014/main" id="{034DB8B0-61BA-4414-BFC2-DDD66721A710}"/>
                </a:ext>
              </a:extLst>
            </p:cNvPr>
            <p:cNvSpPr txBox="1"/>
            <p:nvPr userDrawn="1"/>
          </p:nvSpPr>
          <p:spPr>
            <a:xfrm>
              <a:off x="-990121" y="20842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169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224</a:t>
              </a:r>
            </a:p>
          </p:txBody>
        </p:sp>
        <p:sp>
          <p:nvSpPr>
            <p:cNvPr id="22" name="TextBox 62">
              <a:extLst>
                <a:ext uri="{FF2B5EF4-FFF2-40B4-BE49-F238E27FC236}">
                  <a16:creationId xmlns:a16="http://schemas.microsoft.com/office/drawing/2014/main" id="{1314B836-6D90-4DE2-89BD-354ACC9F2E3D}"/>
                </a:ext>
              </a:extLst>
            </p:cNvPr>
            <p:cNvSpPr txBox="1"/>
            <p:nvPr userDrawn="1"/>
          </p:nvSpPr>
          <p:spPr>
            <a:xfrm>
              <a:off x="-990121" y="294854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218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132</a:t>
              </a:r>
            </a:p>
          </p:txBody>
        </p:sp>
        <p:sp>
          <p:nvSpPr>
            <p:cNvPr id="23" name="TextBox 64">
              <a:extLst>
                <a:ext uri="{FF2B5EF4-FFF2-40B4-BE49-F238E27FC236}">
                  <a16:creationId xmlns:a16="http://schemas.microsoft.com/office/drawing/2014/main" id="{E14431EF-1A87-4ABE-8047-EB329AEBB123}"/>
                </a:ext>
              </a:extLst>
            </p:cNvPr>
            <p:cNvSpPr txBox="1"/>
            <p:nvPr userDrawn="1"/>
          </p:nvSpPr>
          <p:spPr>
            <a:xfrm>
              <a:off x="-990122" y="431661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178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169</a:t>
              </a:r>
            </a:p>
          </p:txBody>
        </p:sp>
        <p:sp>
          <p:nvSpPr>
            <p:cNvPr id="24" name="TextBox 65">
              <a:extLst>
                <a:ext uri="{FF2B5EF4-FFF2-40B4-BE49-F238E27FC236}">
                  <a16:creationId xmlns:a16="http://schemas.microsoft.com/office/drawing/2014/main" id="{39D0A5D2-4D55-4B19-96E8-60BA497D451B}"/>
                </a:ext>
              </a:extLst>
            </p:cNvPr>
            <p:cNvSpPr txBox="1"/>
            <p:nvPr userDrawn="1"/>
          </p:nvSpPr>
          <p:spPr>
            <a:xfrm>
              <a:off x="-990122" y="500065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120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190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32</a:t>
              </a:r>
            </a:p>
          </p:txBody>
        </p:sp>
        <p:sp>
          <p:nvSpPr>
            <p:cNvPr id="25" name="TextBox 66">
              <a:extLst>
                <a:ext uri="{FF2B5EF4-FFF2-40B4-BE49-F238E27FC236}">
                  <a16:creationId xmlns:a16="http://schemas.microsoft.com/office/drawing/2014/main" id="{663C0ED0-4D0C-438F-A64F-938B505939B6}"/>
                </a:ext>
              </a:extLst>
            </p:cNvPr>
            <p:cNvSpPr txBox="1"/>
            <p:nvPr userDrawn="1"/>
          </p:nvSpPr>
          <p:spPr>
            <a:xfrm>
              <a:off x="-990122" y="5684689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238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0</a:t>
              </a:r>
            </a:p>
          </p:txBody>
        </p:sp>
        <p:sp>
          <p:nvSpPr>
            <p:cNvPr id="26" name="Rectangle 43">
              <a:extLst>
                <a:ext uri="{FF2B5EF4-FFF2-40B4-BE49-F238E27FC236}">
                  <a16:creationId xmlns:a16="http://schemas.microsoft.com/office/drawing/2014/main" id="{31E443B5-EFA6-4833-8BDB-BA53A372433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6138327"/>
              <a:ext cx="743150" cy="681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Orange</a:t>
              </a:r>
            </a:p>
          </p:txBody>
        </p:sp>
        <p:sp>
          <p:nvSpPr>
            <p:cNvPr id="27" name="TextBox 66">
              <a:extLst>
                <a:ext uri="{FF2B5EF4-FFF2-40B4-BE49-F238E27FC236}">
                  <a16:creationId xmlns:a16="http://schemas.microsoft.com/office/drawing/2014/main" id="{7E074B8C-97E6-4B01-A137-BEE4028EF20C}"/>
                </a:ext>
              </a:extLst>
            </p:cNvPr>
            <p:cNvSpPr txBox="1"/>
            <p:nvPr userDrawn="1"/>
          </p:nvSpPr>
          <p:spPr>
            <a:xfrm>
              <a:off x="-990121" y="6388997"/>
              <a:ext cx="628050" cy="430399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106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19</a:t>
              </a:r>
            </a:p>
          </p:txBody>
        </p:sp>
        <p:sp>
          <p:nvSpPr>
            <p:cNvPr id="28" name="Rectangle 40">
              <a:extLst>
                <a:ext uri="{FF2B5EF4-FFF2-40B4-BE49-F238E27FC236}">
                  <a16:creationId xmlns:a16="http://schemas.microsoft.com/office/drawing/2014/main" id="{803677CE-246D-44DC-AE8A-D0D7D8B790C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3401424"/>
              <a:ext cx="743150" cy="6813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Purple</a:t>
              </a:r>
            </a:p>
          </p:txBody>
        </p:sp>
        <p:sp>
          <p:nvSpPr>
            <p:cNvPr id="29" name="TextBox 63">
              <a:extLst>
                <a:ext uri="{FF2B5EF4-FFF2-40B4-BE49-F238E27FC236}">
                  <a16:creationId xmlns:a16="http://schemas.microsoft.com/office/drawing/2014/main" id="{74094D33-CFCE-4A2C-BFA4-DB296A3D0721}"/>
                </a:ext>
              </a:extLst>
            </p:cNvPr>
            <p:cNvSpPr txBox="1"/>
            <p:nvPr userDrawn="1"/>
          </p:nvSpPr>
          <p:spPr>
            <a:xfrm>
              <a:off x="-990122" y="363258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R	128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G	49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B	167</a:t>
              </a: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4F9BDF5B-16D0-4B6E-9834-F72FE78D005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1362697"/>
              <a:ext cx="743150" cy="68134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chemeClr val="tx1"/>
                  </a:solidFill>
                </a:rPr>
                <a:t>Light Gray</a:t>
              </a:r>
            </a:p>
          </p:txBody>
        </p:sp>
        <p:sp>
          <p:nvSpPr>
            <p:cNvPr id="34" name="TextBox 59">
              <a:extLst>
                <a:ext uri="{FF2B5EF4-FFF2-40B4-BE49-F238E27FC236}">
                  <a16:creationId xmlns:a16="http://schemas.microsoft.com/office/drawing/2014/main" id="{E6358E5F-C972-4F6C-8EA4-70807D7430CB}"/>
                </a:ext>
              </a:extLst>
            </p:cNvPr>
            <p:cNvSpPr txBox="1"/>
            <p:nvPr userDrawn="1"/>
          </p:nvSpPr>
          <p:spPr>
            <a:xfrm>
              <a:off x="-994259" y="1577416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</p:txBody>
        </p:sp>
      </p:grpSp>
      <p:pic>
        <p:nvPicPr>
          <p:cNvPr id="37" name="図 36">
            <a:extLst>
              <a:ext uri="{FF2B5EF4-FFF2-40B4-BE49-F238E27FC236}">
                <a16:creationId xmlns:a16="http://schemas.microsoft.com/office/drawing/2014/main" id="{DD0A41A3-9C29-4036-B6BD-6E0E51D369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56"/>
          <a:stretch/>
        </p:blipFill>
        <p:spPr>
          <a:xfrm>
            <a:off x="641795" y="497605"/>
            <a:ext cx="1156737" cy="7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99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Photo 2">
    <p:bg>
      <p:bgPr>
        <a:solidFill>
          <a:srgbClr val="201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48098912-8826-4CEA-9EC2-CBB11E19BE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63182"/>
            <a:ext cx="12192000" cy="3094819"/>
          </a:xfrm>
          <a:prstGeom prst="rect">
            <a:avLst/>
          </a:prstGeom>
        </p:spPr>
      </p:pic>
      <p:sp>
        <p:nvSpPr>
          <p:cNvPr id="33" name="テキスト プレースホルダー 6"/>
          <p:cNvSpPr>
            <a:spLocks noGrp="1"/>
          </p:cNvSpPr>
          <p:nvPr>
            <p:ph type="body" sz="quarter" idx="11" hasCustomPrompt="1"/>
          </p:nvPr>
        </p:nvSpPr>
        <p:spPr>
          <a:xfrm>
            <a:off x="649430" y="2615044"/>
            <a:ext cx="5565637" cy="381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>
                <a:solidFill>
                  <a:srgbClr val="FFFFFF"/>
                </a:solidFill>
              </a:rPr>
              <a:t>Date 18pt (e.g., October 1, 2024)</a:t>
            </a:r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2" hasCustomPrompt="1"/>
          </p:nvPr>
        </p:nvSpPr>
        <p:spPr>
          <a:xfrm>
            <a:off x="649430" y="3152747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Presenter 18pt</a:t>
            </a:r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49430" y="3444629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Title 18pt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649430" y="3737350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Department / Company name 18pt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sp>
        <p:nvSpPr>
          <p:cNvPr id="58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1789200"/>
            <a:ext cx="10919008" cy="523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Presentation Title, Arial 30pt Title Case</a:t>
            </a:r>
            <a:endParaRPr kumimoji="1" lang="ja-JP" altLang="en-US"/>
          </a:p>
        </p:txBody>
      </p:sp>
      <p:sp>
        <p:nvSpPr>
          <p:cNvPr id="30" name="フッター プレースホルダー 2"/>
          <p:cNvSpPr>
            <a:spLocks noGrp="1"/>
          </p:cNvSpPr>
          <p:nvPr userDrawn="1"/>
        </p:nvSpPr>
        <p:spPr>
          <a:xfrm>
            <a:off x="8362579" y="183315"/>
            <a:ext cx="3248511" cy="240033"/>
          </a:xfrm>
          <a:prstGeom prst="rect">
            <a:avLst/>
          </a:prstGeom>
        </p:spPr>
        <p:txBody>
          <a:bodyPr vert="horz" wrap="none" lIns="0" tIns="0" rIns="18000" bIns="720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en-US" altLang="ja-JP" sz="800" kern="1200" smtClean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baseline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Internal Use Only</a:t>
            </a:r>
            <a:endParaRPr lang="en-US" altLang="ja-JP" sz="1200" b="0">
              <a:solidFill>
                <a:schemeClr val="bg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3C13A227-F2DF-4333-B720-932E2AF070DD}"/>
              </a:ext>
            </a:extLst>
          </p:cNvPr>
          <p:cNvGrpSpPr/>
          <p:nvPr userDrawn="1"/>
        </p:nvGrpSpPr>
        <p:grpSpPr>
          <a:xfrm>
            <a:off x="-994518" y="0"/>
            <a:ext cx="824135" cy="6857448"/>
            <a:chOff x="-994259" y="0"/>
            <a:chExt cx="823920" cy="6819676"/>
          </a:xfrm>
        </p:grpSpPr>
        <p:sp>
          <p:nvSpPr>
            <p:cNvPr id="16" name="Rectangle 33">
              <a:extLst>
                <a:ext uri="{FF2B5EF4-FFF2-40B4-BE49-F238E27FC236}">
                  <a16:creationId xmlns:a16="http://schemas.microsoft.com/office/drawing/2014/main" id="{A0154AFF-B883-4770-85BF-568460F73C0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89" y="0"/>
              <a:ext cx="743150" cy="681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altLang="ja-JP" sz="900"/>
                <a:t>Cyan</a:t>
              </a:r>
            </a:p>
          </p:txBody>
        </p:sp>
        <p:sp>
          <p:nvSpPr>
            <p:cNvPr id="17" name="Rectangle 30">
              <a:extLst>
                <a:ext uri="{FF2B5EF4-FFF2-40B4-BE49-F238E27FC236}">
                  <a16:creationId xmlns:a16="http://schemas.microsoft.com/office/drawing/2014/main" id="{BB0CE2D6-1F9A-4E48-94F4-2AE66C7EC0F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2042809"/>
              <a:ext cx="743150" cy="681349"/>
            </a:xfrm>
            <a:prstGeom prst="rect">
              <a:avLst/>
            </a:prstGeom>
            <a:solidFill>
              <a:srgbClr val="FFFF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4B4F54"/>
                  </a:solidFill>
                </a:rPr>
                <a:t>White</a:t>
              </a:r>
            </a:p>
          </p:txBody>
        </p:sp>
        <p:sp>
          <p:nvSpPr>
            <p:cNvPr id="18" name="Rectangle 31">
              <a:extLst>
                <a:ext uri="{FF2B5EF4-FFF2-40B4-BE49-F238E27FC236}">
                  <a16:creationId xmlns:a16="http://schemas.microsoft.com/office/drawing/2014/main" id="{1D53B4F0-A792-49F5-8D9E-4717ED5427B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681348"/>
              <a:ext cx="743150" cy="681349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Gray</a:t>
              </a:r>
            </a:p>
          </p:txBody>
        </p:sp>
        <p:sp>
          <p:nvSpPr>
            <p:cNvPr id="19" name="Rectangle 39">
              <a:extLst>
                <a:ext uri="{FF2B5EF4-FFF2-40B4-BE49-F238E27FC236}">
                  <a16:creationId xmlns:a16="http://schemas.microsoft.com/office/drawing/2014/main" id="{C19F9C54-E376-4340-9B89-6AA0F6CAEC8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2724157"/>
              <a:ext cx="743150" cy="6813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Magenta</a:t>
              </a:r>
            </a:p>
          </p:txBody>
        </p:sp>
        <p:sp>
          <p:nvSpPr>
            <p:cNvPr id="20" name="Rectangle 41">
              <a:extLst>
                <a:ext uri="{FF2B5EF4-FFF2-40B4-BE49-F238E27FC236}">
                  <a16:creationId xmlns:a16="http://schemas.microsoft.com/office/drawing/2014/main" id="{C9CE0FD6-79CB-4AFC-A322-8663D53992E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4087970"/>
              <a:ext cx="743150" cy="6813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Turquoise</a:t>
              </a:r>
            </a:p>
          </p:txBody>
        </p:sp>
        <p:sp>
          <p:nvSpPr>
            <p:cNvPr id="21" name="Rectangle 42">
              <a:extLst>
                <a:ext uri="{FF2B5EF4-FFF2-40B4-BE49-F238E27FC236}">
                  <a16:creationId xmlns:a16="http://schemas.microsoft.com/office/drawing/2014/main" id="{119E4904-8662-4BFB-894C-50792782DF6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4765237"/>
              <a:ext cx="743150" cy="68134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Green</a:t>
              </a:r>
            </a:p>
          </p:txBody>
        </p:sp>
        <p:sp>
          <p:nvSpPr>
            <p:cNvPr id="22" name="Rectangle 43">
              <a:extLst>
                <a:ext uri="{FF2B5EF4-FFF2-40B4-BE49-F238E27FC236}">
                  <a16:creationId xmlns:a16="http://schemas.microsoft.com/office/drawing/2014/main" id="{FFB6D879-3E04-4087-A7E6-88023B0B3F7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5451781"/>
              <a:ext cx="743150" cy="681349"/>
            </a:xfrm>
            <a:prstGeom prst="rect">
              <a:avLst/>
            </a:prstGeom>
            <a:solidFill>
              <a:srgbClr val="EE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Yellow</a:t>
              </a:r>
            </a:p>
          </p:txBody>
        </p:sp>
        <p:sp>
          <p:nvSpPr>
            <p:cNvPr id="23" name="TextBox 58">
              <a:extLst>
                <a:ext uri="{FF2B5EF4-FFF2-40B4-BE49-F238E27FC236}">
                  <a16:creationId xmlns:a16="http://schemas.microsoft.com/office/drawing/2014/main" id="{5BCD53E8-2CB6-4E09-ABD7-D5AD7B5075CD}"/>
                </a:ext>
              </a:extLst>
            </p:cNvPr>
            <p:cNvSpPr txBox="1"/>
            <p:nvPr userDrawn="1"/>
          </p:nvSpPr>
          <p:spPr>
            <a:xfrm>
              <a:off x="-990122" y="226034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255</a:t>
              </a:r>
            </a:p>
          </p:txBody>
        </p:sp>
        <p:sp>
          <p:nvSpPr>
            <p:cNvPr id="24" name="TextBox 59">
              <a:extLst>
                <a:ext uri="{FF2B5EF4-FFF2-40B4-BE49-F238E27FC236}">
                  <a16:creationId xmlns:a16="http://schemas.microsoft.com/office/drawing/2014/main" id="{CBD339DE-EBFA-48FE-881A-8244E364F371}"/>
                </a:ext>
              </a:extLst>
            </p:cNvPr>
            <p:cNvSpPr txBox="1"/>
            <p:nvPr userDrawn="1"/>
          </p:nvSpPr>
          <p:spPr>
            <a:xfrm>
              <a:off x="-994259" y="896067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25" name="TextBox 60">
              <a:extLst>
                <a:ext uri="{FF2B5EF4-FFF2-40B4-BE49-F238E27FC236}">
                  <a16:creationId xmlns:a16="http://schemas.microsoft.com/office/drawing/2014/main" id="{3CB835A2-B9F6-4C13-A500-DBA854FD603E}"/>
                </a:ext>
              </a:extLst>
            </p:cNvPr>
            <p:cNvSpPr txBox="1"/>
            <p:nvPr userDrawn="1"/>
          </p:nvSpPr>
          <p:spPr>
            <a:xfrm>
              <a:off x="-990121" y="20842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169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224</a:t>
              </a:r>
            </a:p>
          </p:txBody>
        </p:sp>
        <p:sp>
          <p:nvSpPr>
            <p:cNvPr id="26" name="TextBox 62">
              <a:extLst>
                <a:ext uri="{FF2B5EF4-FFF2-40B4-BE49-F238E27FC236}">
                  <a16:creationId xmlns:a16="http://schemas.microsoft.com/office/drawing/2014/main" id="{8D8BBD34-F79F-4BC1-8389-CD81FF8915D4}"/>
                </a:ext>
              </a:extLst>
            </p:cNvPr>
            <p:cNvSpPr txBox="1"/>
            <p:nvPr userDrawn="1"/>
          </p:nvSpPr>
          <p:spPr>
            <a:xfrm>
              <a:off x="-990121" y="294854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218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132</a:t>
              </a:r>
            </a:p>
          </p:txBody>
        </p:sp>
        <p:sp>
          <p:nvSpPr>
            <p:cNvPr id="27" name="TextBox 64">
              <a:extLst>
                <a:ext uri="{FF2B5EF4-FFF2-40B4-BE49-F238E27FC236}">
                  <a16:creationId xmlns:a16="http://schemas.microsoft.com/office/drawing/2014/main" id="{DCC3DAA0-BBA6-49D3-A8DC-F09DE3DCBE69}"/>
                </a:ext>
              </a:extLst>
            </p:cNvPr>
            <p:cNvSpPr txBox="1"/>
            <p:nvPr userDrawn="1"/>
          </p:nvSpPr>
          <p:spPr>
            <a:xfrm>
              <a:off x="-990122" y="431661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178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169</a:t>
              </a:r>
            </a:p>
          </p:txBody>
        </p:sp>
        <p:sp>
          <p:nvSpPr>
            <p:cNvPr id="28" name="TextBox 65">
              <a:extLst>
                <a:ext uri="{FF2B5EF4-FFF2-40B4-BE49-F238E27FC236}">
                  <a16:creationId xmlns:a16="http://schemas.microsoft.com/office/drawing/2014/main" id="{F2DF74A3-9B96-4094-AF90-68F18FB6C708}"/>
                </a:ext>
              </a:extLst>
            </p:cNvPr>
            <p:cNvSpPr txBox="1"/>
            <p:nvPr userDrawn="1"/>
          </p:nvSpPr>
          <p:spPr>
            <a:xfrm>
              <a:off x="-990122" y="500065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120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190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32</a:t>
              </a:r>
            </a:p>
          </p:txBody>
        </p:sp>
        <p:sp>
          <p:nvSpPr>
            <p:cNvPr id="29" name="TextBox 66">
              <a:extLst>
                <a:ext uri="{FF2B5EF4-FFF2-40B4-BE49-F238E27FC236}">
                  <a16:creationId xmlns:a16="http://schemas.microsoft.com/office/drawing/2014/main" id="{E8E5532D-9073-4E64-9831-8E1941EE2BA8}"/>
                </a:ext>
              </a:extLst>
            </p:cNvPr>
            <p:cNvSpPr txBox="1"/>
            <p:nvPr userDrawn="1"/>
          </p:nvSpPr>
          <p:spPr>
            <a:xfrm>
              <a:off x="-990122" y="5684689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238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0</a:t>
              </a:r>
            </a:p>
          </p:txBody>
        </p:sp>
        <p:sp>
          <p:nvSpPr>
            <p:cNvPr id="31" name="Rectangle 43">
              <a:extLst>
                <a:ext uri="{FF2B5EF4-FFF2-40B4-BE49-F238E27FC236}">
                  <a16:creationId xmlns:a16="http://schemas.microsoft.com/office/drawing/2014/main" id="{6050DD2D-ACFE-43E3-8E3F-2EEB7696B66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6138327"/>
              <a:ext cx="743150" cy="681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Orange</a:t>
              </a:r>
            </a:p>
          </p:txBody>
        </p:sp>
        <p:sp>
          <p:nvSpPr>
            <p:cNvPr id="32" name="TextBox 66">
              <a:extLst>
                <a:ext uri="{FF2B5EF4-FFF2-40B4-BE49-F238E27FC236}">
                  <a16:creationId xmlns:a16="http://schemas.microsoft.com/office/drawing/2014/main" id="{0EE30553-5627-4344-A4DD-365FC3166A6F}"/>
                </a:ext>
              </a:extLst>
            </p:cNvPr>
            <p:cNvSpPr txBox="1"/>
            <p:nvPr userDrawn="1"/>
          </p:nvSpPr>
          <p:spPr>
            <a:xfrm>
              <a:off x="-990121" y="6388997"/>
              <a:ext cx="628050" cy="430399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106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19</a:t>
              </a:r>
            </a:p>
          </p:txBody>
        </p:sp>
        <p:sp>
          <p:nvSpPr>
            <p:cNvPr id="34" name="Rectangle 40">
              <a:extLst>
                <a:ext uri="{FF2B5EF4-FFF2-40B4-BE49-F238E27FC236}">
                  <a16:creationId xmlns:a16="http://schemas.microsoft.com/office/drawing/2014/main" id="{DB5BBA00-A9C5-41A9-985D-7C57F25F47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3401424"/>
              <a:ext cx="743150" cy="6813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Purple</a:t>
              </a:r>
            </a:p>
          </p:txBody>
        </p:sp>
        <p:sp>
          <p:nvSpPr>
            <p:cNvPr id="35" name="TextBox 63">
              <a:extLst>
                <a:ext uri="{FF2B5EF4-FFF2-40B4-BE49-F238E27FC236}">
                  <a16:creationId xmlns:a16="http://schemas.microsoft.com/office/drawing/2014/main" id="{1C95C497-B924-42C6-AEEA-4CBD89B59CC2}"/>
                </a:ext>
              </a:extLst>
            </p:cNvPr>
            <p:cNvSpPr txBox="1"/>
            <p:nvPr userDrawn="1"/>
          </p:nvSpPr>
          <p:spPr>
            <a:xfrm>
              <a:off x="-990122" y="363258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R	128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G	49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B	167</a:t>
              </a:r>
            </a:p>
          </p:txBody>
        </p:sp>
        <p:sp>
          <p:nvSpPr>
            <p:cNvPr id="36" name="Rectangle 31">
              <a:extLst>
                <a:ext uri="{FF2B5EF4-FFF2-40B4-BE49-F238E27FC236}">
                  <a16:creationId xmlns:a16="http://schemas.microsoft.com/office/drawing/2014/main" id="{29541A65-E36D-4E96-89AE-744E1499F9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1362697"/>
              <a:ext cx="743150" cy="68134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chemeClr val="tx1"/>
                  </a:solidFill>
                </a:rPr>
                <a:t>Light Gray</a:t>
              </a:r>
            </a:p>
          </p:txBody>
        </p:sp>
        <p:sp>
          <p:nvSpPr>
            <p:cNvPr id="37" name="TextBox 59">
              <a:extLst>
                <a:ext uri="{FF2B5EF4-FFF2-40B4-BE49-F238E27FC236}">
                  <a16:creationId xmlns:a16="http://schemas.microsoft.com/office/drawing/2014/main" id="{D8C8094D-E520-4641-BD65-07A9D7341438}"/>
                </a:ext>
              </a:extLst>
            </p:cNvPr>
            <p:cNvSpPr txBox="1"/>
            <p:nvPr userDrawn="1"/>
          </p:nvSpPr>
          <p:spPr>
            <a:xfrm>
              <a:off x="-994259" y="1577416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</p:txBody>
        </p:sp>
      </p:grpSp>
      <p:pic>
        <p:nvPicPr>
          <p:cNvPr id="39" name="図 38">
            <a:extLst>
              <a:ext uri="{FF2B5EF4-FFF2-40B4-BE49-F238E27FC236}">
                <a16:creationId xmlns:a16="http://schemas.microsoft.com/office/drawing/2014/main" id="{DC016876-A825-4BEB-B5F2-67E58007E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56"/>
          <a:stretch/>
        </p:blipFill>
        <p:spPr>
          <a:xfrm>
            <a:off x="641795" y="497605"/>
            <a:ext cx="1156737" cy="7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70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Photo 3">
    <p:bg>
      <p:bgPr>
        <a:solidFill>
          <a:srgbClr val="201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E8DF8511-94F4-45E1-AE99-3BAEAD3DBE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63182"/>
            <a:ext cx="12192000" cy="3094819"/>
          </a:xfrm>
          <a:prstGeom prst="rect">
            <a:avLst/>
          </a:prstGeom>
        </p:spPr>
      </p:pic>
      <p:sp>
        <p:nvSpPr>
          <p:cNvPr id="59" name="テキスト プレースホルダー 6"/>
          <p:cNvSpPr>
            <a:spLocks noGrp="1"/>
          </p:cNvSpPr>
          <p:nvPr>
            <p:ph type="body" sz="quarter" idx="11" hasCustomPrompt="1"/>
          </p:nvPr>
        </p:nvSpPr>
        <p:spPr>
          <a:xfrm>
            <a:off x="649430" y="2615044"/>
            <a:ext cx="5565637" cy="381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>
                <a:solidFill>
                  <a:srgbClr val="FFFFFF"/>
                </a:solidFill>
              </a:rPr>
              <a:t>Date 18pt (e.g., October 1, 2024)</a:t>
            </a:r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12" hasCustomPrompt="1"/>
          </p:nvPr>
        </p:nvSpPr>
        <p:spPr>
          <a:xfrm>
            <a:off x="649430" y="3152747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Presenter 18pt</a:t>
            </a:r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49430" y="3444629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Title 18pt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649430" y="3737350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Department / Company name 18pt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sp>
        <p:nvSpPr>
          <p:cNvPr id="63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1789200"/>
            <a:ext cx="10919008" cy="523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Presentation Title, Arial 30pt Title Case</a:t>
            </a:r>
            <a:endParaRPr kumimoji="1" lang="ja-JP" altLang="en-US"/>
          </a:p>
        </p:txBody>
      </p:sp>
      <p:sp>
        <p:nvSpPr>
          <p:cNvPr id="30" name="フッター プレースホルダー 2"/>
          <p:cNvSpPr>
            <a:spLocks noGrp="1"/>
          </p:cNvSpPr>
          <p:nvPr userDrawn="1"/>
        </p:nvSpPr>
        <p:spPr>
          <a:xfrm>
            <a:off x="8362579" y="183315"/>
            <a:ext cx="3248511" cy="240033"/>
          </a:xfrm>
          <a:prstGeom prst="rect">
            <a:avLst/>
          </a:prstGeom>
        </p:spPr>
        <p:txBody>
          <a:bodyPr vert="horz" wrap="none" lIns="0" tIns="0" rIns="18000" bIns="720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en-US" altLang="ja-JP" sz="800" kern="1200" smtClean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baseline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Internal Use Only</a:t>
            </a:r>
            <a:endParaRPr lang="en-US" altLang="ja-JP" sz="1200" b="0">
              <a:solidFill>
                <a:schemeClr val="bg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F483038-D23E-453B-A2C7-EAEA52E741D4}"/>
              </a:ext>
            </a:extLst>
          </p:cNvPr>
          <p:cNvGrpSpPr/>
          <p:nvPr userDrawn="1"/>
        </p:nvGrpSpPr>
        <p:grpSpPr>
          <a:xfrm>
            <a:off x="-994518" y="0"/>
            <a:ext cx="824135" cy="6857448"/>
            <a:chOff x="-994259" y="0"/>
            <a:chExt cx="823920" cy="6819676"/>
          </a:xfrm>
        </p:grpSpPr>
        <p:sp>
          <p:nvSpPr>
            <p:cNvPr id="12" name="Rectangle 33">
              <a:extLst>
                <a:ext uri="{FF2B5EF4-FFF2-40B4-BE49-F238E27FC236}">
                  <a16:creationId xmlns:a16="http://schemas.microsoft.com/office/drawing/2014/main" id="{4B3B7FB2-C7D5-4E50-8460-6880908060E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89" y="0"/>
              <a:ext cx="743150" cy="681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altLang="ja-JP" sz="900"/>
                <a:t>Cyan</a:t>
              </a:r>
            </a:p>
          </p:txBody>
        </p:sp>
        <p:sp>
          <p:nvSpPr>
            <p:cNvPr id="13" name="Rectangle 30">
              <a:extLst>
                <a:ext uri="{FF2B5EF4-FFF2-40B4-BE49-F238E27FC236}">
                  <a16:creationId xmlns:a16="http://schemas.microsoft.com/office/drawing/2014/main" id="{91A8D2C0-F699-4DC0-8AC0-FA50FDDD0C6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2042809"/>
              <a:ext cx="743150" cy="681349"/>
            </a:xfrm>
            <a:prstGeom prst="rect">
              <a:avLst/>
            </a:prstGeom>
            <a:solidFill>
              <a:srgbClr val="FFFF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4B4F54"/>
                  </a:solidFill>
                </a:rPr>
                <a:t>White</a:t>
              </a:r>
            </a:p>
          </p:txBody>
        </p:sp>
        <p:sp>
          <p:nvSpPr>
            <p:cNvPr id="14" name="Rectangle 31">
              <a:extLst>
                <a:ext uri="{FF2B5EF4-FFF2-40B4-BE49-F238E27FC236}">
                  <a16:creationId xmlns:a16="http://schemas.microsoft.com/office/drawing/2014/main" id="{B53F38E3-0886-46DB-A641-779E8A3804F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681348"/>
              <a:ext cx="743150" cy="681349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Gray</a:t>
              </a:r>
            </a:p>
          </p:txBody>
        </p:sp>
        <p:sp>
          <p:nvSpPr>
            <p:cNvPr id="15" name="Rectangle 39">
              <a:extLst>
                <a:ext uri="{FF2B5EF4-FFF2-40B4-BE49-F238E27FC236}">
                  <a16:creationId xmlns:a16="http://schemas.microsoft.com/office/drawing/2014/main" id="{5B5E5431-E2BE-41B3-927F-45864D90C35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2724157"/>
              <a:ext cx="743150" cy="6813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Magenta</a:t>
              </a:r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D39B32AC-0F73-49B2-AB88-773710C00D4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4087970"/>
              <a:ext cx="743150" cy="6813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Turquoise</a:t>
              </a:r>
            </a:p>
          </p:txBody>
        </p:sp>
        <p:sp>
          <p:nvSpPr>
            <p:cNvPr id="17" name="Rectangle 42">
              <a:extLst>
                <a:ext uri="{FF2B5EF4-FFF2-40B4-BE49-F238E27FC236}">
                  <a16:creationId xmlns:a16="http://schemas.microsoft.com/office/drawing/2014/main" id="{E0662CAD-0DAB-4935-AA39-0E26F7906ED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4765237"/>
              <a:ext cx="743150" cy="68134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Green</a:t>
              </a:r>
            </a:p>
          </p:txBody>
        </p:sp>
        <p:sp>
          <p:nvSpPr>
            <p:cNvPr id="18" name="Rectangle 43">
              <a:extLst>
                <a:ext uri="{FF2B5EF4-FFF2-40B4-BE49-F238E27FC236}">
                  <a16:creationId xmlns:a16="http://schemas.microsoft.com/office/drawing/2014/main" id="{C93B053F-6862-43AE-95DE-160DC97532C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5451781"/>
              <a:ext cx="743150" cy="681349"/>
            </a:xfrm>
            <a:prstGeom prst="rect">
              <a:avLst/>
            </a:prstGeom>
            <a:solidFill>
              <a:srgbClr val="EE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Yellow</a:t>
              </a:r>
            </a:p>
          </p:txBody>
        </p:sp>
        <p:sp>
          <p:nvSpPr>
            <p:cNvPr id="19" name="TextBox 58">
              <a:extLst>
                <a:ext uri="{FF2B5EF4-FFF2-40B4-BE49-F238E27FC236}">
                  <a16:creationId xmlns:a16="http://schemas.microsoft.com/office/drawing/2014/main" id="{04389466-2179-4A5C-867A-CCD4D3A19A8B}"/>
                </a:ext>
              </a:extLst>
            </p:cNvPr>
            <p:cNvSpPr txBox="1"/>
            <p:nvPr userDrawn="1"/>
          </p:nvSpPr>
          <p:spPr>
            <a:xfrm>
              <a:off x="-990122" y="226034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255</a:t>
              </a:r>
            </a:p>
          </p:txBody>
        </p:sp>
        <p:sp>
          <p:nvSpPr>
            <p:cNvPr id="20" name="TextBox 59">
              <a:extLst>
                <a:ext uri="{FF2B5EF4-FFF2-40B4-BE49-F238E27FC236}">
                  <a16:creationId xmlns:a16="http://schemas.microsoft.com/office/drawing/2014/main" id="{E44475DB-E6E0-4FD0-B803-AB57688CC197}"/>
                </a:ext>
              </a:extLst>
            </p:cNvPr>
            <p:cNvSpPr txBox="1"/>
            <p:nvPr userDrawn="1"/>
          </p:nvSpPr>
          <p:spPr>
            <a:xfrm>
              <a:off x="-994259" y="896067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21" name="TextBox 60">
              <a:extLst>
                <a:ext uri="{FF2B5EF4-FFF2-40B4-BE49-F238E27FC236}">
                  <a16:creationId xmlns:a16="http://schemas.microsoft.com/office/drawing/2014/main" id="{D2C2D314-7163-420C-8492-336329149460}"/>
                </a:ext>
              </a:extLst>
            </p:cNvPr>
            <p:cNvSpPr txBox="1"/>
            <p:nvPr userDrawn="1"/>
          </p:nvSpPr>
          <p:spPr>
            <a:xfrm>
              <a:off x="-990121" y="20842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169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224</a:t>
              </a:r>
            </a:p>
          </p:txBody>
        </p:sp>
        <p:sp>
          <p:nvSpPr>
            <p:cNvPr id="22" name="TextBox 62">
              <a:extLst>
                <a:ext uri="{FF2B5EF4-FFF2-40B4-BE49-F238E27FC236}">
                  <a16:creationId xmlns:a16="http://schemas.microsoft.com/office/drawing/2014/main" id="{5648C903-30FF-4FB4-9C5B-99579AFEF772}"/>
                </a:ext>
              </a:extLst>
            </p:cNvPr>
            <p:cNvSpPr txBox="1"/>
            <p:nvPr userDrawn="1"/>
          </p:nvSpPr>
          <p:spPr>
            <a:xfrm>
              <a:off x="-990121" y="294854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218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132</a:t>
              </a:r>
            </a:p>
          </p:txBody>
        </p:sp>
        <p:sp>
          <p:nvSpPr>
            <p:cNvPr id="23" name="TextBox 64">
              <a:extLst>
                <a:ext uri="{FF2B5EF4-FFF2-40B4-BE49-F238E27FC236}">
                  <a16:creationId xmlns:a16="http://schemas.microsoft.com/office/drawing/2014/main" id="{2B35F9F4-66CA-4D25-9368-3A34FAE4D4F1}"/>
                </a:ext>
              </a:extLst>
            </p:cNvPr>
            <p:cNvSpPr txBox="1"/>
            <p:nvPr userDrawn="1"/>
          </p:nvSpPr>
          <p:spPr>
            <a:xfrm>
              <a:off x="-990122" y="431661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178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169</a:t>
              </a:r>
            </a:p>
          </p:txBody>
        </p:sp>
        <p:sp>
          <p:nvSpPr>
            <p:cNvPr id="24" name="TextBox 65">
              <a:extLst>
                <a:ext uri="{FF2B5EF4-FFF2-40B4-BE49-F238E27FC236}">
                  <a16:creationId xmlns:a16="http://schemas.microsoft.com/office/drawing/2014/main" id="{1214772D-C90D-4CAD-89AD-472002D7346C}"/>
                </a:ext>
              </a:extLst>
            </p:cNvPr>
            <p:cNvSpPr txBox="1"/>
            <p:nvPr userDrawn="1"/>
          </p:nvSpPr>
          <p:spPr>
            <a:xfrm>
              <a:off x="-990122" y="500065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120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190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32</a:t>
              </a:r>
            </a:p>
          </p:txBody>
        </p:sp>
        <p:sp>
          <p:nvSpPr>
            <p:cNvPr id="25" name="TextBox 66">
              <a:extLst>
                <a:ext uri="{FF2B5EF4-FFF2-40B4-BE49-F238E27FC236}">
                  <a16:creationId xmlns:a16="http://schemas.microsoft.com/office/drawing/2014/main" id="{457D18A0-7869-4D58-8303-38F602E9135E}"/>
                </a:ext>
              </a:extLst>
            </p:cNvPr>
            <p:cNvSpPr txBox="1"/>
            <p:nvPr userDrawn="1"/>
          </p:nvSpPr>
          <p:spPr>
            <a:xfrm>
              <a:off x="-990122" y="5684689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238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0</a:t>
              </a:r>
            </a:p>
          </p:txBody>
        </p:sp>
        <p:sp>
          <p:nvSpPr>
            <p:cNvPr id="26" name="Rectangle 43">
              <a:extLst>
                <a:ext uri="{FF2B5EF4-FFF2-40B4-BE49-F238E27FC236}">
                  <a16:creationId xmlns:a16="http://schemas.microsoft.com/office/drawing/2014/main" id="{65D9FD74-A3F4-4D31-8968-FA49653AD6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6138327"/>
              <a:ext cx="743150" cy="681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Orange</a:t>
              </a:r>
            </a:p>
          </p:txBody>
        </p:sp>
        <p:sp>
          <p:nvSpPr>
            <p:cNvPr id="27" name="TextBox 66">
              <a:extLst>
                <a:ext uri="{FF2B5EF4-FFF2-40B4-BE49-F238E27FC236}">
                  <a16:creationId xmlns:a16="http://schemas.microsoft.com/office/drawing/2014/main" id="{74BB7255-7853-4454-A69F-C77071FCBC53}"/>
                </a:ext>
              </a:extLst>
            </p:cNvPr>
            <p:cNvSpPr txBox="1"/>
            <p:nvPr userDrawn="1"/>
          </p:nvSpPr>
          <p:spPr>
            <a:xfrm>
              <a:off x="-990121" y="6388997"/>
              <a:ext cx="628050" cy="430399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106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19</a:t>
              </a:r>
            </a:p>
          </p:txBody>
        </p:sp>
        <p:sp>
          <p:nvSpPr>
            <p:cNvPr id="28" name="Rectangle 40">
              <a:extLst>
                <a:ext uri="{FF2B5EF4-FFF2-40B4-BE49-F238E27FC236}">
                  <a16:creationId xmlns:a16="http://schemas.microsoft.com/office/drawing/2014/main" id="{23B10C0E-4186-4857-AF0A-65EDF7B9046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3401424"/>
              <a:ext cx="743150" cy="6813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Purple</a:t>
              </a:r>
            </a:p>
          </p:txBody>
        </p:sp>
        <p:sp>
          <p:nvSpPr>
            <p:cNvPr id="29" name="TextBox 63">
              <a:extLst>
                <a:ext uri="{FF2B5EF4-FFF2-40B4-BE49-F238E27FC236}">
                  <a16:creationId xmlns:a16="http://schemas.microsoft.com/office/drawing/2014/main" id="{CBC84A69-AFCD-432F-8CA7-CB1B297885E6}"/>
                </a:ext>
              </a:extLst>
            </p:cNvPr>
            <p:cNvSpPr txBox="1"/>
            <p:nvPr userDrawn="1"/>
          </p:nvSpPr>
          <p:spPr>
            <a:xfrm>
              <a:off x="-990122" y="363258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R	128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G	49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B	167</a:t>
              </a:r>
            </a:p>
          </p:txBody>
        </p:sp>
        <p:sp>
          <p:nvSpPr>
            <p:cNvPr id="31" name="Rectangle 31">
              <a:extLst>
                <a:ext uri="{FF2B5EF4-FFF2-40B4-BE49-F238E27FC236}">
                  <a16:creationId xmlns:a16="http://schemas.microsoft.com/office/drawing/2014/main" id="{9871770D-E1D4-4076-BEE2-7A40A926008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1362697"/>
              <a:ext cx="743150" cy="68134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chemeClr val="tx1"/>
                  </a:solidFill>
                </a:rPr>
                <a:t>Light Gray</a:t>
              </a:r>
            </a:p>
          </p:txBody>
        </p:sp>
        <p:sp>
          <p:nvSpPr>
            <p:cNvPr id="32" name="TextBox 59">
              <a:extLst>
                <a:ext uri="{FF2B5EF4-FFF2-40B4-BE49-F238E27FC236}">
                  <a16:creationId xmlns:a16="http://schemas.microsoft.com/office/drawing/2014/main" id="{7CF39690-2962-474A-96A5-9BA95365E56E}"/>
                </a:ext>
              </a:extLst>
            </p:cNvPr>
            <p:cNvSpPr txBox="1"/>
            <p:nvPr userDrawn="1"/>
          </p:nvSpPr>
          <p:spPr>
            <a:xfrm>
              <a:off x="-994259" y="1577416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</p:txBody>
        </p:sp>
      </p:grpSp>
      <p:pic>
        <p:nvPicPr>
          <p:cNvPr id="34" name="図 33">
            <a:extLst>
              <a:ext uri="{FF2B5EF4-FFF2-40B4-BE49-F238E27FC236}">
                <a16:creationId xmlns:a16="http://schemas.microsoft.com/office/drawing/2014/main" id="{4A7843F2-D06F-4810-930E-F88C8097C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56"/>
          <a:stretch/>
        </p:blipFill>
        <p:spPr>
          <a:xfrm>
            <a:off x="641795" y="497605"/>
            <a:ext cx="1156737" cy="7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65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Photo 4">
    <p:bg>
      <p:bgPr>
        <a:solidFill>
          <a:srgbClr val="201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F74BD4B5-FD23-4897-916F-5797E27799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63182"/>
            <a:ext cx="12192000" cy="3094819"/>
          </a:xfrm>
          <a:prstGeom prst="rect">
            <a:avLst/>
          </a:prstGeom>
        </p:spPr>
      </p:pic>
      <p:sp>
        <p:nvSpPr>
          <p:cNvPr id="33" name="テキスト プレースホルダー 6"/>
          <p:cNvSpPr>
            <a:spLocks noGrp="1"/>
          </p:cNvSpPr>
          <p:nvPr>
            <p:ph type="body" sz="quarter" idx="11" hasCustomPrompt="1"/>
          </p:nvPr>
        </p:nvSpPr>
        <p:spPr>
          <a:xfrm>
            <a:off x="649430" y="2615044"/>
            <a:ext cx="5565637" cy="381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>
                <a:solidFill>
                  <a:srgbClr val="FFFFFF"/>
                </a:solidFill>
              </a:rPr>
              <a:t>Date 18pt (e.g., October 1, 2024)</a:t>
            </a:r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2" hasCustomPrompt="1"/>
          </p:nvPr>
        </p:nvSpPr>
        <p:spPr>
          <a:xfrm>
            <a:off x="649430" y="3152747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Presenter 18pt</a:t>
            </a:r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49430" y="3444629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Title 18pt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649430" y="3737350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Department / Company name 18pt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sp>
        <p:nvSpPr>
          <p:cNvPr id="58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1789200"/>
            <a:ext cx="10919008" cy="523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Presentation Title, Arial 30pt Title Case</a:t>
            </a:r>
            <a:endParaRPr kumimoji="1" lang="ja-JP" altLang="en-US"/>
          </a:p>
        </p:txBody>
      </p:sp>
      <p:sp>
        <p:nvSpPr>
          <p:cNvPr id="30" name="フッター プレースホルダー 2"/>
          <p:cNvSpPr>
            <a:spLocks noGrp="1"/>
          </p:cNvSpPr>
          <p:nvPr userDrawn="1"/>
        </p:nvSpPr>
        <p:spPr>
          <a:xfrm>
            <a:off x="8362579" y="183315"/>
            <a:ext cx="3248511" cy="240033"/>
          </a:xfrm>
          <a:prstGeom prst="rect">
            <a:avLst/>
          </a:prstGeom>
        </p:spPr>
        <p:txBody>
          <a:bodyPr vert="horz" wrap="none" lIns="0" tIns="0" rIns="18000" bIns="720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en-US" altLang="ja-JP" sz="800" kern="1200" smtClean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baseline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Internal Use Only</a:t>
            </a:r>
            <a:endParaRPr lang="en-US" altLang="ja-JP" sz="1200" b="0">
              <a:solidFill>
                <a:schemeClr val="bg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3A697059-6A8A-46E6-8C28-DB8D00AAA5AF}"/>
              </a:ext>
            </a:extLst>
          </p:cNvPr>
          <p:cNvGrpSpPr/>
          <p:nvPr userDrawn="1"/>
        </p:nvGrpSpPr>
        <p:grpSpPr>
          <a:xfrm>
            <a:off x="-994518" y="0"/>
            <a:ext cx="824135" cy="6857448"/>
            <a:chOff x="-994259" y="0"/>
            <a:chExt cx="823920" cy="6819676"/>
          </a:xfrm>
        </p:grpSpPr>
        <p:sp>
          <p:nvSpPr>
            <p:cNvPr id="12" name="Rectangle 33">
              <a:extLst>
                <a:ext uri="{FF2B5EF4-FFF2-40B4-BE49-F238E27FC236}">
                  <a16:creationId xmlns:a16="http://schemas.microsoft.com/office/drawing/2014/main" id="{5AE410F3-4E90-4542-89FF-EBDC1C6059F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89" y="0"/>
              <a:ext cx="743150" cy="681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altLang="ja-JP" sz="900"/>
                <a:t>Cyan</a:t>
              </a:r>
            </a:p>
          </p:txBody>
        </p:sp>
        <p:sp>
          <p:nvSpPr>
            <p:cNvPr id="13" name="Rectangle 30">
              <a:extLst>
                <a:ext uri="{FF2B5EF4-FFF2-40B4-BE49-F238E27FC236}">
                  <a16:creationId xmlns:a16="http://schemas.microsoft.com/office/drawing/2014/main" id="{67491E0A-4706-4DC4-B897-3FE7EECC9F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2042809"/>
              <a:ext cx="743150" cy="681349"/>
            </a:xfrm>
            <a:prstGeom prst="rect">
              <a:avLst/>
            </a:prstGeom>
            <a:solidFill>
              <a:srgbClr val="FFFF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4B4F54"/>
                  </a:solidFill>
                </a:rPr>
                <a:t>White</a:t>
              </a:r>
            </a:p>
          </p:txBody>
        </p:sp>
        <p:sp>
          <p:nvSpPr>
            <p:cNvPr id="14" name="Rectangle 31">
              <a:extLst>
                <a:ext uri="{FF2B5EF4-FFF2-40B4-BE49-F238E27FC236}">
                  <a16:creationId xmlns:a16="http://schemas.microsoft.com/office/drawing/2014/main" id="{F7CFA6F1-F4B7-441B-88BA-C7EAE2CBA4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681348"/>
              <a:ext cx="743150" cy="681349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Gray</a:t>
              </a:r>
            </a:p>
          </p:txBody>
        </p:sp>
        <p:sp>
          <p:nvSpPr>
            <p:cNvPr id="15" name="Rectangle 39">
              <a:extLst>
                <a:ext uri="{FF2B5EF4-FFF2-40B4-BE49-F238E27FC236}">
                  <a16:creationId xmlns:a16="http://schemas.microsoft.com/office/drawing/2014/main" id="{DD3BBC63-7DB5-4509-94B7-D3AF8410C0B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2724157"/>
              <a:ext cx="743150" cy="6813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Magenta</a:t>
              </a:r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174F85BD-3BE0-4A0E-8B0E-6D20FB61004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4087970"/>
              <a:ext cx="743150" cy="6813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Turquoise</a:t>
              </a:r>
            </a:p>
          </p:txBody>
        </p:sp>
        <p:sp>
          <p:nvSpPr>
            <p:cNvPr id="17" name="Rectangle 42">
              <a:extLst>
                <a:ext uri="{FF2B5EF4-FFF2-40B4-BE49-F238E27FC236}">
                  <a16:creationId xmlns:a16="http://schemas.microsoft.com/office/drawing/2014/main" id="{FA331B56-0DBC-45EE-A74D-365C34C9091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4765237"/>
              <a:ext cx="743150" cy="68134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Green</a:t>
              </a:r>
            </a:p>
          </p:txBody>
        </p:sp>
        <p:sp>
          <p:nvSpPr>
            <p:cNvPr id="18" name="Rectangle 43">
              <a:extLst>
                <a:ext uri="{FF2B5EF4-FFF2-40B4-BE49-F238E27FC236}">
                  <a16:creationId xmlns:a16="http://schemas.microsoft.com/office/drawing/2014/main" id="{6A8FBB38-87EC-475D-ACA2-FA326E5AC8C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5451781"/>
              <a:ext cx="743150" cy="681349"/>
            </a:xfrm>
            <a:prstGeom prst="rect">
              <a:avLst/>
            </a:prstGeom>
            <a:solidFill>
              <a:srgbClr val="EE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Yellow</a:t>
              </a:r>
            </a:p>
          </p:txBody>
        </p:sp>
        <p:sp>
          <p:nvSpPr>
            <p:cNvPr id="19" name="TextBox 58">
              <a:extLst>
                <a:ext uri="{FF2B5EF4-FFF2-40B4-BE49-F238E27FC236}">
                  <a16:creationId xmlns:a16="http://schemas.microsoft.com/office/drawing/2014/main" id="{4628E9DF-BFF0-4A78-B44C-C96DCEAC6DAD}"/>
                </a:ext>
              </a:extLst>
            </p:cNvPr>
            <p:cNvSpPr txBox="1"/>
            <p:nvPr userDrawn="1"/>
          </p:nvSpPr>
          <p:spPr>
            <a:xfrm>
              <a:off x="-990122" y="226034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255</a:t>
              </a:r>
            </a:p>
          </p:txBody>
        </p:sp>
        <p:sp>
          <p:nvSpPr>
            <p:cNvPr id="20" name="TextBox 59">
              <a:extLst>
                <a:ext uri="{FF2B5EF4-FFF2-40B4-BE49-F238E27FC236}">
                  <a16:creationId xmlns:a16="http://schemas.microsoft.com/office/drawing/2014/main" id="{4C63000D-586B-428D-A255-C05CF3657826}"/>
                </a:ext>
              </a:extLst>
            </p:cNvPr>
            <p:cNvSpPr txBox="1"/>
            <p:nvPr userDrawn="1"/>
          </p:nvSpPr>
          <p:spPr>
            <a:xfrm>
              <a:off x="-994259" y="896067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21" name="TextBox 60">
              <a:extLst>
                <a:ext uri="{FF2B5EF4-FFF2-40B4-BE49-F238E27FC236}">
                  <a16:creationId xmlns:a16="http://schemas.microsoft.com/office/drawing/2014/main" id="{96CCEB97-C738-4D86-98FF-2F96A7752BCB}"/>
                </a:ext>
              </a:extLst>
            </p:cNvPr>
            <p:cNvSpPr txBox="1"/>
            <p:nvPr userDrawn="1"/>
          </p:nvSpPr>
          <p:spPr>
            <a:xfrm>
              <a:off x="-990121" y="20842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169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224</a:t>
              </a:r>
            </a:p>
          </p:txBody>
        </p:sp>
        <p:sp>
          <p:nvSpPr>
            <p:cNvPr id="22" name="TextBox 62">
              <a:extLst>
                <a:ext uri="{FF2B5EF4-FFF2-40B4-BE49-F238E27FC236}">
                  <a16:creationId xmlns:a16="http://schemas.microsoft.com/office/drawing/2014/main" id="{3E1CA92E-58CB-46A6-B069-EBF77398FA1A}"/>
                </a:ext>
              </a:extLst>
            </p:cNvPr>
            <p:cNvSpPr txBox="1"/>
            <p:nvPr userDrawn="1"/>
          </p:nvSpPr>
          <p:spPr>
            <a:xfrm>
              <a:off x="-990121" y="294854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218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132</a:t>
              </a:r>
            </a:p>
          </p:txBody>
        </p:sp>
        <p:sp>
          <p:nvSpPr>
            <p:cNvPr id="23" name="TextBox 64">
              <a:extLst>
                <a:ext uri="{FF2B5EF4-FFF2-40B4-BE49-F238E27FC236}">
                  <a16:creationId xmlns:a16="http://schemas.microsoft.com/office/drawing/2014/main" id="{6A6AE2BB-A280-407B-ADCF-1320AC5565DE}"/>
                </a:ext>
              </a:extLst>
            </p:cNvPr>
            <p:cNvSpPr txBox="1"/>
            <p:nvPr userDrawn="1"/>
          </p:nvSpPr>
          <p:spPr>
            <a:xfrm>
              <a:off x="-990122" y="431661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178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169</a:t>
              </a:r>
            </a:p>
          </p:txBody>
        </p:sp>
        <p:sp>
          <p:nvSpPr>
            <p:cNvPr id="24" name="TextBox 65">
              <a:extLst>
                <a:ext uri="{FF2B5EF4-FFF2-40B4-BE49-F238E27FC236}">
                  <a16:creationId xmlns:a16="http://schemas.microsoft.com/office/drawing/2014/main" id="{529ABB97-949F-4397-BB9D-CF5DF2A02E85}"/>
                </a:ext>
              </a:extLst>
            </p:cNvPr>
            <p:cNvSpPr txBox="1"/>
            <p:nvPr userDrawn="1"/>
          </p:nvSpPr>
          <p:spPr>
            <a:xfrm>
              <a:off x="-990122" y="500065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120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190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32</a:t>
              </a:r>
            </a:p>
          </p:txBody>
        </p:sp>
        <p:sp>
          <p:nvSpPr>
            <p:cNvPr id="25" name="TextBox 66">
              <a:extLst>
                <a:ext uri="{FF2B5EF4-FFF2-40B4-BE49-F238E27FC236}">
                  <a16:creationId xmlns:a16="http://schemas.microsoft.com/office/drawing/2014/main" id="{03D82355-69BD-452C-9602-09C97114D17C}"/>
                </a:ext>
              </a:extLst>
            </p:cNvPr>
            <p:cNvSpPr txBox="1"/>
            <p:nvPr userDrawn="1"/>
          </p:nvSpPr>
          <p:spPr>
            <a:xfrm>
              <a:off x="-990122" y="5684689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238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0</a:t>
              </a:r>
            </a:p>
          </p:txBody>
        </p:sp>
        <p:sp>
          <p:nvSpPr>
            <p:cNvPr id="26" name="Rectangle 43">
              <a:extLst>
                <a:ext uri="{FF2B5EF4-FFF2-40B4-BE49-F238E27FC236}">
                  <a16:creationId xmlns:a16="http://schemas.microsoft.com/office/drawing/2014/main" id="{7BC47D6A-4C28-4623-803B-DFE8DA354EC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6138327"/>
              <a:ext cx="743150" cy="681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Orange</a:t>
              </a:r>
            </a:p>
          </p:txBody>
        </p:sp>
        <p:sp>
          <p:nvSpPr>
            <p:cNvPr id="27" name="TextBox 66">
              <a:extLst>
                <a:ext uri="{FF2B5EF4-FFF2-40B4-BE49-F238E27FC236}">
                  <a16:creationId xmlns:a16="http://schemas.microsoft.com/office/drawing/2014/main" id="{F903C5F2-8C62-42C3-8154-4181AC1F2011}"/>
                </a:ext>
              </a:extLst>
            </p:cNvPr>
            <p:cNvSpPr txBox="1"/>
            <p:nvPr userDrawn="1"/>
          </p:nvSpPr>
          <p:spPr>
            <a:xfrm>
              <a:off x="-990121" y="6388997"/>
              <a:ext cx="628050" cy="430399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106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19</a:t>
              </a:r>
            </a:p>
          </p:txBody>
        </p:sp>
        <p:sp>
          <p:nvSpPr>
            <p:cNvPr id="28" name="Rectangle 40">
              <a:extLst>
                <a:ext uri="{FF2B5EF4-FFF2-40B4-BE49-F238E27FC236}">
                  <a16:creationId xmlns:a16="http://schemas.microsoft.com/office/drawing/2014/main" id="{822F3973-BEC2-471E-AEC9-3308968FAC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3401424"/>
              <a:ext cx="743150" cy="6813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Purple</a:t>
              </a:r>
            </a:p>
          </p:txBody>
        </p:sp>
        <p:sp>
          <p:nvSpPr>
            <p:cNvPr id="29" name="TextBox 63">
              <a:extLst>
                <a:ext uri="{FF2B5EF4-FFF2-40B4-BE49-F238E27FC236}">
                  <a16:creationId xmlns:a16="http://schemas.microsoft.com/office/drawing/2014/main" id="{99DA0E39-BCBC-4426-A475-52BF640C1423}"/>
                </a:ext>
              </a:extLst>
            </p:cNvPr>
            <p:cNvSpPr txBox="1"/>
            <p:nvPr userDrawn="1"/>
          </p:nvSpPr>
          <p:spPr>
            <a:xfrm>
              <a:off x="-990122" y="363258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R	128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G	49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B	167</a:t>
              </a:r>
            </a:p>
          </p:txBody>
        </p:sp>
        <p:sp>
          <p:nvSpPr>
            <p:cNvPr id="31" name="Rectangle 31">
              <a:extLst>
                <a:ext uri="{FF2B5EF4-FFF2-40B4-BE49-F238E27FC236}">
                  <a16:creationId xmlns:a16="http://schemas.microsoft.com/office/drawing/2014/main" id="{397996C7-5627-43B6-9DBF-6F323C3059B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1362697"/>
              <a:ext cx="743150" cy="68134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chemeClr val="tx1"/>
                  </a:solidFill>
                </a:rPr>
                <a:t>Light Gray</a:t>
              </a:r>
            </a:p>
          </p:txBody>
        </p:sp>
        <p:sp>
          <p:nvSpPr>
            <p:cNvPr id="32" name="TextBox 59">
              <a:extLst>
                <a:ext uri="{FF2B5EF4-FFF2-40B4-BE49-F238E27FC236}">
                  <a16:creationId xmlns:a16="http://schemas.microsoft.com/office/drawing/2014/main" id="{A9EF08ED-1CBF-4959-BA5A-5961E239F014}"/>
                </a:ext>
              </a:extLst>
            </p:cNvPr>
            <p:cNvSpPr txBox="1"/>
            <p:nvPr userDrawn="1"/>
          </p:nvSpPr>
          <p:spPr>
            <a:xfrm>
              <a:off x="-994259" y="1577416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</p:txBody>
        </p:sp>
      </p:grpSp>
      <p:pic>
        <p:nvPicPr>
          <p:cNvPr id="35" name="図 34">
            <a:extLst>
              <a:ext uri="{FF2B5EF4-FFF2-40B4-BE49-F238E27FC236}">
                <a16:creationId xmlns:a16="http://schemas.microsoft.com/office/drawing/2014/main" id="{A8B89A41-2B35-46C7-A677-431D26D3D3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56"/>
          <a:stretch/>
        </p:blipFill>
        <p:spPr>
          <a:xfrm>
            <a:off x="641795" y="497605"/>
            <a:ext cx="1156737" cy="7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619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Photo 5">
    <p:bg>
      <p:bgPr>
        <a:solidFill>
          <a:srgbClr val="201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6182B9E3-65C1-4944-AC40-4636511C10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63182"/>
            <a:ext cx="12192000" cy="3094819"/>
          </a:xfrm>
          <a:prstGeom prst="rect">
            <a:avLst/>
          </a:prstGeom>
        </p:spPr>
      </p:pic>
      <p:sp>
        <p:nvSpPr>
          <p:cNvPr id="33" name="テキスト プレースホルダー 6"/>
          <p:cNvSpPr>
            <a:spLocks noGrp="1"/>
          </p:cNvSpPr>
          <p:nvPr>
            <p:ph type="body" sz="quarter" idx="11" hasCustomPrompt="1"/>
          </p:nvPr>
        </p:nvSpPr>
        <p:spPr>
          <a:xfrm>
            <a:off x="649430" y="2615044"/>
            <a:ext cx="5565637" cy="381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>
                <a:solidFill>
                  <a:srgbClr val="FFFFFF"/>
                </a:solidFill>
              </a:rPr>
              <a:t>Date 18pt (e.g., October 1, 2024)</a:t>
            </a:r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2" hasCustomPrompt="1"/>
          </p:nvPr>
        </p:nvSpPr>
        <p:spPr>
          <a:xfrm>
            <a:off x="649430" y="3152747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Presenter 18pt</a:t>
            </a:r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49430" y="3444629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Title 18pt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649430" y="3737350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Department / Company name 18pt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sp>
        <p:nvSpPr>
          <p:cNvPr id="58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1789200"/>
            <a:ext cx="10919008" cy="523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Presentation Title, Arial 30pt Title Case</a:t>
            </a:r>
            <a:endParaRPr kumimoji="1" lang="ja-JP" altLang="en-US"/>
          </a:p>
        </p:txBody>
      </p:sp>
      <p:sp>
        <p:nvSpPr>
          <p:cNvPr id="30" name="フッター プレースホルダー 2"/>
          <p:cNvSpPr>
            <a:spLocks noGrp="1"/>
          </p:cNvSpPr>
          <p:nvPr userDrawn="1"/>
        </p:nvSpPr>
        <p:spPr>
          <a:xfrm>
            <a:off x="8362579" y="183315"/>
            <a:ext cx="3248511" cy="240033"/>
          </a:xfrm>
          <a:prstGeom prst="rect">
            <a:avLst/>
          </a:prstGeom>
        </p:spPr>
        <p:txBody>
          <a:bodyPr vert="horz" wrap="none" lIns="0" tIns="0" rIns="18000" bIns="720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en-US" altLang="ja-JP" sz="800" kern="1200" smtClean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baseline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Internal Use Only</a:t>
            </a:r>
            <a:endParaRPr lang="en-US" altLang="ja-JP" sz="1200" b="0">
              <a:solidFill>
                <a:schemeClr val="bg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B4933A8A-592B-414C-963B-4BE19BC2E3E8}"/>
              </a:ext>
            </a:extLst>
          </p:cNvPr>
          <p:cNvGrpSpPr/>
          <p:nvPr userDrawn="1"/>
        </p:nvGrpSpPr>
        <p:grpSpPr>
          <a:xfrm>
            <a:off x="-994518" y="0"/>
            <a:ext cx="824135" cy="6857448"/>
            <a:chOff x="-994259" y="0"/>
            <a:chExt cx="823920" cy="6819676"/>
          </a:xfrm>
        </p:grpSpPr>
        <p:sp>
          <p:nvSpPr>
            <p:cNvPr id="35" name="Rectangle 33">
              <a:extLst>
                <a:ext uri="{FF2B5EF4-FFF2-40B4-BE49-F238E27FC236}">
                  <a16:creationId xmlns:a16="http://schemas.microsoft.com/office/drawing/2014/main" id="{721C6979-B996-4B34-908F-90BDF9D092B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89" y="0"/>
              <a:ext cx="743150" cy="681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altLang="ja-JP" sz="900"/>
                <a:t>Cyan</a:t>
              </a:r>
            </a:p>
          </p:txBody>
        </p:sp>
        <p:sp>
          <p:nvSpPr>
            <p:cNvPr id="36" name="Rectangle 30">
              <a:extLst>
                <a:ext uri="{FF2B5EF4-FFF2-40B4-BE49-F238E27FC236}">
                  <a16:creationId xmlns:a16="http://schemas.microsoft.com/office/drawing/2014/main" id="{A3FA8268-4098-451E-BB6D-168A50A2FBC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2042809"/>
              <a:ext cx="743150" cy="681349"/>
            </a:xfrm>
            <a:prstGeom prst="rect">
              <a:avLst/>
            </a:prstGeom>
            <a:solidFill>
              <a:srgbClr val="FFFF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4B4F54"/>
                  </a:solidFill>
                </a:rPr>
                <a:t>White</a:t>
              </a:r>
            </a:p>
          </p:txBody>
        </p:sp>
        <p:sp>
          <p:nvSpPr>
            <p:cNvPr id="37" name="Rectangle 31">
              <a:extLst>
                <a:ext uri="{FF2B5EF4-FFF2-40B4-BE49-F238E27FC236}">
                  <a16:creationId xmlns:a16="http://schemas.microsoft.com/office/drawing/2014/main" id="{D9493941-F671-4F77-A2A3-89B0572AEC0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681348"/>
              <a:ext cx="743150" cy="681349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Gray</a:t>
              </a:r>
            </a:p>
          </p:txBody>
        </p:sp>
        <p:sp>
          <p:nvSpPr>
            <p:cNvPr id="38" name="Rectangle 39">
              <a:extLst>
                <a:ext uri="{FF2B5EF4-FFF2-40B4-BE49-F238E27FC236}">
                  <a16:creationId xmlns:a16="http://schemas.microsoft.com/office/drawing/2014/main" id="{5908BDCD-EC3F-41C5-A944-0DFBA9022B9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2724157"/>
              <a:ext cx="743150" cy="6813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Magenta</a:t>
              </a:r>
            </a:p>
          </p:txBody>
        </p:sp>
        <p:sp>
          <p:nvSpPr>
            <p:cNvPr id="39" name="Rectangle 41">
              <a:extLst>
                <a:ext uri="{FF2B5EF4-FFF2-40B4-BE49-F238E27FC236}">
                  <a16:creationId xmlns:a16="http://schemas.microsoft.com/office/drawing/2014/main" id="{79537F11-F815-4DC5-AB00-FDB2D017850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4087970"/>
              <a:ext cx="743150" cy="6813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Turquoise</a:t>
              </a:r>
            </a:p>
          </p:txBody>
        </p:sp>
        <p:sp>
          <p:nvSpPr>
            <p:cNvPr id="40" name="Rectangle 42">
              <a:extLst>
                <a:ext uri="{FF2B5EF4-FFF2-40B4-BE49-F238E27FC236}">
                  <a16:creationId xmlns:a16="http://schemas.microsoft.com/office/drawing/2014/main" id="{DCA4EB6D-6F60-4C67-9417-602B1802F7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4765237"/>
              <a:ext cx="743150" cy="68134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Green</a:t>
              </a:r>
            </a:p>
          </p:txBody>
        </p:sp>
        <p:sp>
          <p:nvSpPr>
            <p:cNvPr id="41" name="Rectangle 43">
              <a:extLst>
                <a:ext uri="{FF2B5EF4-FFF2-40B4-BE49-F238E27FC236}">
                  <a16:creationId xmlns:a16="http://schemas.microsoft.com/office/drawing/2014/main" id="{D055B7AA-9C6C-4914-9C8A-F455A5F718F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5451781"/>
              <a:ext cx="743150" cy="681349"/>
            </a:xfrm>
            <a:prstGeom prst="rect">
              <a:avLst/>
            </a:prstGeom>
            <a:solidFill>
              <a:srgbClr val="EE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Yellow</a:t>
              </a:r>
            </a:p>
          </p:txBody>
        </p:sp>
        <p:sp>
          <p:nvSpPr>
            <p:cNvPr id="42" name="TextBox 58">
              <a:extLst>
                <a:ext uri="{FF2B5EF4-FFF2-40B4-BE49-F238E27FC236}">
                  <a16:creationId xmlns:a16="http://schemas.microsoft.com/office/drawing/2014/main" id="{320917A4-E224-44AA-99B5-60284D33F506}"/>
                </a:ext>
              </a:extLst>
            </p:cNvPr>
            <p:cNvSpPr txBox="1"/>
            <p:nvPr userDrawn="1"/>
          </p:nvSpPr>
          <p:spPr>
            <a:xfrm>
              <a:off x="-990122" y="226034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255</a:t>
              </a:r>
            </a:p>
          </p:txBody>
        </p:sp>
        <p:sp>
          <p:nvSpPr>
            <p:cNvPr id="43" name="TextBox 59">
              <a:extLst>
                <a:ext uri="{FF2B5EF4-FFF2-40B4-BE49-F238E27FC236}">
                  <a16:creationId xmlns:a16="http://schemas.microsoft.com/office/drawing/2014/main" id="{A92D81AE-30DA-4D47-97DC-C84F414B3F90}"/>
                </a:ext>
              </a:extLst>
            </p:cNvPr>
            <p:cNvSpPr txBox="1"/>
            <p:nvPr userDrawn="1"/>
          </p:nvSpPr>
          <p:spPr>
            <a:xfrm>
              <a:off x="-994259" y="896067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44" name="TextBox 60">
              <a:extLst>
                <a:ext uri="{FF2B5EF4-FFF2-40B4-BE49-F238E27FC236}">
                  <a16:creationId xmlns:a16="http://schemas.microsoft.com/office/drawing/2014/main" id="{0037562B-AE7D-4FAE-9B36-E5BD1EB2BBE0}"/>
                </a:ext>
              </a:extLst>
            </p:cNvPr>
            <p:cNvSpPr txBox="1"/>
            <p:nvPr userDrawn="1"/>
          </p:nvSpPr>
          <p:spPr>
            <a:xfrm>
              <a:off x="-990121" y="20842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169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224</a:t>
              </a:r>
            </a:p>
          </p:txBody>
        </p:sp>
        <p:sp>
          <p:nvSpPr>
            <p:cNvPr id="45" name="TextBox 62">
              <a:extLst>
                <a:ext uri="{FF2B5EF4-FFF2-40B4-BE49-F238E27FC236}">
                  <a16:creationId xmlns:a16="http://schemas.microsoft.com/office/drawing/2014/main" id="{14E638D7-F185-476F-9B9B-7A4213FC3D7B}"/>
                </a:ext>
              </a:extLst>
            </p:cNvPr>
            <p:cNvSpPr txBox="1"/>
            <p:nvPr userDrawn="1"/>
          </p:nvSpPr>
          <p:spPr>
            <a:xfrm>
              <a:off x="-990121" y="294854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218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132</a:t>
              </a:r>
            </a:p>
          </p:txBody>
        </p:sp>
        <p:sp>
          <p:nvSpPr>
            <p:cNvPr id="46" name="TextBox 64">
              <a:extLst>
                <a:ext uri="{FF2B5EF4-FFF2-40B4-BE49-F238E27FC236}">
                  <a16:creationId xmlns:a16="http://schemas.microsoft.com/office/drawing/2014/main" id="{B3D3A05A-2D29-4085-89F5-9A5A8A87DDFA}"/>
                </a:ext>
              </a:extLst>
            </p:cNvPr>
            <p:cNvSpPr txBox="1"/>
            <p:nvPr userDrawn="1"/>
          </p:nvSpPr>
          <p:spPr>
            <a:xfrm>
              <a:off x="-990122" y="431661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178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169</a:t>
              </a:r>
            </a:p>
          </p:txBody>
        </p:sp>
        <p:sp>
          <p:nvSpPr>
            <p:cNvPr id="47" name="TextBox 65">
              <a:extLst>
                <a:ext uri="{FF2B5EF4-FFF2-40B4-BE49-F238E27FC236}">
                  <a16:creationId xmlns:a16="http://schemas.microsoft.com/office/drawing/2014/main" id="{3A8A81AF-FF63-471E-B8E4-BD34A5598F70}"/>
                </a:ext>
              </a:extLst>
            </p:cNvPr>
            <p:cNvSpPr txBox="1"/>
            <p:nvPr userDrawn="1"/>
          </p:nvSpPr>
          <p:spPr>
            <a:xfrm>
              <a:off x="-990122" y="500065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120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190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32</a:t>
              </a:r>
            </a:p>
          </p:txBody>
        </p:sp>
        <p:sp>
          <p:nvSpPr>
            <p:cNvPr id="48" name="TextBox 66">
              <a:extLst>
                <a:ext uri="{FF2B5EF4-FFF2-40B4-BE49-F238E27FC236}">
                  <a16:creationId xmlns:a16="http://schemas.microsoft.com/office/drawing/2014/main" id="{6D013557-7B94-4AFB-A651-AF6EE945208D}"/>
                </a:ext>
              </a:extLst>
            </p:cNvPr>
            <p:cNvSpPr txBox="1"/>
            <p:nvPr userDrawn="1"/>
          </p:nvSpPr>
          <p:spPr>
            <a:xfrm>
              <a:off x="-990122" y="5684689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238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0</a:t>
              </a:r>
            </a:p>
          </p:txBody>
        </p:sp>
        <p:sp>
          <p:nvSpPr>
            <p:cNvPr id="49" name="Rectangle 43">
              <a:extLst>
                <a:ext uri="{FF2B5EF4-FFF2-40B4-BE49-F238E27FC236}">
                  <a16:creationId xmlns:a16="http://schemas.microsoft.com/office/drawing/2014/main" id="{31F503B5-9B06-4AE0-9FB3-3A42CD3001C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6138327"/>
              <a:ext cx="743150" cy="681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Orange</a:t>
              </a:r>
            </a:p>
          </p:txBody>
        </p:sp>
        <p:sp>
          <p:nvSpPr>
            <p:cNvPr id="50" name="TextBox 66">
              <a:extLst>
                <a:ext uri="{FF2B5EF4-FFF2-40B4-BE49-F238E27FC236}">
                  <a16:creationId xmlns:a16="http://schemas.microsoft.com/office/drawing/2014/main" id="{9C9512D9-7F69-468D-898F-92DC9DA16937}"/>
                </a:ext>
              </a:extLst>
            </p:cNvPr>
            <p:cNvSpPr txBox="1"/>
            <p:nvPr userDrawn="1"/>
          </p:nvSpPr>
          <p:spPr>
            <a:xfrm>
              <a:off x="-990121" y="6388997"/>
              <a:ext cx="628050" cy="430399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106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19</a:t>
              </a:r>
            </a:p>
          </p:txBody>
        </p:sp>
        <p:sp>
          <p:nvSpPr>
            <p:cNvPr id="51" name="Rectangle 40">
              <a:extLst>
                <a:ext uri="{FF2B5EF4-FFF2-40B4-BE49-F238E27FC236}">
                  <a16:creationId xmlns:a16="http://schemas.microsoft.com/office/drawing/2014/main" id="{25486EB8-3C3B-4594-B657-CA2FD384602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3401424"/>
              <a:ext cx="743150" cy="6813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Purple</a:t>
              </a:r>
            </a:p>
          </p:txBody>
        </p:sp>
        <p:sp>
          <p:nvSpPr>
            <p:cNvPr id="52" name="TextBox 63">
              <a:extLst>
                <a:ext uri="{FF2B5EF4-FFF2-40B4-BE49-F238E27FC236}">
                  <a16:creationId xmlns:a16="http://schemas.microsoft.com/office/drawing/2014/main" id="{E9A279D4-F6BC-4975-82F4-FFBF65F22414}"/>
                </a:ext>
              </a:extLst>
            </p:cNvPr>
            <p:cNvSpPr txBox="1"/>
            <p:nvPr userDrawn="1"/>
          </p:nvSpPr>
          <p:spPr>
            <a:xfrm>
              <a:off x="-990122" y="363258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R	128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G	49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B	167</a:t>
              </a:r>
            </a:p>
          </p:txBody>
        </p:sp>
        <p:sp>
          <p:nvSpPr>
            <p:cNvPr id="53" name="Rectangle 31">
              <a:extLst>
                <a:ext uri="{FF2B5EF4-FFF2-40B4-BE49-F238E27FC236}">
                  <a16:creationId xmlns:a16="http://schemas.microsoft.com/office/drawing/2014/main" id="{1BEF876C-972A-4198-8B59-4984479FE4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1362697"/>
              <a:ext cx="743150" cy="68134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chemeClr val="tx1"/>
                  </a:solidFill>
                </a:rPr>
                <a:t>Light Gray</a:t>
              </a:r>
            </a:p>
          </p:txBody>
        </p:sp>
        <p:sp>
          <p:nvSpPr>
            <p:cNvPr id="54" name="TextBox 59">
              <a:extLst>
                <a:ext uri="{FF2B5EF4-FFF2-40B4-BE49-F238E27FC236}">
                  <a16:creationId xmlns:a16="http://schemas.microsoft.com/office/drawing/2014/main" id="{14852620-064B-4E78-B74F-A26EFAB29F34}"/>
                </a:ext>
              </a:extLst>
            </p:cNvPr>
            <p:cNvSpPr txBox="1"/>
            <p:nvPr userDrawn="1"/>
          </p:nvSpPr>
          <p:spPr>
            <a:xfrm>
              <a:off x="-994259" y="1577416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</p:txBody>
        </p:sp>
      </p:grpSp>
      <p:pic>
        <p:nvPicPr>
          <p:cNvPr id="32" name="図 31">
            <a:extLst>
              <a:ext uri="{FF2B5EF4-FFF2-40B4-BE49-F238E27FC236}">
                <a16:creationId xmlns:a16="http://schemas.microsoft.com/office/drawing/2014/main" id="{88D3183A-B660-4C01-9020-5312B1BA6D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56"/>
          <a:stretch/>
        </p:blipFill>
        <p:spPr>
          <a:xfrm>
            <a:off x="641795" y="497605"/>
            <a:ext cx="1156737" cy="7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128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Photo 6">
    <p:bg>
      <p:bgPr>
        <a:solidFill>
          <a:srgbClr val="201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27657BF2-56AF-4779-B5A2-2B481AB67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63182"/>
            <a:ext cx="12192000" cy="3094819"/>
          </a:xfrm>
          <a:prstGeom prst="rect">
            <a:avLst/>
          </a:prstGeom>
        </p:spPr>
      </p:pic>
      <p:sp>
        <p:nvSpPr>
          <p:cNvPr id="33" name="テキスト プレースホルダー 6"/>
          <p:cNvSpPr>
            <a:spLocks noGrp="1"/>
          </p:cNvSpPr>
          <p:nvPr>
            <p:ph type="body" sz="quarter" idx="11" hasCustomPrompt="1"/>
          </p:nvPr>
        </p:nvSpPr>
        <p:spPr>
          <a:xfrm>
            <a:off x="649430" y="2615044"/>
            <a:ext cx="5565637" cy="381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>
                <a:solidFill>
                  <a:srgbClr val="FFFFFF"/>
                </a:solidFill>
              </a:rPr>
              <a:t>Date 18pt (e.g., October 1, 2024)</a:t>
            </a:r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2" hasCustomPrompt="1"/>
          </p:nvPr>
        </p:nvSpPr>
        <p:spPr>
          <a:xfrm>
            <a:off x="649430" y="3152747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Presenter 18pt</a:t>
            </a:r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49430" y="3444629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Title 18pt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649430" y="3737350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Department / Company name 18pt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sp>
        <p:nvSpPr>
          <p:cNvPr id="58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1789200"/>
            <a:ext cx="10919008" cy="523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Presentation Title, Arial 30pt Title Case</a:t>
            </a:r>
            <a:endParaRPr kumimoji="1" lang="ja-JP" altLang="en-US"/>
          </a:p>
        </p:txBody>
      </p:sp>
      <p:sp>
        <p:nvSpPr>
          <p:cNvPr id="31" name="フッター プレースホルダー 2"/>
          <p:cNvSpPr>
            <a:spLocks noGrp="1"/>
          </p:cNvSpPr>
          <p:nvPr userDrawn="1"/>
        </p:nvSpPr>
        <p:spPr>
          <a:xfrm>
            <a:off x="8362579" y="183315"/>
            <a:ext cx="3248511" cy="240033"/>
          </a:xfrm>
          <a:prstGeom prst="rect">
            <a:avLst/>
          </a:prstGeom>
        </p:spPr>
        <p:txBody>
          <a:bodyPr vert="horz" wrap="none" lIns="0" tIns="0" rIns="18000" bIns="720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en-US" altLang="ja-JP" sz="800" kern="1200" smtClean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baseline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Internal Use Only</a:t>
            </a:r>
            <a:endParaRPr lang="en-US" altLang="ja-JP" sz="1200" b="0">
              <a:solidFill>
                <a:schemeClr val="bg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5AF9821-6B85-4344-9AEF-2F36072E153C}"/>
              </a:ext>
            </a:extLst>
          </p:cNvPr>
          <p:cNvGrpSpPr/>
          <p:nvPr userDrawn="1"/>
        </p:nvGrpSpPr>
        <p:grpSpPr>
          <a:xfrm>
            <a:off x="-994518" y="0"/>
            <a:ext cx="824135" cy="6857448"/>
            <a:chOff x="-994259" y="0"/>
            <a:chExt cx="823920" cy="6819676"/>
          </a:xfrm>
        </p:grpSpPr>
        <p:sp>
          <p:nvSpPr>
            <p:cNvPr id="12" name="Rectangle 33">
              <a:extLst>
                <a:ext uri="{FF2B5EF4-FFF2-40B4-BE49-F238E27FC236}">
                  <a16:creationId xmlns:a16="http://schemas.microsoft.com/office/drawing/2014/main" id="{F90EBECE-1433-4B9E-A11C-2B18EB69280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89" y="0"/>
              <a:ext cx="743150" cy="681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altLang="ja-JP" sz="900"/>
                <a:t>Cyan</a:t>
              </a:r>
            </a:p>
          </p:txBody>
        </p:sp>
        <p:sp>
          <p:nvSpPr>
            <p:cNvPr id="13" name="Rectangle 30">
              <a:extLst>
                <a:ext uri="{FF2B5EF4-FFF2-40B4-BE49-F238E27FC236}">
                  <a16:creationId xmlns:a16="http://schemas.microsoft.com/office/drawing/2014/main" id="{9A7F30F6-5E1F-4C36-B27C-FDD8CF86735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2042809"/>
              <a:ext cx="743150" cy="681349"/>
            </a:xfrm>
            <a:prstGeom prst="rect">
              <a:avLst/>
            </a:prstGeom>
            <a:solidFill>
              <a:srgbClr val="FFFF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4B4F54"/>
                  </a:solidFill>
                </a:rPr>
                <a:t>White</a:t>
              </a:r>
            </a:p>
          </p:txBody>
        </p:sp>
        <p:sp>
          <p:nvSpPr>
            <p:cNvPr id="14" name="Rectangle 31">
              <a:extLst>
                <a:ext uri="{FF2B5EF4-FFF2-40B4-BE49-F238E27FC236}">
                  <a16:creationId xmlns:a16="http://schemas.microsoft.com/office/drawing/2014/main" id="{AB0C2E57-4E41-45B9-9052-4838CAA71A9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681348"/>
              <a:ext cx="743150" cy="681349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Gray</a:t>
              </a:r>
            </a:p>
          </p:txBody>
        </p:sp>
        <p:sp>
          <p:nvSpPr>
            <p:cNvPr id="15" name="Rectangle 39">
              <a:extLst>
                <a:ext uri="{FF2B5EF4-FFF2-40B4-BE49-F238E27FC236}">
                  <a16:creationId xmlns:a16="http://schemas.microsoft.com/office/drawing/2014/main" id="{1E313F56-610A-44A0-A026-DE63B3E9F0F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2724157"/>
              <a:ext cx="743150" cy="6813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Magenta</a:t>
              </a:r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455E3715-C1CE-494F-9498-3D8F006F782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4087970"/>
              <a:ext cx="743150" cy="6813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Turquoise</a:t>
              </a:r>
            </a:p>
          </p:txBody>
        </p:sp>
        <p:sp>
          <p:nvSpPr>
            <p:cNvPr id="17" name="Rectangle 42">
              <a:extLst>
                <a:ext uri="{FF2B5EF4-FFF2-40B4-BE49-F238E27FC236}">
                  <a16:creationId xmlns:a16="http://schemas.microsoft.com/office/drawing/2014/main" id="{2164F0D1-4532-459D-937F-EA3D295D8C4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4765237"/>
              <a:ext cx="743150" cy="68134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Green</a:t>
              </a:r>
            </a:p>
          </p:txBody>
        </p:sp>
        <p:sp>
          <p:nvSpPr>
            <p:cNvPr id="18" name="Rectangle 43">
              <a:extLst>
                <a:ext uri="{FF2B5EF4-FFF2-40B4-BE49-F238E27FC236}">
                  <a16:creationId xmlns:a16="http://schemas.microsoft.com/office/drawing/2014/main" id="{0BDD11AD-EA15-44D3-A104-6494A51356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5451781"/>
              <a:ext cx="743150" cy="681349"/>
            </a:xfrm>
            <a:prstGeom prst="rect">
              <a:avLst/>
            </a:prstGeom>
            <a:solidFill>
              <a:srgbClr val="EE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Yellow</a:t>
              </a:r>
            </a:p>
          </p:txBody>
        </p:sp>
        <p:sp>
          <p:nvSpPr>
            <p:cNvPr id="19" name="TextBox 58">
              <a:extLst>
                <a:ext uri="{FF2B5EF4-FFF2-40B4-BE49-F238E27FC236}">
                  <a16:creationId xmlns:a16="http://schemas.microsoft.com/office/drawing/2014/main" id="{E2DEC53F-B38A-41A0-B872-234C440C6C45}"/>
                </a:ext>
              </a:extLst>
            </p:cNvPr>
            <p:cNvSpPr txBox="1"/>
            <p:nvPr userDrawn="1"/>
          </p:nvSpPr>
          <p:spPr>
            <a:xfrm>
              <a:off x="-990122" y="226034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255</a:t>
              </a:r>
            </a:p>
          </p:txBody>
        </p:sp>
        <p:sp>
          <p:nvSpPr>
            <p:cNvPr id="20" name="TextBox 59">
              <a:extLst>
                <a:ext uri="{FF2B5EF4-FFF2-40B4-BE49-F238E27FC236}">
                  <a16:creationId xmlns:a16="http://schemas.microsoft.com/office/drawing/2014/main" id="{24147201-525C-480D-9072-37309DC315AC}"/>
                </a:ext>
              </a:extLst>
            </p:cNvPr>
            <p:cNvSpPr txBox="1"/>
            <p:nvPr userDrawn="1"/>
          </p:nvSpPr>
          <p:spPr>
            <a:xfrm>
              <a:off x="-994259" y="896067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21" name="TextBox 60">
              <a:extLst>
                <a:ext uri="{FF2B5EF4-FFF2-40B4-BE49-F238E27FC236}">
                  <a16:creationId xmlns:a16="http://schemas.microsoft.com/office/drawing/2014/main" id="{ECFAD5FD-B839-452D-A17F-5FE475A43915}"/>
                </a:ext>
              </a:extLst>
            </p:cNvPr>
            <p:cNvSpPr txBox="1"/>
            <p:nvPr userDrawn="1"/>
          </p:nvSpPr>
          <p:spPr>
            <a:xfrm>
              <a:off x="-990121" y="20842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169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224</a:t>
              </a:r>
            </a:p>
          </p:txBody>
        </p:sp>
        <p:sp>
          <p:nvSpPr>
            <p:cNvPr id="22" name="TextBox 62">
              <a:extLst>
                <a:ext uri="{FF2B5EF4-FFF2-40B4-BE49-F238E27FC236}">
                  <a16:creationId xmlns:a16="http://schemas.microsoft.com/office/drawing/2014/main" id="{1981BE66-514C-457D-8498-064BA0FDF507}"/>
                </a:ext>
              </a:extLst>
            </p:cNvPr>
            <p:cNvSpPr txBox="1"/>
            <p:nvPr userDrawn="1"/>
          </p:nvSpPr>
          <p:spPr>
            <a:xfrm>
              <a:off x="-990121" y="294854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218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132</a:t>
              </a:r>
            </a:p>
          </p:txBody>
        </p:sp>
        <p:sp>
          <p:nvSpPr>
            <p:cNvPr id="23" name="TextBox 64">
              <a:extLst>
                <a:ext uri="{FF2B5EF4-FFF2-40B4-BE49-F238E27FC236}">
                  <a16:creationId xmlns:a16="http://schemas.microsoft.com/office/drawing/2014/main" id="{89E1A959-7A9E-4C62-8C39-DFD1D4168EDF}"/>
                </a:ext>
              </a:extLst>
            </p:cNvPr>
            <p:cNvSpPr txBox="1"/>
            <p:nvPr userDrawn="1"/>
          </p:nvSpPr>
          <p:spPr>
            <a:xfrm>
              <a:off x="-990122" y="431661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178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169</a:t>
              </a:r>
            </a:p>
          </p:txBody>
        </p:sp>
        <p:sp>
          <p:nvSpPr>
            <p:cNvPr id="24" name="TextBox 65">
              <a:extLst>
                <a:ext uri="{FF2B5EF4-FFF2-40B4-BE49-F238E27FC236}">
                  <a16:creationId xmlns:a16="http://schemas.microsoft.com/office/drawing/2014/main" id="{D8743C66-6D95-493A-8817-7DE7FC2350D7}"/>
                </a:ext>
              </a:extLst>
            </p:cNvPr>
            <p:cNvSpPr txBox="1"/>
            <p:nvPr userDrawn="1"/>
          </p:nvSpPr>
          <p:spPr>
            <a:xfrm>
              <a:off x="-990122" y="500065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120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190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32</a:t>
              </a:r>
            </a:p>
          </p:txBody>
        </p:sp>
        <p:sp>
          <p:nvSpPr>
            <p:cNvPr id="25" name="TextBox 66">
              <a:extLst>
                <a:ext uri="{FF2B5EF4-FFF2-40B4-BE49-F238E27FC236}">
                  <a16:creationId xmlns:a16="http://schemas.microsoft.com/office/drawing/2014/main" id="{E77CA3F6-1560-4D18-B2ED-96DA18EEB8E4}"/>
                </a:ext>
              </a:extLst>
            </p:cNvPr>
            <p:cNvSpPr txBox="1"/>
            <p:nvPr userDrawn="1"/>
          </p:nvSpPr>
          <p:spPr>
            <a:xfrm>
              <a:off x="-990122" y="5684689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238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0</a:t>
              </a:r>
            </a:p>
          </p:txBody>
        </p:sp>
        <p:sp>
          <p:nvSpPr>
            <p:cNvPr id="26" name="Rectangle 43">
              <a:extLst>
                <a:ext uri="{FF2B5EF4-FFF2-40B4-BE49-F238E27FC236}">
                  <a16:creationId xmlns:a16="http://schemas.microsoft.com/office/drawing/2014/main" id="{3A8B0931-DAEE-4DEF-800C-43E9700A1A8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6138327"/>
              <a:ext cx="743150" cy="681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Orange</a:t>
              </a:r>
            </a:p>
          </p:txBody>
        </p:sp>
        <p:sp>
          <p:nvSpPr>
            <p:cNvPr id="27" name="TextBox 66">
              <a:extLst>
                <a:ext uri="{FF2B5EF4-FFF2-40B4-BE49-F238E27FC236}">
                  <a16:creationId xmlns:a16="http://schemas.microsoft.com/office/drawing/2014/main" id="{AB7B8B0B-E22C-428A-9D55-09B64A3CEB0A}"/>
                </a:ext>
              </a:extLst>
            </p:cNvPr>
            <p:cNvSpPr txBox="1"/>
            <p:nvPr userDrawn="1"/>
          </p:nvSpPr>
          <p:spPr>
            <a:xfrm>
              <a:off x="-990121" y="6388997"/>
              <a:ext cx="628050" cy="430399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106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19</a:t>
              </a:r>
            </a:p>
          </p:txBody>
        </p:sp>
        <p:sp>
          <p:nvSpPr>
            <p:cNvPr id="28" name="Rectangle 40">
              <a:extLst>
                <a:ext uri="{FF2B5EF4-FFF2-40B4-BE49-F238E27FC236}">
                  <a16:creationId xmlns:a16="http://schemas.microsoft.com/office/drawing/2014/main" id="{23D96F7E-B82B-4512-8BEC-A17E2B13032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3401424"/>
              <a:ext cx="743150" cy="6813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Purple</a:t>
              </a:r>
            </a:p>
          </p:txBody>
        </p:sp>
        <p:sp>
          <p:nvSpPr>
            <p:cNvPr id="29" name="TextBox 63">
              <a:extLst>
                <a:ext uri="{FF2B5EF4-FFF2-40B4-BE49-F238E27FC236}">
                  <a16:creationId xmlns:a16="http://schemas.microsoft.com/office/drawing/2014/main" id="{451D2D7C-2BAE-43E1-B720-3041033A809F}"/>
                </a:ext>
              </a:extLst>
            </p:cNvPr>
            <p:cNvSpPr txBox="1"/>
            <p:nvPr userDrawn="1"/>
          </p:nvSpPr>
          <p:spPr>
            <a:xfrm>
              <a:off x="-990122" y="363258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R	128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G	49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B	167</a:t>
              </a:r>
            </a:p>
          </p:txBody>
        </p:sp>
        <p:sp>
          <p:nvSpPr>
            <p:cNvPr id="30" name="Rectangle 31">
              <a:extLst>
                <a:ext uri="{FF2B5EF4-FFF2-40B4-BE49-F238E27FC236}">
                  <a16:creationId xmlns:a16="http://schemas.microsoft.com/office/drawing/2014/main" id="{F513E630-3D0D-4B84-9818-E3E4EDA9946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1362697"/>
              <a:ext cx="743150" cy="68134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chemeClr val="tx1"/>
                  </a:solidFill>
                </a:rPr>
                <a:t>Light Gray</a:t>
              </a:r>
            </a:p>
          </p:txBody>
        </p:sp>
        <p:sp>
          <p:nvSpPr>
            <p:cNvPr id="32" name="TextBox 59">
              <a:extLst>
                <a:ext uri="{FF2B5EF4-FFF2-40B4-BE49-F238E27FC236}">
                  <a16:creationId xmlns:a16="http://schemas.microsoft.com/office/drawing/2014/main" id="{B3F1FD3D-F1D8-44A6-85A0-8EEC50980BD7}"/>
                </a:ext>
              </a:extLst>
            </p:cNvPr>
            <p:cNvSpPr txBox="1"/>
            <p:nvPr userDrawn="1"/>
          </p:nvSpPr>
          <p:spPr>
            <a:xfrm>
              <a:off x="-994259" y="1577416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</p:txBody>
        </p:sp>
      </p:grpSp>
      <p:pic>
        <p:nvPicPr>
          <p:cNvPr id="35" name="図 34">
            <a:extLst>
              <a:ext uri="{FF2B5EF4-FFF2-40B4-BE49-F238E27FC236}">
                <a16:creationId xmlns:a16="http://schemas.microsoft.com/office/drawing/2014/main" id="{3C9F1A43-53A8-4E5D-81CA-A303DE4436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56"/>
          <a:stretch/>
        </p:blipFill>
        <p:spPr>
          <a:xfrm>
            <a:off x="641795" y="497605"/>
            <a:ext cx="1156737" cy="7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86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Photo 7">
    <p:bg>
      <p:bgPr>
        <a:solidFill>
          <a:srgbClr val="201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8B13EFB6-3A66-48F8-AC4E-2B1EDF3A70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63182"/>
            <a:ext cx="12192000" cy="3094819"/>
          </a:xfrm>
          <a:prstGeom prst="rect">
            <a:avLst/>
          </a:prstGeom>
        </p:spPr>
      </p:pic>
      <p:sp>
        <p:nvSpPr>
          <p:cNvPr id="59" name="テキスト プレースホルダー 6"/>
          <p:cNvSpPr>
            <a:spLocks noGrp="1"/>
          </p:cNvSpPr>
          <p:nvPr>
            <p:ph type="body" sz="quarter" idx="11" hasCustomPrompt="1"/>
          </p:nvPr>
        </p:nvSpPr>
        <p:spPr>
          <a:xfrm>
            <a:off x="649430" y="2615044"/>
            <a:ext cx="5565637" cy="381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>
                <a:solidFill>
                  <a:srgbClr val="FFFFFF"/>
                </a:solidFill>
              </a:rPr>
              <a:t>Date 18pt (e.g., October 1, 2024)</a:t>
            </a:r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12" hasCustomPrompt="1"/>
          </p:nvPr>
        </p:nvSpPr>
        <p:spPr>
          <a:xfrm>
            <a:off x="649430" y="3152747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Presenter 18pt</a:t>
            </a:r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49430" y="3444629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Title 18pt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649430" y="3737350"/>
            <a:ext cx="5565637" cy="288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>
                <a:solidFill>
                  <a:srgbClr val="FFFFFF"/>
                </a:solidFill>
              </a:rPr>
              <a:t>Department / Company name 18pt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sp>
        <p:nvSpPr>
          <p:cNvPr id="63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1789200"/>
            <a:ext cx="10919008" cy="523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Presentation Title, Arial 30pt Title Case</a:t>
            </a:r>
            <a:endParaRPr kumimoji="1" lang="ja-JP" altLang="en-US"/>
          </a:p>
        </p:txBody>
      </p:sp>
      <p:sp>
        <p:nvSpPr>
          <p:cNvPr id="31" name="フッター プレースホルダー 2"/>
          <p:cNvSpPr>
            <a:spLocks noGrp="1"/>
          </p:cNvSpPr>
          <p:nvPr userDrawn="1"/>
        </p:nvSpPr>
        <p:spPr>
          <a:xfrm>
            <a:off x="8362579" y="183315"/>
            <a:ext cx="3248511" cy="240033"/>
          </a:xfrm>
          <a:prstGeom prst="rect">
            <a:avLst/>
          </a:prstGeom>
        </p:spPr>
        <p:txBody>
          <a:bodyPr vert="horz" wrap="none" lIns="0" tIns="0" rIns="18000" bIns="720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en-US" altLang="ja-JP" sz="800" kern="1200" smtClean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baseline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Internal Use Only</a:t>
            </a:r>
            <a:endParaRPr lang="en-US" altLang="ja-JP" sz="1200" b="0">
              <a:solidFill>
                <a:schemeClr val="bg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6BE57038-AA56-499A-BB0A-B0A817EFB0B4}"/>
              </a:ext>
            </a:extLst>
          </p:cNvPr>
          <p:cNvGrpSpPr/>
          <p:nvPr userDrawn="1"/>
        </p:nvGrpSpPr>
        <p:grpSpPr>
          <a:xfrm>
            <a:off x="-994518" y="0"/>
            <a:ext cx="824135" cy="6857448"/>
            <a:chOff x="-994259" y="0"/>
            <a:chExt cx="823920" cy="6819676"/>
          </a:xfrm>
        </p:grpSpPr>
        <p:sp>
          <p:nvSpPr>
            <p:cNvPr id="12" name="Rectangle 33">
              <a:extLst>
                <a:ext uri="{FF2B5EF4-FFF2-40B4-BE49-F238E27FC236}">
                  <a16:creationId xmlns:a16="http://schemas.microsoft.com/office/drawing/2014/main" id="{0CB3BD78-3E56-4CB0-A650-90A3C3F8085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89" y="0"/>
              <a:ext cx="743150" cy="681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altLang="ja-JP" sz="900"/>
                <a:t>Cyan</a:t>
              </a:r>
            </a:p>
          </p:txBody>
        </p:sp>
        <p:sp>
          <p:nvSpPr>
            <p:cNvPr id="13" name="Rectangle 30">
              <a:extLst>
                <a:ext uri="{FF2B5EF4-FFF2-40B4-BE49-F238E27FC236}">
                  <a16:creationId xmlns:a16="http://schemas.microsoft.com/office/drawing/2014/main" id="{60E1D06B-C8D7-46CB-A8DC-7911F1577C2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2042809"/>
              <a:ext cx="743150" cy="681349"/>
            </a:xfrm>
            <a:prstGeom prst="rect">
              <a:avLst/>
            </a:prstGeom>
            <a:solidFill>
              <a:srgbClr val="FFFF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4B4F54"/>
                  </a:solidFill>
                </a:rPr>
                <a:t>White</a:t>
              </a:r>
            </a:p>
          </p:txBody>
        </p:sp>
        <p:sp>
          <p:nvSpPr>
            <p:cNvPr id="14" name="Rectangle 31">
              <a:extLst>
                <a:ext uri="{FF2B5EF4-FFF2-40B4-BE49-F238E27FC236}">
                  <a16:creationId xmlns:a16="http://schemas.microsoft.com/office/drawing/2014/main" id="{070747A8-2C07-4A4F-B589-55BF3BA071F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681348"/>
              <a:ext cx="743150" cy="681349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Gray</a:t>
              </a:r>
            </a:p>
          </p:txBody>
        </p:sp>
        <p:sp>
          <p:nvSpPr>
            <p:cNvPr id="15" name="Rectangle 39">
              <a:extLst>
                <a:ext uri="{FF2B5EF4-FFF2-40B4-BE49-F238E27FC236}">
                  <a16:creationId xmlns:a16="http://schemas.microsoft.com/office/drawing/2014/main" id="{14A3CC18-4A61-4116-8FAB-AD3B0A8260A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2724157"/>
              <a:ext cx="743150" cy="6813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Magenta</a:t>
              </a:r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E259B305-F66B-471B-B1E7-5E2267224DC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4087970"/>
              <a:ext cx="743150" cy="6813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Turquoise</a:t>
              </a:r>
            </a:p>
          </p:txBody>
        </p:sp>
        <p:sp>
          <p:nvSpPr>
            <p:cNvPr id="17" name="Rectangle 42">
              <a:extLst>
                <a:ext uri="{FF2B5EF4-FFF2-40B4-BE49-F238E27FC236}">
                  <a16:creationId xmlns:a16="http://schemas.microsoft.com/office/drawing/2014/main" id="{5AB5FEA7-FF04-4BB0-B9B4-895B384A0C7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4765237"/>
              <a:ext cx="743150" cy="68134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Green</a:t>
              </a:r>
            </a:p>
          </p:txBody>
        </p:sp>
        <p:sp>
          <p:nvSpPr>
            <p:cNvPr id="18" name="Rectangle 43">
              <a:extLst>
                <a:ext uri="{FF2B5EF4-FFF2-40B4-BE49-F238E27FC236}">
                  <a16:creationId xmlns:a16="http://schemas.microsoft.com/office/drawing/2014/main" id="{ED6A3F1C-7231-487A-B5CD-185207605E4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5451781"/>
              <a:ext cx="743150" cy="681349"/>
            </a:xfrm>
            <a:prstGeom prst="rect">
              <a:avLst/>
            </a:prstGeom>
            <a:solidFill>
              <a:srgbClr val="EE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Yellow</a:t>
              </a:r>
            </a:p>
          </p:txBody>
        </p:sp>
        <p:sp>
          <p:nvSpPr>
            <p:cNvPr id="19" name="TextBox 58">
              <a:extLst>
                <a:ext uri="{FF2B5EF4-FFF2-40B4-BE49-F238E27FC236}">
                  <a16:creationId xmlns:a16="http://schemas.microsoft.com/office/drawing/2014/main" id="{CC062C19-01B3-42B5-AECB-4840286E53EF}"/>
                </a:ext>
              </a:extLst>
            </p:cNvPr>
            <p:cNvSpPr txBox="1"/>
            <p:nvPr userDrawn="1"/>
          </p:nvSpPr>
          <p:spPr>
            <a:xfrm>
              <a:off x="-990122" y="226034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255</a:t>
              </a:r>
            </a:p>
          </p:txBody>
        </p:sp>
        <p:sp>
          <p:nvSpPr>
            <p:cNvPr id="20" name="TextBox 59">
              <a:extLst>
                <a:ext uri="{FF2B5EF4-FFF2-40B4-BE49-F238E27FC236}">
                  <a16:creationId xmlns:a16="http://schemas.microsoft.com/office/drawing/2014/main" id="{D121274B-19F4-449A-8667-D18A94340663}"/>
                </a:ext>
              </a:extLst>
            </p:cNvPr>
            <p:cNvSpPr txBox="1"/>
            <p:nvPr userDrawn="1"/>
          </p:nvSpPr>
          <p:spPr>
            <a:xfrm>
              <a:off x="-994259" y="896067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21" name="TextBox 60">
              <a:extLst>
                <a:ext uri="{FF2B5EF4-FFF2-40B4-BE49-F238E27FC236}">
                  <a16:creationId xmlns:a16="http://schemas.microsoft.com/office/drawing/2014/main" id="{286B7C44-256F-44B3-A46D-DBDE786CB280}"/>
                </a:ext>
              </a:extLst>
            </p:cNvPr>
            <p:cNvSpPr txBox="1"/>
            <p:nvPr userDrawn="1"/>
          </p:nvSpPr>
          <p:spPr>
            <a:xfrm>
              <a:off x="-990121" y="20842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169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224</a:t>
              </a:r>
            </a:p>
          </p:txBody>
        </p:sp>
        <p:sp>
          <p:nvSpPr>
            <p:cNvPr id="22" name="TextBox 62">
              <a:extLst>
                <a:ext uri="{FF2B5EF4-FFF2-40B4-BE49-F238E27FC236}">
                  <a16:creationId xmlns:a16="http://schemas.microsoft.com/office/drawing/2014/main" id="{96F3A22E-4F37-4899-AE1C-F92857365B54}"/>
                </a:ext>
              </a:extLst>
            </p:cNvPr>
            <p:cNvSpPr txBox="1"/>
            <p:nvPr userDrawn="1"/>
          </p:nvSpPr>
          <p:spPr>
            <a:xfrm>
              <a:off x="-990121" y="294854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218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132</a:t>
              </a:r>
            </a:p>
          </p:txBody>
        </p:sp>
        <p:sp>
          <p:nvSpPr>
            <p:cNvPr id="23" name="TextBox 64">
              <a:extLst>
                <a:ext uri="{FF2B5EF4-FFF2-40B4-BE49-F238E27FC236}">
                  <a16:creationId xmlns:a16="http://schemas.microsoft.com/office/drawing/2014/main" id="{E1EFC8FB-FA3E-403A-BE5B-1DD2F833F45C}"/>
                </a:ext>
              </a:extLst>
            </p:cNvPr>
            <p:cNvSpPr txBox="1"/>
            <p:nvPr userDrawn="1"/>
          </p:nvSpPr>
          <p:spPr>
            <a:xfrm>
              <a:off x="-990122" y="431661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178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169</a:t>
              </a:r>
            </a:p>
          </p:txBody>
        </p:sp>
        <p:sp>
          <p:nvSpPr>
            <p:cNvPr id="24" name="TextBox 65">
              <a:extLst>
                <a:ext uri="{FF2B5EF4-FFF2-40B4-BE49-F238E27FC236}">
                  <a16:creationId xmlns:a16="http://schemas.microsoft.com/office/drawing/2014/main" id="{29A95631-1C0E-4A03-9CD6-01E25E05024F}"/>
                </a:ext>
              </a:extLst>
            </p:cNvPr>
            <p:cNvSpPr txBox="1"/>
            <p:nvPr userDrawn="1"/>
          </p:nvSpPr>
          <p:spPr>
            <a:xfrm>
              <a:off x="-990122" y="500065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120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190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32</a:t>
              </a:r>
            </a:p>
          </p:txBody>
        </p:sp>
        <p:sp>
          <p:nvSpPr>
            <p:cNvPr id="25" name="TextBox 66">
              <a:extLst>
                <a:ext uri="{FF2B5EF4-FFF2-40B4-BE49-F238E27FC236}">
                  <a16:creationId xmlns:a16="http://schemas.microsoft.com/office/drawing/2014/main" id="{A8761C84-CCD0-4EAD-AEC8-A1FE492871FB}"/>
                </a:ext>
              </a:extLst>
            </p:cNvPr>
            <p:cNvSpPr txBox="1"/>
            <p:nvPr userDrawn="1"/>
          </p:nvSpPr>
          <p:spPr>
            <a:xfrm>
              <a:off x="-990122" y="5684689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238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0</a:t>
              </a:r>
            </a:p>
          </p:txBody>
        </p:sp>
        <p:sp>
          <p:nvSpPr>
            <p:cNvPr id="26" name="Rectangle 43">
              <a:extLst>
                <a:ext uri="{FF2B5EF4-FFF2-40B4-BE49-F238E27FC236}">
                  <a16:creationId xmlns:a16="http://schemas.microsoft.com/office/drawing/2014/main" id="{3B0CB54C-3590-4C10-A232-8A57133D67C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3490" y="6138327"/>
              <a:ext cx="743150" cy="681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Orange</a:t>
              </a:r>
            </a:p>
          </p:txBody>
        </p:sp>
        <p:sp>
          <p:nvSpPr>
            <p:cNvPr id="27" name="TextBox 66">
              <a:extLst>
                <a:ext uri="{FF2B5EF4-FFF2-40B4-BE49-F238E27FC236}">
                  <a16:creationId xmlns:a16="http://schemas.microsoft.com/office/drawing/2014/main" id="{54ECD015-1280-4936-BC82-45AB46F68020}"/>
                </a:ext>
              </a:extLst>
            </p:cNvPr>
            <p:cNvSpPr txBox="1"/>
            <p:nvPr userDrawn="1"/>
          </p:nvSpPr>
          <p:spPr>
            <a:xfrm>
              <a:off x="-990121" y="6388997"/>
              <a:ext cx="628050" cy="430399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106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19</a:t>
              </a:r>
            </a:p>
          </p:txBody>
        </p:sp>
        <p:sp>
          <p:nvSpPr>
            <p:cNvPr id="28" name="Rectangle 40">
              <a:extLst>
                <a:ext uri="{FF2B5EF4-FFF2-40B4-BE49-F238E27FC236}">
                  <a16:creationId xmlns:a16="http://schemas.microsoft.com/office/drawing/2014/main" id="{96B417ED-6BF6-46AB-BD20-C4A08E8EDF5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3401424"/>
              <a:ext cx="743150" cy="6813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Purple</a:t>
              </a:r>
            </a:p>
          </p:txBody>
        </p:sp>
        <p:sp>
          <p:nvSpPr>
            <p:cNvPr id="29" name="TextBox 63">
              <a:extLst>
                <a:ext uri="{FF2B5EF4-FFF2-40B4-BE49-F238E27FC236}">
                  <a16:creationId xmlns:a16="http://schemas.microsoft.com/office/drawing/2014/main" id="{B1497C42-5538-49BF-A944-8FC5AF1B4AAF}"/>
                </a:ext>
              </a:extLst>
            </p:cNvPr>
            <p:cNvSpPr txBox="1"/>
            <p:nvPr userDrawn="1"/>
          </p:nvSpPr>
          <p:spPr>
            <a:xfrm>
              <a:off x="-990122" y="363258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R	128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G	49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B	167</a:t>
              </a:r>
            </a:p>
          </p:txBody>
        </p:sp>
        <p:sp>
          <p:nvSpPr>
            <p:cNvPr id="30" name="Rectangle 31">
              <a:extLst>
                <a:ext uri="{FF2B5EF4-FFF2-40B4-BE49-F238E27FC236}">
                  <a16:creationId xmlns:a16="http://schemas.microsoft.com/office/drawing/2014/main" id="{6795AFCF-0D9B-43D4-BCAF-DB4E243466D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917627" y="1362697"/>
              <a:ext cx="743150" cy="68134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chemeClr val="tx1"/>
                  </a:solidFill>
                </a:rPr>
                <a:t>Light Gray</a:t>
              </a:r>
            </a:p>
          </p:txBody>
        </p:sp>
        <p:sp>
          <p:nvSpPr>
            <p:cNvPr id="32" name="TextBox 59">
              <a:extLst>
                <a:ext uri="{FF2B5EF4-FFF2-40B4-BE49-F238E27FC236}">
                  <a16:creationId xmlns:a16="http://schemas.microsoft.com/office/drawing/2014/main" id="{A3B402C7-7052-4975-93B9-F56A9981E0EC}"/>
                </a:ext>
              </a:extLst>
            </p:cNvPr>
            <p:cNvSpPr txBox="1"/>
            <p:nvPr userDrawn="1"/>
          </p:nvSpPr>
          <p:spPr>
            <a:xfrm>
              <a:off x="-994259" y="1577416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</p:txBody>
        </p:sp>
      </p:grpSp>
      <p:pic>
        <p:nvPicPr>
          <p:cNvPr id="34" name="図 33">
            <a:extLst>
              <a:ext uri="{FF2B5EF4-FFF2-40B4-BE49-F238E27FC236}">
                <a16:creationId xmlns:a16="http://schemas.microsoft.com/office/drawing/2014/main" id="{9BEF4032-2D9F-4458-AE66-4FD27290F1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56"/>
          <a:stretch/>
        </p:blipFill>
        <p:spPr>
          <a:xfrm>
            <a:off x="641795" y="497605"/>
            <a:ext cx="1156737" cy="7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984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テキスト プレースホルダー 9"/>
          <p:cNvSpPr>
            <a:spLocks noGrp="1"/>
          </p:cNvSpPr>
          <p:nvPr>
            <p:ph type="body" sz="quarter" idx="14" hasCustomPrompt="1"/>
          </p:nvPr>
        </p:nvSpPr>
        <p:spPr>
          <a:xfrm>
            <a:off x="654221" y="1382712"/>
            <a:ext cx="10160336" cy="4791259"/>
          </a:xfrm>
          <a:prstGeom prst="rect">
            <a:avLst/>
          </a:prstGeo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type text 24pt</a:t>
            </a:r>
            <a:r>
              <a:rPr kumimoji="1" lang="ja-JP" altLang="en-US"/>
              <a:t>  ･････････････････････････････････････････････････</a:t>
            </a:r>
            <a:endParaRPr kumimoji="1" lang="en-US" altLang="ja-JP"/>
          </a:p>
          <a:p>
            <a:pPr lvl="0"/>
            <a:r>
              <a:rPr kumimoji="1" lang="en-US" altLang="ja-JP"/>
              <a:t>type text 24pt</a:t>
            </a:r>
            <a:r>
              <a:rPr kumimoji="1" lang="ja-JP" altLang="en-US"/>
              <a:t>  ･････････････････････････････････････････････････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en-US" altLang="ja-JP"/>
              <a:t>type text 24pt</a:t>
            </a:r>
            <a:r>
              <a:rPr kumimoji="1" lang="ja-JP" altLang="en-US"/>
              <a:t>  ･････････････････････････････････････････････････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en-US" altLang="ja-JP"/>
              <a:t>type text 24pt</a:t>
            </a:r>
            <a:r>
              <a:rPr kumimoji="1" lang="ja-JP" altLang="en-US"/>
              <a:t>  ･････････････････････････････････････････････････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en-US" altLang="ja-JP"/>
              <a:t>type text 24pt</a:t>
            </a:r>
            <a:r>
              <a:rPr kumimoji="1" lang="ja-JP" altLang="en-US"/>
              <a:t>  ･････････････････････････････････････････････････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en-US" altLang="ja-JP"/>
              <a:t>type text 24pt</a:t>
            </a:r>
            <a:r>
              <a:rPr kumimoji="1" lang="ja-JP" altLang="en-US"/>
              <a:t>  ･････････････････････････････････････････････････</a:t>
            </a:r>
            <a:endParaRPr kumimoji="1" lang="en-US" altLang="ja-JP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+mj-lt"/>
              <a:buAutoNum type="arabicPeriod"/>
              <a:tabLst>
                <a:tab pos="10744200" algn="dec"/>
              </a:tabLst>
              <a:defRPr/>
            </a:pPr>
            <a:r>
              <a:rPr kumimoji="1" lang="en-US" altLang="ja-JP"/>
              <a:t>type text 24pt</a:t>
            </a:r>
            <a:r>
              <a:rPr kumimoji="1" lang="ja-JP" altLang="en-US"/>
              <a:t>  ･････････････････････････････････････････････････</a:t>
            </a:r>
            <a:endParaRPr kumimoji="1" lang="en-US" altLang="ja-JP"/>
          </a:p>
          <a:p>
            <a:pPr lvl="0"/>
            <a:endParaRPr kumimoji="1" lang="en-US" altLang="ja-JP"/>
          </a:p>
        </p:txBody>
      </p:sp>
      <p:sp>
        <p:nvSpPr>
          <p:cNvPr id="12" name="テキスト プレースホルダー 9"/>
          <p:cNvSpPr>
            <a:spLocks noGrp="1"/>
          </p:cNvSpPr>
          <p:nvPr>
            <p:ph type="body" sz="quarter" idx="15" hasCustomPrompt="1"/>
          </p:nvPr>
        </p:nvSpPr>
        <p:spPr>
          <a:xfrm>
            <a:off x="10809360" y="1382713"/>
            <a:ext cx="774470" cy="479468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tabLst>
                <a:tab pos="10744200" algn="dec"/>
              </a:tabLst>
              <a:defRPr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1</a:t>
            </a:r>
          </a:p>
          <a:p>
            <a:pPr lvl="0"/>
            <a:r>
              <a:rPr kumimoji="1" lang="en-US" altLang="ja-JP"/>
              <a:t>4</a:t>
            </a:r>
          </a:p>
          <a:p>
            <a:pPr lvl="0"/>
            <a:r>
              <a:rPr kumimoji="1" lang="en-US" altLang="ja-JP"/>
              <a:t>6</a:t>
            </a:r>
          </a:p>
          <a:p>
            <a:pPr lvl="0"/>
            <a:r>
              <a:rPr kumimoji="1" lang="en-US" altLang="ja-JP"/>
              <a:t>9</a:t>
            </a:r>
          </a:p>
          <a:p>
            <a:pPr lvl="0"/>
            <a:r>
              <a:rPr kumimoji="1" lang="en-US" altLang="ja-JP"/>
              <a:t>14</a:t>
            </a:r>
          </a:p>
          <a:p>
            <a:pPr lvl="0"/>
            <a:r>
              <a:rPr kumimoji="1" lang="en-US" altLang="ja-JP"/>
              <a:t>18</a:t>
            </a:r>
          </a:p>
          <a:p>
            <a:pPr lvl="0"/>
            <a:r>
              <a:rPr kumimoji="1" lang="en-US" altLang="ja-JP"/>
              <a:t>20</a:t>
            </a:r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/>
              <a:t>Table of Contents, Arial 30pt Title Case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6975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テキスト プレースホルダー 3"/>
          <p:cNvSpPr>
            <a:spLocks noGrp="1"/>
          </p:cNvSpPr>
          <p:nvPr>
            <p:ph type="body" sz="quarter" idx="13" hasCustomPrompt="1"/>
          </p:nvPr>
        </p:nvSpPr>
        <p:spPr>
          <a:xfrm>
            <a:off x="670389" y="1382713"/>
            <a:ext cx="10908676" cy="4794682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en-US" altLang="ja-JP"/>
              <a:t>Body text, Arial 24pt</a:t>
            </a:r>
          </a:p>
          <a:p>
            <a:pPr lvl="1"/>
            <a:r>
              <a:rPr lang="en-US" altLang="ja-JP"/>
              <a:t>Second level</a:t>
            </a:r>
            <a:endParaRPr lang="ja-JP" altLang="en-US"/>
          </a:p>
          <a:p>
            <a:pPr lvl="2"/>
            <a:r>
              <a:rPr lang="en-US" altLang="ja-JP"/>
              <a:t>Third level</a:t>
            </a:r>
            <a:endParaRPr lang="ja-JP" altLang="en-US"/>
          </a:p>
          <a:p>
            <a:pPr lvl="3"/>
            <a:r>
              <a:rPr lang="en-US" altLang="ja-JP"/>
              <a:t>Fourth level</a:t>
            </a:r>
            <a:endParaRPr lang="ja-JP" altLang="en-US"/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/>
              <a:t>Headline, Arial 30pt Title Case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30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プレースホルダー 3"/>
          <p:cNvSpPr>
            <a:spLocks noGrp="1"/>
          </p:cNvSpPr>
          <p:nvPr>
            <p:ph type="body" sz="quarter" idx="13" hasCustomPrompt="1"/>
          </p:nvPr>
        </p:nvSpPr>
        <p:spPr>
          <a:xfrm>
            <a:off x="670390" y="1382713"/>
            <a:ext cx="5295547" cy="47894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en-US" altLang="ja-JP"/>
              <a:t>Body text, Arial 24pt</a:t>
            </a:r>
          </a:p>
          <a:p>
            <a:pPr lvl="1"/>
            <a:r>
              <a:rPr lang="en-US" altLang="ja-JP"/>
              <a:t>Second level</a:t>
            </a:r>
            <a:endParaRPr lang="ja-JP" altLang="en-US"/>
          </a:p>
          <a:p>
            <a:pPr lvl="2"/>
            <a:r>
              <a:rPr lang="en-US" altLang="ja-JP"/>
              <a:t>Third level</a:t>
            </a:r>
            <a:endParaRPr lang="ja-JP" altLang="en-US"/>
          </a:p>
          <a:p>
            <a:pPr lvl="3"/>
            <a:r>
              <a:rPr lang="en-US" altLang="ja-JP"/>
              <a:t>Fourth level</a:t>
            </a:r>
            <a:endParaRPr lang="ja-JP" altLang="en-US"/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15" name="テキスト プレースホルダー 3"/>
          <p:cNvSpPr>
            <a:spLocks noGrp="1"/>
          </p:cNvSpPr>
          <p:nvPr>
            <p:ph type="body" sz="quarter" idx="16" hasCustomPrompt="1"/>
          </p:nvPr>
        </p:nvSpPr>
        <p:spPr>
          <a:xfrm>
            <a:off x="6269080" y="1389640"/>
            <a:ext cx="5295547" cy="47894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en-US" altLang="ja-JP"/>
              <a:t>Body text, Arial 24pt</a:t>
            </a:r>
          </a:p>
          <a:p>
            <a:pPr lvl="1"/>
            <a:r>
              <a:rPr lang="en-US" altLang="ja-JP"/>
              <a:t>Second level</a:t>
            </a:r>
            <a:endParaRPr lang="ja-JP" altLang="en-US"/>
          </a:p>
          <a:p>
            <a:pPr lvl="2"/>
            <a:r>
              <a:rPr lang="en-US" altLang="ja-JP"/>
              <a:t>Third level</a:t>
            </a:r>
            <a:endParaRPr lang="ja-JP" altLang="en-US"/>
          </a:p>
          <a:p>
            <a:pPr lvl="3"/>
            <a:r>
              <a:rPr lang="en-US" altLang="ja-JP"/>
              <a:t>Fourth level</a:t>
            </a:r>
            <a:endParaRPr lang="ja-JP" altLang="en-US"/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461572"/>
            <a:ext cx="10919008" cy="5232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/>
              <a:t>Headline, Arial 30pt Title Case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6813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 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49431" y="3595688"/>
            <a:ext cx="10919007" cy="2578284"/>
          </a:xfrm>
          <a:prstGeom prst="rect">
            <a:avLst/>
          </a:prstGeom>
          <a:solidFill>
            <a:srgbClr val="4B4F54"/>
          </a:solidFill>
        </p:spPr>
        <p:txBody>
          <a:bodyPr tIns="731520"/>
          <a:lstStyle>
            <a:lvl1pPr marL="0" indent="0" algn="ct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ja-JP"/>
              <a:t>Click icon to add picture</a:t>
            </a:r>
            <a:endParaRPr lang="ja-JP" altLang="en-US"/>
          </a:p>
        </p:txBody>
      </p:sp>
      <p:sp>
        <p:nvSpPr>
          <p:cNvPr id="10" name="テキスト プレースホルダー 3"/>
          <p:cNvSpPr>
            <a:spLocks noGrp="1"/>
          </p:cNvSpPr>
          <p:nvPr>
            <p:ph type="body" sz="quarter" idx="14" hasCustomPrompt="1"/>
          </p:nvPr>
        </p:nvSpPr>
        <p:spPr>
          <a:xfrm>
            <a:off x="670389" y="1382713"/>
            <a:ext cx="10908676" cy="1994332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en-US" altLang="ja-JP"/>
              <a:t>Body text, Arial 24pt</a:t>
            </a:r>
          </a:p>
          <a:p>
            <a:pPr lvl="1"/>
            <a:r>
              <a:rPr lang="en-US" altLang="ja-JP"/>
              <a:t>Second level</a:t>
            </a:r>
            <a:endParaRPr lang="ja-JP" altLang="en-US"/>
          </a:p>
          <a:p>
            <a:pPr lvl="2"/>
            <a:r>
              <a:rPr lang="en-US" altLang="ja-JP"/>
              <a:t>Third level</a:t>
            </a:r>
            <a:endParaRPr lang="ja-JP" altLang="en-US"/>
          </a:p>
          <a:p>
            <a:pPr lvl="3"/>
            <a:r>
              <a:rPr lang="en-US" altLang="ja-JP"/>
              <a:t>Fourth level</a:t>
            </a:r>
            <a:endParaRPr lang="ja-JP" altLang="en-US"/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461572"/>
            <a:ext cx="10919008" cy="5232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/>
              <a:t>Headline, Arial 30pt Title Case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639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Fram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173972"/>
          </a:xfrm>
          <a:prstGeom prst="rect">
            <a:avLst/>
          </a:prstGeom>
          <a:solidFill>
            <a:srgbClr val="4B4F54"/>
          </a:solidFill>
        </p:spPr>
        <p:txBody>
          <a:bodyPr tIns="2286000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ja-JP"/>
              <a:t>Click icon to add picture</a:t>
            </a:r>
            <a:endParaRPr lang="ja-JP" altLang="en-US"/>
          </a:p>
        </p:txBody>
      </p:sp>
      <p:sp>
        <p:nvSpPr>
          <p:cNvPr id="4" name="フッター プレースホルダー 2"/>
          <p:cNvSpPr>
            <a:spLocks noGrp="1"/>
          </p:cNvSpPr>
          <p:nvPr userDrawn="1"/>
        </p:nvSpPr>
        <p:spPr>
          <a:xfrm>
            <a:off x="8362579" y="183315"/>
            <a:ext cx="3248511" cy="240033"/>
          </a:xfrm>
          <a:prstGeom prst="rect">
            <a:avLst/>
          </a:prstGeom>
        </p:spPr>
        <p:txBody>
          <a:bodyPr vert="horz" wrap="none" lIns="0" tIns="0" rIns="18000" bIns="720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en-US" altLang="ja-JP" sz="800" kern="1200" smtClean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baseline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Internal Use Only</a:t>
            </a:r>
            <a:endParaRPr lang="en-US" altLang="ja-JP" sz="1200" b="0">
              <a:solidFill>
                <a:schemeClr val="bg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71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649431" y="461572"/>
            <a:ext cx="10919008" cy="5232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/>
              <a:t>Headline, Arial 30pt Title Case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927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ltGray">
          <a:xfrm>
            <a:off x="1" y="0"/>
            <a:ext cx="12192000" cy="6173972"/>
          </a:xfrm>
          <a:prstGeom prst="rect">
            <a:avLst/>
          </a:prstGeom>
          <a:solidFill>
            <a:srgbClr val="201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solidFill>
                <a:schemeClr val="bg1"/>
              </a:solidFill>
            </a:endParaRPr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244"/>
          </a:xfrm>
          <a:prstGeom prst="rect">
            <a:avLst/>
          </a:prstGeom>
        </p:spPr>
      </p:pic>
      <p:sp>
        <p:nvSpPr>
          <p:cNvPr id="8" name="タイトル 1"/>
          <p:cNvSpPr>
            <a:spLocks noGrp="1"/>
          </p:cNvSpPr>
          <p:nvPr>
            <p:ph type="title" hasCustomPrompt="1"/>
          </p:nvPr>
        </p:nvSpPr>
        <p:spPr>
          <a:xfrm>
            <a:off x="489728" y="2905200"/>
            <a:ext cx="10919008" cy="523220"/>
          </a:xfrm>
          <a:ln>
            <a:noFill/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Section Divider, Arial 30pt Title Case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780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/>
          <p:nvPr userDrawn="1"/>
        </p:nvSpPr>
        <p:spPr bwMode="ltGray">
          <a:xfrm>
            <a:off x="1" y="0"/>
            <a:ext cx="12192000" cy="61739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244"/>
          </a:xfrm>
          <a:prstGeom prst="rect">
            <a:avLst/>
          </a:prstGeom>
        </p:spPr>
      </p:pic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489728" y="2905200"/>
            <a:ext cx="10919008" cy="523220"/>
          </a:xfrm>
          <a:ln>
            <a:noFill/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Section Divider, Arial 30pt Title Case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201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/>
          <p:nvPr userDrawn="1"/>
        </p:nvSpPr>
        <p:spPr bwMode="ltGray">
          <a:xfrm>
            <a:off x="1" y="0"/>
            <a:ext cx="12192000" cy="617397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244"/>
          </a:xfrm>
          <a:prstGeom prst="rect">
            <a:avLst/>
          </a:prstGeom>
        </p:spPr>
      </p:pic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489728" y="2905200"/>
            <a:ext cx="10919008" cy="523220"/>
          </a:xfrm>
          <a:ln>
            <a:noFill/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Section Divider, Arial 30pt Title Case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277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/>
          <p:nvPr userDrawn="1"/>
        </p:nvSpPr>
        <p:spPr bwMode="ltGray">
          <a:xfrm>
            <a:off x="1" y="0"/>
            <a:ext cx="12192000" cy="61739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244"/>
          </a:xfrm>
          <a:prstGeom prst="rect">
            <a:avLst/>
          </a:prstGeom>
        </p:spPr>
      </p:pic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489728" y="2905200"/>
            <a:ext cx="10919008" cy="523220"/>
          </a:xfrm>
          <a:ln>
            <a:noFill/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Section Divider, Arial 30pt Title Case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0583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/>
          <p:nvPr userDrawn="1"/>
        </p:nvSpPr>
        <p:spPr bwMode="ltGray">
          <a:xfrm>
            <a:off x="1" y="0"/>
            <a:ext cx="12192000" cy="61739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244"/>
          </a:xfrm>
          <a:prstGeom prst="rect">
            <a:avLst/>
          </a:prstGeom>
        </p:spPr>
      </p:pic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489728" y="2905200"/>
            <a:ext cx="10919008" cy="523220"/>
          </a:xfrm>
          <a:ln>
            <a:noFill/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Section Divider, Arial 30pt Title Case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98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/>
          <p:nvPr userDrawn="1"/>
        </p:nvSpPr>
        <p:spPr bwMode="ltGray">
          <a:xfrm>
            <a:off x="1" y="0"/>
            <a:ext cx="12192000" cy="61739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244"/>
          </a:xfrm>
          <a:prstGeom prst="rect">
            <a:avLst/>
          </a:prstGeom>
        </p:spPr>
      </p:pic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489728" y="2905200"/>
            <a:ext cx="10919008" cy="523220"/>
          </a:xfrm>
          <a:ln>
            <a:noFill/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Section Divider, Arial 30pt Title Case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9479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/>
          <p:nvPr userDrawn="1"/>
        </p:nvSpPr>
        <p:spPr bwMode="ltGray">
          <a:xfrm>
            <a:off x="1" y="0"/>
            <a:ext cx="12192000" cy="6173972"/>
          </a:xfrm>
          <a:prstGeom prst="rect">
            <a:avLst/>
          </a:prstGeom>
          <a:solidFill>
            <a:srgbClr val="EE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244"/>
          </a:xfrm>
          <a:prstGeom prst="rect">
            <a:avLst/>
          </a:prstGeom>
        </p:spPr>
      </p:pic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489728" y="2905200"/>
            <a:ext cx="10919008" cy="523220"/>
          </a:xfrm>
          <a:ln>
            <a:noFill/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Section Divider, Arial 30pt Title Case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7062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/>
          <p:nvPr userDrawn="1"/>
        </p:nvSpPr>
        <p:spPr bwMode="ltGray">
          <a:xfrm>
            <a:off x="1" y="0"/>
            <a:ext cx="12192000" cy="61739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244"/>
          </a:xfrm>
          <a:prstGeom prst="rect">
            <a:avLst/>
          </a:prstGeom>
        </p:spPr>
      </p:pic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489728" y="2905200"/>
            <a:ext cx="10919008" cy="523220"/>
          </a:xfrm>
          <a:ln>
            <a:noFill/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Section Divider, Arial 30pt Title Case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1427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fety, Quality and Compli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花 が含まれている画像&#10;&#10;自動的に生成された説明">
            <a:extLst>
              <a:ext uri="{FF2B5EF4-FFF2-40B4-BE49-F238E27FC236}">
                <a16:creationId xmlns:a16="http://schemas.microsoft.com/office/drawing/2014/main" id="{319EDCB6-8248-5DA5-61BB-A884BDFCCD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" y="0"/>
            <a:ext cx="12182473" cy="6858000"/>
          </a:xfrm>
          <a:prstGeom prst="rect">
            <a:avLst/>
          </a:prstGeom>
        </p:spPr>
      </p:pic>
      <p:pic>
        <p:nvPicPr>
          <p:cNvPr id="4" name="図 3" descr="挿絵, 記号 が含まれている画像&#10;&#10;自動的に生成された説明">
            <a:extLst>
              <a:ext uri="{FF2B5EF4-FFF2-40B4-BE49-F238E27FC236}">
                <a16:creationId xmlns:a16="http://schemas.microsoft.com/office/drawing/2014/main" id="{0F55EF69-8F01-32B4-6F2F-A865512733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701" y="3845615"/>
            <a:ext cx="4026949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37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52AFC2F1-F4D4-44C0-8B92-D488A664A53B}"/>
              </a:ext>
            </a:extLst>
          </p:cNvPr>
          <p:cNvGrpSpPr/>
          <p:nvPr userDrawn="1"/>
        </p:nvGrpSpPr>
        <p:grpSpPr>
          <a:xfrm>
            <a:off x="3757733" y="5543230"/>
            <a:ext cx="5236482" cy="315471"/>
            <a:chOff x="3911460" y="5345929"/>
            <a:chExt cx="5235118" cy="315471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73D1AEFA-DF0F-4AA8-8401-00104EA8260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9307" b="24041"/>
            <a:stretch/>
          </p:blipFill>
          <p:spPr>
            <a:xfrm>
              <a:off x="3911460" y="5397999"/>
              <a:ext cx="436264" cy="203992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8902E7E6-715F-4866-B5FE-080B2D1687AA}"/>
                </a:ext>
              </a:extLst>
            </p:cNvPr>
            <p:cNvSpPr txBox="1"/>
            <p:nvPr userDrawn="1"/>
          </p:nvSpPr>
          <p:spPr>
            <a:xfrm>
              <a:off x="4332596" y="5345929"/>
              <a:ext cx="4813982" cy="315471"/>
            </a:xfrm>
            <a:prstGeom prst="rect">
              <a:avLst/>
            </a:prstGeom>
            <a:noFill/>
          </p:spPr>
          <p:txBody>
            <a:bodyPr wrap="square" lIns="79200" rIns="79200">
              <a:spAutoFit/>
            </a:bodyPr>
            <a:lstStyle/>
            <a:p>
              <a:r>
                <a:rPr lang="en-US" altLang="ja-JP" sz="1450">
                  <a:effectLst/>
                  <a:ea typeface="Arial" panose="020B0604020202020204" pitchFamily="34" charset="0"/>
                </a:rPr>
                <a:t>and “TEL” are trademarks of Tokyo Electron Limited.</a:t>
              </a:r>
              <a:endParaRPr kumimoji="1" lang="ja-JP" altLang="en-US" sz="1450"/>
            </a:p>
          </p:txBody>
        </p:sp>
      </p:grp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D4061FA-09EE-2669-1B84-5FC8DE622D0F}"/>
              </a:ext>
            </a:extLst>
          </p:cNvPr>
          <p:cNvSpPr txBox="1"/>
          <p:nvPr userDrawn="1"/>
        </p:nvSpPr>
        <p:spPr>
          <a:xfrm>
            <a:off x="1771820" y="1364418"/>
            <a:ext cx="8648358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Tx/>
              <a:buFont typeface="+mj-lt"/>
              <a:buNone/>
              <a:tabLst>
                <a:tab pos="10744200" algn="dec"/>
              </a:tabLst>
              <a:defRPr/>
            </a:pPr>
            <a:r>
              <a:rPr kumimoji="1" lang="en-US" altLang="ja-JP" sz="5400" b="1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+mn-cs"/>
              </a:rPr>
              <a:t>Notice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Tx/>
              <a:buFont typeface="+mj-lt"/>
              <a:buNone/>
              <a:tabLst>
                <a:tab pos="10744200" algn="dec"/>
              </a:tabLst>
              <a:defRPr/>
            </a:pP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Tx/>
              <a:buFont typeface="+mj-lt"/>
              <a:buNone/>
              <a:tabLst>
                <a:tab pos="10744200" algn="dec"/>
              </a:tabLst>
              <a:defRPr/>
            </a:pPr>
            <a:r>
              <a:rPr kumimoji="1" lang="en-US" altLang="ja-JP" sz="3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+mn-cs"/>
              </a:rPr>
              <a:t>This material contains confidential information.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Tx/>
              <a:buFont typeface="+mj-lt"/>
              <a:buNone/>
              <a:tabLst>
                <a:tab pos="10744200" algn="dec"/>
              </a:tabLst>
              <a:defRPr/>
            </a:pPr>
            <a:r>
              <a:rPr kumimoji="1" lang="en-US" altLang="ja-JP" sz="3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+mn-cs"/>
              </a:rPr>
              <a:t>You may not disclose its contents outside the authorized scope.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Tx/>
              <a:buFont typeface="+mj-lt"/>
              <a:buNone/>
              <a:tabLst>
                <a:tab pos="10744200" algn="dec"/>
              </a:tabLst>
              <a:defRPr/>
            </a:pP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Tx/>
              <a:buFont typeface="+mj-lt"/>
              <a:buNone/>
              <a:tabLst>
                <a:tab pos="10744200" algn="dec"/>
              </a:tabLst>
              <a:defRPr/>
            </a:pPr>
            <a:r>
              <a:rPr kumimoji="1" lang="en-US" altLang="ja-JP" sz="3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+mn-cs"/>
              </a:rPr>
              <a:t>Tokyo Electron</a:t>
            </a:r>
          </a:p>
        </p:txBody>
      </p:sp>
    </p:spTree>
    <p:extLst>
      <p:ext uri="{BB962C8B-B14F-4D97-AF65-F5344CB8AC3E}">
        <p14:creationId xmlns:p14="http://schemas.microsoft.com/office/powerpoint/2010/main" val="319794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">
    <p:bg>
      <p:bgPr>
        <a:solidFill>
          <a:srgbClr val="201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96DB07-E686-4114-9F6B-6DEE7F7DC71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20" t="35796" r="37920" b="37202"/>
          <a:stretch/>
        </p:blipFill>
        <p:spPr bwMode="auto">
          <a:xfrm>
            <a:off x="4623150" y="2455051"/>
            <a:ext cx="2945699" cy="185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25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89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7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335637831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72" imgW="353" imgH="318" progId="TCLayout.ActiveDocument.1">
                  <p:embed/>
                </p:oleObj>
              </mc:Choice>
              <mc:Fallback>
                <p:oleObj name="think-cell スライド" r:id="rId72" imgW="353" imgH="318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 userDrawn="1">
            <p:custDataLst>
              <p:tags r:id="rId71"/>
            </p:custDataLst>
          </p:nvPr>
        </p:nvSpPr>
        <p:spPr>
          <a:xfrm>
            <a:off x="0" y="0"/>
            <a:ext cx="158791" cy="1587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kumimoji="1" lang="ja-JP" altLang="en-US" sz="3000" b="0" i="0" baseline="0">
              <a:solidFill>
                <a:schemeClr val="tx1"/>
              </a:solidFill>
              <a:latin typeface="Arial" panose="020B0604020202020204" pitchFamily="34" charset="0"/>
              <a:ea typeface="Meiryo" panose="020B0604030504040204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フッター プレースホルダー 2"/>
          <p:cNvSpPr>
            <a:spLocks noGrp="1"/>
          </p:cNvSpPr>
          <p:nvPr/>
        </p:nvSpPr>
        <p:spPr>
          <a:xfrm>
            <a:off x="654288" y="6455260"/>
            <a:ext cx="4999145" cy="240033"/>
          </a:xfrm>
          <a:prstGeom prst="rect">
            <a:avLst/>
          </a:prstGeom>
        </p:spPr>
        <p:txBody>
          <a:bodyPr vert="horz" wrap="none" lIns="0" tIns="0" rIns="18000" bIns="720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en-US" altLang="ja-JP" sz="800" kern="1200" smtClean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Parts</a:t>
            </a:r>
            <a:r>
              <a:rPr kumimoji="1" lang="ja-JP" altLang="en-US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 </a:t>
            </a:r>
            <a:r>
              <a:rPr kumimoji="1" lang="en-US" altLang="ja-JP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Traceability</a:t>
            </a:r>
            <a:r>
              <a:rPr kumimoji="1" lang="ja-JP" altLang="en-US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 </a:t>
            </a:r>
            <a:r>
              <a:rPr kumimoji="1" lang="en-US" altLang="ja-JP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Development</a:t>
            </a:r>
            <a:r>
              <a:rPr kumimoji="1" lang="ja-JP" altLang="en-US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 </a:t>
            </a:r>
            <a:r>
              <a:rPr kumimoji="1" lang="en-US" altLang="ja-JP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Project</a:t>
            </a:r>
            <a:r>
              <a:rPr kumimoji="1" lang="ja-JP" altLang="en-US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 </a:t>
            </a:r>
            <a:r>
              <a:rPr kumimoji="1" lang="en-US" altLang="ja-JP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/</a:t>
            </a:r>
            <a:r>
              <a:rPr kumimoji="1" lang="ja-JP" altLang="en-US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 </a:t>
            </a:r>
            <a:r>
              <a:rPr kumimoji="1" lang="en-US" altLang="ja-JP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April</a:t>
            </a:r>
            <a:r>
              <a:rPr kumimoji="1" lang="ja-JP" altLang="en-US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 </a:t>
            </a:r>
            <a:r>
              <a:rPr kumimoji="1" lang="en-US" altLang="ja-JP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17</a:t>
            </a:r>
            <a:r>
              <a:rPr kumimoji="1" lang="en-US" altLang="ja-JP" sz="1200" kern="1200" baseline="300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th</a:t>
            </a:r>
            <a:r>
              <a:rPr kumimoji="1" lang="ja-JP" altLang="en-US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 </a:t>
            </a:r>
            <a:r>
              <a:rPr kumimoji="1" lang="en-US" altLang="ja-JP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2025</a:t>
            </a:r>
          </a:p>
        </p:txBody>
      </p:sp>
      <p:sp>
        <p:nvSpPr>
          <p:cNvPr id="29" name="Title Placeholder 1"/>
          <p:cNvSpPr>
            <a:spLocks noGrp="1"/>
          </p:cNvSpPr>
          <p:nvPr>
            <p:ph type="title"/>
          </p:nvPr>
        </p:nvSpPr>
        <p:spPr>
          <a:xfrm>
            <a:off x="649431" y="461572"/>
            <a:ext cx="10919008" cy="5232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30" name="Text Placeholder 2"/>
          <p:cNvSpPr>
            <a:spLocks noGrp="1"/>
          </p:cNvSpPr>
          <p:nvPr>
            <p:ph type="body" idx="1"/>
          </p:nvPr>
        </p:nvSpPr>
        <p:spPr>
          <a:xfrm>
            <a:off x="652741" y="1373188"/>
            <a:ext cx="10915698" cy="4529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</a:t>
            </a:r>
            <a:r>
              <a:rPr lang="en-US" altLang="ja-JP"/>
              <a:t>2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</a:t>
            </a:r>
            <a:r>
              <a:rPr lang="en-US" altLang="ja-JP"/>
              <a:t>3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</a:t>
            </a:r>
            <a:r>
              <a:rPr lang="en-US" altLang="ja-JP"/>
              <a:t>4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</a:t>
            </a:r>
            <a:r>
              <a:rPr lang="en-US" altLang="ja-JP"/>
              <a:t>5</a:t>
            </a:r>
            <a:r>
              <a:rPr lang="ja-JP" altLang="en-US"/>
              <a:t>レベル</a:t>
            </a:r>
          </a:p>
        </p:txBody>
      </p:sp>
      <p:sp>
        <p:nvSpPr>
          <p:cNvPr id="49" name="フッター プレースホルダー 2"/>
          <p:cNvSpPr>
            <a:spLocks noGrp="1"/>
          </p:cNvSpPr>
          <p:nvPr/>
        </p:nvSpPr>
        <p:spPr>
          <a:xfrm>
            <a:off x="8635170" y="183315"/>
            <a:ext cx="2975920" cy="240033"/>
          </a:xfrm>
          <a:prstGeom prst="rect">
            <a:avLst/>
          </a:prstGeom>
        </p:spPr>
        <p:txBody>
          <a:bodyPr vert="horz" wrap="none" lIns="0" tIns="0" rIns="18000" bIns="720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en-US" altLang="ja-JP" sz="800" kern="1200" smtClean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Internal Use Only</a:t>
            </a:r>
            <a:endParaRPr lang="en-US" altLang="ja-JP" sz="1200" b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50" name="テキスト プレースホルダー 4"/>
          <p:cNvSpPr txBox="1">
            <a:spLocks/>
          </p:cNvSpPr>
          <p:nvPr/>
        </p:nvSpPr>
        <p:spPr>
          <a:xfrm>
            <a:off x="11279555" y="6428521"/>
            <a:ext cx="505134" cy="26955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400" kern="1200" baseline="0">
                <a:solidFill>
                  <a:srgbClr val="2D2D2D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1pPr>
            <a:lvl2pPr marL="466344" indent="-237744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–"/>
              <a:defRPr kumimoji="1" sz="2000" kern="1200" baseline="0">
                <a:solidFill>
                  <a:srgbClr val="2D2D2D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2pPr>
            <a:lvl3pPr marL="676656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rgbClr val="2D2D2D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600" kern="1200" baseline="0">
                <a:solidFill>
                  <a:srgbClr val="2D2D2D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400" kern="1200" baseline="0">
                <a:solidFill>
                  <a:srgbClr val="2D2D2D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5pPr>
            <a:lvl6pPr marL="13716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F7A37A4-0F47-485C-8E1C-E4FAAB63423F}" type="slidenum">
              <a:rPr kumimoji="0" lang="en-US" altLang="ja-JP" sz="1200" smtClean="0">
                <a:solidFill>
                  <a:schemeClr val="tx1"/>
                </a:solidFill>
                <a:latin typeface="Arial"/>
                <a:ea typeface="Meiryo"/>
              </a:rPr>
              <a:pPr algn="r"/>
              <a:t>‹#›</a:t>
            </a:fld>
            <a:endParaRPr kumimoji="0" lang="ja-JP" altLang="en-US" sz="1200">
              <a:solidFill>
                <a:schemeClr val="tx1"/>
              </a:solidFill>
              <a:latin typeface="Arial"/>
              <a:ea typeface="Meiryo"/>
            </a:endParaRPr>
          </a:p>
        </p:txBody>
      </p:sp>
      <p:grpSp>
        <p:nvGrpSpPr>
          <p:cNvPr id="31" name="グループ化 30"/>
          <p:cNvGrpSpPr/>
          <p:nvPr/>
        </p:nvGrpSpPr>
        <p:grpSpPr>
          <a:xfrm>
            <a:off x="-994518" y="1"/>
            <a:ext cx="824135" cy="6858001"/>
            <a:chOff x="-994259" y="0"/>
            <a:chExt cx="823920" cy="6820226"/>
          </a:xfrm>
        </p:grpSpPr>
        <p:sp>
          <p:nvSpPr>
            <p:cNvPr id="51" name="Rectangle 33"/>
            <p:cNvSpPr>
              <a:spLocks noChangeAspect="1"/>
            </p:cNvSpPr>
            <p:nvPr userDrawn="1"/>
          </p:nvSpPr>
          <p:spPr>
            <a:xfrm>
              <a:off x="-913489" y="0"/>
              <a:ext cx="743150" cy="681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altLang="ja-JP" sz="900"/>
                <a:t>Cyan</a:t>
              </a:r>
            </a:p>
          </p:txBody>
        </p:sp>
        <p:sp>
          <p:nvSpPr>
            <p:cNvPr id="52" name="Rectangle 30"/>
            <p:cNvSpPr>
              <a:spLocks noChangeAspect="1"/>
            </p:cNvSpPr>
            <p:nvPr userDrawn="1"/>
          </p:nvSpPr>
          <p:spPr>
            <a:xfrm>
              <a:off x="-913490" y="2042809"/>
              <a:ext cx="743150" cy="681349"/>
            </a:xfrm>
            <a:prstGeom prst="rect">
              <a:avLst/>
            </a:prstGeom>
            <a:solidFill>
              <a:srgbClr val="FFFF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4B4F54"/>
                  </a:solidFill>
                </a:rPr>
                <a:t>White</a:t>
              </a:r>
            </a:p>
          </p:txBody>
        </p:sp>
        <p:sp>
          <p:nvSpPr>
            <p:cNvPr id="53" name="Rectangle 31"/>
            <p:cNvSpPr>
              <a:spLocks noChangeAspect="1"/>
            </p:cNvSpPr>
            <p:nvPr userDrawn="1"/>
          </p:nvSpPr>
          <p:spPr>
            <a:xfrm>
              <a:off x="-917627" y="681348"/>
              <a:ext cx="743150" cy="681349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Gray</a:t>
              </a:r>
            </a:p>
          </p:txBody>
        </p:sp>
        <p:sp>
          <p:nvSpPr>
            <p:cNvPr id="54" name="Rectangle 39"/>
            <p:cNvSpPr>
              <a:spLocks noChangeAspect="1"/>
            </p:cNvSpPr>
            <p:nvPr userDrawn="1"/>
          </p:nvSpPr>
          <p:spPr>
            <a:xfrm>
              <a:off x="-913490" y="2724157"/>
              <a:ext cx="743150" cy="6813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Magenta</a:t>
              </a:r>
            </a:p>
          </p:txBody>
        </p:sp>
        <p:sp>
          <p:nvSpPr>
            <p:cNvPr id="55" name="Rectangle 41"/>
            <p:cNvSpPr>
              <a:spLocks noChangeAspect="1"/>
            </p:cNvSpPr>
            <p:nvPr userDrawn="1"/>
          </p:nvSpPr>
          <p:spPr>
            <a:xfrm>
              <a:off x="-913490" y="4087970"/>
              <a:ext cx="743150" cy="6813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Turquoise</a:t>
              </a:r>
            </a:p>
          </p:txBody>
        </p:sp>
        <p:sp>
          <p:nvSpPr>
            <p:cNvPr id="56" name="Rectangle 42"/>
            <p:cNvSpPr>
              <a:spLocks noChangeAspect="1"/>
            </p:cNvSpPr>
            <p:nvPr userDrawn="1"/>
          </p:nvSpPr>
          <p:spPr>
            <a:xfrm>
              <a:off x="-913490" y="4765237"/>
              <a:ext cx="743150" cy="68134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Green</a:t>
              </a:r>
            </a:p>
          </p:txBody>
        </p:sp>
        <p:sp>
          <p:nvSpPr>
            <p:cNvPr id="57" name="Rectangle 43"/>
            <p:cNvSpPr>
              <a:spLocks noChangeAspect="1"/>
            </p:cNvSpPr>
            <p:nvPr userDrawn="1"/>
          </p:nvSpPr>
          <p:spPr>
            <a:xfrm>
              <a:off x="-913490" y="5451781"/>
              <a:ext cx="743150" cy="681349"/>
            </a:xfrm>
            <a:prstGeom prst="rect">
              <a:avLst/>
            </a:prstGeom>
            <a:solidFill>
              <a:srgbClr val="EE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Yellow</a:t>
              </a:r>
            </a:p>
          </p:txBody>
        </p:sp>
        <p:sp>
          <p:nvSpPr>
            <p:cNvPr id="58" name="TextBox 58"/>
            <p:cNvSpPr txBox="1"/>
            <p:nvPr userDrawn="1"/>
          </p:nvSpPr>
          <p:spPr>
            <a:xfrm>
              <a:off x="-990122" y="226034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255</a:t>
              </a:r>
            </a:p>
          </p:txBody>
        </p:sp>
        <p:sp>
          <p:nvSpPr>
            <p:cNvPr id="59" name="TextBox 59"/>
            <p:cNvSpPr txBox="1"/>
            <p:nvPr userDrawn="1"/>
          </p:nvSpPr>
          <p:spPr>
            <a:xfrm>
              <a:off x="-994259" y="896067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60" name="TextBox 60"/>
            <p:cNvSpPr txBox="1"/>
            <p:nvPr userDrawn="1"/>
          </p:nvSpPr>
          <p:spPr>
            <a:xfrm>
              <a:off x="-990121" y="20842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169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224</a:t>
              </a:r>
            </a:p>
          </p:txBody>
        </p:sp>
        <p:sp>
          <p:nvSpPr>
            <p:cNvPr id="61" name="TextBox 62"/>
            <p:cNvSpPr txBox="1"/>
            <p:nvPr userDrawn="1"/>
          </p:nvSpPr>
          <p:spPr>
            <a:xfrm>
              <a:off x="-990121" y="294854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218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132</a:t>
              </a:r>
            </a:p>
          </p:txBody>
        </p:sp>
        <p:sp>
          <p:nvSpPr>
            <p:cNvPr id="62" name="TextBox 64"/>
            <p:cNvSpPr txBox="1"/>
            <p:nvPr userDrawn="1"/>
          </p:nvSpPr>
          <p:spPr>
            <a:xfrm>
              <a:off x="-990122" y="431661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178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169</a:t>
              </a:r>
            </a:p>
          </p:txBody>
        </p:sp>
        <p:sp>
          <p:nvSpPr>
            <p:cNvPr id="63" name="TextBox 65"/>
            <p:cNvSpPr txBox="1"/>
            <p:nvPr userDrawn="1"/>
          </p:nvSpPr>
          <p:spPr>
            <a:xfrm>
              <a:off x="-990122" y="500065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120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190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32</a:t>
              </a:r>
            </a:p>
          </p:txBody>
        </p:sp>
        <p:sp>
          <p:nvSpPr>
            <p:cNvPr id="64" name="TextBox 66"/>
            <p:cNvSpPr txBox="1"/>
            <p:nvPr userDrawn="1"/>
          </p:nvSpPr>
          <p:spPr>
            <a:xfrm>
              <a:off x="-990122" y="5684689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238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0</a:t>
              </a:r>
            </a:p>
          </p:txBody>
        </p:sp>
        <p:sp>
          <p:nvSpPr>
            <p:cNvPr id="65" name="Rectangle 43"/>
            <p:cNvSpPr>
              <a:spLocks noChangeAspect="1"/>
            </p:cNvSpPr>
            <p:nvPr userDrawn="1"/>
          </p:nvSpPr>
          <p:spPr>
            <a:xfrm>
              <a:off x="-913490" y="6138327"/>
              <a:ext cx="743150" cy="681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Orange</a:t>
              </a:r>
            </a:p>
          </p:txBody>
        </p:sp>
        <p:sp>
          <p:nvSpPr>
            <p:cNvPr id="66" name="TextBox 66"/>
            <p:cNvSpPr txBox="1"/>
            <p:nvPr userDrawn="1"/>
          </p:nvSpPr>
          <p:spPr>
            <a:xfrm>
              <a:off x="-990121" y="6388998"/>
              <a:ext cx="628050" cy="431228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106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19</a:t>
              </a:r>
            </a:p>
          </p:txBody>
        </p:sp>
        <p:sp>
          <p:nvSpPr>
            <p:cNvPr id="67" name="Rectangle 40"/>
            <p:cNvSpPr>
              <a:spLocks noChangeAspect="1"/>
            </p:cNvSpPr>
            <p:nvPr userDrawn="1"/>
          </p:nvSpPr>
          <p:spPr>
            <a:xfrm>
              <a:off x="-917627" y="3401424"/>
              <a:ext cx="743150" cy="6813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Purple</a:t>
              </a:r>
            </a:p>
          </p:txBody>
        </p:sp>
        <p:sp>
          <p:nvSpPr>
            <p:cNvPr id="68" name="TextBox 63"/>
            <p:cNvSpPr txBox="1"/>
            <p:nvPr userDrawn="1"/>
          </p:nvSpPr>
          <p:spPr>
            <a:xfrm>
              <a:off x="-990122" y="363258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R	128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G	49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B	167</a:t>
              </a:r>
            </a:p>
          </p:txBody>
        </p:sp>
        <p:sp>
          <p:nvSpPr>
            <p:cNvPr id="69" name="Rectangle 31"/>
            <p:cNvSpPr>
              <a:spLocks noChangeAspect="1"/>
            </p:cNvSpPr>
            <p:nvPr userDrawn="1"/>
          </p:nvSpPr>
          <p:spPr>
            <a:xfrm>
              <a:off x="-917627" y="1362697"/>
              <a:ext cx="743150" cy="68134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chemeClr val="tx1"/>
                  </a:solidFill>
                </a:rPr>
                <a:t>Light Gray</a:t>
              </a:r>
            </a:p>
          </p:txBody>
        </p:sp>
        <p:sp>
          <p:nvSpPr>
            <p:cNvPr id="70" name="TextBox 59"/>
            <p:cNvSpPr txBox="1"/>
            <p:nvPr userDrawn="1"/>
          </p:nvSpPr>
          <p:spPr>
            <a:xfrm>
              <a:off x="-994259" y="1577416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</p:txBody>
        </p:sp>
      </p:grpSp>
      <p:pic>
        <p:nvPicPr>
          <p:cNvPr id="34" name="図 33">
            <a:extLst>
              <a:ext uri="{FF2B5EF4-FFF2-40B4-BE49-F238E27FC236}">
                <a16:creationId xmlns:a16="http://schemas.microsoft.com/office/drawing/2014/main" id="{6BC21066-D018-420C-9139-1DE18838C5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041"/>
          <a:stretch/>
        </p:blipFill>
        <p:spPr>
          <a:xfrm>
            <a:off x="10612735" y="6376947"/>
            <a:ext cx="676353" cy="288010"/>
          </a:xfrm>
          <a:prstGeom prst="rect">
            <a:avLst/>
          </a:prstGeom>
        </p:spPr>
      </p:pic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D0CE545B-54F4-42A8-8C4E-5A3FB9912459}"/>
              </a:ext>
            </a:extLst>
          </p:cNvPr>
          <p:cNvSpPr/>
          <p:nvPr userDrawn="1"/>
        </p:nvSpPr>
        <p:spPr>
          <a:xfrm>
            <a:off x="959" y="418"/>
            <a:ext cx="12190083" cy="6857167"/>
          </a:xfrm>
          <a:prstGeom prst="rect">
            <a:avLst/>
          </a:prstGeom>
          <a:noFill/>
          <a:ln w="1270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690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731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4" r:id="rId23"/>
    <p:sldLayoutId id="2147483685" r:id="rId24"/>
    <p:sldLayoutId id="2147483687" r:id="rId25"/>
    <p:sldLayoutId id="2147483688" r:id="rId26"/>
    <p:sldLayoutId id="2147483690" r:id="rId27"/>
    <p:sldLayoutId id="2147483691" r:id="rId28"/>
    <p:sldLayoutId id="2147483692" r:id="rId29"/>
    <p:sldLayoutId id="2147483694" r:id="rId30"/>
    <p:sldLayoutId id="2147483695" r:id="rId31"/>
    <p:sldLayoutId id="2147483696" r:id="rId32"/>
    <p:sldLayoutId id="2147483697" r:id="rId33"/>
    <p:sldLayoutId id="2147483698" r:id="rId34"/>
    <p:sldLayoutId id="2147483699" r:id="rId35"/>
    <p:sldLayoutId id="2147483700" r:id="rId36"/>
    <p:sldLayoutId id="2147483701" r:id="rId37"/>
    <p:sldLayoutId id="2147483702" r:id="rId38"/>
    <p:sldLayoutId id="2147483703" r:id="rId39"/>
    <p:sldLayoutId id="2147483704" r:id="rId40"/>
    <p:sldLayoutId id="2147483705" r:id="rId41"/>
    <p:sldLayoutId id="2147483706" r:id="rId42"/>
    <p:sldLayoutId id="2147483707" r:id="rId43"/>
    <p:sldLayoutId id="2147483708" r:id="rId44"/>
    <p:sldLayoutId id="2147483709" r:id="rId45"/>
    <p:sldLayoutId id="2147483710" r:id="rId46"/>
    <p:sldLayoutId id="2147483711" r:id="rId47"/>
    <p:sldLayoutId id="2147483712" r:id="rId48"/>
    <p:sldLayoutId id="2147483713" r:id="rId49"/>
    <p:sldLayoutId id="2147483714" r:id="rId50"/>
    <p:sldLayoutId id="2147483715" r:id="rId51"/>
    <p:sldLayoutId id="2147483716" r:id="rId52"/>
    <p:sldLayoutId id="2147483717" r:id="rId53"/>
    <p:sldLayoutId id="2147483718" r:id="rId54"/>
    <p:sldLayoutId id="2147483719" r:id="rId55"/>
    <p:sldLayoutId id="2147483720" r:id="rId56"/>
    <p:sldLayoutId id="2147483721" r:id="rId57"/>
    <p:sldLayoutId id="2147483722" r:id="rId58"/>
    <p:sldLayoutId id="2147483723" r:id="rId59"/>
    <p:sldLayoutId id="2147483724" r:id="rId60"/>
    <p:sldLayoutId id="2147483725" r:id="rId61"/>
    <p:sldLayoutId id="2147483726" r:id="rId62"/>
    <p:sldLayoutId id="2147483727" r:id="rId63"/>
    <p:sldLayoutId id="2147483728" r:id="rId64"/>
    <p:sldLayoutId id="2147483729" r:id="rId65"/>
    <p:sldLayoutId id="2147483730" r:id="rId66"/>
    <p:sldLayoutId id="2147483757" r:id="rId67"/>
    <p:sldLayoutId id="2147483758" r:id="rId6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spcBef>
          <a:spcPct val="0"/>
        </a:spcBef>
        <a:buNone/>
        <a:defRPr kumimoji="1" sz="3000" kern="1200" baseline="0">
          <a:solidFill>
            <a:schemeClr val="accent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200"/>
        </a:spcBef>
        <a:buClr>
          <a:schemeClr val="accent3"/>
        </a:buClr>
        <a:buFont typeface="Wingdings" panose="05000000000000000000" pitchFamily="2" charset="2"/>
        <a:buChar char="§"/>
        <a:defRPr kumimoji="1" sz="2400" kern="1200" baseline="0">
          <a:solidFill>
            <a:schemeClr val="tx1"/>
          </a:solidFill>
          <a:latin typeface="Arial" panose="020B0604020202020204" pitchFamily="34" charset="0"/>
          <a:ea typeface="メイリオ" panose="020B0604030504040204" pitchFamily="50" charset="-128"/>
          <a:cs typeface="+mn-cs"/>
        </a:defRPr>
      </a:lvl1pPr>
      <a:lvl2pPr marL="466344" indent="-237744" algn="l" defTabSz="914400" rtl="0" eaLnBrk="1" latinLnBrk="0" hangingPunct="1">
        <a:spcBef>
          <a:spcPts val="600"/>
        </a:spcBef>
        <a:buFont typeface="Arial" panose="020B0604020202020204" pitchFamily="34" charset="0"/>
        <a:buChar char="–"/>
        <a:defRPr kumimoji="1" sz="2000" kern="1200" baseline="0">
          <a:solidFill>
            <a:schemeClr val="tx1"/>
          </a:solidFill>
          <a:latin typeface="Arial" panose="020B0604020202020204" pitchFamily="34" charset="0"/>
          <a:ea typeface="メイリオ" panose="020B0604030504040204" pitchFamily="50" charset="-128"/>
          <a:cs typeface="+mn-cs"/>
        </a:defRPr>
      </a:lvl2pPr>
      <a:lvl3pPr marL="676656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800" kern="1200" baseline="0">
          <a:solidFill>
            <a:schemeClr val="tx1"/>
          </a:solidFill>
          <a:latin typeface="Arial" panose="020B0604020202020204" pitchFamily="34" charset="0"/>
          <a:ea typeface="メイリオ" panose="020B0604030504040204" pitchFamily="50" charset="-128"/>
          <a:cs typeface="+mn-cs"/>
        </a:defRPr>
      </a:lvl3pPr>
      <a:lvl4pPr marL="9144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メイリオ" panose="020B0604030504040204" pitchFamily="50" charset="-128"/>
          <a:cs typeface="+mn-cs"/>
        </a:defRPr>
      </a:lvl4pPr>
      <a:lvl5pPr marL="11430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400" kern="1200" baseline="0">
          <a:solidFill>
            <a:schemeClr val="tx1"/>
          </a:solidFill>
          <a:latin typeface="Arial" panose="020B0604020202020204" pitchFamily="34" charset="0"/>
          <a:ea typeface="メイリオ" panose="020B0604030504040204" pitchFamily="50" charset="-128"/>
          <a:cs typeface="+mn-cs"/>
        </a:defRPr>
      </a:lvl5pPr>
      <a:lvl6pPr marL="13716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Placeholder 1"/>
          <p:cNvSpPr>
            <a:spLocks noGrp="1"/>
          </p:cNvSpPr>
          <p:nvPr>
            <p:ph type="title"/>
          </p:nvPr>
        </p:nvSpPr>
        <p:spPr>
          <a:xfrm>
            <a:off x="649431" y="461572"/>
            <a:ext cx="10919008" cy="5232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ja-JP"/>
              <a:t>Headline, Arial 30pt Title Case</a:t>
            </a:r>
            <a:endParaRPr/>
          </a:p>
        </p:txBody>
      </p:sp>
      <p:sp>
        <p:nvSpPr>
          <p:cNvPr id="36" name="Text Placeholder 2"/>
          <p:cNvSpPr>
            <a:spLocks noGrp="1"/>
          </p:cNvSpPr>
          <p:nvPr>
            <p:ph type="body" idx="1"/>
          </p:nvPr>
        </p:nvSpPr>
        <p:spPr>
          <a:xfrm>
            <a:off x="652741" y="1373188"/>
            <a:ext cx="10915698" cy="4529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kumimoji="1" lang="en-US" altLang="ja-JP"/>
              <a:t>Body text, Arial 24pt</a:t>
            </a:r>
          </a:p>
          <a:p>
            <a:pPr lvl="1"/>
            <a:r>
              <a:rPr lang="en-US" altLang="ja-JP"/>
              <a:t>Second level</a:t>
            </a:r>
            <a:endParaRPr lang="ja-JP" altLang="en-US"/>
          </a:p>
          <a:p>
            <a:pPr lvl="2"/>
            <a:r>
              <a:rPr lang="en-US" altLang="ja-JP"/>
              <a:t>Third level</a:t>
            </a:r>
            <a:endParaRPr lang="ja-JP" altLang="en-US"/>
          </a:p>
          <a:p>
            <a:pPr lvl="3"/>
            <a:r>
              <a:rPr lang="en-US" altLang="ja-JP"/>
              <a:t>Fourth level</a:t>
            </a:r>
            <a:endParaRPr lang="ja-JP" altLang="en-US"/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26" name="フッター プレースホルダー 2"/>
          <p:cNvSpPr>
            <a:spLocks noGrp="1"/>
          </p:cNvSpPr>
          <p:nvPr/>
        </p:nvSpPr>
        <p:spPr>
          <a:xfrm>
            <a:off x="8362579" y="183315"/>
            <a:ext cx="3248511" cy="240033"/>
          </a:xfrm>
          <a:prstGeom prst="rect">
            <a:avLst/>
          </a:prstGeom>
        </p:spPr>
        <p:txBody>
          <a:bodyPr vert="horz" wrap="none" lIns="0" tIns="0" rIns="18000" bIns="720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en-US" altLang="ja-JP" sz="800" kern="1200" smtClean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200" b="0" baseline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Internal Use Only</a:t>
            </a:r>
            <a:endParaRPr lang="en-US" altLang="ja-JP" sz="1200" b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2" name="テキスト プレースホルダー 4"/>
          <p:cNvSpPr txBox="1">
            <a:spLocks/>
          </p:cNvSpPr>
          <p:nvPr/>
        </p:nvSpPr>
        <p:spPr>
          <a:xfrm>
            <a:off x="11279555" y="6428521"/>
            <a:ext cx="505134" cy="26955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400" kern="1200" baseline="0">
                <a:solidFill>
                  <a:srgbClr val="2D2D2D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1pPr>
            <a:lvl2pPr marL="466344" indent="-237744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–"/>
              <a:defRPr kumimoji="1" sz="2000" kern="1200" baseline="0">
                <a:solidFill>
                  <a:srgbClr val="2D2D2D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2pPr>
            <a:lvl3pPr marL="676656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rgbClr val="2D2D2D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600" kern="1200" baseline="0">
                <a:solidFill>
                  <a:srgbClr val="2D2D2D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400" kern="1200" baseline="0">
                <a:solidFill>
                  <a:srgbClr val="2D2D2D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5pPr>
            <a:lvl6pPr marL="13716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F7A37A4-0F47-485C-8E1C-E4FAAB63423F}" type="slidenum">
              <a:rPr kumimoji="0" lang="en-US" altLang="ja-JP" sz="1200" smtClean="0">
                <a:solidFill>
                  <a:schemeClr val="tx1"/>
                </a:solidFill>
                <a:latin typeface="Arial"/>
                <a:ea typeface="Meiryo"/>
              </a:rPr>
              <a:pPr algn="r"/>
              <a:t>‹#›</a:t>
            </a:fld>
            <a:endParaRPr kumimoji="0" lang="ja-JP" altLang="en-US" sz="1200">
              <a:solidFill>
                <a:schemeClr val="tx1"/>
              </a:solidFill>
              <a:latin typeface="Arial"/>
              <a:ea typeface="Meiryo"/>
            </a:endParaRPr>
          </a:p>
        </p:txBody>
      </p:sp>
      <p:grpSp>
        <p:nvGrpSpPr>
          <p:cNvPr id="27" name="グループ化 26"/>
          <p:cNvGrpSpPr/>
          <p:nvPr/>
        </p:nvGrpSpPr>
        <p:grpSpPr>
          <a:xfrm>
            <a:off x="-994518" y="0"/>
            <a:ext cx="824135" cy="6857448"/>
            <a:chOff x="-994259" y="0"/>
            <a:chExt cx="823920" cy="6819676"/>
          </a:xfrm>
        </p:grpSpPr>
        <p:sp>
          <p:nvSpPr>
            <p:cNvPr id="28" name="Rectangle 33"/>
            <p:cNvSpPr>
              <a:spLocks noChangeAspect="1"/>
            </p:cNvSpPr>
            <p:nvPr userDrawn="1"/>
          </p:nvSpPr>
          <p:spPr>
            <a:xfrm>
              <a:off x="-913489" y="0"/>
              <a:ext cx="743150" cy="681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altLang="ja-JP" sz="900"/>
                <a:t>Cyan</a:t>
              </a:r>
            </a:p>
          </p:txBody>
        </p:sp>
        <p:sp>
          <p:nvSpPr>
            <p:cNvPr id="33" name="Rectangle 30"/>
            <p:cNvSpPr>
              <a:spLocks noChangeAspect="1"/>
            </p:cNvSpPr>
            <p:nvPr userDrawn="1"/>
          </p:nvSpPr>
          <p:spPr>
            <a:xfrm>
              <a:off x="-913490" y="2042809"/>
              <a:ext cx="743150" cy="681349"/>
            </a:xfrm>
            <a:prstGeom prst="rect">
              <a:avLst/>
            </a:prstGeom>
            <a:solidFill>
              <a:srgbClr val="FFFF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4B4F54"/>
                  </a:solidFill>
                </a:rPr>
                <a:t>White</a:t>
              </a:r>
            </a:p>
          </p:txBody>
        </p:sp>
        <p:sp>
          <p:nvSpPr>
            <p:cNvPr id="34" name="Rectangle 31"/>
            <p:cNvSpPr>
              <a:spLocks noChangeAspect="1"/>
            </p:cNvSpPr>
            <p:nvPr userDrawn="1"/>
          </p:nvSpPr>
          <p:spPr>
            <a:xfrm>
              <a:off x="-917627" y="681348"/>
              <a:ext cx="743150" cy="681349"/>
            </a:xfrm>
            <a:prstGeom prst="rect">
              <a:avLst/>
            </a:prstGeom>
            <a:solidFill>
              <a:srgbClr val="2D2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Gray</a:t>
              </a:r>
            </a:p>
          </p:txBody>
        </p:sp>
        <p:sp>
          <p:nvSpPr>
            <p:cNvPr id="37" name="Rectangle 39"/>
            <p:cNvSpPr>
              <a:spLocks noChangeAspect="1"/>
            </p:cNvSpPr>
            <p:nvPr userDrawn="1"/>
          </p:nvSpPr>
          <p:spPr>
            <a:xfrm>
              <a:off x="-913490" y="2724157"/>
              <a:ext cx="743150" cy="68134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Magenta</a:t>
              </a:r>
            </a:p>
          </p:txBody>
        </p:sp>
        <p:sp>
          <p:nvSpPr>
            <p:cNvPr id="38" name="Rectangle 41"/>
            <p:cNvSpPr>
              <a:spLocks noChangeAspect="1"/>
            </p:cNvSpPr>
            <p:nvPr userDrawn="1"/>
          </p:nvSpPr>
          <p:spPr>
            <a:xfrm>
              <a:off x="-913490" y="4087970"/>
              <a:ext cx="743150" cy="6813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Turquoise</a:t>
              </a:r>
            </a:p>
          </p:txBody>
        </p:sp>
        <p:sp>
          <p:nvSpPr>
            <p:cNvPr id="39" name="Rectangle 42"/>
            <p:cNvSpPr>
              <a:spLocks noChangeAspect="1"/>
            </p:cNvSpPr>
            <p:nvPr userDrawn="1"/>
          </p:nvSpPr>
          <p:spPr>
            <a:xfrm>
              <a:off x="-913490" y="4765237"/>
              <a:ext cx="743150" cy="68134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Green</a:t>
              </a:r>
            </a:p>
          </p:txBody>
        </p:sp>
        <p:sp>
          <p:nvSpPr>
            <p:cNvPr id="40" name="Rectangle 43"/>
            <p:cNvSpPr>
              <a:spLocks noChangeAspect="1"/>
            </p:cNvSpPr>
            <p:nvPr userDrawn="1"/>
          </p:nvSpPr>
          <p:spPr>
            <a:xfrm>
              <a:off x="-913490" y="5451781"/>
              <a:ext cx="743150" cy="681349"/>
            </a:xfrm>
            <a:prstGeom prst="rect">
              <a:avLst/>
            </a:prstGeom>
            <a:solidFill>
              <a:srgbClr val="EE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Yellow</a:t>
              </a:r>
            </a:p>
          </p:txBody>
        </p:sp>
        <p:sp>
          <p:nvSpPr>
            <p:cNvPr id="41" name="TextBox 58"/>
            <p:cNvSpPr txBox="1"/>
            <p:nvPr userDrawn="1"/>
          </p:nvSpPr>
          <p:spPr>
            <a:xfrm>
              <a:off x="-990122" y="226034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255</a:t>
              </a:r>
            </a:p>
          </p:txBody>
        </p:sp>
        <p:sp>
          <p:nvSpPr>
            <p:cNvPr id="42" name="TextBox 59"/>
            <p:cNvSpPr txBox="1"/>
            <p:nvPr userDrawn="1"/>
          </p:nvSpPr>
          <p:spPr>
            <a:xfrm>
              <a:off x="-994259" y="896067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</a:t>
              </a:r>
              <a:r>
                <a:rPr lang="en-US" altLang="ja-JP" sz="900">
                  <a:solidFill>
                    <a:schemeClr val="bg1"/>
                  </a:solidFill>
                </a:rPr>
                <a:t>45</a:t>
              </a:r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43" name="TextBox 60"/>
            <p:cNvSpPr txBox="1"/>
            <p:nvPr userDrawn="1"/>
          </p:nvSpPr>
          <p:spPr>
            <a:xfrm>
              <a:off x="-990121" y="20842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169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224</a:t>
              </a:r>
            </a:p>
          </p:txBody>
        </p:sp>
        <p:sp>
          <p:nvSpPr>
            <p:cNvPr id="44" name="TextBox 62"/>
            <p:cNvSpPr txBox="1"/>
            <p:nvPr userDrawn="1"/>
          </p:nvSpPr>
          <p:spPr>
            <a:xfrm>
              <a:off x="-990121" y="294854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218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132</a:t>
              </a:r>
            </a:p>
          </p:txBody>
        </p:sp>
        <p:sp>
          <p:nvSpPr>
            <p:cNvPr id="45" name="TextBox 64"/>
            <p:cNvSpPr txBox="1"/>
            <p:nvPr userDrawn="1"/>
          </p:nvSpPr>
          <p:spPr>
            <a:xfrm>
              <a:off x="-990122" y="4316618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178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169</a:t>
              </a:r>
            </a:p>
          </p:txBody>
        </p:sp>
        <p:sp>
          <p:nvSpPr>
            <p:cNvPr id="46" name="TextBox 65"/>
            <p:cNvSpPr txBox="1"/>
            <p:nvPr userDrawn="1"/>
          </p:nvSpPr>
          <p:spPr>
            <a:xfrm>
              <a:off x="-990122" y="5000652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120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190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32</a:t>
              </a:r>
            </a:p>
          </p:txBody>
        </p:sp>
        <p:sp>
          <p:nvSpPr>
            <p:cNvPr id="47" name="TextBox 66"/>
            <p:cNvSpPr txBox="1"/>
            <p:nvPr userDrawn="1"/>
          </p:nvSpPr>
          <p:spPr>
            <a:xfrm>
              <a:off x="-990122" y="5684689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238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220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0</a:t>
              </a:r>
            </a:p>
          </p:txBody>
        </p:sp>
        <p:sp>
          <p:nvSpPr>
            <p:cNvPr id="48" name="Rectangle 43"/>
            <p:cNvSpPr>
              <a:spLocks noChangeAspect="1"/>
            </p:cNvSpPr>
            <p:nvPr userDrawn="1"/>
          </p:nvSpPr>
          <p:spPr>
            <a:xfrm>
              <a:off x="-913490" y="6138327"/>
              <a:ext cx="743150" cy="6813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Orange</a:t>
              </a:r>
            </a:p>
          </p:txBody>
        </p:sp>
        <p:sp>
          <p:nvSpPr>
            <p:cNvPr id="49" name="TextBox 66"/>
            <p:cNvSpPr txBox="1"/>
            <p:nvPr userDrawn="1"/>
          </p:nvSpPr>
          <p:spPr>
            <a:xfrm>
              <a:off x="-990121" y="6388997"/>
              <a:ext cx="628050" cy="430399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R	255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G	106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bg1"/>
                  </a:solidFill>
                </a:rPr>
                <a:t>B	19</a:t>
              </a:r>
            </a:p>
          </p:txBody>
        </p:sp>
        <p:sp>
          <p:nvSpPr>
            <p:cNvPr id="50" name="Rectangle 40"/>
            <p:cNvSpPr>
              <a:spLocks noChangeAspect="1"/>
            </p:cNvSpPr>
            <p:nvPr userDrawn="1"/>
          </p:nvSpPr>
          <p:spPr>
            <a:xfrm>
              <a:off x="-917627" y="3401424"/>
              <a:ext cx="743150" cy="68134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/>
                <a:t>Purple</a:t>
              </a:r>
            </a:p>
          </p:txBody>
        </p:sp>
        <p:sp>
          <p:nvSpPr>
            <p:cNvPr id="51" name="TextBox 63"/>
            <p:cNvSpPr txBox="1"/>
            <p:nvPr userDrawn="1"/>
          </p:nvSpPr>
          <p:spPr>
            <a:xfrm>
              <a:off x="-990122" y="3632581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R	128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G	49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altLang="ja-JP" sz="900">
                  <a:solidFill>
                    <a:schemeClr val="bg1"/>
                  </a:solidFill>
                </a:rPr>
                <a:t>B	167</a:t>
              </a:r>
            </a:p>
          </p:txBody>
        </p:sp>
        <p:sp>
          <p:nvSpPr>
            <p:cNvPr id="52" name="Rectangle 31"/>
            <p:cNvSpPr>
              <a:spLocks noChangeAspect="1"/>
            </p:cNvSpPr>
            <p:nvPr userDrawn="1"/>
          </p:nvSpPr>
          <p:spPr>
            <a:xfrm>
              <a:off x="-917627" y="1362697"/>
              <a:ext cx="743150" cy="68134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chemeClr val="tx1"/>
                  </a:solidFill>
                </a:rPr>
                <a:t>Light Gray</a:t>
              </a:r>
            </a:p>
          </p:txBody>
        </p:sp>
        <p:sp>
          <p:nvSpPr>
            <p:cNvPr id="53" name="TextBox 59"/>
            <p:cNvSpPr txBox="1"/>
            <p:nvPr userDrawn="1"/>
          </p:nvSpPr>
          <p:spPr>
            <a:xfrm>
              <a:off x="-994259" y="1577416"/>
              <a:ext cx="628050" cy="59999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1">
              <a:noAutofit/>
            </a:bodyPr>
            <a:lstStyle/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R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G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  <a:p>
              <a:pPr>
                <a:lnSpc>
                  <a:spcPct val="90000"/>
                </a:lnSpc>
                <a:tabLst>
                  <a:tab pos="117475" algn="l"/>
                </a:tabLst>
              </a:pPr>
              <a:r>
                <a:rPr lang="en-US" sz="900">
                  <a:solidFill>
                    <a:schemeClr val="tx1"/>
                  </a:solidFill>
                </a:rPr>
                <a:t>B	</a:t>
              </a:r>
              <a:r>
                <a:rPr lang="en-US" altLang="ja-JP" sz="900">
                  <a:solidFill>
                    <a:schemeClr val="tx1"/>
                  </a:solidFill>
                </a:rPr>
                <a:t>244</a:t>
              </a:r>
              <a:endParaRPr lang="en-US" sz="900">
                <a:solidFill>
                  <a:schemeClr val="tx1"/>
                </a:solidFill>
              </a:endParaRPr>
            </a:p>
          </p:txBody>
        </p:sp>
      </p:grpSp>
      <p:pic>
        <p:nvPicPr>
          <p:cNvPr id="30" name="図 29">
            <a:extLst>
              <a:ext uri="{FF2B5EF4-FFF2-40B4-BE49-F238E27FC236}">
                <a16:creationId xmlns:a16="http://schemas.microsoft.com/office/drawing/2014/main" id="{756E50F7-9ACE-4DA1-B1A2-201797B49A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9307" b="24041"/>
          <a:stretch/>
        </p:blipFill>
        <p:spPr>
          <a:xfrm>
            <a:off x="10612735" y="6376947"/>
            <a:ext cx="613399" cy="288010"/>
          </a:xfrm>
          <a:prstGeom prst="rect">
            <a:avLst/>
          </a:prstGeom>
        </p:spPr>
      </p:pic>
      <p:sp>
        <p:nvSpPr>
          <p:cNvPr id="2" name="フッター プレースホルダー 2">
            <a:extLst>
              <a:ext uri="{FF2B5EF4-FFF2-40B4-BE49-F238E27FC236}">
                <a16:creationId xmlns:a16="http://schemas.microsoft.com/office/drawing/2014/main" id="{EB2FA8FE-33A1-3365-14A1-9538BF5877C1}"/>
              </a:ext>
            </a:extLst>
          </p:cNvPr>
          <p:cNvSpPr>
            <a:spLocks noGrp="1"/>
          </p:cNvSpPr>
          <p:nvPr userDrawn="1"/>
        </p:nvSpPr>
        <p:spPr>
          <a:xfrm>
            <a:off x="654288" y="6455260"/>
            <a:ext cx="4999145" cy="240033"/>
          </a:xfrm>
          <a:prstGeom prst="rect">
            <a:avLst/>
          </a:prstGeom>
        </p:spPr>
        <p:txBody>
          <a:bodyPr vert="horz" wrap="none" lIns="0" tIns="0" rIns="18000" bIns="720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en-US" altLang="ja-JP" sz="800" kern="1200" smtClean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Parts</a:t>
            </a:r>
            <a:r>
              <a:rPr kumimoji="1" lang="ja-JP" altLang="en-US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 </a:t>
            </a:r>
            <a:r>
              <a:rPr kumimoji="1" lang="en-US" altLang="ja-JP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Traceability</a:t>
            </a:r>
            <a:r>
              <a:rPr kumimoji="1" lang="ja-JP" altLang="en-US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 </a:t>
            </a:r>
            <a:r>
              <a:rPr kumimoji="1" lang="en-US" altLang="ja-JP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Development</a:t>
            </a:r>
            <a:r>
              <a:rPr kumimoji="1" lang="ja-JP" altLang="en-US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 </a:t>
            </a:r>
            <a:r>
              <a:rPr kumimoji="1" lang="en-US" altLang="ja-JP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Project</a:t>
            </a:r>
            <a:r>
              <a:rPr kumimoji="1" lang="ja-JP" altLang="en-US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 </a:t>
            </a:r>
            <a:r>
              <a:rPr kumimoji="1" lang="en-US" altLang="ja-JP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/</a:t>
            </a:r>
            <a:r>
              <a:rPr kumimoji="1" lang="ja-JP" altLang="en-US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 </a:t>
            </a:r>
            <a:r>
              <a:rPr kumimoji="1" lang="en-US" altLang="ja-JP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April</a:t>
            </a:r>
            <a:r>
              <a:rPr kumimoji="1" lang="ja-JP" altLang="en-US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 </a:t>
            </a:r>
            <a:r>
              <a:rPr kumimoji="1" lang="en-US" altLang="ja-JP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17</a:t>
            </a:r>
            <a:r>
              <a:rPr kumimoji="1" lang="en-US" altLang="ja-JP" sz="1200" kern="1200" baseline="300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th</a:t>
            </a:r>
            <a:r>
              <a:rPr kumimoji="1" lang="ja-JP" altLang="en-US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 </a:t>
            </a:r>
            <a:r>
              <a:rPr kumimoji="1" lang="en-US" altLang="ja-JP" sz="1200" kern="1200">
                <a:solidFill>
                  <a:schemeClr val="tx1"/>
                </a:solidFill>
                <a:latin typeface="Arial" pitchFamily="34" charset="0"/>
                <a:ea typeface="メイリオ"/>
                <a:cs typeface="Arial" pitchFamily="34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61055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kumimoji="1" sz="3000" kern="1200" baseline="0">
          <a:solidFill>
            <a:schemeClr val="accent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200"/>
        </a:spcBef>
        <a:buClr>
          <a:schemeClr val="accent3"/>
        </a:buClr>
        <a:buFont typeface="Wingdings" panose="05000000000000000000" pitchFamily="2" charset="2"/>
        <a:buChar char="§"/>
        <a:defRPr kumimoji="1" sz="2400" kern="1200" baseline="0">
          <a:solidFill>
            <a:schemeClr val="tx1"/>
          </a:solidFill>
          <a:latin typeface="Arial" panose="020B0604020202020204" pitchFamily="34" charset="0"/>
          <a:ea typeface="メイリオ" panose="020B0604030504040204" pitchFamily="50" charset="-128"/>
          <a:cs typeface="+mn-cs"/>
        </a:defRPr>
      </a:lvl1pPr>
      <a:lvl2pPr marL="466344" indent="-237744" algn="l" defTabSz="914400" rtl="0" eaLnBrk="1" latinLnBrk="0" hangingPunct="1">
        <a:spcBef>
          <a:spcPts val="600"/>
        </a:spcBef>
        <a:buFont typeface="Arial" panose="020B0604020202020204" pitchFamily="34" charset="0"/>
        <a:buChar char="–"/>
        <a:defRPr kumimoji="1" sz="2000" kern="1200" baseline="0">
          <a:solidFill>
            <a:schemeClr val="tx1"/>
          </a:solidFill>
          <a:latin typeface="Arial" panose="020B0604020202020204" pitchFamily="34" charset="0"/>
          <a:ea typeface="メイリオ" panose="020B0604030504040204" pitchFamily="50" charset="-128"/>
          <a:cs typeface="+mn-cs"/>
        </a:defRPr>
      </a:lvl2pPr>
      <a:lvl3pPr marL="676656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800" kern="1200" baseline="0">
          <a:solidFill>
            <a:schemeClr val="tx1"/>
          </a:solidFill>
          <a:latin typeface="Arial" panose="020B0604020202020204" pitchFamily="34" charset="0"/>
          <a:ea typeface="メイリオ" panose="020B0604030504040204" pitchFamily="50" charset="-128"/>
          <a:cs typeface="+mn-cs"/>
        </a:defRPr>
      </a:lvl3pPr>
      <a:lvl4pPr marL="9144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メイリオ" panose="020B0604030504040204" pitchFamily="50" charset="-128"/>
          <a:cs typeface="+mn-cs"/>
        </a:defRPr>
      </a:lvl4pPr>
      <a:lvl5pPr marL="11430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400" kern="1200" baseline="0">
          <a:solidFill>
            <a:schemeClr val="tx1"/>
          </a:solidFill>
          <a:latin typeface="Arial" panose="020B0604020202020204" pitchFamily="34" charset="0"/>
          <a:ea typeface="メイリオ" panose="020B0604030504040204" pitchFamily="50" charset="-128"/>
          <a:cs typeface="+mn-cs"/>
        </a:defRPr>
      </a:lvl5pPr>
      <a:lvl6pPr marL="13716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ts val="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oleObject" Target="../embeddings/oleObject8.bin"/><Relationship Id="rId7" Type="http://schemas.openxmlformats.org/officeDocument/2006/relationships/image" Target="../media/image31.jpeg"/><Relationship Id="rId12" Type="http://schemas.openxmlformats.org/officeDocument/2006/relationships/image" Target="../media/image36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4.xml"/><Relationship Id="rId6" Type="http://schemas.openxmlformats.org/officeDocument/2006/relationships/image" Target="../media/image30.png"/><Relationship Id="rId11" Type="http://schemas.openxmlformats.org/officeDocument/2006/relationships/image" Target="../media/image35.jpeg"/><Relationship Id="rId5" Type="http://schemas.openxmlformats.org/officeDocument/2006/relationships/image" Target="../media/image29.png"/><Relationship Id="rId10" Type="http://schemas.openxmlformats.org/officeDocument/2006/relationships/image" Target="../media/image34.jpeg"/><Relationship Id="rId4" Type="http://schemas.openxmlformats.org/officeDocument/2006/relationships/image" Target="../media/image17.emf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Relationship Id="rId4" Type="http://schemas.openxmlformats.org/officeDocument/2006/relationships/image" Target="../media/image3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17.emf"/><Relationship Id="rId10" Type="http://schemas.openxmlformats.org/officeDocument/2006/relationships/image" Target="../media/image42.png"/><Relationship Id="rId4" Type="http://schemas.openxmlformats.org/officeDocument/2006/relationships/oleObject" Target="../embeddings/oleObject10.bin"/><Relationship Id="rId9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51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50.emf"/><Relationship Id="rId5" Type="http://schemas.openxmlformats.org/officeDocument/2006/relationships/oleObject" Target="../embeddings/oleObject12.bin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51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50.emf"/><Relationship Id="rId5" Type="http://schemas.openxmlformats.org/officeDocument/2006/relationships/oleObject" Target="../embeddings/oleObject12.bin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55.jpe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54.png"/><Relationship Id="rId11" Type="http://schemas.openxmlformats.org/officeDocument/2006/relationships/image" Target="../media/image58.png"/><Relationship Id="rId5" Type="http://schemas.openxmlformats.org/officeDocument/2006/relationships/image" Target="../media/image17.emf"/><Relationship Id="rId10" Type="http://schemas.openxmlformats.org/officeDocument/2006/relationships/image" Target="../media/image57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4.bin"/><Relationship Id="rId4" Type="http://schemas.openxmlformats.org/officeDocument/2006/relationships/notesSlide" Target="../notesSlides/notesSlide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51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50.emf"/><Relationship Id="rId5" Type="http://schemas.openxmlformats.org/officeDocument/2006/relationships/oleObject" Target="../embeddings/oleObject12.bin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4.bin"/><Relationship Id="rId4" Type="http://schemas.openxmlformats.org/officeDocument/2006/relationships/notesSlide" Target="../notesSlides/notesSlide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oleObject" Target="../embeddings/oleObject8.bin"/><Relationship Id="rId7" Type="http://schemas.openxmlformats.org/officeDocument/2006/relationships/image" Target="../media/image31.jpeg"/><Relationship Id="rId12" Type="http://schemas.openxmlformats.org/officeDocument/2006/relationships/image" Target="../media/image36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6.xml"/><Relationship Id="rId6" Type="http://schemas.openxmlformats.org/officeDocument/2006/relationships/image" Target="../media/image30.png"/><Relationship Id="rId11" Type="http://schemas.openxmlformats.org/officeDocument/2006/relationships/image" Target="../media/image35.jpeg"/><Relationship Id="rId5" Type="http://schemas.openxmlformats.org/officeDocument/2006/relationships/image" Target="../media/image29.png"/><Relationship Id="rId10" Type="http://schemas.openxmlformats.org/officeDocument/2006/relationships/image" Target="../media/image34.jpeg"/><Relationship Id="rId4" Type="http://schemas.openxmlformats.org/officeDocument/2006/relationships/image" Target="../media/image17.emf"/><Relationship Id="rId9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oleObject" Target="../embeddings/oleObject8.bin"/><Relationship Id="rId7" Type="http://schemas.openxmlformats.org/officeDocument/2006/relationships/image" Target="../media/image61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hyperlink" Target="https://corp4.sharepoint.com/:x:/r/sites/tel-G1E/A%20%20BIP/%E9%A0%98%E5%9F%9F%E6%A8%AA%E6%96%AD/Traceability_%E3%83%88%E3%83%AC%E3%83%BC%E3%82%B5%E3%83%93%E3%83%AA%E3%83%86%E3%82%A3/03.Deliverable/05_%E3%83%88%E3%83%AC%E3%82%B5%E3%83%93%E3%82%B7%E3%82%B9%E3%83%86%E3%83%A0%E6%A7%8B%E7%AF%89%E3%83%95%E3%82%A7%E3%83%BC%E3%82%BA3(202110-202112)/S2110_70_%E6%9B%B4%E6%96%B0%E7%89%88ToBeCanBe%E3%83%A6%E3%83%BC%E3%82%B9%E3%82%B1%E3%83%BC%E3%82%B9%E3%80%81%E7%94%BB%E9%9D%A2%E3%82%A4%E3%83%A1%E3%83%BC%E3%82%B8/%E3%83%88%E3%83%AC%E3%82%B5%E3%83%93%E7%94%BB%E9%9D%A2%E3%82%A4%E3%83%A1%E3%83%BC%E3%82%B8_211227.xlsx?d=we637c66af90e4a4595bfe481c0eaf0af&amp;csf=1&amp;web=1&amp;e=MFwVuh" TargetMode="External"/><Relationship Id="rId4" Type="http://schemas.openxmlformats.org/officeDocument/2006/relationships/image" Target="../media/image17.emf"/><Relationship Id="rId9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8.xml"/><Relationship Id="rId4" Type="http://schemas.openxmlformats.org/officeDocument/2006/relationships/image" Target="../media/image37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6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5" imgW="353" imgH="318" progId="TCLayout.ActiveDocument.1">
                  <p:embed/>
                </p:oleObj>
              </mc:Choice>
              <mc:Fallback>
                <p:oleObj name="think-cell スライド" r:id="rId5" imgW="353" imgH="318" progId="TCLayout.ActiveDocument.1">
                  <p:embed/>
                  <p:pic>
                    <p:nvPicPr>
                      <p:cNvPr id="3" name="オブジェクト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6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/>
          <p:cNvSpPr/>
          <p:nvPr>
            <p:custDataLst>
              <p:tags r:id="rId2"/>
            </p:custDataLst>
          </p:nvPr>
        </p:nvSpPr>
        <p:spPr>
          <a:xfrm>
            <a:off x="1588" y="0"/>
            <a:ext cx="158750" cy="1587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altLang="ja-JP" sz="3000">
              <a:solidFill>
                <a:srgbClr val="2D2D2D"/>
              </a:solidFill>
              <a:latin typeface="Arial" panose="020B0604020202020204" pitchFamily="34" charset="0"/>
              <a:ea typeface="Meiryo" panose="020B0604030504040204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5"/>
          </p:nvPr>
        </p:nvSpPr>
        <p:spPr>
          <a:xfrm>
            <a:off x="649430" y="4495614"/>
            <a:ext cx="5575164" cy="735594"/>
          </a:xfrm>
        </p:spPr>
        <p:txBody>
          <a:bodyPr/>
          <a:lstStyle/>
          <a:p>
            <a:r>
              <a:rPr kumimoji="1" lang="en-US" altLang="ja-JP"/>
              <a:t>2025/4/17</a:t>
            </a:r>
          </a:p>
          <a:p>
            <a:r>
              <a:rPr lang="en-US" altLang="ja-JP"/>
              <a:t>Part</a:t>
            </a:r>
            <a:r>
              <a:rPr lang="ja-JP" altLang="en-US"/>
              <a:t> </a:t>
            </a:r>
            <a:r>
              <a:rPr lang="en-US" altLang="ja-JP"/>
              <a:t>Traceability</a:t>
            </a:r>
            <a:r>
              <a:rPr lang="ja-JP" altLang="en-US"/>
              <a:t> </a:t>
            </a:r>
            <a:r>
              <a:rPr lang="en-US" altLang="ja-JP"/>
              <a:t>Development</a:t>
            </a:r>
            <a:r>
              <a:rPr lang="ja-JP" altLang="en-US"/>
              <a:t> </a:t>
            </a:r>
            <a:r>
              <a:rPr lang="en-US" altLang="ja-JP"/>
              <a:t>Project</a:t>
            </a:r>
            <a:endParaRPr kumimoji="1" lang="ja-JP" altLang="en-US"/>
          </a:p>
        </p:txBody>
      </p:sp>
      <p:sp>
        <p:nvSpPr>
          <p:cNvPr id="7" name="タイトル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Parts</a:t>
            </a:r>
            <a:r>
              <a:rPr lang="ja-JP" altLang="en-US"/>
              <a:t> </a:t>
            </a:r>
            <a:r>
              <a:rPr lang="en-US" altLang="ja-JP"/>
              <a:t>Traceability Concept and Requests for GENPO</a:t>
            </a:r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479426" y="1600200"/>
            <a:ext cx="2972372" cy="4873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For GENPO</a:t>
            </a:r>
            <a:endParaRPr lang="ja-JP" altLang="en-US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174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015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2" y="248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5" imgW="353" imgH="318" progId="TCLayout.ActiveDocument.1">
                  <p:embed/>
                </p:oleObj>
              </mc:Choice>
              <mc:Fallback>
                <p:oleObj name="think-cell スライド" r:id="rId5" imgW="353" imgH="318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62" y="248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正方形/長方形 4" hidden="1"/>
          <p:cNvSpPr/>
          <p:nvPr>
            <p:custDataLst>
              <p:tags r:id="rId2"/>
            </p:custDataLst>
          </p:nvPr>
        </p:nvSpPr>
        <p:spPr>
          <a:xfrm>
            <a:off x="3176" y="894"/>
            <a:ext cx="158709" cy="1587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endParaRPr kumimoji="0" lang="ja-JP" altLang="en-US" sz="3000">
              <a:solidFill>
                <a:srgbClr val="2D2D2D"/>
              </a:solidFill>
              <a:latin typeface="Arial" panose="020B0604020202020204" pitchFamily="34" charset="0"/>
              <a:ea typeface="Meiryo" panose="020B0604030504040204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テキスト プレースホルダー 1"/>
          <p:cNvSpPr>
            <a:spLocks noGrp="1"/>
          </p:cNvSpPr>
          <p:nvPr>
            <p:ph type="body" sz="quarter" idx="13"/>
          </p:nvPr>
        </p:nvSpPr>
        <p:spPr>
          <a:xfrm>
            <a:off x="673217" y="1322389"/>
            <a:ext cx="10902995" cy="5029200"/>
          </a:xfrm>
          <a:solidFill>
            <a:schemeClr val="bg1"/>
          </a:solidFill>
        </p:spPr>
        <p:txBody>
          <a:bodyPr/>
          <a:lstStyle/>
          <a:p>
            <a:pPr marL="457063" indent="-457063">
              <a:buFont typeface="+mj-lt"/>
              <a:buAutoNum type="arabicPeriod"/>
            </a:pPr>
            <a:r>
              <a:rPr lang="en-US" altLang="ja-JP"/>
              <a:t>Our Approach Towards Traceability Realization</a:t>
            </a:r>
          </a:p>
          <a:p>
            <a:pPr marL="904913" lvl="2" indent="-457063">
              <a:buFont typeface="+mj-lt"/>
              <a:buAutoNum type="romanLcPeriod"/>
            </a:pPr>
            <a:r>
              <a:rPr lang="en-US" altLang="ja-JP"/>
              <a:t>The Purpose of Parts Traceability</a:t>
            </a:r>
          </a:p>
          <a:p>
            <a:pPr marL="904913" lvl="2" indent="-457063">
              <a:buFont typeface="+mj-lt"/>
              <a:buAutoNum type="romanLcPeriod"/>
            </a:pPr>
            <a:r>
              <a:rPr lang="en-US" altLang="ja-JP"/>
              <a:t>Traceability System To-Be Image</a:t>
            </a:r>
          </a:p>
          <a:p>
            <a:pPr marL="904913" lvl="2" indent="-457063">
              <a:buFont typeface="+mj-lt"/>
              <a:buAutoNum type="romanLcPeriod"/>
            </a:pPr>
            <a:r>
              <a:rPr lang="en-US" altLang="ja-JP"/>
              <a:t>Approach and Roadmap</a:t>
            </a:r>
          </a:p>
          <a:p>
            <a:pPr marL="904913" lvl="2" indent="-457063">
              <a:buFont typeface="+mj-lt"/>
              <a:buAutoNum type="romanLcPeriod"/>
            </a:pPr>
            <a:r>
              <a:rPr lang="en-US" altLang="ja-JP"/>
              <a:t>Training Application Image</a:t>
            </a:r>
          </a:p>
          <a:p>
            <a:pPr marL="1142657" lvl="3" indent="-457063">
              <a:buFont typeface="+mj-lt"/>
              <a:buAutoNum type="romanLcPeriod"/>
            </a:pPr>
            <a:endParaRPr lang="en-US" altLang="ja-JP"/>
          </a:p>
          <a:p>
            <a:pPr marL="457063" indent="-457063">
              <a:buFont typeface="+mj-lt"/>
              <a:buAutoNum type="arabicPeriod"/>
            </a:pPr>
            <a:r>
              <a:rPr lang="en-US" altLang="ja-JP"/>
              <a:t>How to Manage Tracing Parts</a:t>
            </a:r>
          </a:p>
          <a:p>
            <a:pPr marL="457063" indent="-457063">
              <a:buFont typeface="+mj-lt"/>
              <a:buAutoNum type="arabicPeriod"/>
            </a:pPr>
            <a:r>
              <a:rPr lang="en-US" altLang="ja-JP"/>
              <a:t>Business Operation Requirements</a:t>
            </a:r>
          </a:p>
          <a:p>
            <a:pPr marL="905119" lvl="2" indent="-457063">
              <a:buFont typeface="+mj-lt"/>
              <a:buAutoNum type="romanLcPeriod"/>
            </a:pPr>
            <a:r>
              <a:rPr lang="en-US" altLang="ja-JP"/>
              <a:t>Overview</a:t>
            </a:r>
          </a:p>
          <a:p>
            <a:pPr marL="905119" lvl="2" indent="-457063">
              <a:buFont typeface="+mj-lt"/>
              <a:buAutoNum type="romanLcPeriod"/>
            </a:pPr>
            <a:r>
              <a:rPr lang="en-US" altLang="ja-JP"/>
              <a:t>S/N Management</a:t>
            </a:r>
          </a:p>
          <a:p>
            <a:pPr marL="905119" lvl="2" indent="-457063">
              <a:buFont typeface="+mj-lt"/>
              <a:buAutoNum type="romanLcPeriod"/>
            </a:pPr>
            <a:r>
              <a:rPr lang="en-US" altLang="ja-JP"/>
              <a:t>Shelf-Life Management</a:t>
            </a:r>
          </a:p>
          <a:p>
            <a:pPr marL="905119" lvl="2" indent="-457063">
              <a:buFont typeface="+mj-lt"/>
              <a:buAutoNum type="romanLcPeriod"/>
            </a:pPr>
            <a:r>
              <a:rPr lang="en-US" altLang="ja-JP"/>
              <a:t>Material Master Management</a:t>
            </a:r>
          </a:p>
          <a:p>
            <a:pPr marL="905119" lvl="2" indent="-457063">
              <a:buFont typeface="+mj-lt"/>
              <a:buAutoNum type="romanLcPeriod"/>
            </a:pPr>
            <a:endParaRPr lang="en-US" altLang="ja-JP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Agenda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9672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9E4D31-562A-E4C5-90A7-5D6530B0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Concept and Roadmap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111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オブジェクト 90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5" y="2483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660" imgH="659" progId="TCLayout.ActiveDocument.1">
                  <p:embed/>
                </p:oleObj>
              </mc:Choice>
              <mc:Fallback>
                <p:oleObj name="think-cell スライド" r:id="rId4" imgW="660" imgH="659" progId="TCLayout.ActiveDocument.1">
                  <p:embed/>
                  <p:pic>
                    <p:nvPicPr>
                      <p:cNvPr id="91" name="オブジェクト 90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65" y="2483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12012D06-6E96-43DE-9DAC-109F3825A7D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88" y="0"/>
            <a:ext cx="158750" cy="1587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altLang="ja-JP" sz="3000">
              <a:solidFill>
                <a:srgbClr val="2D2D2D"/>
              </a:solidFill>
              <a:latin typeface="Arial" panose="020B0604020202020204" pitchFamily="34" charset="0"/>
              <a:ea typeface="Meiryo" panose="020B0604030504040204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643037" y="290606"/>
            <a:ext cx="10916165" cy="523084"/>
          </a:xfrm>
        </p:spPr>
        <p:txBody>
          <a:bodyPr/>
          <a:lstStyle/>
          <a:p>
            <a:r>
              <a:rPr lang="en-US" altLang="ja-JP"/>
              <a:t>Purpose of Parts Traceability</a:t>
            </a:r>
            <a:endParaRPr lang="ja-JP" altLang="en-US" sz="160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A46E71DF-3F06-4F05-9DD1-6623D70437F1}"/>
              </a:ext>
            </a:extLst>
          </p:cNvPr>
          <p:cNvGrpSpPr/>
          <p:nvPr/>
        </p:nvGrpSpPr>
        <p:grpSpPr>
          <a:xfrm>
            <a:off x="290757" y="1961663"/>
            <a:ext cx="11684000" cy="4360984"/>
            <a:chOff x="294120" y="1352263"/>
            <a:chExt cx="10047902" cy="4882282"/>
          </a:xfrm>
        </p:grpSpPr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120420FA-0BC3-44FD-810D-A0615609210D}"/>
                </a:ext>
              </a:extLst>
            </p:cNvPr>
            <p:cNvSpPr/>
            <p:nvPr/>
          </p:nvSpPr>
          <p:spPr>
            <a:xfrm>
              <a:off x="5557523" y="1696674"/>
              <a:ext cx="3172248" cy="4441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92047" indent="-92047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Trace the parts</a:t>
              </a:r>
              <a:r>
                <a:rPr kumimoji="0" lang="ja-JP" altLang="en-US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using</a:t>
              </a:r>
              <a:r>
                <a:rPr kumimoji="0" lang="ja-JP" altLang="en-US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S/N from incoming through scrap</a:t>
              </a:r>
            </a:p>
            <a:p>
              <a:pPr marL="92047" indent="-92047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Quickly understand the latest status of parts</a:t>
              </a: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D102118B-9A2C-4AAA-8196-AF20D8BFC6E5}"/>
                </a:ext>
              </a:extLst>
            </p:cNvPr>
            <p:cNvSpPr/>
            <p:nvPr/>
          </p:nvSpPr>
          <p:spPr>
            <a:xfrm>
              <a:off x="3344602" y="2175783"/>
              <a:ext cx="2108381" cy="44660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2. Identify equipment which FCN/SI part is installed</a:t>
              </a:r>
              <a:endParaRPr kumimoji="0" lang="ja-JP" altLang="en-US" sz="9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7D0618A1-7F42-4081-A1F6-C058754995FC}"/>
                </a:ext>
              </a:extLst>
            </p:cNvPr>
            <p:cNvSpPr/>
            <p:nvPr/>
          </p:nvSpPr>
          <p:spPr>
            <a:xfrm>
              <a:off x="5537375" y="2178266"/>
              <a:ext cx="3172248" cy="4441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92047" indent="-92047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Pinpoint affected equipment of trouble parts</a:t>
              </a:r>
              <a:endParaRPr kumimoji="0" lang="ja-JP" altLang="en-US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DF796749-EB0C-4FE4-B941-4BEC240C5787}"/>
                </a:ext>
              </a:extLst>
            </p:cNvPr>
            <p:cNvSpPr/>
            <p:nvPr/>
          </p:nvSpPr>
          <p:spPr>
            <a:xfrm>
              <a:off x="3344602" y="2699433"/>
              <a:ext cx="2108381" cy="44660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3.</a:t>
              </a:r>
              <a:r>
                <a:rPr kumimoji="0" lang="ja-JP" altLang="en-US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Respond</a:t>
              </a:r>
              <a:r>
                <a:rPr kumimoji="0" lang="ja-JP" altLang="en-US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to</a:t>
              </a:r>
              <a:r>
                <a:rPr kumimoji="0" lang="ja-JP" altLang="en-US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customer</a:t>
              </a:r>
              <a:r>
                <a:rPr kumimoji="0" lang="ja-JP" altLang="en-US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inquiries quicker</a:t>
              </a:r>
              <a:endParaRPr kumimoji="0" lang="ja-JP" altLang="en-US" sz="9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E4EB89EB-4610-4BDB-9767-3C84FD003868}"/>
                </a:ext>
              </a:extLst>
            </p:cNvPr>
            <p:cNvSpPr/>
            <p:nvPr/>
          </p:nvSpPr>
          <p:spPr>
            <a:xfrm>
              <a:off x="5537375" y="2699432"/>
              <a:ext cx="3172248" cy="44660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92047" indent="-92047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Provide part inspection data quickly when requested by customers</a:t>
              </a: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BA306073-1A0B-462F-88A1-13F042644ABD}"/>
                </a:ext>
              </a:extLst>
            </p:cNvPr>
            <p:cNvSpPr/>
            <p:nvPr/>
          </p:nvSpPr>
          <p:spPr>
            <a:xfrm>
              <a:off x="3344602" y="3220602"/>
              <a:ext cx="2108381" cy="44660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4. Analyze</a:t>
              </a:r>
              <a:r>
                <a:rPr kumimoji="0" lang="ja-JP" altLang="en-US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causes of trouble</a:t>
              </a:r>
              <a:endParaRPr kumimoji="0" lang="ja-JP" altLang="en-US" sz="9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7545EC69-A967-4121-BA22-7F7210A81A63}"/>
                </a:ext>
              </a:extLst>
            </p:cNvPr>
            <p:cNvSpPr/>
            <p:nvPr/>
          </p:nvSpPr>
          <p:spPr>
            <a:xfrm>
              <a:off x="5537375" y="3220601"/>
              <a:ext cx="3172248" cy="44660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92047" indent="-92047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Compare part inspection data and perform correlation analysis between defected part and non-defected parts</a:t>
              </a:r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22DE3583-5E57-467E-A85A-B6AB52E44DDF}"/>
                </a:ext>
              </a:extLst>
            </p:cNvPr>
            <p:cNvSpPr/>
            <p:nvPr/>
          </p:nvSpPr>
          <p:spPr>
            <a:xfrm>
              <a:off x="1749565" y="3748679"/>
              <a:ext cx="212801" cy="149802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0" lang="en-US" altLang="ja-JP" sz="900" b="1">
                  <a:solidFill>
                    <a:srgbClr val="FFFFFF"/>
                  </a:solidFill>
                  <a:latin typeface="Arial"/>
                  <a:ea typeface="Meiryo" panose="020B0604030504040204" pitchFamily="50" charset="-128"/>
                  <a:cs typeface="Arial"/>
                </a:rPr>
                <a:t>2</a:t>
              </a:r>
              <a:endParaRPr kumimoji="0" lang="ja-JP" altLang="en-US" sz="9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81B37A48-3911-4C5E-8376-F2AA5F6BED23}"/>
                </a:ext>
              </a:extLst>
            </p:cNvPr>
            <p:cNvSpPr/>
            <p:nvPr/>
          </p:nvSpPr>
          <p:spPr>
            <a:xfrm>
              <a:off x="3344601" y="4274016"/>
              <a:ext cx="2108381" cy="48252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6. Analyze</a:t>
              </a:r>
              <a:r>
                <a:rPr kumimoji="0" lang="ja-JP" altLang="en-US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the</a:t>
              </a:r>
              <a:r>
                <a:rPr kumimoji="0" lang="ja-JP" altLang="en-US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condition of equipment</a:t>
              </a:r>
              <a:endParaRPr kumimoji="0" lang="ja-JP" altLang="en-US" sz="9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D96597B8-DB80-4B41-A6FA-ADB414C8C4CB}"/>
                </a:ext>
              </a:extLst>
            </p:cNvPr>
            <p:cNvSpPr/>
            <p:nvPr/>
          </p:nvSpPr>
          <p:spPr>
            <a:xfrm>
              <a:off x="5537374" y="4274015"/>
              <a:ext cx="3172248" cy="48252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92047" indent="-92047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Compare and analyze the change in condition of equipment over time, and identify parts that affect equipment condition</a:t>
              </a:r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9AF4AAC2-05E1-4CE1-9607-FD46319FDDA0}"/>
                </a:ext>
              </a:extLst>
            </p:cNvPr>
            <p:cNvSpPr/>
            <p:nvPr/>
          </p:nvSpPr>
          <p:spPr>
            <a:xfrm>
              <a:off x="3344602" y="4814061"/>
              <a:ext cx="2108381" cy="4328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7.</a:t>
              </a:r>
              <a:r>
                <a:rPr kumimoji="0" lang="ja-JP" altLang="en-US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Analyze the frequency of part defects</a:t>
              </a:r>
              <a:endParaRPr kumimoji="0" lang="ja-JP" altLang="en-US" sz="9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88DBDBB9-30C1-451A-BE9D-25E9480D2590}"/>
                </a:ext>
              </a:extLst>
            </p:cNvPr>
            <p:cNvSpPr/>
            <p:nvPr/>
          </p:nvSpPr>
          <p:spPr>
            <a:xfrm>
              <a:off x="5537375" y="4802703"/>
              <a:ext cx="3172248" cy="44399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92047" indent="-92047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Analyze the frequency of trouble, and improve the quality of parts that consistently cause trouble</a:t>
              </a:r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CDAE12F4-CA3C-4F23-9714-E184B95C796C}"/>
                </a:ext>
              </a:extLst>
            </p:cNvPr>
            <p:cNvSpPr/>
            <p:nvPr/>
          </p:nvSpPr>
          <p:spPr>
            <a:xfrm>
              <a:off x="3344600" y="5320355"/>
              <a:ext cx="2108381" cy="91419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8.</a:t>
              </a:r>
              <a:r>
                <a:rPr kumimoji="0" lang="ja-JP" altLang="en-US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Manage</a:t>
              </a:r>
              <a:r>
                <a:rPr kumimoji="0" lang="ja-JP" altLang="en-US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shelf-life</a:t>
              </a:r>
              <a:r>
                <a:rPr kumimoji="0" lang="ja-JP" altLang="en-US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of</a:t>
              </a:r>
              <a:r>
                <a:rPr kumimoji="0" lang="ja-JP" altLang="en-US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parts</a:t>
              </a:r>
              <a:endParaRPr kumimoji="0" lang="ja-JP" altLang="en-US" sz="9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7D54365B-A4D9-4D99-86BF-0D032D9A2C0A}"/>
                </a:ext>
              </a:extLst>
            </p:cNvPr>
            <p:cNvSpPr/>
            <p:nvPr/>
          </p:nvSpPr>
          <p:spPr>
            <a:xfrm>
              <a:off x="5537373" y="5320356"/>
              <a:ext cx="3172248" cy="91418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92047" indent="-92047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Accurately manage the shelf-life of parts, and prevent shipment of expired materials</a:t>
              </a:r>
            </a:p>
            <a:p>
              <a:pPr marL="92047" indent="-92047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Dispose expired materials when managing inventory</a:t>
              </a: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602B67FC-21B0-453A-B3C1-85175D273A61}"/>
                </a:ext>
              </a:extLst>
            </p:cNvPr>
            <p:cNvSpPr/>
            <p:nvPr/>
          </p:nvSpPr>
          <p:spPr>
            <a:xfrm>
              <a:off x="1749565" y="1679504"/>
              <a:ext cx="226171" cy="199552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0" lang="en-US" altLang="ja-JP" sz="900" b="1">
                  <a:solidFill>
                    <a:srgbClr val="FFFFFF"/>
                  </a:solidFill>
                  <a:latin typeface="Arial"/>
                  <a:ea typeface="Meiryo" panose="020B0604030504040204" pitchFamily="50" charset="-128"/>
                  <a:cs typeface="Arial"/>
                </a:rPr>
                <a:t>1</a:t>
              </a:r>
              <a:endParaRPr kumimoji="0" lang="ja-JP" altLang="en-US" sz="9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50EED817-50B9-4BDF-97EF-3EDF793974D6}"/>
                </a:ext>
              </a:extLst>
            </p:cNvPr>
            <p:cNvSpPr/>
            <p:nvPr/>
          </p:nvSpPr>
          <p:spPr>
            <a:xfrm>
              <a:off x="3344600" y="3743929"/>
              <a:ext cx="2108381" cy="46258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5.</a:t>
              </a:r>
              <a:r>
                <a:rPr kumimoji="0" lang="ja-JP" altLang="en-US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Analyze tool-to-tool &amp; chamber-to-chamber matching</a:t>
              </a:r>
              <a:endParaRPr kumimoji="0" lang="ja-JP" altLang="en-US" sz="9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A149330C-59EA-4A9C-82E8-6BFFBF6DEB7A}"/>
                </a:ext>
              </a:extLst>
            </p:cNvPr>
            <p:cNvSpPr/>
            <p:nvPr/>
          </p:nvSpPr>
          <p:spPr>
            <a:xfrm>
              <a:off x="5537375" y="3743930"/>
              <a:ext cx="3172248" cy="4625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92047" indent="-92047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Compare inspection data and perform correlation analysis between tools or chambers</a:t>
              </a:r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002C7008-5619-47FC-9B72-EB2D924E1C29}"/>
                </a:ext>
              </a:extLst>
            </p:cNvPr>
            <p:cNvSpPr/>
            <p:nvPr/>
          </p:nvSpPr>
          <p:spPr>
            <a:xfrm>
              <a:off x="294120" y="3530093"/>
              <a:ext cx="1276946" cy="1057612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r>
                <a:rPr kumimoji="0" lang="en-US" altLang="ja-JP" sz="1000" b="1">
                  <a:solidFill>
                    <a:srgbClr val="FFFFFF"/>
                  </a:solidFill>
                  <a:latin typeface="Arial"/>
                  <a:ea typeface="Meiryo" panose="020B0604030504040204" pitchFamily="50" charset="-128"/>
                  <a:cs typeface="Arial"/>
                </a:rPr>
                <a:t>High-Level Product Quality Assurance</a:t>
              </a:r>
              <a:endParaRPr kumimoji="0" lang="ja-JP" altLang="en-US" sz="10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cxnSp>
          <p:nvCxnSpPr>
            <p:cNvPr id="69" name="カギ線コネクタ 60">
              <a:extLst>
                <a:ext uri="{FF2B5EF4-FFF2-40B4-BE49-F238E27FC236}">
                  <a16:creationId xmlns:a16="http://schemas.microsoft.com/office/drawing/2014/main" id="{0E15880B-6F16-474C-BF48-DD6DFC03A7A3}"/>
                </a:ext>
              </a:extLst>
            </p:cNvPr>
            <p:cNvCxnSpPr>
              <a:stCxn id="65" idx="1"/>
              <a:endCxn id="68" idx="3"/>
            </p:cNvCxnSpPr>
            <p:nvPr/>
          </p:nvCxnSpPr>
          <p:spPr>
            <a:xfrm rot="10800000" flipV="1">
              <a:off x="1571065" y="2677264"/>
              <a:ext cx="178500" cy="1381635"/>
            </a:xfrm>
            <a:prstGeom prst="bentConnector3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カギ線コネクタ 61">
              <a:extLst>
                <a:ext uri="{FF2B5EF4-FFF2-40B4-BE49-F238E27FC236}">
                  <a16:creationId xmlns:a16="http://schemas.microsoft.com/office/drawing/2014/main" id="{D720D731-A689-44B5-846B-E1F2E0A56255}"/>
                </a:ext>
              </a:extLst>
            </p:cNvPr>
            <p:cNvCxnSpPr>
              <a:stCxn id="57" idx="1"/>
              <a:endCxn id="68" idx="3"/>
            </p:cNvCxnSpPr>
            <p:nvPr/>
          </p:nvCxnSpPr>
          <p:spPr>
            <a:xfrm rot="10800000">
              <a:off x="1571065" y="4058899"/>
              <a:ext cx="178500" cy="438789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カギ線コネクタ 64">
              <a:extLst>
                <a:ext uri="{FF2B5EF4-FFF2-40B4-BE49-F238E27FC236}">
                  <a16:creationId xmlns:a16="http://schemas.microsoft.com/office/drawing/2014/main" id="{2CBA3CCA-6C3C-4E83-877B-9C1E9827007D}"/>
                </a:ext>
              </a:extLst>
            </p:cNvPr>
            <p:cNvCxnSpPr>
              <a:cxnSpLocks/>
              <a:stCxn id="80" idx="1"/>
              <a:endCxn id="68" idx="3"/>
            </p:cNvCxnSpPr>
            <p:nvPr/>
          </p:nvCxnSpPr>
          <p:spPr>
            <a:xfrm rot="10800000">
              <a:off x="1571066" y="4058899"/>
              <a:ext cx="178500" cy="1718552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E014479E-807D-4032-A569-27D803948EB1}"/>
                </a:ext>
              </a:extLst>
            </p:cNvPr>
            <p:cNvCxnSpPr/>
            <p:nvPr/>
          </p:nvCxnSpPr>
          <p:spPr>
            <a:xfrm>
              <a:off x="328446" y="1623045"/>
              <a:ext cx="120829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コネクタ 72">
              <a:extLst>
                <a:ext uri="{FF2B5EF4-FFF2-40B4-BE49-F238E27FC236}">
                  <a16:creationId xmlns:a16="http://schemas.microsoft.com/office/drawing/2014/main" id="{7715F4F2-F43C-4812-9D92-FB93E5F69FD7}"/>
                </a:ext>
              </a:extLst>
            </p:cNvPr>
            <p:cNvCxnSpPr/>
            <p:nvPr/>
          </p:nvCxnSpPr>
          <p:spPr>
            <a:xfrm>
              <a:off x="1749565" y="1623045"/>
              <a:ext cx="152409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コネクタ 73">
              <a:extLst>
                <a:ext uri="{FF2B5EF4-FFF2-40B4-BE49-F238E27FC236}">
                  <a16:creationId xmlns:a16="http://schemas.microsoft.com/office/drawing/2014/main" id="{685C10F9-AF20-43D2-9D23-E503AD55873D}"/>
                </a:ext>
              </a:extLst>
            </p:cNvPr>
            <p:cNvCxnSpPr/>
            <p:nvPr/>
          </p:nvCxnSpPr>
          <p:spPr>
            <a:xfrm>
              <a:off x="5537373" y="1623045"/>
              <a:ext cx="3172249" cy="55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テキスト ボックス 74">
              <a:extLst>
                <a:ext uri="{FF2B5EF4-FFF2-40B4-BE49-F238E27FC236}">
                  <a16:creationId xmlns:a16="http://schemas.microsoft.com/office/drawing/2014/main" id="{331F6EE8-C09C-4481-B8DD-6EBEACF0D213}"/>
                </a:ext>
              </a:extLst>
            </p:cNvPr>
            <p:cNvSpPr txBox="1"/>
            <p:nvPr/>
          </p:nvSpPr>
          <p:spPr>
            <a:xfrm>
              <a:off x="758462" y="1360632"/>
              <a:ext cx="402808" cy="2756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0" lang="en-US" altLang="ja-JP" sz="10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Goal</a:t>
              </a:r>
              <a:endParaRPr kumimoji="0" lang="ja-JP" altLang="en-US" sz="10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804E07A8-5447-47DD-9E0A-3634E48ED630}"/>
                </a:ext>
              </a:extLst>
            </p:cNvPr>
            <p:cNvSpPr txBox="1"/>
            <p:nvPr/>
          </p:nvSpPr>
          <p:spPr>
            <a:xfrm>
              <a:off x="2315518" y="1360632"/>
              <a:ext cx="513091" cy="2756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0" lang="en-US" altLang="ja-JP" sz="10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Theme</a:t>
              </a:r>
              <a:endParaRPr kumimoji="0" lang="ja-JP" altLang="en-US" sz="10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77" name="テキスト ボックス 76">
              <a:extLst>
                <a:ext uri="{FF2B5EF4-FFF2-40B4-BE49-F238E27FC236}">
                  <a16:creationId xmlns:a16="http://schemas.microsoft.com/office/drawing/2014/main" id="{20967BDB-CAEA-47D2-8CC8-F9C2F1920718}"/>
                </a:ext>
              </a:extLst>
            </p:cNvPr>
            <p:cNvSpPr txBox="1"/>
            <p:nvPr/>
          </p:nvSpPr>
          <p:spPr>
            <a:xfrm>
              <a:off x="6935586" y="1352263"/>
              <a:ext cx="366966" cy="2756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0" lang="en-US" altLang="ja-JP" sz="10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Aim</a:t>
              </a:r>
              <a:endParaRPr kumimoji="0" lang="ja-JP" altLang="en-US" sz="10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EA445223-A68D-4DC2-AF4E-1BC0AD073F1B}"/>
                </a:ext>
              </a:extLst>
            </p:cNvPr>
            <p:cNvSpPr/>
            <p:nvPr/>
          </p:nvSpPr>
          <p:spPr>
            <a:xfrm>
              <a:off x="1975737" y="1679504"/>
              <a:ext cx="1297921" cy="199551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Faster Response to Quality Issues</a:t>
              </a:r>
              <a:endPara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C9EE3645-5E54-4F3B-80E5-B80A4F6FE858}"/>
                </a:ext>
              </a:extLst>
            </p:cNvPr>
            <p:cNvSpPr/>
            <p:nvPr/>
          </p:nvSpPr>
          <p:spPr>
            <a:xfrm>
              <a:off x="1975738" y="3748680"/>
              <a:ext cx="1297921" cy="14980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Improvement of Design &amp; Development</a:t>
              </a:r>
              <a:endPara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4940B7AD-A3D7-4C8C-A2CF-8A38B248F8A9}"/>
                </a:ext>
              </a:extLst>
            </p:cNvPr>
            <p:cNvSpPr/>
            <p:nvPr/>
          </p:nvSpPr>
          <p:spPr>
            <a:xfrm>
              <a:off x="1749566" y="5320356"/>
              <a:ext cx="226170" cy="91418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0" lang="en-US" altLang="ja-JP" sz="900" b="1">
                  <a:solidFill>
                    <a:srgbClr val="FFFFFF"/>
                  </a:solidFill>
                  <a:latin typeface="Arial"/>
                  <a:ea typeface="Meiryo" panose="020B0604030504040204" pitchFamily="50" charset="-128"/>
                  <a:cs typeface="Arial"/>
                </a:rPr>
                <a:t>3</a:t>
              </a:r>
              <a:endParaRPr kumimoji="0" lang="ja-JP" altLang="en-US" sz="9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72B07920-8DB1-40BB-A61F-606C65C0B02F}"/>
                </a:ext>
              </a:extLst>
            </p:cNvPr>
            <p:cNvSpPr/>
            <p:nvPr/>
          </p:nvSpPr>
          <p:spPr>
            <a:xfrm>
              <a:off x="1975738" y="5320356"/>
              <a:ext cx="1297921" cy="91418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Improvement of Shelf-life Management Parts</a:t>
              </a:r>
              <a:endPara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cxnSp>
          <p:nvCxnSpPr>
            <p:cNvPr id="82" name="直線コネクタ 81">
              <a:extLst>
                <a:ext uri="{FF2B5EF4-FFF2-40B4-BE49-F238E27FC236}">
                  <a16:creationId xmlns:a16="http://schemas.microsoft.com/office/drawing/2014/main" id="{35946EF9-87DC-48A7-BE4D-1EC2BCC6C205}"/>
                </a:ext>
              </a:extLst>
            </p:cNvPr>
            <p:cNvCxnSpPr/>
            <p:nvPr/>
          </p:nvCxnSpPr>
          <p:spPr>
            <a:xfrm>
              <a:off x="3344602" y="1628567"/>
              <a:ext cx="210838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テキスト ボックス 82">
              <a:extLst>
                <a:ext uri="{FF2B5EF4-FFF2-40B4-BE49-F238E27FC236}">
                  <a16:creationId xmlns:a16="http://schemas.microsoft.com/office/drawing/2014/main" id="{128F73C9-7765-49EA-9105-C0ED348BE104}"/>
                </a:ext>
              </a:extLst>
            </p:cNvPr>
            <p:cNvSpPr txBox="1"/>
            <p:nvPr/>
          </p:nvSpPr>
          <p:spPr>
            <a:xfrm>
              <a:off x="4096759" y="1367199"/>
              <a:ext cx="604075" cy="2756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0" lang="en-US" altLang="ja-JP" sz="10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Initiative</a:t>
              </a:r>
              <a:endParaRPr kumimoji="0" lang="ja-JP" altLang="en-US" sz="10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cxnSp>
          <p:nvCxnSpPr>
            <p:cNvPr id="84" name="直線コネクタ 83">
              <a:extLst>
                <a:ext uri="{FF2B5EF4-FFF2-40B4-BE49-F238E27FC236}">
                  <a16:creationId xmlns:a16="http://schemas.microsoft.com/office/drawing/2014/main" id="{A1B96B9A-4B4C-40C5-AB46-1E1BF86B41F0}"/>
                </a:ext>
              </a:extLst>
            </p:cNvPr>
            <p:cNvCxnSpPr/>
            <p:nvPr/>
          </p:nvCxnSpPr>
          <p:spPr>
            <a:xfrm>
              <a:off x="8781310" y="1628568"/>
              <a:ext cx="15607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9F8C315D-737C-4B06-87DD-488438F15AAB}"/>
                </a:ext>
              </a:extLst>
            </p:cNvPr>
            <p:cNvSpPr txBox="1"/>
            <p:nvPr/>
          </p:nvSpPr>
          <p:spPr>
            <a:xfrm>
              <a:off x="9300316" y="1352263"/>
              <a:ext cx="451057" cy="2756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0" lang="en-US" altLang="ja-JP" sz="10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Value</a:t>
              </a:r>
              <a:endParaRPr kumimoji="0" lang="ja-JP" altLang="en-US" sz="10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D91B390C-34CD-4267-8E20-67A027CCCC63}"/>
                </a:ext>
              </a:extLst>
            </p:cNvPr>
            <p:cNvSpPr/>
            <p:nvPr/>
          </p:nvSpPr>
          <p:spPr>
            <a:xfrm>
              <a:off x="8781311" y="2175783"/>
              <a:ext cx="1560711" cy="4466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93635" indent="-93635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Higher utilization rate</a:t>
              </a:r>
              <a:endParaRPr kumimoji="0" lang="ja-JP" altLang="en-US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08CFAD87-C588-4C32-BE10-12ECB51B7B4B}"/>
                </a:ext>
              </a:extLst>
            </p:cNvPr>
            <p:cNvSpPr/>
            <p:nvPr/>
          </p:nvSpPr>
          <p:spPr>
            <a:xfrm>
              <a:off x="8781310" y="2699432"/>
              <a:ext cx="1560711" cy="45119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93635" indent="-93635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Higher customer satisfaction</a:t>
              </a:r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D4F725C4-85E5-4D66-A3C0-9E6775ECAABB}"/>
                </a:ext>
              </a:extLst>
            </p:cNvPr>
            <p:cNvSpPr/>
            <p:nvPr/>
          </p:nvSpPr>
          <p:spPr>
            <a:xfrm>
              <a:off x="8781310" y="3220601"/>
              <a:ext cx="1560711" cy="202609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93635" indent="-93635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Higher</a:t>
              </a:r>
              <a:r>
                <a:rPr kumimoji="0" lang="ja-JP" altLang="en-US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utilization</a:t>
              </a:r>
              <a:r>
                <a:rPr kumimoji="0" lang="ja-JP" altLang="en-US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rate</a:t>
              </a:r>
            </a:p>
            <a:p>
              <a:pPr marL="93635" indent="-93635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Higher</a:t>
              </a:r>
              <a:r>
                <a:rPr kumimoji="0" lang="ja-JP" altLang="en-US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productivity</a:t>
              </a:r>
              <a:r>
                <a:rPr kumimoji="0" lang="ja-JP" altLang="en-US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&amp;</a:t>
              </a:r>
              <a:r>
                <a:rPr kumimoji="0" lang="ja-JP" altLang="en-US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yield</a:t>
              </a:r>
              <a:r>
                <a:rPr kumimoji="0" lang="ja-JP" altLang="en-US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rate</a:t>
              </a:r>
            </a:p>
            <a:p>
              <a:pPr marL="93635" indent="-93635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Reduction of quality follow-on cost</a:t>
              </a:r>
            </a:p>
            <a:p>
              <a:pPr marL="93635" indent="-93635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Lower</a:t>
              </a:r>
              <a:r>
                <a:rPr kumimoji="0" lang="ja-JP" altLang="en-US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quality variation among products</a:t>
              </a:r>
            </a:p>
            <a:p>
              <a:pPr marL="93635" indent="-93635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Higher competitive capability &amp; product differentiation of supplier by improving part quality</a:t>
              </a:r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5B6E04B0-8568-403C-AAD5-C6492B028691}"/>
                </a:ext>
              </a:extLst>
            </p:cNvPr>
            <p:cNvSpPr/>
            <p:nvPr/>
          </p:nvSpPr>
          <p:spPr>
            <a:xfrm>
              <a:off x="8781310" y="5320356"/>
              <a:ext cx="1560711" cy="9141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93635" indent="-93635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Higher utilization rate</a:t>
              </a: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B119B20A-C8C6-499C-AB40-3F23DC00151F}"/>
                </a:ext>
              </a:extLst>
            </p:cNvPr>
            <p:cNvSpPr/>
            <p:nvPr/>
          </p:nvSpPr>
          <p:spPr>
            <a:xfrm>
              <a:off x="3344600" y="1689016"/>
              <a:ext cx="2108381" cy="44660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0" lang="en-US" altLang="ja-JP" sz="9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1. Understand the current status/situation of parts</a:t>
              </a:r>
              <a:endParaRPr kumimoji="0" lang="ja-JP" altLang="en-US" sz="9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755DCF22-61FA-41CC-B47B-19DDFB73A3EB}"/>
                </a:ext>
              </a:extLst>
            </p:cNvPr>
            <p:cNvSpPr/>
            <p:nvPr/>
          </p:nvSpPr>
          <p:spPr>
            <a:xfrm>
              <a:off x="8775515" y="1694191"/>
              <a:ext cx="1560711" cy="4466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93635" indent="-93635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Higher utilization rate</a:t>
              </a:r>
            </a:p>
            <a:p>
              <a:pPr marL="93635" indent="-93635">
                <a:buFont typeface="Arial" panose="020B0604020202020204" pitchFamily="34" charset="0"/>
                <a:buChar char="•"/>
              </a:pPr>
              <a:r>
                <a:rPr kumimoji="0" lang="en-US" altLang="ja-JP" sz="9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Higher customer satisfaction</a:t>
              </a:r>
              <a:endParaRPr kumimoji="0" lang="ja-JP" altLang="en-US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sp>
        <p:nvSpPr>
          <p:cNvPr id="4" name="テキスト ボックス 3"/>
          <p:cNvSpPr txBox="1"/>
          <p:nvPr/>
        </p:nvSpPr>
        <p:spPr>
          <a:xfrm>
            <a:off x="1588" y="951051"/>
            <a:ext cx="12178134" cy="70788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342900" indent="-342900" algn="ctr">
              <a:buClr>
                <a:srgbClr val="92D050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en-US" altLang="ja-JP" sz="20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To achieve a </a:t>
            </a:r>
            <a:r>
              <a:rPr kumimoji="0" lang="en-US" altLang="ja-JP" sz="2000" b="1" u="sng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higher level of quality assurance</a:t>
            </a:r>
            <a:r>
              <a:rPr kumimoji="0" lang="en-US" altLang="ja-JP" sz="20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20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by organizing a parts traceability scheme</a:t>
            </a:r>
          </a:p>
          <a:p>
            <a:pPr marL="342900" indent="-342900" algn="ctr">
              <a:buClr>
                <a:srgbClr val="92D050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en-US" altLang="ja-JP" sz="20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We consider parts and product traceability as an essential part of our </a:t>
            </a:r>
            <a:r>
              <a:rPr kumimoji="0" lang="en-US" altLang="ja-JP" sz="2000" b="1" u="sng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social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203440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966BC6-C322-F766-B3A0-0A61AAA3F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>
                <a:ea typeface="メイリオ" panose="020B0604030504040204" pitchFamily="50" charset="-128"/>
                <a:cs typeface="Arial" panose="020B0604020202020204" pitchFamily="34" charset="0"/>
              </a:rPr>
              <a:t>What Can be Achieved through Traceability System</a:t>
            </a:r>
            <a:endParaRPr kumimoji="1" lang="ja-JP" altLang="en-US"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4832E11F-BC2B-8F56-3D11-3793337AE26A}"/>
              </a:ext>
            </a:extLst>
          </p:cNvPr>
          <p:cNvGrpSpPr/>
          <p:nvPr/>
        </p:nvGrpSpPr>
        <p:grpSpPr>
          <a:xfrm>
            <a:off x="918100" y="1120354"/>
            <a:ext cx="10686468" cy="448466"/>
            <a:chOff x="1110604" y="1120354"/>
            <a:chExt cx="10925096" cy="448466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49E9DB3F-B1C5-4E8F-C6EA-7BF6BC88EF5F}"/>
                </a:ext>
              </a:extLst>
            </p:cNvPr>
            <p:cNvSpPr/>
            <p:nvPr/>
          </p:nvSpPr>
          <p:spPr>
            <a:xfrm>
              <a:off x="1110604" y="1120354"/>
              <a:ext cx="2711398" cy="44846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Compliance with ISO requirements</a:t>
              </a: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CA4C27F-5F2F-3827-9C2D-A79C51D23E24}"/>
                </a:ext>
              </a:extLst>
            </p:cNvPr>
            <p:cNvSpPr/>
            <p:nvPr/>
          </p:nvSpPr>
          <p:spPr>
            <a:xfrm>
              <a:off x="3925369" y="1120354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In accordance with "ISO9001: Identification and Traceability, Clause 8.5.2," we will more accurately and quickly grasp the origin, identification, and status of the equipment we sell. </a:t>
              </a:r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8A2984DE-1191-9259-CDC9-A3F476024C22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1568820"/>
              <a:ext cx="8110331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16AEA4E8-F07D-F5DC-E72B-01C7C665D55F}"/>
              </a:ext>
            </a:extLst>
          </p:cNvPr>
          <p:cNvGrpSpPr/>
          <p:nvPr/>
        </p:nvGrpSpPr>
        <p:grpSpPr>
          <a:xfrm>
            <a:off x="918100" y="1686121"/>
            <a:ext cx="10686468" cy="472529"/>
            <a:chOff x="1110604" y="1680319"/>
            <a:chExt cx="10925096" cy="472529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56C9E474-0CB5-9EA9-7047-F55D0EB58E1E}"/>
                </a:ext>
              </a:extLst>
            </p:cNvPr>
            <p:cNvSpPr/>
            <p:nvPr/>
          </p:nvSpPr>
          <p:spPr>
            <a:xfrm>
              <a:off x="1110604" y="1704382"/>
              <a:ext cx="2711398" cy="44846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Compliance with Laws and Regulations</a:t>
              </a:r>
              <a:endPara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82954527-4BAB-E044-7DEB-9EF404B00696}"/>
                </a:ext>
              </a:extLst>
            </p:cNvPr>
            <p:cNvSpPr/>
            <p:nvPr/>
          </p:nvSpPr>
          <p:spPr>
            <a:xfrm>
              <a:off x="3925369" y="1680319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Accurately and quickly identify regulatory compliant (or non-compliant) items by part serial number or </a:t>
              </a:r>
              <a:r>
                <a:rPr kumimoji="1" lang="en-US" altLang="ja-JP" sz="14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batch </a:t>
              </a:r>
              <a:r>
                <a:rPr kumimoji="1" lang="ja-JP" altLang="en-US" sz="14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number</a:t>
              </a:r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BD0C4EB1-D335-6B9C-FCA1-A8E922AC44E3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2152848"/>
              <a:ext cx="8110331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158B96BC-8FC5-6DE3-E2CB-17D79BA0253F}"/>
              </a:ext>
            </a:extLst>
          </p:cNvPr>
          <p:cNvGrpSpPr/>
          <p:nvPr/>
        </p:nvGrpSpPr>
        <p:grpSpPr>
          <a:xfrm>
            <a:off x="918100" y="2841718"/>
            <a:ext cx="10686468" cy="448466"/>
            <a:chOff x="1110604" y="2753627"/>
            <a:chExt cx="10925096" cy="448466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11B2BDF3-D9C8-937C-FB32-91F15604534C}"/>
                </a:ext>
              </a:extLst>
            </p:cNvPr>
            <p:cNvSpPr/>
            <p:nvPr/>
          </p:nvSpPr>
          <p:spPr>
            <a:xfrm>
              <a:off x="1110604" y="2753627"/>
              <a:ext cx="2711398" cy="4484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Location of </a:t>
              </a:r>
              <a:r>
                <a:rPr lang="en-US" altLang="ja-JP" sz="1600" b="1">
                  <a:solidFill>
                    <a:srgbClr val="FFFFFF"/>
                  </a:solidFill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trouble</a:t>
              </a:r>
              <a:r>
                <a:rPr lang="ja-JP" altLang="en-US" sz="1600" b="1">
                  <a:solidFill>
                    <a:srgbClr val="FFFFFF"/>
                  </a:solidFill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 </a:t>
              </a:r>
              <a:r>
                <a:rPr lang="en-US" altLang="ja-JP" sz="1600" b="1">
                  <a:solidFill>
                    <a:srgbClr val="FFFFFF"/>
                  </a:solidFill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parts</a:t>
              </a:r>
              <a:endParaRPr kumimoji="1" lang="ja-JP" altLang="en-US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0AA40DEC-3865-614F-E66F-E07B378F92A9}"/>
                </a:ext>
              </a:extLst>
            </p:cNvPr>
            <p:cNvSpPr/>
            <p:nvPr/>
          </p:nvSpPr>
          <p:spPr>
            <a:xfrm>
              <a:off x="3925369" y="2753627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Quickly identify the location of FCN/SI and recalled items by part SN or </a:t>
              </a:r>
              <a:r>
                <a:rPr lang="en-US" altLang="ja-JP" sz="1400">
                  <a:solidFill>
                    <a:srgbClr val="2D2D2D"/>
                  </a:solidFill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batch</a:t>
              </a:r>
              <a:r>
                <a:rPr kumimoji="1" lang="ja-JP" altLang="en-US" sz="14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 number</a:t>
              </a:r>
            </a:p>
          </p:txBody>
        </p: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FC3B1B9A-8EFC-6857-E6D0-373B013FA4F9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3202093"/>
              <a:ext cx="811033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772B3823-CE98-94AF-ABAF-1E938FECCE77}"/>
              </a:ext>
            </a:extLst>
          </p:cNvPr>
          <p:cNvGrpSpPr/>
          <p:nvPr/>
        </p:nvGrpSpPr>
        <p:grpSpPr>
          <a:xfrm>
            <a:off x="918100" y="3407485"/>
            <a:ext cx="10686468" cy="448466"/>
            <a:chOff x="1110604" y="3326523"/>
            <a:chExt cx="10925096" cy="448466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365E3191-0DC5-9D70-5FD9-D88DD69C7383}"/>
                </a:ext>
              </a:extLst>
            </p:cNvPr>
            <p:cNvSpPr/>
            <p:nvPr/>
          </p:nvSpPr>
          <p:spPr>
            <a:xfrm>
              <a:off x="1110604" y="3326523"/>
              <a:ext cx="2711398" cy="4484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Trouble analysis </a:t>
              </a:r>
              <a:br>
                <a:rPr kumimoji="1" lang="en-US" altLang="ja-JP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</a:br>
              <a:r>
                <a:rPr kumimoji="1" lang="ja-JP" altLang="en-US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(</a:t>
              </a:r>
              <a:r>
                <a:rPr kumimoji="1" lang="en-US" altLang="ja-JP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part </a:t>
              </a:r>
              <a:r>
                <a:rPr kumimoji="1" lang="ja-JP" altLang="en-US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inspection data)</a:t>
              </a:r>
              <a:endPara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1BAC9C28-ADE5-2B3F-5585-08A0346C46B0}"/>
                </a:ext>
              </a:extLst>
            </p:cNvPr>
            <p:cNvSpPr/>
            <p:nvPr/>
          </p:nvSpPr>
          <p:spPr>
            <a:xfrm>
              <a:off x="3925369" y="3326523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Quickly extract supplier inspection data for specific individual parts for analysis</a:t>
              </a:r>
            </a:p>
          </p:txBody>
        </p: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441D67A6-7C0C-B266-7A32-51339C0043F1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3774989"/>
              <a:ext cx="811033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1ABC9A1D-71C3-6707-0677-D7A8B085CA94}"/>
              </a:ext>
            </a:extLst>
          </p:cNvPr>
          <p:cNvGrpSpPr/>
          <p:nvPr/>
        </p:nvGrpSpPr>
        <p:grpSpPr>
          <a:xfrm>
            <a:off x="918100" y="3973252"/>
            <a:ext cx="10686468" cy="448466"/>
            <a:chOff x="1110604" y="3899419"/>
            <a:chExt cx="10925096" cy="448466"/>
          </a:xfrm>
        </p:grpSpPr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3CC1A5A9-D459-6428-90C0-F025D833CD16}"/>
                </a:ext>
              </a:extLst>
            </p:cNvPr>
            <p:cNvSpPr/>
            <p:nvPr/>
          </p:nvSpPr>
          <p:spPr>
            <a:xfrm>
              <a:off x="1110604" y="3899419"/>
              <a:ext cx="2711398" cy="4484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Trouble analysis </a:t>
              </a:r>
              <a:br>
                <a:rPr kumimoji="1" lang="en-US" altLang="ja-JP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</a:br>
              <a:r>
                <a:rPr kumimoji="1" lang="ja-JP" altLang="en-US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(</a:t>
              </a:r>
              <a:r>
                <a:rPr kumimoji="1" lang="en-US" altLang="ja-JP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individual </a:t>
              </a:r>
              <a:r>
                <a:rPr kumimoji="1" lang="ja-JP" altLang="en-US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part history)</a:t>
              </a:r>
              <a:endPara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B5A88B41-4483-C3B9-ACF1-0D873137947C}"/>
                </a:ext>
              </a:extLst>
            </p:cNvPr>
            <p:cNvSpPr/>
            <p:nvPr/>
          </p:nvSpPr>
          <p:spPr>
            <a:xfrm>
              <a:off x="3925369" y="3899419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Quickly understand the history of a specific part</a:t>
              </a:r>
            </a:p>
          </p:txBody>
        </p: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0C4B464A-9675-FDB5-C8E2-83F1E626F432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4347885"/>
              <a:ext cx="811033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48A0E893-1B17-4625-197A-0C1A8F870FE9}"/>
              </a:ext>
            </a:extLst>
          </p:cNvPr>
          <p:cNvGrpSpPr/>
          <p:nvPr/>
        </p:nvGrpSpPr>
        <p:grpSpPr>
          <a:xfrm>
            <a:off x="918100" y="4539019"/>
            <a:ext cx="10686468" cy="448466"/>
            <a:chOff x="1110604" y="4472315"/>
            <a:chExt cx="10925096" cy="448466"/>
          </a:xfrm>
        </p:grpSpPr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EF8C71C7-2262-0E32-DAB6-700B8F946F98}"/>
                </a:ext>
              </a:extLst>
            </p:cNvPr>
            <p:cNvSpPr/>
            <p:nvPr/>
          </p:nvSpPr>
          <p:spPr>
            <a:xfrm>
              <a:off x="1110604" y="4472315"/>
              <a:ext cx="2711398" cy="4484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Trouble analysis (composite analysis)</a:t>
              </a:r>
              <a:endPara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970FB80D-7BDD-4C4B-B146-DC9870443B25}"/>
                </a:ext>
              </a:extLst>
            </p:cNvPr>
            <p:cNvSpPr/>
            <p:nvPr/>
          </p:nvSpPr>
          <p:spPr>
            <a:xfrm>
              <a:off x="3925369" y="4472315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By comparing traceability data (※), possible causes of defects can be identified. </a:t>
              </a:r>
              <a:endPara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  <a:p>
              <a:pPr marL="0" marR="0" lvl="0" indent="0" algn="r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*Defect data, work history data, inspection data, etc. </a:t>
              </a:r>
              <a:endParaRPr kumimoji="1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15C55527-46CB-FD2B-B988-FBA3570A14F2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4920781"/>
              <a:ext cx="811033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E95DB0D3-1771-27DB-2CCE-4D3D97A7C24F}"/>
              </a:ext>
            </a:extLst>
          </p:cNvPr>
          <p:cNvGrpSpPr/>
          <p:nvPr/>
        </p:nvGrpSpPr>
        <p:grpSpPr>
          <a:xfrm>
            <a:off x="918100" y="5104786"/>
            <a:ext cx="10686468" cy="448466"/>
            <a:chOff x="1110604" y="5045210"/>
            <a:chExt cx="10925096" cy="448466"/>
          </a:xfrm>
        </p:grpSpPr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ECD75FAC-B8A6-9D9E-A2B5-54B52D01F76B}"/>
                </a:ext>
              </a:extLst>
            </p:cNvPr>
            <p:cNvSpPr/>
            <p:nvPr/>
          </p:nvSpPr>
          <p:spPr>
            <a:xfrm>
              <a:off x="1110604" y="5045210"/>
              <a:ext cx="2711398" cy="4484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Proactive trouble prevention</a:t>
              </a:r>
              <a:endPara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D2B1BC19-8296-CA35-DC3E-CA80F9BED8AC}"/>
                </a:ext>
              </a:extLst>
            </p:cNvPr>
            <p:cNvSpPr/>
            <p:nvPr/>
          </p:nvSpPr>
          <p:spPr>
            <a:xfrm>
              <a:off x="3925369" y="5045210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Identify risk parts that </a:t>
              </a:r>
              <a:r>
                <a:rPr kumimoji="1" lang="en-US" altLang="ja-JP" sz="140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are reaching </a:t>
              </a:r>
              <a:r>
                <a:rPr kumimoji="1" lang="ja-JP" altLang="en-US" sz="140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the end of their shelf life and prevent them from being shipped</a:t>
              </a:r>
            </a:p>
          </p:txBody>
        </p: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38C3ED22-A5CF-0E7F-D9C8-6AFA40B8663C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5493676"/>
              <a:ext cx="811033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D7F3EFD8-D218-C246-8C14-E67386064F39}"/>
              </a:ext>
            </a:extLst>
          </p:cNvPr>
          <p:cNvGrpSpPr/>
          <p:nvPr/>
        </p:nvGrpSpPr>
        <p:grpSpPr>
          <a:xfrm>
            <a:off x="918100" y="5670553"/>
            <a:ext cx="10686468" cy="448466"/>
            <a:chOff x="1110604" y="5618104"/>
            <a:chExt cx="10925096" cy="448466"/>
          </a:xfrm>
        </p:grpSpPr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946A3419-5707-C81D-4DDB-C0F42620503C}"/>
                </a:ext>
              </a:extLst>
            </p:cNvPr>
            <p:cNvSpPr/>
            <p:nvPr/>
          </p:nvSpPr>
          <p:spPr>
            <a:xfrm>
              <a:off x="1110604" y="5618104"/>
              <a:ext cx="2711398" cy="4484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Respond to </a:t>
              </a:r>
              <a:r>
                <a:rPr kumimoji="1" lang="ja-JP" altLang="en-US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customer needs</a:t>
              </a: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1273D30B-669B-74C6-E1B4-5B94BEFD8A77}"/>
                </a:ext>
              </a:extLst>
            </p:cNvPr>
            <p:cNvSpPr/>
            <p:nvPr/>
          </p:nvSpPr>
          <p:spPr>
            <a:xfrm>
              <a:off x="3925369" y="5618104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Providing CoA data </a:t>
              </a:r>
              <a:r>
                <a:rPr kumimoji="0" lang="en-US" altLang="ja-JP" sz="14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per </a:t>
              </a:r>
              <a:r>
                <a:rPr kumimoji="0" lang="ja-JP" altLang="en-US" sz="14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part serial number enables quicker response to customer needs for data-driven reduction of equipment downtime</a:t>
              </a:r>
            </a:p>
          </p:txBody>
        </p: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971D9FC4-1CDE-9464-21D8-21D5D6F8D479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6066570"/>
              <a:ext cx="811033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AAB54586-82A6-888C-D05D-D1C09F82E787}"/>
              </a:ext>
            </a:extLst>
          </p:cNvPr>
          <p:cNvGrpSpPr/>
          <p:nvPr/>
        </p:nvGrpSpPr>
        <p:grpSpPr>
          <a:xfrm>
            <a:off x="918100" y="2275951"/>
            <a:ext cx="10686468" cy="448466"/>
            <a:chOff x="1110604" y="2178204"/>
            <a:chExt cx="10925096" cy="448466"/>
          </a:xfrm>
        </p:grpSpPr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14AEFB85-CFDC-7A2D-8E4B-BA42A44C40A5}"/>
                </a:ext>
              </a:extLst>
            </p:cNvPr>
            <p:cNvSpPr/>
            <p:nvPr/>
          </p:nvSpPr>
          <p:spPr>
            <a:xfrm>
              <a:off x="1110604" y="2178204"/>
              <a:ext cx="2711398" cy="44846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Response to the semiconductor industry</a:t>
              </a: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35341F4E-CF11-C587-1F88-7B32FC5A42BF}"/>
                </a:ext>
              </a:extLst>
            </p:cNvPr>
            <p:cNvSpPr/>
            <p:nvPr/>
          </p:nvSpPr>
          <p:spPr>
            <a:xfrm>
              <a:off x="3925369" y="2178204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Addressing industry and customer needs to ensure traceability in the semiconductor supply chain (traceability labels &amp; data requirements)</a:t>
              </a: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FF584BE1-8338-7DAB-0543-70ACE2DDBBCD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2626670"/>
              <a:ext cx="8110331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3FA15346-95F8-41F2-9DB9-6DF7ABB999E7}"/>
              </a:ext>
            </a:extLst>
          </p:cNvPr>
          <p:cNvGrpSpPr/>
          <p:nvPr/>
        </p:nvGrpSpPr>
        <p:grpSpPr>
          <a:xfrm>
            <a:off x="910080" y="6236317"/>
            <a:ext cx="10694314" cy="448466"/>
            <a:chOff x="1102583" y="6236317"/>
            <a:chExt cx="10933117" cy="448466"/>
          </a:xfrm>
        </p:grpSpPr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9501D8ED-88ED-4F47-1242-960C860651AF}"/>
                </a:ext>
              </a:extLst>
            </p:cNvPr>
            <p:cNvSpPr/>
            <p:nvPr/>
          </p:nvSpPr>
          <p:spPr>
            <a:xfrm>
              <a:off x="1102583" y="6236317"/>
              <a:ext cx="2711398" cy="44846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Operational</a:t>
              </a:r>
              <a:r>
                <a:rPr kumimoji="0" lang="ja-JP" altLang="en-US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 efficiency</a:t>
              </a:r>
              <a:endPara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CC211237-567F-AA4F-9F3D-F531AB2BF8D2}"/>
                </a:ext>
              </a:extLst>
            </p:cNvPr>
            <p:cNvSpPr/>
            <p:nvPr/>
          </p:nvSpPr>
          <p:spPr>
            <a:xfrm>
              <a:off x="3925369" y="6236317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Enabling one-stop access to information on shipped parts and equipment</a:t>
              </a:r>
            </a:p>
          </p:txBody>
        </p: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FB895E00-492F-8846-BDD1-1A3CD09131A3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48" y="6684783"/>
              <a:ext cx="8110331" cy="0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フローチャート: 処理 57">
            <a:extLst>
              <a:ext uri="{FF2B5EF4-FFF2-40B4-BE49-F238E27FC236}">
                <a16:creationId xmlns:a16="http://schemas.microsoft.com/office/drawing/2014/main" id="{8FD48C74-AF8D-E979-B43C-847F5C742B3D}"/>
              </a:ext>
            </a:extLst>
          </p:cNvPr>
          <p:cNvSpPr/>
          <p:nvPr/>
        </p:nvSpPr>
        <p:spPr>
          <a:xfrm>
            <a:off x="464948" y="1120354"/>
            <a:ext cx="349786" cy="1604062"/>
          </a:xfrm>
          <a:prstGeom prst="flowChartProcess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Compliance</a:t>
            </a:r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59" name="フローチャート: 処理 58">
            <a:extLst>
              <a:ext uri="{FF2B5EF4-FFF2-40B4-BE49-F238E27FC236}">
                <a16:creationId xmlns:a16="http://schemas.microsoft.com/office/drawing/2014/main" id="{B57D67E3-1A79-580E-C561-1AB7B8967658}"/>
              </a:ext>
            </a:extLst>
          </p:cNvPr>
          <p:cNvSpPr/>
          <p:nvPr/>
        </p:nvSpPr>
        <p:spPr>
          <a:xfrm>
            <a:off x="464948" y="2841718"/>
            <a:ext cx="349786" cy="3277299"/>
          </a:xfrm>
          <a:prstGeom prst="flowChart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Quality</a:t>
            </a:r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60" name="フローチャート: 処理 59">
            <a:extLst>
              <a:ext uri="{FF2B5EF4-FFF2-40B4-BE49-F238E27FC236}">
                <a16:creationId xmlns:a16="http://schemas.microsoft.com/office/drawing/2014/main" id="{BAE8B413-0B25-EEAB-5CB4-6305E6DC5A5C}"/>
              </a:ext>
            </a:extLst>
          </p:cNvPr>
          <p:cNvSpPr/>
          <p:nvPr/>
        </p:nvSpPr>
        <p:spPr>
          <a:xfrm>
            <a:off x="456927" y="6236317"/>
            <a:ext cx="349786" cy="448466"/>
          </a:xfrm>
          <a:prstGeom prst="flowChartProcess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Efficiency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56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オブジェクト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7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660" imgH="659" progId="TCLayout.ActiveDocument.1">
                  <p:embed/>
                </p:oleObj>
              </mc:Choice>
              <mc:Fallback>
                <p:oleObj name="think-cell スライド" r:id="rId3" imgW="660" imgH="659" progId="TCLayout.ActiveDocument.1">
                  <p:embed/>
                  <p:pic>
                    <p:nvPicPr>
                      <p:cNvPr id="14" name="オブジェクト 1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7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60507" y="261993"/>
            <a:ext cx="10916165" cy="523220"/>
          </a:xfrm>
        </p:spPr>
        <p:txBody>
          <a:bodyPr/>
          <a:lstStyle/>
          <a:p>
            <a:r>
              <a:rPr lang="ja-JP" altLang="en-US"/>
              <a:t>Traceability </a:t>
            </a:r>
            <a:r>
              <a:rPr lang="en-US" altLang="ja-JP"/>
              <a:t>S</a:t>
            </a:r>
            <a:r>
              <a:rPr lang="ja-JP" altLang="en-US"/>
              <a:t>ystem (T</a:t>
            </a:r>
            <a:r>
              <a:rPr lang="en-US" altLang="ja-JP"/>
              <a:t>o-Be</a:t>
            </a:r>
            <a:r>
              <a:rPr lang="ja-JP" altLang="en-US"/>
              <a:t> </a:t>
            </a:r>
            <a:r>
              <a:rPr lang="en-US" altLang="ja-JP"/>
              <a:t>I</a:t>
            </a:r>
            <a:r>
              <a:rPr lang="ja-JP" altLang="en-US"/>
              <a:t>mage)</a:t>
            </a:r>
            <a:endParaRPr kumimoji="1" lang="ja-JP" altLang="en-US"/>
          </a:p>
        </p:txBody>
      </p:sp>
      <p:grpSp>
        <p:nvGrpSpPr>
          <p:cNvPr id="5" name="グループ化 4"/>
          <p:cNvGrpSpPr/>
          <p:nvPr/>
        </p:nvGrpSpPr>
        <p:grpSpPr>
          <a:xfrm>
            <a:off x="10271464" y="476673"/>
            <a:ext cx="1827050" cy="477765"/>
            <a:chOff x="10297308" y="863003"/>
            <a:chExt cx="1827050" cy="477765"/>
          </a:xfrm>
        </p:grpSpPr>
        <p:sp>
          <p:nvSpPr>
            <p:cNvPr id="200" name="角丸四角形 199"/>
            <p:cNvSpPr/>
            <p:nvPr/>
          </p:nvSpPr>
          <p:spPr>
            <a:xfrm>
              <a:off x="10297308" y="863003"/>
              <a:ext cx="1827050" cy="47776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cxnSp>
          <p:nvCxnSpPr>
            <p:cNvPr id="201" name="直線矢印コネクタ 200"/>
            <p:cNvCxnSpPr/>
            <p:nvPr/>
          </p:nvCxnSpPr>
          <p:spPr>
            <a:xfrm flipV="1">
              <a:off x="10444275" y="981433"/>
              <a:ext cx="601537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正方形/長方形 202"/>
            <p:cNvSpPr/>
            <p:nvPr/>
          </p:nvSpPr>
          <p:spPr>
            <a:xfrm>
              <a:off x="11022771" y="875092"/>
              <a:ext cx="786908" cy="180552"/>
            </a:xfrm>
            <a:prstGeom prst="rect">
              <a:avLst/>
            </a:prstGeom>
          </p:spPr>
          <p:txBody>
            <a:bodyPr wrap="none" bIns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1" i="0" u="none" strike="noStrike" kern="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Flow of goods</a:t>
              </a:r>
              <a:endParaRPr kumimoji="0" lang="en-US" altLang="ja-JP" sz="1100" b="1" i="0" u="none" strike="noStrike" kern="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cxnSp>
          <p:nvCxnSpPr>
            <p:cNvPr id="202" name="直線矢印コネクタ 201"/>
            <p:cNvCxnSpPr/>
            <p:nvPr/>
          </p:nvCxnSpPr>
          <p:spPr>
            <a:xfrm flipV="1">
              <a:off x="10453153" y="1216672"/>
              <a:ext cx="601537" cy="0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正方形/長方形 203"/>
            <p:cNvSpPr/>
            <p:nvPr/>
          </p:nvSpPr>
          <p:spPr>
            <a:xfrm>
              <a:off x="11031649" y="1115401"/>
              <a:ext cx="786908" cy="180552"/>
            </a:xfrm>
            <a:prstGeom prst="rect">
              <a:avLst/>
            </a:prstGeom>
          </p:spPr>
          <p:txBody>
            <a:bodyPr wrap="none" bIns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1" i="0" u="none" strike="noStrike" kern="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Data flow</a:t>
              </a:r>
              <a:endParaRPr kumimoji="0" lang="en-US" altLang="ja-JP" sz="1100" b="1" i="0" u="none" strike="noStrike" kern="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62" name="グループ化 61"/>
          <p:cNvGrpSpPr/>
          <p:nvPr/>
        </p:nvGrpSpPr>
        <p:grpSpPr>
          <a:xfrm>
            <a:off x="119337" y="1032736"/>
            <a:ext cx="11869204" cy="5251687"/>
            <a:chOff x="117748" y="1040309"/>
            <a:chExt cx="11979179" cy="5629051"/>
          </a:xfrm>
        </p:grpSpPr>
        <p:sp>
          <p:nvSpPr>
            <p:cNvPr id="181" name="正方形/長方形 180"/>
            <p:cNvSpPr/>
            <p:nvPr/>
          </p:nvSpPr>
          <p:spPr>
            <a:xfrm>
              <a:off x="117748" y="2421689"/>
              <a:ext cx="11979178" cy="83945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04" name="正方形/長方形 103"/>
            <p:cNvSpPr/>
            <p:nvPr/>
          </p:nvSpPr>
          <p:spPr>
            <a:xfrm>
              <a:off x="117749" y="1509422"/>
              <a:ext cx="11979178" cy="83945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02" name="円柱 101"/>
            <p:cNvSpPr/>
            <p:nvPr/>
          </p:nvSpPr>
          <p:spPr>
            <a:xfrm>
              <a:off x="3862455" y="1651541"/>
              <a:ext cx="3814183" cy="562064"/>
            </a:xfrm>
            <a:prstGeom prst="can">
              <a:avLst>
                <a:gd name="adj" fmla="val 27628"/>
              </a:avLst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180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Traceability Data Mart</a:t>
              </a:r>
              <a:endPara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93" name="テキスト ボックス 92"/>
            <p:cNvSpPr txBox="1"/>
            <p:nvPr/>
          </p:nvSpPr>
          <p:spPr>
            <a:xfrm>
              <a:off x="1945178" y="5794973"/>
              <a:ext cx="145837" cy="26391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ja-JP" sz="10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92" name="ホームベース 91"/>
            <p:cNvSpPr/>
            <p:nvPr/>
          </p:nvSpPr>
          <p:spPr>
            <a:xfrm>
              <a:off x="7190888" y="6234363"/>
              <a:ext cx="4459836" cy="434997"/>
            </a:xfrm>
            <a:prstGeom prst="homePlate">
              <a:avLst>
                <a:gd name="adj" fmla="val 53314"/>
              </a:avLst>
            </a:prstGeom>
            <a:solidFill>
              <a:schemeClr val="accent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>
                    <a:glow rad="101600">
                      <a:srgbClr val="FFFFFF">
                        <a:alpha val="60000"/>
                      </a:srgbClr>
                    </a:glow>
                  </a:effectLst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Operational Information</a:t>
              </a:r>
            </a:p>
          </p:txBody>
        </p:sp>
        <p:sp>
          <p:nvSpPr>
            <p:cNvPr id="91" name="ホームベース 90"/>
            <p:cNvSpPr/>
            <p:nvPr/>
          </p:nvSpPr>
          <p:spPr>
            <a:xfrm>
              <a:off x="3968317" y="6234363"/>
              <a:ext cx="3532035" cy="434997"/>
            </a:xfrm>
            <a:prstGeom prst="homePlate">
              <a:avLst>
                <a:gd name="adj" fmla="val 53314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>
                    <a:glow rad="101600">
                      <a:srgbClr val="FFFFFF">
                        <a:alpha val="60000"/>
                      </a:srgbClr>
                    </a:glow>
                  </a:effectLst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Equipment Production Information</a:t>
              </a:r>
            </a:p>
          </p:txBody>
        </p:sp>
        <p:sp>
          <p:nvSpPr>
            <p:cNvPr id="141" name="角丸四角形 140"/>
            <p:cNvSpPr/>
            <p:nvPr/>
          </p:nvSpPr>
          <p:spPr>
            <a:xfrm>
              <a:off x="2358570" y="4222770"/>
              <a:ext cx="1692000" cy="1178186"/>
            </a:xfrm>
            <a:prstGeom prst="roundRect">
              <a:avLst>
                <a:gd name="adj" fmla="val 11026"/>
              </a:avLst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43" name="角丸四角形 142"/>
            <p:cNvSpPr/>
            <p:nvPr/>
          </p:nvSpPr>
          <p:spPr>
            <a:xfrm>
              <a:off x="550277" y="4559286"/>
              <a:ext cx="1616753" cy="1648376"/>
            </a:xfrm>
            <a:prstGeom prst="roundRect">
              <a:avLst>
                <a:gd name="adj" fmla="val 11026"/>
              </a:avLst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94" name="ホームベース 193"/>
            <p:cNvSpPr/>
            <p:nvPr/>
          </p:nvSpPr>
          <p:spPr>
            <a:xfrm>
              <a:off x="2545051" y="4887548"/>
              <a:ext cx="684268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1" i="0" u="none" strike="noStrike" kern="1200" cap="none" spc="0" normalizeH="0" baseline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Manufacturing</a:t>
              </a:r>
            </a:p>
          </p:txBody>
        </p:sp>
        <p:sp>
          <p:nvSpPr>
            <p:cNvPr id="195" name="ホームベース 194"/>
            <p:cNvSpPr/>
            <p:nvPr/>
          </p:nvSpPr>
          <p:spPr>
            <a:xfrm>
              <a:off x="3229318" y="4887548"/>
              <a:ext cx="684268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1" i="0" u="none" strike="noStrike" kern="1200" cap="none" spc="0" normalizeH="0" baseline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inspection</a:t>
              </a:r>
            </a:p>
          </p:txBody>
        </p:sp>
        <p:sp>
          <p:nvSpPr>
            <p:cNvPr id="107" name="テキスト ボックス 106"/>
            <p:cNvSpPr txBox="1"/>
            <p:nvPr/>
          </p:nvSpPr>
          <p:spPr>
            <a:xfrm>
              <a:off x="1945178" y="5699398"/>
              <a:ext cx="145837" cy="26391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ja-JP" sz="10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113" name="テキスト ボックス 112"/>
            <p:cNvSpPr txBox="1"/>
            <p:nvPr/>
          </p:nvSpPr>
          <p:spPr>
            <a:xfrm>
              <a:off x="1945178" y="5837679"/>
              <a:ext cx="145837" cy="26391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ja-JP" sz="10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pic>
          <p:nvPicPr>
            <p:cNvPr id="125" name="図 124"/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1788" y="4847319"/>
              <a:ext cx="638368" cy="433809"/>
            </a:xfrm>
            <a:prstGeom prst="rect">
              <a:avLst/>
            </a:prstGeom>
          </p:spPr>
        </p:pic>
        <p:sp>
          <p:nvSpPr>
            <p:cNvPr id="126" name="ホームベース 125"/>
            <p:cNvSpPr/>
            <p:nvPr/>
          </p:nvSpPr>
          <p:spPr>
            <a:xfrm>
              <a:off x="730422" y="5579711"/>
              <a:ext cx="684268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1" i="0" u="none" strike="noStrike" kern="1200" cap="none" spc="0" normalizeH="0" baseline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Manufacturing</a:t>
              </a:r>
            </a:p>
          </p:txBody>
        </p:sp>
        <p:sp>
          <p:nvSpPr>
            <p:cNvPr id="127" name="ホームベース 126"/>
            <p:cNvSpPr/>
            <p:nvPr/>
          </p:nvSpPr>
          <p:spPr>
            <a:xfrm>
              <a:off x="1414690" y="5579711"/>
              <a:ext cx="684268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1" i="0" u="none" strike="noStrike" kern="1200" cap="none" spc="0" normalizeH="0" baseline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inspection</a:t>
              </a:r>
            </a:p>
          </p:txBody>
        </p:sp>
        <p:pic>
          <p:nvPicPr>
            <p:cNvPr id="128" name="図 127"/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1320" y="5157192"/>
              <a:ext cx="541442" cy="523878"/>
            </a:xfrm>
            <a:prstGeom prst="rect">
              <a:avLst/>
            </a:prstGeom>
          </p:spPr>
        </p:pic>
        <p:sp>
          <p:nvSpPr>
            <p:cNvPr id="4" name="角丸四角形 3"/>
            <p:cNvSpPr/>
            <p:nvPr/>
          </p:nvSpPr>
          <p:spPr>
            <a:xfrm>
              <a:off x="4230348" y="4543989"/>
              <a:ext cx="2846526" cy="1663673"/>
            </a:xfrm>
            <a:prstGeom prst="roundRect">
              <a:avLst>
                <a:gd name="adj" fmla="val 7164"/>
              </a:avLst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" name="角丸四角形 5"/>
            <p:cNvSpPr/>
            <p:nvPr/>
          </p:nvSpPr>
          <p:spPr>
            <a:xfrm>
              <a:off x="7270810" y="4543989"/>
              <a:ext cx="4397004" cy="1663673"/>
            </a:xfrm>
            <a:prstGeom prst="roundRect">
              <a:avLst>
                <a:gd name="adj" fmla="val 7716"/>
              </a:avLst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7" name="正方形/長方形 16"/>
            <p:cNvSpPr/>
            <p:nvPr/>
          </p:nvSpPr>
          <p:spPr>
            <a:xfrm>
              <a:off x="5565268" y="5218588"/>
              <a:ext cx="178311" cy="2831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pic>
          <p:nvPicPr>
            <p:cNvPr id="20" name="Picture 4" descr="C:\Users\071122\Desktop\pictureicon-3d-factory-icon-image-galleries-imagekb-com.jpg"/>
            <p:cNvPicPr>
              <a:picLocks noChangeAspect="1" noChangeArrowheads="1"/>
            </p:cNvPicPr>
            <p:nvPr/>
          </p:nvPicPr>
          <p:blipFill rotWithShape="1">
            <a:blip r:embed="rId7" cstate="screen">
              <a:clrChange>
                <a:clrFrom>
                  <a:srgbClr val="F4F4F4"/>
                </a:clrFrom>
                <a:clrTo>
                  <a:srgbClr val="F4F4F4">
                    <a:alpha val="0"/>
                  </a:srgbClr>
                </a:clrTo>
              </a:clrChange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052365" y="4559286"/>
              <a:ext cx="1097975" cy="720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正方形/長方形 21"/>
            <p:cNvSpPr/>
            <p:nvPr/>
          </p:nvSpPr>
          <p:spPr>
            <a:xfrm>
              <a:off x="8072065" y="5706372"/>
              <a:ext cx="158131" cy="2026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41" name="ホームベース 40"/>
            <p:cNvSpPr/>
            <p:nvPr/>
          </p:nvSpPr>
          <p:spPr>
            <a:xfrm>
              <a:off x="7418260" y="5548996"/>
              <a:ext cx="594303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1" i="0" u="none" strike="noStrike" kern="1200" cap="none" spc="0" normalizeH="0" baseline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Delivery</a:t>
              </a:r>
            </a:p>
          </p:txBody>
        </p:sp>
        <p:sp>
          <p:nvSpPr>
            <p:cNvPr id="42" name="ホームベース 41"/>
            <p:cNvSpPr/>
            <p:nvPr/>
          </p:nvSpPr>
          <p:spPr>
            <a:xfrm>
              <a:off x="8012562" y="5548996"/>
              <a:ext cx="594303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1" i="0" u="none" strike="noStrike" kern="1200" cap="none" spc="0" normalizeH="0" baseline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S-UP</a:t>
              </a:r>
              <a:endParaRPr kumimoji="1" lang="ja-JP" altLang="en-US" sz="9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43" name="ホームベース 42"/>
            <p:cNvSpPr/>
            <p:nvPr/>
          </p:nvSpPr>
          <p:spPr>
            <a:xfrm>
              <a:off x="8606865" y="5548996"/>
              <a:ext cx="594303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1" i="0" u="none" strike="noStrike" kern="1200" cap="none" spc="0" normalizeH="0" baseline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Operation</a:t>
              </a:r>
            </a:p>
          </p:txBody>
        </p:sp>
        <p:sp>
          <p:nvSpPr>
            <p:cNvPr id="44" name="ホームベース 43"/>
            <p:cNvSpPr/>
            <p:nvPr/>
          </p:nvSpPr>
          <p:spPr>
            <a:xfrm>
              <a:off x="9201170" y="5548996"/>
              <a:ext cx="594303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1" i="0" u="none" strike="noStrike" kern="1200" cap="none" spc="0" normalizeH="0" baseline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Maintenance</a:t>
              </a:r>
            </a:p>
          </p:txBody>
        </p:sp>
        <p:grpSp>
          <p:nvGrpSpPr>
            <p:cNvPr id="13" name="グループ化 12"/>
            <p:cNvGrpSpPr/>
            <p:nvPr/>
          </p:nvGrpSpPr>
          <p:grpSpPr>
            <a:xfrm>
              <a:off x="9851340" y="5555086"/>
              <a:ext cx="1701394" cy="361103"/>
              <a:chOff x="11615865" y="3185793"/>
              <a:chExt cx="2652711" cy="372216"/>
            </a:xfrm>
            <a:solidFill>
              <a:schemeClr val="bg1">
                <a:lumMod val="85000"/>
              </a:schemeClr>
            </a:solidFill>
          </p:grpSpPr>
          <p:sp>
            <p:nvSpPr>
              <p:cNvPr id="137" name="ホームベース 136"/>
              <p:cNvSpPr/>
              <p:nvPr/>
            </p:nvSpPr>
            <p:spPr>
              <a:xfrm>
                <a:off x="11615865" y="3185793"/>
                <a:ext cx="870214" cy="372216"/>
              </a:xfrm>
              <a:prstGeom prst="homePlate">
                <a:avLst/>
              </a:prstGeom>
              <a:grpFill/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900" b="1" i="0" u="none" strike="noStrike" kern="1200" cap="none" spc="0" normalizeH="0" baseline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Meiryo" panose="020B0604030504040204" pitchFamily="50" charset="-128"/>
                    <a:cs typeface="Arial"/>
                  </a:rPr>
                  <a:t>Delivery</a:t>
                </a:r>
              </a:p>
            </p:txBody>
          </p:sp>
          <p:sp>
            <p:nvSpPr>
              <p:cNvPr id="139" name="ホームベース 138"/>
              <p:cNvSpPr/>
              <p:nvPr/>
            </p:nvSpPr>
            <p:spPr>
              <a:xfrm>
                <a:off x="12489262" y="3185793"/>
                <a:ext cx="870214" cy="372216"/>
              </a:xfrm>
              <a:prstGeom prst="homePlate">
                <a:avLst/>
              </a:prstGeom>
              <a:grpFill/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ja-JP" sz="900" b="1">
                    <a:solidFill>
                      <a:sysClr val="windowText" lastClr="000000"/>
                    </a:solidFill>
                    <a:latin typeface="Arial"/>
                    <a:ea typeface="Meiryo" panose="020B0604030504040204" pitchFamily="50" charset="-128"/>
                    <a:cs typeface="Arial"/>
                  </a:rPr>
                  <a:t>C</a:t>
                </a:r>
                <a:r>
                  <a:rPr kumimoji="1" lang="ja-JP" altLang="en-US" sz="900" b="1" i="0" u="none" strike="noStrike" kern="1200" cap="none" spc="0" normalizeH="0" baseline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Meiryo" panose="020B0604030504040204" pitchFamily="50" charset="-128"/>
                    <a:cs typeface="Arial"/>
                  </a:rPr>
                  <a:t>hange</a:t>
                </a:r>
              </a:p>
            </p:txBody>
          </p:sp>
          <p:sp>
            <p:nvSpPr>
              <p:cNvPr id="164" name="ホームベース 163"/>
              <p:cNvSpPr/>
              <p:nvPr/>
            </p:nvSpPr>
            <p:spPr>
              <a:xfrm>
                <a:off x="13398362" y="3185793"/>
                <a:ext cx="870214" cy="372216"/>
              </a:xfrm>
              <a:prstGeom prst="homePlate">
                <a:avLst/>
              </a:prstGeom>
              <a:grpFill/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900" b="1" i="0" u="none" strike="noStrike" kern="1200" cap="none" spc="0" normalizeH="0" baseline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Meiryo" panose="020B0604030504040204" pitchFamily="50" charset="-128"/>
                    <a:cs typeface="Arial"/>
                  </a:rPr>
                  <a:t>Operation</a:t>
                </a:r>
              </a:p>
            </p:txBody>
          </p:sp>
        </p:grpSp>
        <p:sp>
          <p:nvSpPr>
            <p:cNvPr id="165" name="正方形/長方形 164"/>
            <p:cNvSpPr/>
            <p:nvPr/>
          </p:nvSpPr>
          <p:spPr>
            <a:xfrm>
              <a:off x="9876282" y="5262596"/>
              <a:ext cx="1684049" cy="240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wrap="none" lIns="90000" bIns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0" cap="none" spc="0" normalizeH="0" baseline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Times New Roman"/>
                </a:rPr>
                <a:t>Parts replacement</a:t>
              </a:r>
            </a:p>
          </p:txBody>
        </p:sp>
        <p:cxnSp>
          <p:nvCxnSpPr>
            <p:cNvPr id="184" name="直線矢印コネクタ 183"/>
            <p:cNvCxnSpPr>
              <a:stCxn id="35" idx="3"/>
              <a:endCxn id="41" idx="1"/>
            </p:cNvCxnSpPr>
            <p:nvPr/>
          </p:nvCxnSpPr>
          <p:spPr>
            <a:xfrm flipV="1">
              <a:off x="6923981" y="5729548"/>
              <a:ext cx="494280" cy="605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線矢印コネクタ 189"/>
            <p:cNvCxnSpPr/>
            <p:nvPr/>
          </p:nvCxnSpPr>
          <p:spPr>
            <a:xfrm>
              <a:off x="7194730" y="5391447"/>
              <a:ext cx="2664000" cy="351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線矢印コネクタ 190"/>
            <p:cNvCxnSpPr>
              <a:stCxn id="35" idx="3"/>
            </p:cNvCxnSpPr>
            <p:nvPr/>
          </p:nvCxnSpPr>
          <p:spPr>
            <a:xfrm flipV="1">
              <a:off x="6923981" y="5394964"/>
              <a:ext cx="266906" cy="3406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グループ化 18"/>
            <p:cNvGrpSpPr/>
            <p:nvPr/>
          </p:nvGrpSpPr>
          <p:grpSpPr>
            <a:xfrm>
              <a:off x="4416474" y="5549107"/>
              <a:ext cx="2507507" cy="367042"/>
              <a:chOff x="4460215" y="2851415"/>
              <a:chExt cx="2377214" cy="367042"/>
            </a:xfrm>
            <a:solidFill>
              <a:schemeClr val="bg1">
                <a:lumMod val="85000"/>
              </a:schemeClr>
            </a:solidFill>
          </p:grpSpPr>
          <p:sp>
            <p:nvSpPr>
              <p:cNvPr id="18" name="正方形/長方形 17"/>
              <p:cNvSpPr/>
              <p:nvPr/>
            </p:nvSpPr>
            <p:spPr>
              <a:xfrm>
                <a:off x="5609658" y="2851415"/>
                <a:ext cx="178311" cy="283177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endParaRPr>
              </a:p>
            </p:txBody>
          </p:sp>
          <p:sp>
            <p:nvSpPr>
              <p:cNvPr id="33" name="ホームベース 32"/>
              <p:cNvSpPr/>
              <p:nvPr/>
            </p:nvSpPr>
            <p:spPr>
              <a:xfrm>
                <a:off x="5054518" y="2857354"/>
                <a:ext cx="594303" cy="361103"/>
              </a:xfrm>
              <a:prstGeom prst="homePlate">
                <a:avLst/>
              </a:prstGeom>
              <a:grpFill/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900" b="1" i="0" u="none" strike="noStrike" kern="1200" cap="none" spc="0" normalizeH="0" baseline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Meiryo" panose="020B0604030504040204" pitchFamily="50" charset="-128"/>
                    <a:cs typeface="Arial"/>
                  </a:rPr>
                  <a:t>assembly</a:t>
                </a:r>
              </a:p>
            </p:txBody>
          </p:sp>
          <p:sp>
            <p:nvSpPr>
              <p:cNvPr id="34" name="ホームベース 33"/>
              <p:cNvSpPr/>
              <p:nvPr/>
            </p:nvSpPr>
            <p:spPr>
              <a:xfrm>
                <a:off x="5648821" y="2857354"/>
                <a:ext cx="594303" cy="361103"/>
              </a:xfrm>
              <a:prstGeom prst="homePlate">
                <a:avLst/>
              </a:prstGeom>
              <a:grpFill/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900" b="1" i="0" u="none" strike="noStrike" kern="1200" cap="none" spc="0" normalizeH="0" baseline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Meiryo" panose="020B0604030504040204" pitchFamily="50" charset="-128"/>
                    <a:cs typeface="Arial"/>
                  </a:rPr>
                  <a:t>inspection</a:t>
                </a:r>
              </a:p>
            </p:txBody>
          </p:sp>
          <p:sp>
            <p:nvSpPr>
              <p:cNvPr id="35" name="ホームベース 34"/>
              <p:cNvSpPr/>
              <p:nvPr/>
            </p:nvSpPr>
            <p:spPr>
              <a:xfrm>
                <a:off x="6243126" y="2857354"/>
                <a:ext cx="594303" cy="361103"/>
              </a:xfrm>
              <a:prstGeom prst="homePlate">
                <a:avLst/>
              </a:prstGeom>
              <a:grpFill/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900" b="1" i="0" u="none" strike="noStrike" kern="1200" cap="none" spc="0" normalizeH="0" baseline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Meiryo" panose="020B0604030504040204" pitchFamily="50" charset="-128"/>
                    <a:cs typeface="Arial"/>
                  </a:rPr>
                  <a:t>shipping</a:t>
                </a:r>
              </a:p>
            </p:txBody>
          </p:sp>
          <p:sp>
            <p:nvSpPr>
              <p:cNvPr id="32" name="ホームベース 31"/>
              <p:cNvSpPr/>
              <p:nvPr/>
            </p:nvSpPr>
            <p:spPr>
              <a:xfrm>
                <a:off x="4460215" y="2857354"/>
                <a:ext cx="594303" cy="361103"/>
              </a:xfrm>
              <a:prstGeom prst="homePlate">
                <a:avLst/>
              </a:prstGeom>
              <a:grpFill/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900" b="1" i="0" u="none" strike="noStrike" kern="1200" cap="none" spc="0" normalizeH="0" baseline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Meiryo" panose="020B0604030504040204" pitchFamily="50" charset="-128"/>
                    <a:cs typeface="Arial"/>
                  </a:rPr>
                  <a:t>Arrival</a:t>
                </a:r>
              </a:p>
            </p:txBody>
          </p:sp>
        </p:grpSp>
        <p:sp>
          <p:nvSpPr>
            <p:cNvPr id="148" name="正方形/長方形 147"/>
            <p:cNvSpPr/>
            <p:nvPr/>
          </p:nvSpPr>
          <p:spPr>
            <a:xfrm>
              <a:off x="9638774" y="3315533"/>
              <a:ext cx="2095142" cy="79208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pic>
          <p:nvPicPr>
            <p:cNvPr id="76" name="図 75"/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17475" y="5205828"/>
              <a:ext cx="288000" cy="426392"/>
            </a:xfrm>
            <a:prstGeom prst="rect">
              <a:avLst/>
            </a:prstGeom>
          </p:spPr>
        </p:pic>
        <p:cxnSp>
          <p:nvCxnSpPr>
            <p:cNvPr id="77" name="直線矢印コネクタ 76"/>
            <p:cNvCxnSpPr>
              <a:stCxn id="143" idx="0"/>
              <a:endCxn id="140" idx="2"/>
            </p:cNvCxnSpPr>
            <p:nvPr/>
          </p:nvCxnSpPr>
          <p:spPr>
            <a:xfrm flipV="1">
              <a:off x="1358654" y="3357213"/>
              <a:ext cx="2243840" cy="1202073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矢印コネクタ 77"/>
            <p:cNvCxnSpPr>
              <a:stCxn id="141" idx="0"/>
              <a:endCxn id="140" idx="3"/>
            </p:cNvCxnSpPr>
            <p:nvPr/>
          </p:nvCxnSpPr>
          <p:spPr>
            <a:xfrm flipV="1">
              <a:off x="3204570" y="3565169"/>
              <a:ext cx="759267" cy="657601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5" name="図 84"/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863393" y="4501622"/>
              <a:ext cx="638368" cy="433809"/>
            </a:xfrm>
            <a:prstGeom prst="rect">
              <a:avLst/>
            </a:prstGeom>
          </p:spPr>
        </p:pic>
        <p:pic>
          <p:nvPicPr>
            <p:cNvPr id="86" name="Picture 2" descr="C:\Users\071122\Desktop\database-5-512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30661" y="3481770"/>
              <a:ext cx="1044000" cy="5186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7" name="カギ線コネクタ 26"/>
            <p:cNvCxnSpPr/>
            <p:nvPr/>
          </p:nvCxnSpPr>
          <p:spPr>
            <a:xfrm>
              <a:off x="3913586" y="5233486"/>
              <a:ext cx="520440" cy="346225"/>
            </a:xfrm>
            <a:prstGeom prst="bentConnector3">
              <a:avLst>
                <a:gd name="adj1" fmla="val 44729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カギ線コネクタ 99"/>
            <p:cNvCxnSpPr/>
            <p:nvPr/>
          </p:nvCxnSpPr>
          <p:spPr>
            <a:xfrm flipV="1">
              <a:off x="2039455" y="5233486"/>
              <a:ext cx="505596" cy="346225"/>
            </a:xfrm>
            <a:prstGeom prst="bentConnector3">
              <a:avLst>
                <a:gd name="adj1" fmla="val 44574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矢印コネクタ 129"/>
            <p:cNvCxnSpPr>
              <a:stCxn id="117" idx="1"/>
            </p:cNvCxnSpPr>
            <p:nvPr/>
          </p:nvCxnSpPr>
          <p:spPr>
            <a:xfrm flipH="1">
              <a:off x="9048137" y="2835678"/>
              <a:ext cx="590637" cy="7257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カギ線コネクタ 130"/>
            <p:cNvCxnSpPr/>
            <p:nvPr/>
          </p:nvCxnSpPr>
          <p:spPr>
            <a:xfrm>
              <a:off x="5967286" y="3374422"/>
              <a:ext cx="0" cy="2174574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テキスト ボックス 83"/>
            <p:cNvSpPr txBox="1"/>
            <p:nvPr/>
          </p:nvSpPr>
          <p:spPr>
            <a:xfrm>
              <a:off x="2778605" y="4280151"/>
              <a:ext cx="858513" cy="234775"/>
            </a:xfrm>
            <a:prstGeom prst="rect">
              <a:avLst/>
            </a:prstGeom>
            <a:noFill/>
          </p:spPr>
          <p:txBody>
            <a:bodyPr wrap="none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4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Assembly</a:t>
              </a:r>
              <a:r>
                <a:rPr kumimoji="0" lang="ja-JP" altLang="en-US" sz="14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14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Supplier</a:t>
              </a:r>
            </a:p>
          </p:txBody>
        </p:sp>
        <p:sp>
          <p:nvSpPr>
            <p:cNvPr id="90" name="ホームベース 89"/>
            <p:cNvSpPr/>
            <p:nvPr/>
          </p:nvSpPr>
          <p:spPr>
            <a:xfrm>
              <a:off x="527583" y="6234363"/>
              <a:ext cx="3702765" cy="434997"/>
            </a:xfrm>
            <a:prstGeom prst="homePlate">
              <a:avLst>
                <a:gd name="adj" fmla="val 5331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>
                    <a:glow rad="101600">
                      <a:srgbClr val="FFFFFF">
                        <a:alpha val="60000"/>
                      </a:srgbClr>
                    </a:glow>
                  </a:effectLst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Parts Information</a:t>
              </a:r>
            </a:p>
          </p:txBody>
        </p:sp>
        <p:sp>
          <p:nvSpPr>
            <p:cNvPr id="154" name="テキスト ボックス 153"/>
            <p:cNvSpPr txBox="1"/>
            <p:nvPr/>
          </p:nvSpPr>
          <p:spPr>
            <a:xfrm>
              <a:off x="5613136" y="3738540"/>
              <a:ext cx="763717" cy="69095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Equipment Inspection</a:t>
              </a:r>
              <a:br>
                <a:rPr kumimoji="1" lang="en-US" altLang="ja-JP" sz="8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</a:br>
              <a:r>
                <a:rPr kumimoji="1" lang="ja-JP" altLang="en-US" sz="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Data</a:t>
              </a:r>
              <a:endParaRPr kumimoji="1" lang="en-US" altLang="ja-JP" sz="8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Device</a:t>
              </a:r>
              <a:endParaRPr kumimoji="1" lang="en-US" altLang="ja-JP" sz="8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Parameters</a:t>
              </a:r>
            </a:p>
          </p:txBody>
        </p:sp>
        <p:cxnSp>
          <p:nvCxnSpPr>
            <p:cNvPr id="88" name="カギ線コネクタ 130"/>
            <p:cNvCxnSpPr/>
            <p:nvPr/>
          </p:nvCxnSpPr>
          <p:spPr>
            <a:xfrm>
              <a:off x="5322415" y="3356992"/>
              <a:ext cx="0" cy="2192004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テキスト ボックス 88"/>
            <p:cNvSpPr txBox="1"/>
            <p:nvPr/>
          </p:nvSpPr>
          <p:spPr>
            <a:xfrm>
              <a:off x="5025302" y="3870496"/>
              <a:ext cx="652196" cy="4270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Equipment Production Data</a:t>
              </a:r>
            </a:p>
          </p:txBody>
        </p:sp>
        <p:cxnSp>
          <p:nvCxnSpPr>
            <p:cNvPr id="94" name="カギ線コネクタ 130"/>
            <p:cNvCxnSpPr/>
            <p:nvPr/>
          </p:nvCxnSpPr>
          <p:spPr>
            <a:xfrm>
              <a:off x="4664784" y="3374422"/>
              <a:ext cx="13245" cy="2174574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テキスト ボックス 96"/>
            <p:cNvSpPr txBox="1"/>
            <p:nvPr/>
          </p:nvSpPr>
          <p:spPr>
            <a:xfrm>
              <a:off x="4386479" y="3921660"/>
              <a:ext cx="592905" cy="16312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Part S/N</a:t>
              </a:r>
              <a:endParaRPr kumimoji="1" lang="ja-JP" altLang="en-US" sz="8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105" name="カギ線コネクタ 130"/>
            <p:cNvCxnSpPr/>
            <p:nvPr/>
          </p:nvCxnSpPr>
          <p:spPr>
            <a:xfrm>
              <a:off x="7057434" y="3346449"/>
              <a:ext cx="1187417" cy="2242791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カギ線コネクタ 130"/>
            <p:cNvCxnSpPr/>
            <p:nvPr/>
          </p:nvCxnSpPr>
          <p:spPr>
            <a:xfrm>
              <a:off x="7697632" y="3367353"/>
              <a:ext cx="1135959" cy="2221887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テキスト ボックス 107"/>
            <p:cNvSpPr txBox="1"/>
            <p:nvPr/>
          </p:nvSpPr>
          <p:spPr>
            <a:xfrm>
              <a:off x="7146877" y="3948490"/>
              <a:ext cx="652196" cy="2950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S-UP</a:t>
              </a:r>
              <a:br>
                <a:rPr kumimoji="1" lang="en-US" altLang="ja-JP" sz="8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</a:br>
              <a:r>
                <a:rPr kumimoji="1" lang="en-US" altLang="ja-JP" sz="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Data</a:t>
              </a:r>
            </a:p>
          </p:txBody>
        </p:sp>
        <p:cxnSp>
          <p:nvCxnSpPr>
            <p:cNvPr id="116" name="カギ線コネクタ 115"/>
            <p:cNvCxnSpPr>
              <a:endCxn id="117" idx="3"/>
            </p:cNvCxnSpPr>
            <p:nvPr/>
          </p:nvCxnSpPr>
          <p:spPr>
            <a:xfrm rot="16200000" flipV="1">
              <a:off x="10092830" y="2854377"/>
              <a:ext cx="652358" cy="614960"/>
            </a:xfrm>
            <a:prstGeom prst="bentConnector2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7" name="Picture 5"/>
            <p:cNvPicPr>
              <a:picLocks noChangeAspect="1" noChangeArrowheads="1"/>
            </p:cNvPicPr>
            <p:nvPr/>
          </p:nvPicPr>
          <p:blipFill>
            <a:blip r:embed="rId10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8774" y="2576445"/>
              <a:ext cx="472755" cy="518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8" name="Picture 2" descr="C:\Users\071122\Desktop\padlock-512.jpg"/>
            <p:cNvPicPr>
              <a:picLocks noChangeAspect="1" noChangeArrowheads="1"/>
            </p:cNvPicPr>
            <p:nvPr/>
          </p:nvPicPr>
          <p:blipFill>
            <a:blip r:embed="rId11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00398" y="2877724"/>
              <a:ext cx="176903" cy="1746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21" name="直線矢印コネクタ 120"/>
            <p:cNvCxnSpPr/>
            <p:nvPr/>
          </p:nvCxnSpPr>
          <p:spPr>
            <a:xfrm flipV="1">
              <a:off x="2098958" y="5735598"/>
              <a:ext cx="2317516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テキスト ボックス 121"/>
            <p:cNvSpPr txBox="1"/>
            <p:nvPr/>
          </p:nvSpPr>
          <p:spPr>
            <a:xfrm>
              <a:off x="9638774" y="3376573"/>
              <a:ext cx="1314686" cy="288883"/>
            </a:xfrm>
            <a:prstGeom prst="rect">
              <a:avLst/>
            </a:prstGeom>
            <a:noFill/>
          </p:spPr>
          <p:txBody>
            <a:bodyPr wrap="none" bIns="4680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2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Customer</a:t>
              </a:r>
              <a:br>
                <a:rPr kumimoji="0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</a:br>
              <a:r>
                <a:rPr kumimoji="0" lang="en-US" altLang="ja-JP" sz="12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Data</a:t>
              </a:r>
              <a:endPara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03" name="テキスト ボックス 102"/>
            <p:cNvSpPr txBox="1"/>
            <p:nvPr/>
          </p:nvSpPr>
          <p:spPr>
            <a:xfrm>
              <a:off x="2296881" y="3664045"/>
              <a:ext cx="1068678" cy="49301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7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Parts Inspection Data</a:t>
              </a:r>
              <a:endPara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7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Parts production data</a:t>
              </a:r>
              <a:endParaRPr kumimoji="1" lang="en-US" altLang="ja-JP" sz="7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7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Production Environment Data</a:t>
              </a:r>
            </a:p>
          </p:txBody>
        </p:sp>
        <p:sp>
          <p:nvSpPr>
            <p:cNvPr id="145" name="円柱 144"/>
            <p:cNvSpPr/>
            <p:nvPr/>
          </p:nvSpPr>
          <p:spPr>
            <a:xfrm>
              <a:off x="2460780" y="2331442"/>
              <a:ext cx="6617532" cy="1051913"/>
            </a:xfrm>
            <a:prstGeom prst="can">
              <a:avLst>
                <a:gd name="adj" fmla="val 27628"/>
              </a:avLst>
            </a:prstGeom>
            <a:solidFill>
              <a:schemeClr val="bg1"/>
            </a:solidFill>
            <a:ln w="19050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18000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44" name="テキスト ボックス 143"/>
            <p:cNvSpPr txBox="1"/>
            <p:nvPr/>
          </p:nvSpPr>
          <p:spPr>
            <a:xfrm>
              <a:off x="655444" y="4596777"/>
              <a:ext cx="1424675" cy="25070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Part Supplier</a:t>
              </a:r>
            </a:p>
          </p:txBody>
        </p:sp>
        <p:sp>
          <p:nvSpPr>
            <p:cNvPr id="25" name="テキスト ボックス 24"/>
            <p:cNvSpPr txBox="1"/>
            <p:nvPr/>
          </p:nvSpPr>
          <p:spPr>
            <a:xfrm>
              <a:off x="4347725" y="4623264"/>
              <a:ext cx="474979" cy="2888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bIns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20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TEL</a:t>
              </a:r>
            </a:p>
          </p:txBody>
        </p:sp>
        <p:pic>
          <p:nvPicPr>
            <p:cNvPr id="101" name="Picture 2" descr="FACTORY green"/>
            <p:cNvPicPr>
              <a:picLocks noChangeAspect="1" noChangeArrowheads="1"/>
            </p:cNvPicPr>
            <p:nvPr/>
          </p:nvPicPr>
          <p:blipFill>
            <a:blip r:embed="rId12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4947" y="4326698"/>
              <a:ext cx="1620000" cy="1190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8" name="カギ線コネクタ 130"/>
            <p:cNvCxnSpPr/>
            <p:nvPr/>
          </p:nvCxnSpPr>
          <p:spPr>
            <a:xfrm>
              <a:off x="8244851" y="3319154"/>
              <a:ext cx="1175955" cy="2270086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テキスト ボックス 95"/>
            <p:cNvSpPr txBox="1"/>
            <p:nvPr/>
          </p:nvSpPr>
          <p:spPr>
            <a:xfrm>
              <a:off x="8395567" y="3923276"/>
              <a:ext cx="881704" cy="4270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Maintenance</a:t>
              </a:r>
              <a:br>
                <a:rPr kumimoji="1" lang="en-US" altLang="ja-JP" sz="8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</a:br>
              <a:r>
                <a:rPr kumimoji="1" lang="ja-JP" altLang="en-US" sz="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Data</a:t>
              </a:r>
              <a:endParaRPr kumimoji="1" lang="en-US" altLang="ja-JP" sz="8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Defect Data</a:t>
              </a:r>
            </a:p>
          </p:txBody>
        </p:sp>
        <p:sp>
          <p:nvSpPr>
            <p:cNvPr id="21" name="テキスト ボックス 20"/>
            <p:cNvSpPr txBox="1"/>
            <p:nvPr/>
          </p:nvSpPr>
          <p:spPr>
            <a:xfrm>
              <a:off x="7500352" y="4630327"/>
              <a:ext cx="1547785" cy="25722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bIns="4680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Customer FAB</a:t>
              </a:r>
              <a:endPara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76" name="正方形/長方形 175"/>
            <p:cNvSpPr/>
            <p:nvPr/>
          </p:nvSpPr>
          <p:spPr>
            <a:xfrm>
              <a:off x="117748" y="1056332"/>
              <a:ext cx="11979178" cy="40165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78" name="楕円 177"/>
            <p:cNvSpPr/>
            <p:nvPr/>
          </p:nvSpPr>
          <p:spPr>
            <a:xfrm>
              <a:off x="2638028" y="1042576"/>
              <a:ext cx="1424544" cy="43815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FCN・SI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Parts</a:t>
              </a:r>
              <a:endPara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tracking</a:t>
              </a:r>
            </a:p>
          </p:txBody>
        </p:sp>
        <p:sp>
          <p:nvSpPr>
            <p:cNvPr id="166" name="正方形/長方形 165"/>
            <p:cNvSpPr/>
            <p:nvPr/>
          </p:nvSpPr>
          <p:spPr>
            <a:xfrm>
              <a:off x="145180" y="2466621"/>
              <a:ext cx="1647394" cy="20943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Data Infrastructure</a:t>
              </a:r>
            </a:p>
          </p:txBody>
        </p:sp>
        <p:sp>
          <p:nvSpPr>
            <p:cNvPr id="183" name="正方形/長方形 182"/>
            <p:cNvSpPr/>
            <p:nvPr/>
          </p:nvSpPr>
          <p:spPr>
            <a:xfrm>
              <a:off x="145180" y="1539777"/>
              <a:ext cx="1647394" cy="20943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Data Utilization Platform</a:t>
              </a:r>
            </a:p>
          </p:txBody>
        </p:sp>
        <p:sp>
          <p:nvSpPr>
            <p:cNvPr id="185" name="正方形/長方形 184"/>
            <p:cNvSpPr/>
            <p:nvPr/>
          </p:nvSpPr>
          <p:spPr>
            <a:xfrm>
              <a:off x="145180" y="1095241"/>
              <a:ext cx="1647394" cy="20943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ja-JP" sz="12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A</a:t>
              </a:r>
              <a:r>
                <a:rPr kumimoji="1" lang="ja-JP" altLang="en-US" sz="12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pplication</a:t>
              </a:r>
            </a:p>
          </p:txBody>
        </p:sp>
        <p:cxnSp>
          <p:nvCxnSpPr>
            <p:cNvPr id="186" name="カギ線コネクタ 130"/>
            <p:cNvCxnSpPr>
              <a:endCxn id="129" idx="4"/>
            </p:cNvCxnSpPr>
            <p:nvPr/>
          </p:nvCxnSpPr>
          <p:spPr>
            <a:xfrm flipH="1">
              <a:off x="3556929" y="2202899"/>
              <a:ext cx="1150837" cy="445342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カギ線コネクタ 130"/>
            <p:cNvCxnSpPr>
              <a:endCxn id="123" idx="1"/>
            </p:cNvCxnSpPr>
            <p:nvPr/>
          </p:nvCxnSpPr>
          <p:spPr>
            <a:xfrm flipH="1">
              <a:off x="4563114" y="2261374"/>
              <a:ext cx="416271" cy="563913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カギ線コネクタ 130"/>
            <p:cNvCxnSpPr>
              <a:endCxn id="136" idx="1"/>
            </p:cNvCxnSpPr>
            <p:nvPr/>
          </p:nvCxnSpPr>
          <p:spPr>
            <a:xfrm>
              <a:off x="5805901" y="2213605"/>
              <a:ext cx="13935" cy="182192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カギ線コネクタ 130"/>
            <p:cNvCxnSpPr>
              <a:endCxn id="133" idx="1"/>
            </p:cNvCxnSpPr>
            <p:nvPr/>
          </p:nvCxnSpPr>
          <p:spPr>
            <a:xfrm>
              <a:off x="6477591" y="2222107"/>
              <a:ext cx="883281" cy="603180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楕円 109"/>
            <p:cNvSpPr/>
            <p:nvPr/>
          </p:nvSpPr>
          <p:spPr>
            <a:xfrm>
              <a:off x="4331078" y="1040309"/>
              <a:ext cx="1424544" cy="43815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ja-JP" sz="105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P</a:t>
              </a:r>
              <a:r>
                <a:rPr kumimoji="1" lang="ja-JP" altLang="en-US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arts</a:t>
              </a:r>
              <a:endPara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Shelf-life</a:t>
              </a:r>
              <a:r>
                <a:rPr kumimoji="1" lang="ja-JP" altLang="en-US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 Management</a:t>
              </a:r>
            </a:p>
          </p:txBody>
        </p:sp>
        <p:sp>
          <p:nvSpPr>
            <p:cNvPr id="114" name="楕円 113"/>
            <p:cNvSpPr/>
            <p:nvPr/>
          </p:nvSpPr>
          <p:spPr>
            <a:xfrm>
              <a:off x="6037240" y="1057649"/>
              <a:ext cx="1424544" cy="43815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Part inspection data extraction</a:t>
              </a:r>
              <a:endParaRPr kumimoji="1" lang="ja-JP" altLang="en-US" sz="105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15" name="楕円 114"/>
            <p:cNvSpPr/>
            <p:nvPr/>
          </p:nvSpPr>
          <p:spPr>
            <a:xfrm>
              <a:off x="7707586" y="1050400"/>
              <a:ext cx="1424544" cy="438155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Tool-to-Tool data analysis</a:t>
              </a:r>
              <a:endParaRPr kumimoji="1" lang="ja-JP" altLang="en-US" sz="105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23" name="円柱 122"/>
            <p:cNvSpPr/>
            <p:nvPr/>
          </p:nvSpPr>
          <p:spPr>
            <a:xfrm>
              <a:off x="4117340" y="2825287"/>
              <a:ext cx="891548" cy="473826"/>
            </a:xfrm>
            <a:prstGeom prst="can">
              <a:avLst>
                <a:gd name="adj" fmla="val 27628"/>
              </a:avLst>
            </a:prstGeom>
            <a:solidFill>
              <a:schemeClr val="accent2">
                <a:lumMod val="60000"/>
                <a:lumOff val="40000"/>
              </a:schemeClr>
            </a:solidFill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tIns="18000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SCM</a:t>
              </a:r>
            </a:p>
          </p:txBody>
        </p:sp>
        <p:sp>
          <p:nvSpPr>
            <p:cNvPr id="124" name="円柱 123"/>
            <p:cNvSpPr/>
            <p:nvPr/>
          </p:nvSpPr>
          <p:spPr>
            <a:xfrm>
              <a:off x="2665381" y="2825287"/>
              <a:ext cx="891548" cy="473826"/>
            </a:xfrm>
            <a:prstGeom prst="can">
              <a:avLst>
                <a:gd name="adj" fmla="val 27628"/>
              </a:avLst>
            </a:prstGeom>
            <a:solidFill>
              <a:schemeClr val="accent2">
                <a:lumMod val="60000"/>
                <a:lumOff val="40000"/>
              </a:schemeClr>
            </a:solidFill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tIns="18000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JOE</a:t>
              </a:r>
            </a:p>
          </p:txBody>
        </p:sp>
        <p:sp>
          <p:nvSpPr>
            <p:cNvPr id="129" name="円柱 128"/>
            <p:cNvSpPr/>
            <p:nvPr/>
          </p:nvSpPr>
          <p:spPr>
            <a:xfrm>
              <a:off x="2665381" y="2411328"/>
              <a:ext cx="891548" cy="473826"/>
            </a:xfrm>
            <a:prstGeom prst="can">
              <a:avLst>
                <a:gd name="adj" fmla="val 27628"/>
              </a:avLst>
            </a:prstGeom>
            <a:solidFill>
              <a:schemeClr val="accent2">
                <a:lumMod val="60000"/>
                <a:lumOff val="40000"/>
              </a:schemeClr>
            </a:solidFill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tIns="18000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IPDB</a:t>
              </a:r>
            </a:p>
          </p:txBody>
        </p:sp>
        <p:sp>
          <p:nvSpPr>
            <p:cNvPr id="132" name="円柱 131"/>
            <p:cNvSpPr/>
            <p:nvPr/>
          </p:nvSpPr>
          <p:spPr>
            <a:xfrm>
              <a:off x="5049964" y="2825287"/>
              <a:ext cx="891548" cy="473826"/>
            </a:xfrm>
            <a:prstGeom prst="can">
              <a:avLst>
                <a:gd name="adj" fmla="val 27628"/>
              </a:avLst>
            </a:prstGeom>
            <a:solidFill>
              <a:schemeClr val="accent2">
                <a:lumMod val="60000"/>
                <a:lumOff val="40000"/>
              </a:schemeClr>
            </a:solidFill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tIns="18000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WMS</a:t>
              </a:r>
            </a:p>
          </p:txBody>
        </p:sp>
        <p:sp>
          <p:nvSpPr>
            <p:cNvPr id="133" name="円柱 132"/>
            <p:cNvSpPr/>
            <p:nvPr/>
          </p:nvSpPr>
          <p:spPr>
            <a:xfrm>
              <a:off x="6915098" y="2825287"/>
              <a:ext cx="891548" cy="473826"/>
            </a:xfrm>
            <a:prstGeom prst="can">
              <a:avLst>
                <a:gd name="adj" fmla="val 27628"/>
              </a:avLst>
            </a:prstGeom>
            <a:solidFill>
              <a:schemeClr val="accent2">
                <a:lumMod val="60000"/>
                <a:lumOff val="40000"/>
              </a:schemeClr>
            </a:solidFill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tIns="18000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Merit</a:t>
              </a:r>
            </a:p>
          </p:txBody>
        </p:sp>
        <p:sp>
          <p:nvSpPr>
            <p:cNvPr id="135" name="円柱 134"/>
            <p:cNvSpPr/>
            <p:nvPr/>
          </p:nvSpPr>
          <p:spPr>
            <a:xfrm>
              <a:off x="7946679" y="2825287"/>
              <a:ext cx="891548" cy="473826"/>
            </a:xfrm>
            <a:prstGeom prst="can">
              <a:avLst>
                <a:gd name="adj" fmla="val 27628"/>
              </a:avLst>
            </a:prstGeom>
            <a:solidFill>
              <a:schemeClr val="accent2">
                <a:lumMod val="60000"/>
                <a:lumOff val="40000"/>
              </a:schemeClr>
            </a:solidFill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tIns="18000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2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Service CRM</a:t>
              </a:r>
            </a:p>
          </p:txBody>
        </p:sp>
        <p:sp>
          <p:nvSpPr>
            <p:cNvPr id="136" name="円柱 135"/>
            <p:cNvSpPr/>
            <p:nvPr/>
          </p:nvSpPr>
          <p:spPr>
            <a:xfrm>
              <a:off x="5374062" y="2395797"/>
              <a:ext cx="891548" cy="473826"/>
            </a:xfrm>
            <a:prstGeom prst="can">
              <a:avLst>
                <a:gd name="adj" fmla="val 27628"/>
              </a:avLst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tIns="18000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SAP</a:t>
              </a:r>
            </a:p>
          </p:txBody>
        </p:sp>
        <p:sp>
          <p:nvSpPr>
            <p:cNvPr id="138" name="円柱 137"/>
            <p:cNvSpPr/>
            <p:nvPr/>
          </p:nvSpPr>
          <p:spPr>
            <a:xfrm>
              <a:off x="5990128" y="2825287"/>
              <a:ext cx="891548" cy="473826"/>
            </a:xfrm>
            <a:prstGeom prst="can">
              <a:avLst>
                <a:gd name="adj" fmla="val 27628"/>
              </a:avLst>
            </a:prstGeom>
            <a:solidFill>
              <a:schemeClr val="accent2">
                <a:lumMod val="60000"/>
                <a:lumOff val="40000"/>
              </a:schemeClr>
            </a:solidFill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tIns="18000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MES</a:t>
              </a:r>
            </a:p>
          </p:txBody>
        </p:sp>
        <p:sp>
          <p:nvSpPr>
            <p:cNvPr id="140" name="円柱 139"/>
            <p:cNvSpPr/>
            <p:nvPr/>
          </p:nvSpPr>
          <p:spPr>
            <a:xfrm>
              <a:off x="3602494" y="3149257"/>
              <a:ext cx="722685" cy="415912"/>
            </a:xfrm>
            <a:prstGeom prst="can">
              <a:avLst>
                <a:gd name="adj" fmla="val 27628"/>
              </a:avLst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18000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4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DCS</a:t>
              </a:r>
            </a:p>
          </p:txBody>
        </p:sp>
        <p:pic>
          <p:nvPicPr>
            <p:cNvPr id="109" name="Picture 5"/>
            <p:cNvPicPr>
              <a:picLocks noChangeAspect="1" noChangeArrowheads="1"/>
            </p:cNvPicPr>
            <p:nvPr/>
          </p:nvPicPr>
          <p:blipFill>
            <a:blip r:embed="rId10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74" y="3325874"/>
              <a:ext cx="472755" cy="518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2" descr="C:\Users\071122\Desktop\padlock-512.jpg"/>
            <p:cNvPicPr>
              <a:picLocks noChangeAspect="1" noChangeArrowheads="1"/>
            </p:cNvPicPr>
            <p:nvPr/>
          </p:nvPicPr>
          <p:blipFill>
            <a:blip r:embed="rId11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94260" y="3598617"/>
              <a:ext cx="176903" cy="1746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2" name="テキスト ボックス 111"/>
            <p:cNvSpPr txBox="1"/>
            <p:nvPr/>
          </p:nvSpPr>
          <p:spPr>
            <a:xfrm>
              <a:off x="7766138" y="3982625"/>
              <a:ext cx="652196" cy="2950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Operation</a:t>
              </a:r>
              <a:br>
                <a:rPr kumimoji="1" lang="en-US" altLang="ja-JP" sz="8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</a:br>
              <a:r>
                <a:rPr kumimoji="1" lang="ja-JP" altLang="en-US" sz="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Data</a:t>
              </a:r>
            </a:p>
          </p:txBody>
        </p:sp>
        <p:cxnSp>
          <p:nvCxnSpPr>
            <p:cNvPr id="142" name="カギ線コネクタ 130"/>
            <p:cNvCxnSpPr/>
            <p:nvPr/>
          </p:nvCxnSpPr>
          <p:spPr>
            <a:xfrm>
              <a:off x="8965553" y="3307205"/>
              <a:ext cx="1678998" cy="1941446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カギ線コネクタ 130"/>
            <p:cNvCxnSpPr>
              <a:stCxn id="86" idx="2"/>
            </p:cNvCxnSpPr>
            <p:nvPr/>
          </p:nvCxnSpPr>
          <p:spPr>
            <a:xfrm>
              <a:off x="10752661" y="4000426"/>
              <a:ext cx="18235" cy="1422790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テキスト ボックス 119"/>
            <p:cNvSpPr txBox="1"/>
            <p:nvPr/>
          </p:nvSpPr>
          <p:spPr>
            <a:xfrm>
              <a:off x="10378961" y="4249061"/>
              <a:ext cx="735788" cy="16312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Part S/N</a:t>
              </a:r>
            </a:p>
          </p:txBody>
        </p:sp>
        <p:sp>
          <p:nvSpPr>
            <p:cNvPr id="153" name="テキスト ボックス 152"/>
            <p:cNvSpPr txBox="1"/>
            <p:nvPr/>
          </p:nvSpPr>
          <p:spPr>
            <a:xfrm>
              <a:off x="9395599" y="4118418"/>
              <a:ext cx="735788" cy="16312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1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Part S/N</a:t>
              </a:r>
            </a:p>
          </p:txBody>
        </p:sp>
        <p:cxnSp>
          <p:nvCxnSpPr>
            <p:cNvPr id="155" name="カギ線コネクタ 130"/>
            <p:cNvCxnSpPr>
              <a:endCxn id="135" idx="1"/>
            </p:cNvCxnSpPr>
            <p:nvPr/>
          </p:nvCxnSpPr>
          <p:spPr>
            <a:xfrm>
              <a:off x="7165195" y="2183103"/>
              <a:ext cx="1227258" cy="642184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カギ線コネクタ 130"/>
            <p:cNvCxnSpPr/>
            <p:nvPr/>
          </p:nvCxnSpPr>
          <p:spPr>
            <a:xfrm flipH="1">
              <a:off x="5220870" y="2247577"/>
              <a:ext cx="223059" cy="579057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カギ線コネクタ 130"/>
            <p:cNvCxnSpPr>
              <a:endCxn id="138" idx="1"/>
            </p:cNvCxnSpPr>
            <p:nvPr/>
          </p:nvCxnSpPr>
          <p:spPr>
            <a:xfrm>
              <a:off x="6153493" y="2222107"/>
              <a:ext cx="282409" cy="603180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209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B064C07D-E852-6E31-B8B3-495FE7B8F1A7}"/>
              </a:ext>
            </a:extLst>
          </p:cNvPr>
          <p:cNvCxnSpPr>
            <a:cxnSpLocks/>
          </p:cNvCxnSpPr>
          <p:nvPr/>
        </p:nvCxnSpPr>
        <p:spPr>
          <a:xfrm>
            <a:off x="8192231" y="1824484"/>
            <a:ext cx="0" cy="4576959"/>
          </a:xfrm>
          <a:prstGeom prst="line">
            <a:avLst/>
          </a:prstGeom>
          <a:ln w="381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F5269B9-E77D-E06E-9CC2-294ED9D90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4221" y="404298"/>
            <a:ext cx="10918493" cy="530368"/>
          </a:xfrm>
        </p:spPr>
        <p:txBody>
          <a:bodyPr/>
          <a:lstStyle/>
          <a:p>
            <a:r>
              <a:rPr kumimoji="1" lang="ja-JP" altLang="en-US"/>
              <a:t>Steps to </a:t>
            </a:r>
            <a:r>
              <a:rPr kumimoji="1" lang="en-US" altLang="ja-JP"/>
              <a:t>A</a:t>
            </a:r>
            <a:r>
              <a:rPr kumimoji="1" lang="ja-JP" altLang="en-US"/>
              <a:t>chieving </a:t>
            </a:r>
            <a:r>
              <a:rPr lang="en-US" altLang="ja-JP"/>
              <a:t>T</a:t>
            </a:r>
            <a:r>
              <a:rPr kumimoji="1" lang="ja-JP" altLang="en-US"/>
              <a:t>raceability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C5A4CEE-A9AF-E9CC-4C94-A19156DC8742}"/>
              </a:ext>
            </a:extLst>
          </p:cNvPr>
          <p:cNvCxnSpPr>
            <a:cxnSpLocks/>
          </p:cNvCxnSpPr>
          <p:nvPr/>
        </p:nvCxnSpPr>
        <p:spPr>
          <a:xfrm>
            <a:off x="5419589" y="2002002"/>
            <a:ext cx="0" cy="4399441"/>
          </a:xfrm>
          <a:prstGeom prst="line">
            <a:avLst/>
          </a:prstGeom>
          <a:ln w="381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2C8230A-0E2F-4C77-4024-0F77C8DF4DE9}"/>
              </a:ext>
            </a:extLst>
          </p:cNvPr>
          <p:cNvCxnSpPr>
            <a:cxnSpLocks/>
          </p:cNvCxnSpPr>
          <p:nvPr/>
        </p:nvCxnSpPr>
        <p:spPr>
          <a:xfrm>
            <a:off x="3995072" y="1991602"/>
            <a:ext cx="0" cy="4409841"/>
          </a:xfrm>
          <a:prstGeom prst="line">
            <a:avLst/>
          </a:prstGeom>
          <a:ln w="381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A02A056-8897-BFD2-22D2-FE784382A12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2722692" y="1991602"/>
            <a:ext cx="12620" cy="4409841"/>
          </a:xfrm>
          <a:prstGeom prst="line">
            <a:avLst/>
          </a:prstGeom>
          <a:ln w="381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ホームベース 4">
            <a:extLst>
              <a:ext uri="{FF2B5EF4-FFF2-40B4-BE49-F238E27FC236}">
                <a16:creationId xmlns:a16="http://schemas.microsoft.com/office/drawing/2014/main" id="{A3B2B511-EE15-8C6F-A5C4-B6CF917D715E}"/>
              </a:ext>
            </a:extLst>
          </p:cNvPr>
          <p:cNvSpPr/>
          <p:nvPr/>
        </p:nvSpPr>
        <p:spPr>
          <a:xfrm>
            <a:off x="2735312" y="4639327"/>
            <a:ext cx="8582394" cy="756000"/>
          </a:xfrm>
          <a:prstGeom prst="homePlate">
            <a:avLst>
              <a:gd name="adj" fmla="val 9502"/>
            </a:avLst>
          </a:prstGeom>
          <a:solidFill>
            <a:srgbClr val="1DB5DF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Parts location tracking, inspection data and manufacturing </a:t>
            </a:r>
            <a:r>
              <a:rPr lang="en-US" altLang="ja-JP" sz="16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work</a:t>
            </a:r>
            <a:r>
              <a:rPr lang="ja-JP" altLang="en-US" sz="16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6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history</a:t>
            </a:r>
            <a:r>
              <a:rPr kumimoji="1" lang="ja-JP" altLang="en-US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, </a:t>
            </a:r>
            <a:r>
              <a:rPr kumimoji="1" lang="en-US" altLang="ja-JP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shelf-life </a:t>
            </a:r>
            <a:r>
              <a:rPr kumimoji="1" lang="ja-JP" altLang="en-US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management</a:t>
            </a:r>
          </a:p>
        </p:txBody>
      </p:sp>
      <p:sp>
        <p:nvSpPr>
          <p:cNvPr id="4" name="ホームベース 5">
            <a:extLst>
              <a:ext uri="{FF2B5EF4-FFF2-40B4-BE49-F238E27FC236}">
                <a16:creationId xmlns:a16="http://schemas.microsoft.com/office/drawing/2014/main" id="{55F8FA32-F1A8-B55D-E217-0C2A462CAC37}"/>
              </a:ext>
            </a:extLst>
          </p:cNvPr>
          <p:cNvSpPr/>
          <p:nvPr/>
        </p:nvSpPr>
        <p:spPr>
          <a:xfrm>
            <a:off x="1323210" y="5467925"/>
            <a:ext cx="9994495" cy="756000"/>
          </a:xfrm>
          <a:prstGeom prst="homePlate">
            <a:avLst>
              <a:gd name="adj" fmla="val 9502"/>
            </a:avLst>
          </a:prstGeom>
          <a:solidFill>
            <a:srgbClr val="8ED018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Automatic collection of part inspection data</a:t>
            </a:r>
          </a:p>
        </p:txBody>
      </p:sp>
      <p:sp>
        <p:nvSpPr>
          <p:cNvPr id="5" name="ホームベース 7">
            <a:extLst>
              <a:ext uri="{FF2B5EF4-FFF2-40B4-BE49-F238E27FC236}">
                <a16:creationId xmlns:a16="http://schemas.microsoft.com/office/drawing/2014/main" id="{1F021443-75E7-1524-7B8D-4C4381D20766}"/>
              </a:ext>
            </a:extLst>
          </p:cNvPr>
          <p:cNvSpPr/>
          <p:nvPr/>
        </p:nvSpPr>
        <p:spPr>
          <a:xfrm>
            <a:off x="4021778" y="3826771"/>
            <a:ext cx="7295928" cy="756000"/>
          </a:xfrm>
          <a:prstGeom prst="homePlate">
            <a:avLst>
              <a:gd name="adj" fmla="val 9502"/>
            </a:avLst>
          </a:prstGeom>
          <a:solidFill>
            <a:srgbClr val="0070C0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Understand service work history and parts replacement history</a:t>
            </a:r>
          </a:p>
        </p:txBody>
      </p:sp>
      <p:sp>
        <p:nvSpPr>
          <p:cNvPr id="6" name="ホームベース 8">
            <a:extLst>
              <a:ext uri="{FF2B5EF4-FFF2-40B4-BE49-F238E27FC236}">
                <a16:creationId xmlns:a16="http://schemas.microsoft.com/office/drawing/2014/main" id="{AD4589C4-7BE3-235C-4105-9B45110E06B1}"/>
              </a:ext>
            </a:extLst>
          </p:cNvPr>
          <p:cNvSpPr/>
          <p:nvPr/>
        </p:nvSpPr>
        <p:spPr>
          <a:xfrm>
            <a:off x="5443652" y="3001861"/>
            <a:ext cx="5874053" cy="756000"/>
          </a:xfrm>
          <a:prstGeom prst="homePlate">
            <a:avLst>
              <a:gd name="adj" fmla="val 9502"/>
            </a:avLst>
          </a:prstGeom>
          <a:solidFill>
            <a:schemeClr val="accent2"/>
          </a:solidFill>
          <a:ln w="28575">
            <a:noFill/>
            <a:prstDash val="dash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Step3</a:t>
            </a:r>
            <a:r>
              <a:rPr lang="ja-JP" altLang="en-US" sz="14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1" lang="en-US" altLang="ja-JP" sz="1400" b="1" i="0" u="none" strike="noStrike" kern="1200" cap="none" spc="0" normalizeH="0" baseline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SmallStart</a:t>
            </a:r>
            <a:r>
              <a:rPr kumimoji="1" lang="en-US" altLang="ja-JP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(Trial)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Tool-to-tool</a:t>
            </a:r>
            <a:r>
              <a:rPr kumimoji="1" lang="ja-JP" altLang="en-US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comparison and analysis support</a:t>
            </a:r>
            <a:endParaRPr kumimoji="1" lang="en-US" altLang="ja-JP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3" name="ホームベース 8">
            <a:extLst>
              <a:ext uri="{FF2B5EF4-FFF2-40B4-BE49-F238E27FC236}">
                <a16:creationId xmlns:a16="http://schemas.microsoft.com/office/drawing/2014/main" id="{EE394E95-6D19-65E9-A6B3-4594B1DAEB0A}"/>
              </a:ext>
            </a:extLst>
          </p:cNvPr>
          <p:cNvSpPr/>
          <p:nvPr/>
        </p:nvSpPr>
        <p:spPr>
          <a:xfrm>
            <a:off x="8221579" y="2133414"/>
            <a:ext cx="3023937" cy="756000"/>
          </a:xfrm>
          <a:prstGeom prst="homePlate">
            <a:avLst>
              <a:gd name="adj" fmla="val 9502"/>
            </a:avLst>
          </a:prstGeom>
          <a:solidFill>
            <a:schemeClr val="bg1">
              <a:lumMod val="65000"/>
            </a:schemeClr>
          </a:solidFill>
          <a:ln w="28575">
            <a:noFill/>
            <a:prstDash val="dash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Step3 Full-Scale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Tool-to-tool</a:t>
            </a:r>
            <a:r>
              <a:rPr kumimoji="1" lang="ja-JP" altLang="en-US" sz="12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comparison and analysis support </a:t>
            </a:r>
            <a:r>
              <a:rPr kumimoji="1" lang="en-US" altLang="ja-JP" sz="12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(TBD)</a:t>
            </a:r>
            <a:endParaRPr kumimoji="1" lang="en-US" altLang="ja-JP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047CD0C-B0AF-F56F-A4E9-7B3CB3C20E4C}"/>
              </a:ext>
            </a:extLst>
          </p:cNvPr>
          <p:cNvSpPr/>
          <p:nvPr/>
        </p:nvSpPr>
        <p:spPr>
          <a:xfrm>
            <a:off x="2114444" y="1402389"/>
            <a:ext cx="1216496" cy="5892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1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G1P &amp; MES </a:t>
            </a:r>
            <a:r>
              <a:rPr kumimoji="1" lang="en-US" altLang="ja-JP" sz="1100" b="1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implementation</a:t>
            </a:r>
            <a:endParaRPr kumimoji="1" lang="en-US" altLang="ja-JP" sz="1200" b="1" i="0" u="none" strike="noStrike" kern="1200" cap="none" spc="0" normalizeH="0" baseline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6E352AC-4D9D-39EF-56B3-BEE84B353481}"/>
              </a:ext>
            </a:extLst>
          </p:cNvPr>
          <p:cNvSpPr/>
          <p:nvPr/>
        </p:nvSpPr>
        <p:spPr>
          <a:xfrm>
            <a:off x="3426929" y="1402389"/>
            <a:ext cx="1216496" cy="5892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1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ServiceCRM Integration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D202318-78E9-4862-D26D-92F21A388ADD}"/>
              </a:ext>
            </a:extLst>
          </p:cNvPr>
          <p:cNvSpPr/>
          <p:nvPr/>
        </p:nvSpPr>
        <p:spPr>
          <a:xfrm>
            <a:off x="4762450" y="1412789"/>
            <a:ext cx="1389698" cy="5892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1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Tool</a:t>
            </a:r>
            <a:r>
              <a:rPr kumimoji="1" lang="ja-JP" altLang="en-US" sz="1200" b="1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configuration data linkage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B43D23AF-D364-FFA7-5BC5-D66D7E2CB3EF}"/>
              </a:ext>
            </a:extLst>
          </p:cNvPr>
          <p:cNvCxnSpPr/>
          <p:nvPr/>
        </p:nvCxnSpPr>
        <p:spPr>
          <a:xfrm>
            <a:off x="1171073" y="6401443"/>
            <a:ext cx="10562061" cy="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76B99CED-41EC-76D3-4F7E-F9DB9549A36D}"/>
              </a:ext>
            </a:extLst>
          </p:cNvPr>
          <p:cNvCxnSpPr>
            <a:cxnSpLocks/>
          </p:cNvCxnSpPr>
          <p:nvPr/>
        </p:nvCxnSpPr>
        <p:spPr>
          <a:xfrm flipV="1">
            <a:off x="1203158" y="1292474"/>
            <a:ext cx="0" cy="5141054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BFDD83E-BFB0-75E7-6013-009F9AF5A1B9}"/>
              </a:ext>
            </a:extLst>
          </p:cNvPr>
          <p:cNvSpPr txBox="1"/>
          <p:nvPr/>
        </p:nvSpPr>
        <p:spPr>
          <a:xfrm>
            <a:off x="10722670" y="6454123"/>
            <a:ext cx="660245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600" b="1">
                <a:solidFill>
                  <a:srgbClr val="FFFFFF">
                    <a:lumMod val="50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T</a:t>
            </a:r>
            <a:r>
              <a:rPr kumimoji="1" lang="ja-JP" altLang="en-US" sz="1600" b="1" i="0" u="none" strike="noStrike" kern="1200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ime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3E4DC80-DB30-6F44-12C4-65E67DDD36F7}"/>
              </a:ext>
            </a:extLst>
          </p:cNvPr>
          <p:cNvSpPr txBox="1"/>
          <p:nvPr/>
        </p:nvSpPr>
        <p:spPr>
          <a:xfrm>
            <a:off x="152870" y="1586503"/>
            <a:ext cx="105028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600" b="1">
                <a:solidFill>
                  <a:srgbClr val="FFFFFF">
                    <a:lumMod val="50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V</a:t>
            </a:r>
            <a:r>
              <a:rPr kumimoji="1" lang="ja-JP" altLang="en-US" sz="1600" b="1" i="0" u="none" strike="noStrike" kern="1200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alue</a:t>
            </a:r>
            <a:endParaRPr kumimoji="1" lang="en-US" altLang="ja-JP" sz="16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600" b="1" noProof="0">
                <a:solidFill>
                  <a:srgbClr val="FFFFFF">
                    <a:lumMod val="50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&amp;</a:t>
            </a:r>
            <a:endParaRPr kumimoji="1" lang="en-US" altLang="ja-JP" sz="16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</a:t>
            </a:r>
            <a:r>
              <a:rPr kumimoji="1" lang="ja-JP" altLang="en-US" sz="1600" b="1" i="0" u="none" strike="noStrike" kern="1200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unction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494183C-C88C-BA8A-F191-5EA5FE77C839}"/>
              </a:ext>
            </a:extLst>
          </p:cNvPr>
          <p:cNvSpPr/>
          <p:nvPr/>
        </p:nvSpPr>
        <p:spPr>
          <a:xfrm>
            <a:off x="6705107" y="1412789"/>
            <a:ext cx="2914287" cy="5892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Equipment configuration and malfunction data linkage   </a:t>
            </a:r>
            <a:endParaRPr kumimoji="1" lang="en-US" altLang="ja-JP" sz="1200" b="1" i="0" u="none" strike="noStrike" kern="1200" cap="none" spc="0" normalizeH="0" baseline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C</a:t>
            </a:r>
            <a:r>
              <a:rPr kumimoji="1" lang="ja-JP" altLang="en-US" sz="1200" b="1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ustomer </a:t>
            </a:r>
            <a:r>
              <a:rPr kumimoji="1" lang="en-US" altLang="ja-JP" sz="1200" b="1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tool </a:t>
            </a:r>
            <a:r>
              <a:rPr kumimoji="1" lang="ja-JP" altLang="en-US" sz="1200" b="1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operation data linkage</a:t>
            </a:r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3576C3B3-29A4-48CF-BF21-ED5805051D7D}"/>
              </a:ext>
            </a:extLst>
          </p:cNvPr>
          <p:cNvSpPr/>
          <p:nvPr/>
        </p:nvSpPr>
        <p:spPr>
          <a:xfrm>
            <a:off x="2401850" y="1148538"/>
            <a:ext cx="641684" cy="2255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srgbClr val="DA1884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6B14A22-B6F7-EED9-F278-2941E4A40839}"/>
              </a:ext>
            </a:extLst>
          </p:cNvPr>
          <p:cNvSpPr txBox="1"/>
          <p:nvPr/>
        </p:nvSpPr>
        <p:spPr>
          <a:xfrm>
            <a:off x="2218479" y="892851"/>
            <a:ext cx="10186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>
                <a:solidFill>
                  <a:srgbClr val="DA1884"/>
                </a:solidFill>
                <a:latin typeface="Arial"/>
                <a:ea typeface="Meiryo" panose="020B0604030504040204" pitchFamily="50" charset="-128"/>
                <a:cs typeface="Arial"/>
              </a:rPr>
              <a:t>We’re</a:t>
            </a:r>
            <a:r>
              <a:rPr lang="ja-JP" altLang="en-US" sz="1200">
                <a:solidFill>
                  <a:srgbClr val="DA1884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DA1884"/>
                </a:solidFill>
                <a:latin typeface="Arial"/>
                <a:ea typeface="Meiryo" panose="020B0604030504040204" pitchFamily="50" charset="-128"/>
                <a:cs typeface="Arial"/>
              </a:rPr>
              <a:t>h</a:t>
            </a:r>
            <a:r>
              <a:rPr kumimoji="1" lang="ja-JP" altLang="en-US" sz="1200" b="0" i="0" u="none" strike="noStrike" kern="1200" cap="none" spc="0" normalizeH="0" baseline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ere! </a:t>
            </a:r>
          </a:p>
        </p:txBody>
      </p:sp>
    </p:spTree>
    <p:extLst>
      <p:ext uri="{BB962C8B-B14F-4D97-AF65-F5344CB8AC3E}">
        <p14:creationId xmlns:p14="http://schemas.microsoft.com/office/powerpoint/2010/main" val="184617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47019BA-B935-73DC-8AA2-2D8E99B891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4908" y="157427"/>
            <a:ext cx="10918493" cy="530368"/>
          </a:xfrm>
        </p:spPr>
        <p:txBody>
          <a:bodyPr/>
          <a:lstStyle/>
          <a:p>
            <a:r>
              <a:rPr kumimoji="1" lang="ja-JP" altLang="en-US"/>
              <a:t>Parts Traceability Roadmap </a:t>
            </a:r>
            <a:r>
              <a:rPr kumimoji="1" lang="ja-JP" altLang="en-US" sz="2000"/>
              <a:t>(Revised 2025/01/17)</a:t>
            </a:r>
            <a:endParaRPr kumimoji="1" lang="ja-JP" altLang="en-US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FADE963E-0076-C7C0-8491-2667AAC32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500570"/>
              </p:ext>
            </p:extLst>
          </p:nvPr>
        </p:nvGraphicFramePr>
        <p:xfrm>
          <a:off x="130830" y="838646"/>
          <a:ext cx="11912305" cy="5800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3234943784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62295088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1491960051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842812118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4206092536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3518023003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730651714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326762468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210941005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574415748"/>
                    </a:ext>
                  </a:extLst>
                </a:gridCol>
              </a:tblGrid>
              <a:tr h="315106">
                <a:tc rowSpan="2">
                  <a:txBody>
                    <a:bodyPr/>
                    <a:lstStyle/>
                    <a:p>
                      <a:pPr algn="ctr"/>
                      <a:endParaRPr kumimoji="1" lang="ja-JP" altLang="en-US" sz="1800" b="1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ja-JP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FY2021</a:t>
                      </a:r>
                      <a:endParaRPr kumimoji="1" lang="ja-JP" altLang="en-US" sz="14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ja-JP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FY2022</a:t>
                      </a:r>
                      <a:endParaRPr kumimoji="1" lang="ja-JP" altLang="en-US" sz="14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ja-JP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FY2023</a:t>
                      </a:r>
                      <a:endParaRPr kumimoji="1" lang="ja-JP" altLang="en-US" sz="14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ja-JP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FY2024</a:t>
                      </a:r>
                      <a:endParaRPr kumimoji="1" lang="ja-JP" altLang="en-US" sz="14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ja-JP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FY2025</a:t>
                      </a: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ja-JP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FY2026</a:t>
                      </a:r>
                      <a:endParaRPr kumimoji="1" lang="ja-JP" altLang="en-US" sz="14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ja-JP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FY2027</a:t>
                      </a:r>
                      <a:endParaRPr kumimoji="1" lang="ja-JP" altLang="en-US" sz="14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344" marR="91344" marT="45672" marB="4567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ja-JP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FY2028</a:t>
                      </a:r>
                      <a:endParaRPr kumimoji="1" lang="ja-JP" altLang="en-US" sz="14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344" marR="91344" marT="45672" marB="4567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106">
                <a:tc vMerge="1">
                  <a:txBody>
                    <a:bodyPr/>
                    <a:lstStyle/>
                    <a:p>
                      <a:pPr algn="ctr"/>
                      <a:endParaRPr kumimoji="1" lang="ja-JP" alt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1H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2H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1H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2H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1H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2H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1H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2H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1H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2H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1H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2H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1H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2H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1H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2H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881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G1P Milestones</a:t>
                      </a: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33134"/>
                  </a:ext>
                </a:extLst>
              </a:tr>
              <a:tr h="37816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MES Milestones</a:t>
                      </a: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410026"/>
                  </a:ext>
                </a:extLst>
              </a:tr>
              <a:tr h="51693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Traceability Step</a:t>
                      </a: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594953"/>
                  </a:ext>
                </a:extLst>
              </a:tr>
              <a:tr h="2393098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1. Collect data</a:t>
                      </a:r>
                      <a:endParaRPr kumimoji="1" lang="en-US" altLang="ja-JP" sz="1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メイリオ" panose="020B0604030504040204" pitchFamily="50" charset="-128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kumimoji="1" lang="en-US" altLang="ja-JP" sz="12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SAP-based Business Operations</a:t>
                      </a: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03324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❷ </a:t>
                      </a:r>
                      <a:r>
                        <a:rPr kumimoji="1" lang="en-US" altLang="ja-JP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Utilize</a:t>
                      </a:r>
                      <a:r>
                        <a:rPr kumimoji="1" lang="ja-JP" altLang="en-US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 data</a:t>
                      </a:r>
                      <a:endParaRPr kumimoji="1" lang="en-US" altLang="ja-JP" sz="1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メイリオ" panose="020B0604030504040204" pitchFamily="50" charset="-128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kumimoji="1" lang="ja-JP" altLang="en-US" sz="12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Application </a:t>
                      </a:r>
                      <a:r>
                        <a:rPr kumimoji="1" lang="en-US" altLang="ja-JP" sz="12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Development</a:t>
                      </a: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911947"/>
                  </a:ext>
                </a:extLst>
              </a:tr>
            </a:tbl>
          </a:graphicData>
        </a:graphic>
      </p:graphicFrame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31F56436-0BC2-8AE5-5F60-56FFE937E74D}"/>
              </a:ext>
            </a:extLst>
          </p:cNvPr>
          <p:cNvGrpSpPr/>
          <p:nvPr/>
        </p:nvGrpSpPr>
        <p:grpSpPr>
          <a:xfrm>
            <a:off x="2231596" y="1475527"/>
            <a:ext cx="413680" cy="449500"/>
            <a:chOff x="5292898" y="2203982"/>
            <a:chExt cx="413896" cy="449734"/>
          </a:xfrm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CF3D4FD0-69E9-6E4B-0991-1C1721A6D1D2}"/>
                </a:ext>
              </a:extLst>
            </p:cNvPr>
            <p:cNvSpPr/>
            <p:nvPr/>
          </p:nvSpPr>
          <p:spPr>
            <a:xfrm flipV="1">
              <a:off x="5399223" y="2455517"/>
              <a:ext cx="184814" cy="198199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792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424AD55-5469-846C-78DE-5CC2B739C29E}"/>
                </a:ext>
              </a:extLst>
            </p:cNvPr>
            <p:cNvSpPr txBox="1"/>
            <p:nvPr/>
          </p:nvSpPr>
          <p:spPr>
            <a:xfrm>
              <a:off x="5292898" y="2203982"/>
              <a:ext cx="413896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1" i="0" u="none" strike="noStrike" kern="1200" cap="none" spc="0" normalizeH="0" baseline="0">
                  <a:ln>
                    <a:noFill/>
                  </a:ln>
                  <a:solidFill>
                    <a:srgbClr val="8031A7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R1</a:t>
              </a:r>
              <a:endPara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sp>
        <p:nvSpPr>
          <p:cNvPr id="7" name="二等辺三角形 6">
            <a:extLst>
              <a:ext uri="{FF2B5EF4-FFF2-40B4-BE49-F238E27FC236}">
                <a16:creationId xmlns:a16="http://schemas.microsoft.com/office/drawing/2014/main" id="{8A0D7012-CA6E-07A9-E9CD-35372AB12B53}"/>
              </a:ext>
            </a:extLst>
          </p:cNvPr>
          <p:cNvSpPr/>
          <p:nvPr/>
        </p:nvSpPr>
        <p:spPr>
          <a:xfrm flipV="1">
            <a:off x="5557972" y="1758730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F52922-6F98-59BB-1A81-8963F924E188}"/>
              </a:ext>
            </a:extLst>
          </p:cNvPr>
          <p:cNvSpPr txBox="1"/>
          <p:nvPr/>
        </p:nvSpPr>
        <p:spPr>
          <a:xfrm>
            <a:off x="5378063" y="1392113"/>
            <a:ext cx="529173" cy="430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R2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EWM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76BD8FA2-3196-0B59-DE1E-2BB4E5EB17F4}"/>
              </a:ext>
            </a:extLst>
          </p:cNvPr>
          <p:cNvSpPr/>
          <p:nvPr/>
        </p:nvSpPr>
        <p:spPr>
          <a:xfrm flipV="1">
            <a:off x="5978888" y="1758729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816A483-C29D-8701-A5CA-54C0CF604DA2}"/>
              </a:ext>
            </a:extLst>
          </p:cNvPr>
          <p:cNvSpPr txBox="1"/>
          <p:nvPr/>
        </p:nvSpPr>
        <p:spPr>
          <a:xfrm>
            <a:off x="5836639" y="1392110"/>
            <a:ext cx="453853" cy="4153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R2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TEA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" name="二等辺三角形 10">
            <a:extLst>
              <a:ext uri="{FF2B5EF4-FFF2-40B4-BE49-F238E27FC236}">
                <a16:creationId xmlns:a16="http://schemas.microsoft.com/office/drawing/2014/main" id="{4CBB63D3-2FD8-9FF6-BBD5-C1652A70D3CD}"/>
              </a:ext>
            </a:extLst>
          </p:cNvPr>
          <p:cNvSpPr/>
          <p:nvPr/>
        </p:nvSpPr>
        <p:spPr>
          <a:xfrm flipV="1">
            <a:off x="6267611" y="1758730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CD95138-B944-BBF3-D019-EE40460B8BD9}"/>
              </a:ext>
            </a:extLst>
          </p:cNvPr>
          <p:cNvSpPr txBox="1"/>
          <p:nvPr/>
        </p:nvSpPr>
        <p:spPr>
          <a:xfrm>
            <a:off x="6122155" y="1392111"/>
            <a:ext cx="460262" cy="4153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R3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TML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7035C3B0-CD1E-1F25-413E-D5800D214B1B}"/>
              </a:ext>
            </a:extLst>
          </p:cNvPr>
          <p:cNvSpPr/>
          <p:nvPr/>
        </p:nvSpPr>
        <p:spPr>
          <a:xfrm flipV="1">
            <a:off x="7453387" y="1770150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437B87B-0C28-2365-27D2-E2AB545F0C0F}"/>
              </a:ext>
            </a:extLst>
          </p:cNvPr>
          <p:cNvSpPr txBox="1"/>
          <p:nvPr/>
        </p:nvSpPr>
        <p:spPr>
          <a:xfrm>
            <a:off x="7315143" y="1403531"/>
            <a:ext cx="445840" cy="4153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R5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TKL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1AA99BDF-7FFF-D00D-99B9-A511E92B832A}"/>
              </a:ext>
            </a:extLst>
          </p:cNvPr>
          <p:cNvSpPr/>
          <p:nvPr/>
        </p:nvSpPr>
        <p:spPr>
          <a:xfrm flipV="1">
            <a:off x="11153872" y="1767527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0F20AEF-EF99-19E9-9ACC-47C1B5AAF9AC}"/>
              </a:ext>
            </a:extLst>
          </p:cNvPr>
          <p:cNvSpPr txBox="1"/>
          <p:nvPr/>
        </p:nvSpPr>
        <p:spPr>
          <a:xfrm>
            <a:off x="11019634" y="1400908"/>
            <a:ext cx="437826" cy="4153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R7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TTS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7" name="二等辺三角形 16">
            <a:extLst>
              <a:ext uri="{FF2B5EF4-FFF2-40B4-BE49-F238E27FC236}">
                <a16:creationId xmlns:a16="http://schemas.microsoft.com/office/drawing/2014/main" id="{3D26D054-921E-2F13-879A-2DC67C32DC0A}"/>
              </a:ext>
            </a:extLst>
          </p:cNvPr>
          <p:cNvSpPr/>
          <p:nvPr/>
        </p:nvSpPr>
        <p:spPr>
          <a:xfrm flipV="1">
            <a:off x="7608583" y="2091770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ECB41C7-0FEF-600A-BBA0-CFFB9EC2FD67}"/>
              </a:ext>
            </a:extLst>
          </p:cNvPr>
          <p:cNvSpPr txBox="1"/>
          <p:nvPr/>
        </p:nvSpPr>
        <p:spPr>
          <a:xfrm>
            <a:off x="7478106" y="1886140"/>
            <a:ext cx="46038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TML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9" name="二等辺三角形 18">
            <a:extLst>
              <a:ext uri="{FF2B5EF4-FFF2-40B4-BE49-F238E27FC236}">
                <a16:creationId xmlns:a16="http://schemas.microsoft.com/office/drawing/2014/main" id="{2BEC15EC-BEBD-339E-F00B-D74156DE6028}"/>
              </a:ext>
            </a:extLst>
          </p:cNvPr>
          <p:cNvSpPr/>
          <p:nvPr/>
        </p:nvSpPr>
        <p:spPr>
          <a:xfrm flipV="1">
            <a:off x="8868326" y="2091771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ED2D564-45B0-C192-D82C-A857F42518B0}"/>
              </a:ext>
            </a:extLst>
          </p:cNvPr>
          <p:cNvSpPr txBox="1"/>
          <p:nvPr/>
        </p:nvSpPr>
        <p:spPr>
          <a:xfrm>
            <a:off x="8745061" y="1886140"/>
            <a:ext cx="44595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TKL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1" name="二等辺三角形 20">
            <a:extLst>
              <a:ext uri="{FF2B5EF4-FFF2-40B4-BE49-F238E27FC236}">
                <a16:creationId xmlns:a16="http://schemas.microsoft.com/office/drawing/2014/main" id="{64FF8094-435B-6B0C-ADCF-674A9B5424E9}"/>
              </a:ext>
            </a:extLst>
          </p:cNvPr>
          <p:cNvSpPr/>
          <p:nvPr/>
        </p:nvSpPr>
        <p:spPr>
          <a:xfrm flipV="1">
            <a:off x="11174039" y="2095547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B850D97-73D3-476B-3D9E-05BEC221E3E0}"/>
              </a:ext>
            </a:extLst>
          </p:cNvPr>
          <p:cNvSpPr txBox="1"/>
          <p:nvPr/>
        </p:nvSpPr>
        <p:spPr>
          <a:xfrm>
            <a:off x="11030994" y="1889917"/>
            <a:ext cx="437827" cy="2538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TTS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FBDB9A98-36D1-8DE5-EC8C-41468D5D7C80}"/>
              </a:ext>
            </a:extLst>
          </p:cNvPr>
          <p:cNvGrpSpPr/>
          <p:nvPr/>
        </p:nvGrpSpPr>
        <p:grpSpPr>
          <a:xfrm>
            <a:off x="2216101" y="2345831"/>
            <a:ext cx="9725237" cy="415390"/>
            <a:chOff x="2216101" y="2225516"/>
            <a:chExt cx="9725237" cy="415390"/>
          </a:xfrm>
        </p:grpSpPr>
        <p:sp>
          <p:nvSpPr>
            <p:cNvPr id="24" name="ホームベース 11">
              <a:extLst>
                <a:ext uri="{FF2B5EF4-FFF2-40B4-BE49-F238E27FC236}">
                  <a16:creationId xmlns:a16="http://schemas.microsoft.com/office/drawing/2014/main" id="{68E6B5BE-26D9-CDD8-ECE5-9BA234A2294C}"/>
                </a:ext>
              </a:extLst>
            </p:cNvPr>
            <p:cNvSpPr/>
            <p:nvPr/>
          </p:nvSpPr>
          <p:spPr>
            <a:xfrm>
              <a:off x="2216101" y="2225516"/>
              <a:ext cx="9725237" cy="415390"/>
            </a:xfrm>
            <a:prstGeom prst="homePlate">
              <a:avLst>
                <a:gd name="adj" fmla="val 31546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913852">
                <a:defRPr/>
              </a:pPr>
              <a:r>
                <a:rPr kumimoji="1" lang="en-US" altLang="ja-JP" sz="12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Step 1: </a:t>
              </a:r>
              <a:r>
                <a:rPr kumimoji="1" lang="ja-JP" altLang="en-US" sz="12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Parts location tracking, inspection data and manufacturing </a:t>
              </a:r>
              <a:r>
                <a:rPr lang="en-US" altLang="ja-JP" sz="1200" b="1">
                  <a:solidFill>
                    <a:srgbClr val="FFFFFF"/>
                  </a:solidFill>
                  <a:latin typeface="Arial"/>
                  <a:ea typeface="Meiryo" panose="020B0604030504040204" pitchFamily="50" charset="-128"/>
                  <a:cs typeface="Arial"/>
                </a:rPr>
                <a:t>work</a:t>
              </a:r>
              <a:r>
                <a:rPr lang="ja-JP" altLang="en-US" sz="1200" b="1">
                  <a:solidFill>
                    <a:srgbClr val="FFFFFF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200" b="1">
                  <a:solidFill>
                    <a:srgbClr val="FFFFFF"/>
                  </a:solidFill>
                  <a:latin typeface="Arial"/>
                  <a:ea typeface="Meiryo" panose="020B0604030504040204" pitchFamily="50" charset="-128"/>
                  <a:cs typeface="Arial"/>
                </a:rPr>
                <a:t>history</a:t>
              </a:r>
              <a:r>
                <a:rPr kumimoji="1" lang="ja-JP" altLang="en-US" sz="12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, </a:t>
              </a:r>
              <a:br>
                <a:rPr kumimoji="1" lang="en-US" altLang="ja-JP" sz="12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</a:br>
              <a:r>
                <a:rPr kumimoji="1" lang="en-US" altLang="ja-JP" sz="12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shelf-life </a:t>
              </a:r>
              <a:r>
                <a:rPr kumimoji="1" lang="ja-JP" altLang="en-US" sz="12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management</a:t>
              </a:r>
              <a:endParaRPr kumimoji="1" lang="en-US" altLang="ja-JP" sz="12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25" name="ホームベース 13">
              <a:extLst>
                <a:ext uri="{FF2B5EF4-FFF2-40B4-BE49-F238E27FC236}">
                  <a16:creationId xmlns:a16="http://schemas.microsoft.com/office/drawing/2014/main" id="{8088B59F-9BAB-1AE0-F011-F8CC00D77AFA}"/>
                </a:ext>
              </a:extLst>
            </p:cNvPr>
            <p:cNvSpPr/>
            <p:nvPr/>
          </p:nvSpPr>
          <p:spPr>
            <a:xfrm>
              <a:off x="8361895" y="2242138"/>
              <a:ext cx="3469158" cy="190386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Step 2: Understand service work history and parts replacement history</a:t>
              </a:r>
            </a:p>
          </p:txBody>
        </p:sp>
        <p:sp>
          <p:nvSpPr>
            <p:cNvPr id="26" name="ホームベース 14">
              <a:extLst>
                <a:ext uri="{FF2B5EF4-FFF2-40B4-BE49-F238E27FC236}">
                  <a16:creationId xmlns:a16="http://schemas.microsoft.com/office/drawing/2014/main" id="{8530563B-E441-4BF9-5572-B368FEF7279B}"/>
                </a:ext>
              </a:extLst>
            </p:cNvPr>
            <p:cNvSpPr/>
            <p:nvPr/>
          </p:nvSpPr>
          <p:spPr>
            <a:xfrm>
              <a:off x="8361895" y="2434957"/>
              <a:ext cx="3469158" cy="190386"/>
            </a:xfrm>
            <a:prstGeom prst="homePlate">
              <a:avLst/>
            </a:prstGeom>
            <a:solidFill>
              <a:schemeClr val="accent2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Step 3: </a:t>
              </a:r>
              <a:r>
                <a:rPr lang="en-US" altLang="ja-JP" sz="800" b="1">
                  <a:solidFill>
                    <a:srgbClr val="FFFFFF"/>
                  </a:solidFill>
                  <a:latin typeface="Arial"/>
                  <a:ea typeface="Meiryo" panose="020B0604030504040204" pitchFamily="50" charset="-128"/>
                  <a:cs typeface="Arial"/>
                </a:rPr>
                <a:t>Tool-to-tool </a:t>
              </a:r>
              <a:r>
                <a:rPr kumimoji="1" lang="en-US" altLang="ja-JP" sz="80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comparison and analysis support</a:t>
              </a:r>
              <a:endParaRPr kumimoji="1" lang="en-US" altLang="ja-JP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sp>
        <p:nvSpPr>
          <p:cNvPr id="28" name="ホームベース 34">
            <a:extLst>
              <a:ext uri="{FF2B5EF4-FFF2-40B4-BE49-F238E27FC236}">
                <a16:creationId xmlns:a16="http://schemas.microsoft.com/office/drawing/2014/main" id="{DC403096-AC4F-3D46-45A6-297785877144}"/>
              </a:ext>
            </a:extLst>
          </p:cNvPr>
          <p:cNvSpPr/>
          <p:nvPr/>
        </p:nvSpPr>
        <p:spPr>
          <a:xfrm>
            <a:off x="2231596" y="2922561"/>
            <a:ext cx="3354571" cy="2159466"/>
          </a:xfrm>
          <a:prstGeom prst="homePlate">
            <a:avLst>
              <a:gd name="adj" fmla="val 11184"/>
            </a:avLst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>
                <a:ln>
                  <a:noFill/>
                </a:ln>
                <a:solidFill>
                  <a:srgbClr val="2D2D2D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Start of business operations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2D2D2D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>
                <a:ln>
                  <a:noFill/>
                </a:ln>
                <a:solidFill>
                  <a:srgbClr val="2D2D2D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Preparation</a:t>
            </a:r>
          </a:p>
        </p:txBody>
      </p:sp>
      <p:sp>
        <p:nvSpPr>
          <p:cNvPr id="44" name="二等辺三角形 43">
            <a:extLst>
              <a:ext uri="{FF2B5EF4-FFF2-40B4-BE49-F238E27FC236}">
                <a16:creationId xmlns:a16="http://schemas.microsoft.com/office/drawing/2014/main" id="{B921D80E-4B56-DF3D-678B-F092E8A9D172}"/>
              </a:ext>
            </a:extLst>
          </p:cNvPr>
          <p:cNvSpPr/>
          <p:nvPr/>
        </p:nvSpPr>
        <p:spPr>
          <a:xfrm flipV="1">
            <a:off x="10163130" y="1744657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F785F6B7-0E8C-2DFC-93B7-ECBCEDBBCB0D}"/>
              </a:ext>
            </a:extLst>
          </p:cNvPr>
          <p:cNvSpPr txBox="1"/>
          <p:nvPr/>
        </p:nvSpPr>
        <p:spPr>
          <a:xfrm>
            <a:off x="9978675" y="1383387"/>
            <a:ext cx="437940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R6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TET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8D1D900-7FD5-4062-A21C-08A369A4F75E}"/>
              </a:ext>
            </a:extLst>
          </p:cNvPr>
          <p:cNvGrpSpPr/>
          <p:nvPr/>
        </p:nvGrpSpPr>
        <p:grpSpPr>
          <a:xfrm>
            <a:off x="5623395" y="2922561"/>
            <a:ext cx="6419739" cy="1226717"/>
            <a:chOff x="5623395" y="2714015"/>
            <a:chExt cx="6419739" cy="1226717"/>
          </a:xfrm>
        </p:grpSpPr>
        <p:sp>
          <p:nvSpPr>
            <p:cNvPr id="30" name="ホームベース 8">
              <a:extLst>
                <a:ext uri="{FF2B5EF4-FFF2-40B4-BE49-F238E27FC236}">
                  <a16:creationId xmlns:a16="http://schemas.microsoft.com/office/drawing/2014/main" id="{27C7D365-2106-4559-8202-7809E4AD7165}"/>
                </a:ext>
              </a:extLst>
            </p:cNvPr>
            <p:cNvSpPr/>
            <p:nvPr/>
          </p:nvSpPr>
          <p:spPr>
            <a:xfrm>
              <a:off x="5623395" y="2714015"/>
              <a:ext cx="6419739" cy="1226717"/>
            </a:xfrm>
            <a:prstGeom prst="homePlate">
              <a:avLst>
                <a:gd name="adj" fmla="val 763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Parts S/N &amp; batch management</a:t>
              </a:r>
            </a:p>
          </p:txBody>
        </p:sp>
        <p:sp>
          <p:nvSpPr>
            <p:cNvPr id="31" name="ホームベース 9">
              <a:extLst>
                <a:ext uri="{FF2B5EF4-FFF2-40B4-BE49-F238E27FC236}">
                  <a16:creationId xmlns:a16="http://schemas.microsoft.com/office/drawing/2014/main" id="{B2A371C6-447C-20CA-B0CA-51A8D0590A51}"/>
                </a:ext>
              </a:extLst>
            </p:cNvPr>
            <p:cNvSpPr/>
            <p:nvPr/>
          </p:nvSpPr>
          <p:spPr>
            <a:xfrm>
              <a:off x="5688745" y="2923203"/>
              <a:ext cx="6223302" cy="144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Domestic Spare Parts</a:t>
              </a:r>
            </a:p>
          </p:txBody>
        </p:sp>
        <p:sp>
          <p:nvSpPr>
            <p:cNvPr id="32" name="ホームベース 131">
              <a:extLst>
                <a:ext uri="{FF2B5EF4-FFF2-40B4-BE49-F238E27FC236}">
                  <a16:creationId xmlns:a16="http://schemas.microsoft.com/office/drawing/2014/main" id="{148A6D48-1AC0-9C9A-B20D-60DB0F72CE2C}"/>
                </a:ext>
              </a:extLst>
            </p:cNvPr>
            <p:cNvSpPr/>
            <p:nvPr/>
          </p:nvSpPr>
          <p:spPr>
            <a:xfrm>
              <a:off x="5985611" y="3090478"/>
              <a:ext cx="5926436" cy="144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US Spare Parts</a:t>
              </a:r>
            </a:p>
          </p:txBody>
        </p:sp>
        <p:sp>
          <p:nvSpPr>
            <p:cNvPr id="33" name="ホームベース 132">
              <a:extLst>
                <a:ext uri="{FF2B5EF4-FFF2-40B4-BE49-F238E27FC236}">
                  <a16:creationId xmlns:a16="http://schemas.microsoft.com/office/drawing/2014/main" id="{91CB7623-7734-E003-4330-0AD0464AB001}"/>
                </a:ext>
              </a:extLst>
            </p:cNvPr>
            <p:cNvSpPr/>
            <p:nvPr/>
          </p:nvSpPr>
          <p:spPr>
            <a:xfrm>
              <a:off x="6284823" y="3259476"/>
              <a:ext cx="5627223" cy="144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TML spare parts &amp; equipment built-in parts</a:t>
              </a:r>
            </a:p>
          </p:txBody>
        </p:sp>
        <p:sp>
          <p:nvSpPr>
            <p:cNvPr id="34" name="ホームベース 133">
              <a:extLst>
                <a:ext uri="{FF2B5EF4-FFF2-40B4-BE49-F238E27FC236}">
                  <a16:creationId xmlns:a16="http://schemas.microsoft.com/office/drawing/2014/main" id="{6F7846ED-F53D-996C-CB74-31DE90E1F8FA}"/>
                </a:ext>
              </a:extLst>
            </p:cNvPr>
            <p:cNvSpPr/>
            <p:nvPr/>
          </p:nvSpPr>
          <p:spPr>
            <a:xfrm>
              <a:off x="7484118" y="3425703"/>
              <a:ext cx="4427927" cy="144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TKL Spare Parts &amp; Equipment Built-in Parts</a:t>
              </a:r>
            </a:p>
          </p:txBody>
        </p:sp>
        <p:sp>
          <p:nvSpPr>
            <p:cNvPr id="35" name="ホームベース 134">
              <a:extLst>
                <a:ext uri="{FF2B5EF4-FFF2-40B4-BE49-F238E27FC236}">
                  <a16:creationId xmlns:a16="http://schemas.microsoft.com/office/drawing/2014/main" id="{AD6CA239-33E1-DD3F-B92C-21AA07AB40BB}"/>
                </a:ext>
              </a:extLst>
            </p:cNvPr>
            <p:cNvSpPr/>
            <p:nvPr/>
          </p:nvSpPr>
          <p:spPr>
            <a:xfrm>
              <a:off x="10194758" y="3594692"/>
              <a:ext cx="1717287" cy="144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Overseas spare parts</a:t>
              </a:r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85323AA1-4F60-0A6E-83F6-257F2740779C}"/>
                </a:ext>
              </a:extLst>
            </p:cNvPr>
            <p:cNvSpPr/>
            <p:nvPr/>
          </p:nvSpPr>
          <p:spPr>
            <a:xfrm>
              <a:off x="5699170" y="2943673"/>
              <a:ext cx="653715" cy="10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R2 EWM</a:t>
              </a:r>
              <a:endPara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AAC5E033-EFF5-FDBC-7E36-4C255F6574DA}"/>
                </a:ext>
              </a:extLst>
            </p:cNvPr>
            <p:cNvSpPr/>
            <p:nvPr/>
          </p:nvSpPr>
          <p:spPr>
            <a:xfrm>
              <a:off x="6023460" y="3103735"/>
              <a:ext cx="607431" cy="10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R2 TEA</a:t>
              </a:r>
              <a:endPara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FC857BEA-29E1-9C9B-1DE5-7D7D9A223280}"/>
                </a:ext>
              </a:extLst>
            </p:cNvPr>
            <p:cNvSpPr/>
            <p:nvPr/>
          </p:nvSpPr>
          <p:spPr>
            <a:xfrm>
              <a:off x="6317392" y="3276501"/>
              <a:ext cx="651837" cy="10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R3TML</a:t>
              </a:r>
              <a:endPara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7E0464DD-FE80-F87D-B73B-063E9D2DC95B}"/>
                </a:ext>
              </a:extLst>
            </p:cNvPr>
            <p:cNvSpPr/>
            <p:nvPr/>
          </p:nvSpPr>
          <p:spPr>
            <a:xfrm>
              <a:off x="7512687" y="3429596"/>
              <a:ext cx="651837" cy="10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R5 TKL</a:t>
              </a:r>
              <a:endPara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CF743E2A-1335-7CE7-EA14-58D8540F840C}"/>
                </a:ext>
              </a:extLst>
            </p:cNvPr>
            <p:cNvSpPr/>
            <p:nvPr/>
          </p:nvSpPr>
          <p:spPr>
            <a:xfrm>
              <a:off x="10205614" y="3614729"/>
              <a:ext cx="682694" cy="96792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R6/8 Genpo</a:t>
              </a:r>
            </a:p>
          </p:txBody>
        </p:sp>
        <p:sp>
          <p:nvSpPr>
            <p:cNvPr id="48" name="ホームベース 134">
              <a:extLst>
                <a:ext uri="{FF2B5EF4-FFF2-40B4-BE49-F238E27FC236}">
                  <a16:creationId xmlns:a16="http://schemas.microsoft.com/office/drawing/2014/main" id="{F15487DE-A3DA-FEAC-3E0D-11EF19A4910A}"/>
                </a:ext>
              </a:extLst>
            </p:cNvPr>
            <p:cNvSpPr/>
            <p:nvPr/>
          </p:nvSpPr>
          <p:spPr>
            <a:xfrm>
              <a:off x="11288055" y="3762069"/>
              <a:ext cx="623990" cy="144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1BC8E8C7-0F69-7A51-0FA6-8A925F197153}"/>
                </a:ext>
              </a:extLst>
            </p:cNvPr>
            <p:cNvSpPr/>
            <p:nvPr/>
          </p:nvSpPr>
          <p:spPr>
            <a:xfrm>
              <a:off x="11280610" y="3774185"/>
              <a:ext cx="585884" cy="10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R7</a:t>
              </a:r>
              <a:r>
                <a:rPr kumimoji="1" lang="ja-JP" altLang="en-US" sz="8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1" lang="en-US" altLang="ja-JP" sz="8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TTS</a:t>
              </a:r>
              <a:endPara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2B0F1243-C76F-2E1B-93D6-62E580B3FC49}"/>
              </a:ext>
            </a:extLst>
          </p:cNvPr>
          <p:cNvGrpSpPr/>
          <p:nvPr/>
        </p:nvGrpSpPr>
        <p:grpSpPr>
          <a:xfrm>
            <a:off x="6338768" y="4173178"/>
            <a:ext cx="5704366" cy="916128"/>
            <a:chOff x="6338768" y="4149115"/>
            <a:chExt cx="5704366" cy="916128"/>
          </a:xfrm>
        </p:grpSpPr>
        <p:sp>
          <p:nvSpPr>
            <p:cNvPr id="52" name="ホームベース 113">
              <a:extLst>
                <a:ext uri="{FF2B5EF4-FFF2-40B4-BE49-F238E27FC236}">
                  <a16:creationId xmlns:a16="http://schemas.microsoft.com/office/drawing/2014/main" id="{C6E7DFE2-66D6-196C-047E-56460DC99983}"/>
                </a:ext>
              </a:extLst>
            </p:cNvPr>
            <p:cNvSpPr/>
            <p:nvPr/>
          </p:nvSpPr>
          <p:spPr>
            <a:xfrm>
              <a:off x="6338768" y="4149115"/>
              <a:ext cx="5704366" cy="916128"/>
            </a:xfrm>
            <a:prstGeom prst="homePlate">
              <a:avLst>
                <a:gd name="adj" fmla="val 11793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Shelf Life Management</a:t>
              </a:r>
            </a:p>
          </p:txBody>
        </p:sp>
        <p:sp>
          <p:nvSpPr>
            <p:cNvPr id="53" name="ホームベース 135">
              <a:extLst>
                <a:ext uri="{FF2B5EF4-FFF2-40B4-BE49-F238E27FC236}">
                  <a16:creationId xmlns:a16="http://schemas.microsoft.com/office/drawing/2014/main" id="{A239EBC5-3F8A-37F8-2BA0-6D6AEFFC9465}"/>
                </a:ext>
              </a:extLst>
            </p:cNvPr>
            <p:cNvSpPr/>
            <p:nvPr/>
          </p:nvSpPr>
          <p:spPr>
            <a:xfrm>
              <a:off x="6406827" y="4347564"/>
              <a:ext cx="5571735" cy="167794"/>
            </a:xfrm>
            <a:prstGeom prst="homePlat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TEL/TEA/TML inventory inspection/life check</a:t>
              </a:r>
            </a:p>
          </p:txBody>
        </p:sp>
        <p:sp>
          <p:nvSpPr>
            <p:cNvPr id="54" name="ホームベース 136">
              <a:extLst>
                <a:ext uri="{FF2B5EF4-FFF2-40B4-BE49-F238E27FC236}">
                  <a16:creationId xmlns:a16="http://schemas.microsoft.com/office/drawing/2014/main" id="{350985C2-CEF9-5CD8-CD59-86ABC1D86C35}"/>
                </a:ext>
              </a:extLst>
            </p:cNvPr>
            <p:cNvSpPr/>
            <p:nvPr/>
          </p:nvSpPr>
          <p:spPr>
            <a:xfrm>
              <a:off x="7568833" y="4542170"/>
              <a:ext cx="4409729" cy="150215"/>
            </a:xfrm>
            <a:prstGeom prst="homePlat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TKL inventory inspection/life check</a:t>
              </a: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5CC821C8-5B24-9BFA-70DC-2F42707833F6}"/>
                </a:ext>
              </a:extLst>
            </p:cNvPr>
            <p:cNvSpPr/>
            <p:nvPr/>
          </p:nvSpPr>
          <p:spPr>
            <a:xfrm>
              <a:off x="6426882" y="4349663"/>
              <a:ext cx="684815" cy="125846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R3 TML</a:t>
              </a:r>
              <a:endPara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5AC2B00E-3AA6-886C-8E1B-361CDDD5E195}"/>
                </a:ext>
              </a:extLst>
            </p:cNvPr>
            <p:cNvSpPr/>
            <p:nvPr/>
          </p:nvSpPr>
          <p:spPr>
            <a:xfrm>
              <a:off x="7608583" y="4546197"/>
              <a:ext cx="651837" cy="10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R5 TKL</a:t>
              </a:r>
              <a:endPara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59" name="ホームベース 134">
              <a:extLst>
                <a:ext uri="{FF2B5EF4-FFF2-40B4-BE49-F238E27FC236}">
                  <a16:creationId xmlns:a16="http://schemas.microsoft.com/office/drawing/2014/main" id="{31DC276D-8C9A-5BFB-27DC-168898AE7049}"/>
                </a:ext>
              </a:extLst>
            </p:cNvPr>
            <p:cNvSpPr/>
            <p:nvPr/>
          </p:nvSpPr>
          <p:spPr>
            <a:xfrm>
              <a:off x="10218822" y="4725654"/>
              <a:ext cx="1717287" cy="144000"/>
            </a:xfrm>
            <a:prstGeom prst="homePlat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7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TTS inventory inspection and life check</a:t>
              </a:r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30BD74D8-BCD9-4700-3D3B-2B7B8392BAF5}"/>
                </a:ext>
              </a:extLst>
            </p:cNvPr>
            <p:cNvSpPr/>
            <p:nvPr/>
          </p:nvSpPr>
          <p:spPr>
            <a:xfrm>
              <a:off x="10181552" y="4745691"/>
              <a:ext cx="658630" cy="95541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R6/8 Genpo</a:t>
              </a:r>
            </a:p>
          </p:txBody>
        </p:sp>
        <p:sp>
          <p:nvSpPr>
            <p:cNvPr id="61" name="ホームベース 134">
              <a:extLst>
                <a:ext uri="{FF2B5EF4-FFF2-40B4-BE49-F238E27FC236}">
                  <a16:creationId xmlns:a16="http://schemas.microsoft.com/office/drawing/2014/main" id="{1267A606-A06E-550B-4CA6-50996602DC09}"/>
                </a:ext>
              </a:extLst>
            </p:cNvPr>
            <p:cNvSpPr/>
            <p:nvPr/>
          </p:nvSpPr>
          <p:spPr>
            <a:xfrm>
              <a:off x="11312119" y="4893031"/>
              <a:ext cx="623990" cy="154668"/>
            </a:xfrm>
            <a:prstGeom prst="homePlat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F3CE11EB-4205-7A7D-2EF9-25FE2059594F}"/>
                </a:ext>
              </a:extLst>
            </p:cNvPr>
            <p:cNvSpPr/>
            <p:nvPr/>
          </p:nvSpPr>
          <p:spPr>
            <a:xfrm>
              <a:off x="11304674" y="4905147"/>
              <a:ext cx="585884" cy="10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R7</a:t>
              </a:r>
              <a:r>
                <a:rPr kumimoji="1" lang="ja-JP" altLang="en-US" sz="8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1" lang="en-US" altLang="ja-JP" sz="8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TTS</a:t>
              </a:r>
              <a:endPara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sp>
        <p:nvSpPr>
          <p:cNvPr id="75" name="吹き出し: 四角形 74">
            <a:extLst>
              <a:ext uri="{FF2B5EF4-FFF2-40B4-BE49-F238E27FC236}">
                <a16:creationId xmlns:a16="http://schemas.microsoft.com/office/drawing/2014/main" id="{BC83F2F7-210E-7EEE-98AC-F0499B15742B}"/>
              </a:ext>
            </a:extLst>
          </p:cNvPr>
          <p:cNvSpPr/>
          <p:nvPr/>
        </p:nvSpPr>
        <p:spPr>
          <a:xfrm>
            <a:off x="9780172" y="5058912"/>
            <a:ext cx="2302423" cy="497517"/>
          </a:xfrm>
          <a:prstGeom prst="wedgeRectCallout">
            <a:avLst>
              <a:gd name="adj1" fmla="val -56367"/>
              <a:gd name="adj2" fmla="val 4916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Scheduled for release with requirements definition &amp; implemented features</a:t>
            </a: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DA1884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Initially, it was expected to be operational in R3, so it was limited to TML/ES part data tracing. </a:t>
            </a:r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6" name="吹き出し: 四角形 75">
            <a:extLst>
              <a:ext uri="{FF2B5EF4-FFF2-40B4-BE49-F238E27FC236}">
                <a16:creationId xmlns:a16="http://schemas.microsoft.com/office/drawing/2014/main" id="{B274188D-390E-E328-E534-816ADA5BCFA0}"/>
              </a:ext>
            </a:extLst>
          </p:cNvPr>
          <p:cNvSpPr/>
          <p:nvPr/>
        </p:nvSpPr>
        <p:spPr>
          <a:xfrm>
            <a:off x="9548273" y="6272446"/>
            <a:ext cx="2570284" cy="344562"/>
          </a:xfrm>
          <a:prstGeom prst="wedgeRectCallout">
            <a:avLst>
              <a:gd name="adj1" fmla="val -56770"/>
              <a:gd name="adj2" fmla="val -5509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The schedule will be revised after defining additional requirements such as compliance and connection to bases other than TML. </a:t>
            </a: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D5F62EDE-9646-B557-51BA-10F3CBD16413}"/>
              </a:ext>
            </a:extLst>
          </p:cNvPr>
          <p:cNvGrpSpPr/>
          <p:nvPr/>
        </p:nvGrpSpPr>
        <p:grpSpPr>
          <a:xfrm>
            <a:off x="3449118" y="5289248"/>
            <a:ext cx="7439190" cy="1277174"/>
            <a:chOff x="3449118" y="5505815"/>
            <a:chExt cx="7439190" cy="1277174"/>
          </a:xfrm>
        </p:grpSpPr>
        <p:sp>
          <p:nvSpPr>
            <p:cNvPr id="64" name="ホームベース 156">
              <a:extLst>
                <a:ext uri="{FF2B5EF4-FFF2-40B4-BE49-F238E27FC236}">
                  <a16:creationId xmlns:a16="http://schemas.microsoft.com/office/drawing/2014/main" id="{CD613FDF-DBA0-7767-2DA4-D76CD620BB8C}"/>
                </a:ext>
              </a:extLst>
            </p:cNvPr>
            <p:cNvSpPr/>
            <p:nvPr/>
          </p:nvSpPr>
          <p:spPr>
            <a:xfrm>
              <a:off x="3449118" y="5556322"/>
              <a:ext cx="1671779" cy="279513"/>
            </a:xfrm>
            <a:prstGeom prst="homePlate">
              <a:avLst>
                <a:gd name="adj" fmla="val 365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5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Requirement definition</a:t>
              </a:r>
            </a:p>
          </p:txBody>
        </p:sp>
        <p:sp>
          <p:nvSpPr>
            <p:cNvPr id="65" name="ホームベース 157">
              <a:extLst>
                <a:ext uri="{FF2B5EF4-FFF2-40B4-BE49-F238E27FC236}">
                  <a16:creationId xmlns:a16="http://schemas.microsoft.com/office/drawing/2014/main" id="{6740D35C-2C07-62BC-D166-7C5F005C13E2}"/>
                </a:ext>
              </a:extLst>
            </p:cNvPr>
            <p:cNvSpPr/>
            <p:nvPr/>
          </p:nvSpPr>
          <p:spPr>
            <a:xfrm>
              <a:off x="4367778" y="5851558"/>
              <a:ext cx="1539458" cy="279513"/>
            </a:xfrm>
            <a:prstGeom prst="homePlate">
              <a:avLst>
                <a:gd name="adj" fmla="val 365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1st release development</a:t>
              </a:r>
              <a:endPara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7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(TML/ES related system integration)</a:t>
              </a:r>
              <a:endPara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6" name="左右矢印 175">
              <a:extLst>
                <a:ext uri="{FF2B5EF4-FFF2-40B4-BE49-F238E27FC236}">
                  <a16:creationId xmlns:a16="http://schemas.microsoft.com/office/drawing/2014/main" id="{7FC99EF7-280C-574F-9DAC-F18F817D115A}"/>
                </a:ext>
              </a:extLst>
            </p:cNvPr>
            <p:cNvSpPr/>
            <p:nvPr/>
          </p:nvSpPr>
          <p:spPr>
            <a:xfrm>
              <a:off x="5907236" y="5811989"/>
              <a:ext cx="2454659" cy="358650"/>
            </a:xfrm>
            <a:prstGeom prst="leftRight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Pending</a:t>
              </a:r>
              <a:endParaRPr kumimoji="1" lang="ja-JP" altLang="en-US" sz="10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7" name="ホームベース 158">
              <a:extLst>
                <a:ext uri="{FF2B5EF4-FFF2-40B4-BE49-F238E27FC236}">
                  <a16:creationId xmlns:a16="http://schemas.microsoft.com/office/drawing/2014/main" id="{6D2EE403-3E27-57FA-2E46-478277D62257}"/>
                </a:ext>
              </a:extLst>
            </p:cNvPr>
            <p:cNvSpPr/>
            <p:nvPr/>
          </p:nvSpPr>
          <p:spPr>
            <a:xfrm>
              <a:off x="8361895" y="5851558"/>
              <a:ext cx="829122" cy="279513"/>
            </a:xfrm>
            <a:prstGeom prst="homePlate">
              <a:avLst>
                <a:gd name="adj" fmla="val 365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1st release test</a:t>
              </a:r>
            </a:p>
          </p:txBody>
        </p:sp>
        <p:sp>
          <p:nvSpPr>
            <p:cNvPr id="68" name="星 5 30">
              <a:extLst>
                <a:ext uri="{FF2B5EF4-FFF2-40B4-BE49-F238E27FC236}">
                  <a16:creationId xmlns:a16="http://schemas.microsoft.com/office/drawing/2014/main" id="{388AC56C-9CD5-6476-D966-A9C8020DB175}"/>
                </a:ext>
              </a:extLst>
            </p:cNvPr>
            <p:cNvSpPr/>
            <p:nvPr/>
          </p:nvSpPr>
          <p:spPr>
            <a:xfrm>
              <a:off x="9093801" y="5785084"/>
              <a:ext cx="329285" cy="313903"/>
            </a:xfrm>
            <a:prstGeom prst="star5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9" name="テキスト ボックス 68">
              <a:extLst>
                <a:ext uri="{FF2B5EF4-FFF2-40B4-BE49-F238E27FC236}">
                  <a16:creationId xmlns:a16="http://schemas.microsoft.com/office/drawing/2014/main" id="{CDD86F6F-FB24-4425-842C-81821131334C}"/>
                </a:ext>
              </a:extLst>
            </p:cNvPr>
            <p:cNvSpPr txBox="1"/>
            <p:nvPr/>
          </p:nvSpPr>
          <p:spPr>
            <a:xfrm>
              <a:off x="8860825" y="5505815"/>
              <a:ext cx="82586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00" b="1" i="0" u="none" strike="noStrike" kern="1200" cap="none" spc="0" normalizeH="0" baseline="0">
                  <a:ln>
                    <a:noFill/>
                  </a:ln>
                  <a:solidFill>
                    <a:srgbClr val="2D2D2D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2025/12</a:t>
              </a:r>
            </a:p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u="none" strike="noStrike" kern="1200" cap="none" spc="0" normalizeH="0" baseline="0">
                  <a:ln>
                    <a:noFill/>
                  </a:ln>
                  <a:solidFill>
                    <a:srgbClr val="2D2D2D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release※</a:t>
              </a:r>
              <a:endParaRPr kumimoji="1" lang="ja-JP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71" name="ホームベース 156">
              <a:extLst>
                <a:ext uri="{FF2B5EF4-FFF2-40B4-BE49-F238E27FC236}">
                  <a16:creationId xmlns:a16="http://schemas.microsoft.com/office/drawing/2014/main" id="{9CDF7DF7-F887-004D-3681-5E586C257384}"/>
                </a:ext>
              </a:extLst>
            </p:cNvPr>
            <p:cNvSpPr/>
            <p:nvPr/>
          </p:nvSpPr>
          <p:spPr>
            <a:xfrm>
              <a:off x="8361896" y="6165141"/>
              <a:ext cx="829121" cy="295631"/>
            </a:xfrm>
            <a:prstGeom prst="homePlate">
              <a:avLst>
                <a:gd name="adj" fmla="val 365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2nd release requirements definition</a:t>
              </a:r>
            </a:p>
          </p:txBody>
        </p:sp>
        <p:sp>
          <p:nvSpPr>
            <p:cNvPr id="72" name="ホームベース 156">
              <a:extLst>
                <a:ext uri="{FF2B5EF4-FFF2-40B4-BE49-F238E27FC236}">
                  <a16:creationId xmlns:a16="http://schemas.microsoft.com/office/drawing/2014/main" id="{E3DCD107-8AB5-DC29-C518-C568A0093DB0}"/>
                </a:ext>
              </a:extLst>
            </p:cNvPr>
            <p:cNvSpPr/>
            <p:nvPr/>
          </p:nvSpPr>
          <p:spPr>
            <a:xfrm>
              <a:off x="9272131" y="6157120"/>
              <a:ext cx="957547" cy="295631"/>
            </a:xfrm>
            <a:prstGeom prst="homePlate">
              <a:avLst>
                <a:gd name="adj" fmla="val 3652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2nd Release</a:t>
              </a:r>
              <a:endPara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Basic design and implementation</a:t>
              </a:r>
            </a:p>
          </p:txBody>
        </p:sp>
        <p:sp>
          <p:nvSpPr>
            <p:cNvPr id="73" name="星 5 30">
              <a:extLst>
                <a:ext uri="{FF2B5EF4-FFF2-40B4-BE49-F238E27FC236}">
                  <a16:creationId xmlns:a16="http://schemas.microsoft.com/office/drawing/2014/main" id="{CA9262DD-4141-8BD3-734B-F0F947800FD3}"/>
                </a:ext>
              </a:extLst>
            </p:cNvPr>
            <p:cNvSpPr/>
            <p:nvPr/>
          </p:nvSpPr>
          <p:spPr>
            <a:xfrm>
              <a:off x="10171181" y="6127205"/>
              <a:ext cx="329285" cy="313903"/>
            </a:xfrm>
            <a:prstGeom prst="star5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26611B89-6524-E804-BE6D-1C62147FD446}"/>
                </a:ext>
              </a:extLst>
            </p:cNvPr>
            <p:cNvSpPr txBox="1"/>
            <p:nvPr/>
          </p:nvSpPr>
          <p:spPr>
            <a:xfrm>
              <a:off x="9813975" y="5871999"/>
              <a:ext cx="1074333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00" b="1" i="0" u="none" strike="noStrike" kern="1200" cap="none" spc="0" normalizeH="0" baseline="0">
                  <a:ln>
                    <a:noFill/>
                  </a:ln>
                  <a:solidFill>
                    <a:srgbClr val="2D2D2D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By 2026 (TBD)</a:t>
              </a:r>
            </a:p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u="none" strike="noStrike" kern="1200" cap="none" spc="0" normalizeH="0" baseline="0">
                  <a:ln>
                    <a:noFill/>
                  </a:ln>
                  <a:solidFill>
                    <a:srgbClr val="2D2D2D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release※</a:t>
              </a:r>
              <a:endParaRPr kumimoji="1" lang="ja-JP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77" name="ホームベース 156">
              <a:extLst>
                <a:ext uri="{FF2B5EF4-FFF2-40B4-BE49-F238E27FC236}">
                  <a16:creationId xmlns:a16="http://schemas.microsoft.com/office/drawing/2014/main" id="{1C51F5D2-B048-6800-93FC-309FBCF06FDD}"/>
                </a:ext>
              </a:extLst>
            </p:cNvPr>
            <p:cNvSpPr/>
            <p:nvPr/>
          </p:nvSpPr>
          <p:spPr>
            <a:xfrm>
              <a:off x="8361895" y="6487358"/>
              <a:ext cx="829121" cy="295631"/>
            </a:xfrm>
            <a:prstGeom prst="homePlate">
              <a:avLst>
                <a:gd name="adj" fmla="val 365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App deployment</a:t>
              </a:r>
              <a:endPara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Consider</a:t>
              </a:r>
            </a:p>
          </p:txBody>
        </p:sp>
      </p:grp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E83DC3C7-D3AA-5900-239A-6BEB2B48EF24}"/>
              </a:ext>
            </a:extLst>
          </p:cNvPr>
          <p:cNvCxnSpPr>
            <a:cxnSpLocks/>
          </p:cNvCxnSpPr>
          <p:nvPr/>
        </p:nvCxnSpPr>
        <p:spPr>
          <a:xfrm>
            <a:off x="8267901" y="855658"/>
            <a:ext cx="0" cy="578360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29550E20-2C43-B794-C8CE-7F44935E5A57}"/>
              </a:ext>
            </a:extLst>
          </p:cNvPr>
          <p:cNvSpPr txBox="1"/>
          <p:nvPr/>
        </p:nvSpPr>
        <p:spPr>
          <a:xfrm>
            <a:off x="7998506" y="640270"/>
            <a:ext cx="538790" cy="2153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TODAY</a:t>
            </a:r>
            <a:endParaRPr kumimoji="1" lang="ja-JP" alt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3" name="二等辺三角形 42">
            <a:extLst>
              <a:ext uri="{FF2B5EF4-FFF2-40B4-BE49-F238E27FC236}">
                <a16:creationId xmlns:a16="http://schemas.microsoft.com/office/drawing/2014/main" id="{E34F48DD-8EEA-789F-66D6-D173186548F2}"/>
              </a:ext>
            </a:extLst>
          </p:cNvPr>
          <p:cNvSpPr/>
          <p:nvPr/>
        </p:nvSpPr>
        <p:spPr>
          <a:xfrm flipV="1">
            <a:off x="10426667" y="1752790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08B1D954-6F4D-72C3-B7DA-8732368947CA}"/>
              </a:ext>
            </a:extLst>
          </p:cNvPr>
          <p:cNvSpPr txBox="1"/>
          <p:nvPr/>
        </p:nvSpPr>
        <p:spPr>
          <a:xfrm>
            <a:off x="10255489" y="1399082"/>
            <a:ext cx="590225" cy="3770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R6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TSI/TMY</a:t>
            </a:r>
            <a:endParaRPr kumimoji="1" lang="ja-JP" altLang="en-US" sz="80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7" name="二等辺三角形 46">
            <a:extLst>
              <a:ext uri="{FF2B5EF4-FFF2-40B4-BE49-F238E27FC236}">
                <a16:creationId xmlns:a16="http://schemas.microsoft.com/office/drawing/2014/main" id="{F16F246F-AD41-CE1F-F514-B59837DCA05D}"/>
              </a:ext>
            </a:extLst>
          </p:cNvPr>
          <p:cNvSpPr/>
          <p:nvPr/>
        </p:nvSpPr>
        <p:spPr>
          <a:xfrm flipV="1">
            <a:off x="10753355" y="1745583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B290F5B8-5522-B98D-216A-885F9F6F56F1}"/>
              </a:ext>
            </a:extLst>
          </p:cNvPr>
          <p:cNvSpPr txBox="1"/>
          <p:nvPr/>
        </p:nvSpPr>
        <p:spPr>
          <a:xfrm>
            <a:off x="10621437" y="1388681"/>
            <a:ext cx="44595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R8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TEE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8F37C5D1-2704-2A71-7781-32A38A8C1595}"/>
              </a:ext>
            </a:extLst>
          </p:cNvPr>
          <p:cNvSpPr txBox="1"/>
          <p:nvPr/>
        </p:nvSpPr>
        <p:spPr>
          <a:xfrm>
            <a:off x="11684621" y="1342401"/>
            <a:ext cx="566181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R10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TEK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TES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TMEA</a:t>
            </a:r>
          </a:p>
        </p:txBody>
      </p:sp>
      <p:sp>
        <p:nvSpPr>
          <p:cNvPr id="42" name="フローチャート: 処理 41">
            <a:extLst>
              <a:ext uri="{FF2B5EF4-FFF2-40B4-BE49-F238E27FC236}">
                <a16:creationId xmlns:a16="http://schemas.microsoft.com/office/drawing/2014/main" id="{887DB886-07CE-673A-7AD3-A79E1D192926}"/>
              </a:ext>
            </a:extLst>
          </p:cNvPr>
          <p:cNvSpPr/>
          <p:nvPr/>
        </p:nvSpPr>
        <p:spPr>
          <a:xfrm>
            <a:off x="8361895" y="5122575"/>
            <a:ext cx="3681232" cy="1568877"/>
          </a:xfrm>
          <a:prstGeom prst="flowChartProcess">
            <a:avLst/>
          </a:prstGeom>
          <a:solidFill>
            <a:schemeClr val="tx1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Replanning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Under “Product Governance Operation DX Project”</a:t>
            </a:r>
            <a:endParaRPr kumimoji="1" lang="ja-JP" altLang="en-US" sz="1800" b="1" i="0" u="none" strike="noStrike" kern="1200" cap="none" spc="0" normalizeH="0" baseline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148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2" y="248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610" imgH="623" progId="TCLayout.ActiveDocument.1">
                  <p:embed/>
                </p:oleObj>
              </mc:Choice>
              <mc:Fallback>
                <p:oleObj name="think-cell スライド" r:id="rId3" imgW="610" imgH="623" progId="TCLayout.ActiveDocument.1">
                  <p:embed/>
                  <p:pic>
                    <p:nvPicPr>
                      <p:cNvPr id="6" name="オブジェクト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62" y="248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/>
          <p:cNvSpPr/>
          <p:nvPr/>
        </p:nvSpPr>
        <p:spPr>
          <a:xfrm>
            <a:off x="72899" y="6063581"/>
            <a:ext cx="12027160" cy="620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799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1" name="正方形/長方形 111"/>
          <p:cNvSpPr/>
          <p:nvPr/>
        </p:nvSpPr>
        <p:spPr>
          <a:xfrm>
            <a:off x="8104764" y="2419195"/>
            <a:ext cx="2779632" cy="1074494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Traceability System </a:t>
            </a:r>
            <a:r>
              <a:rPr kumimoji="0" lang="ja-JP" altLang="en-US" sz="14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(app)</a:t>
            </a:r>
          </a:p>
        </p:txBody>
      </p:sp>
      <p:sp>
        <p:nvSpPr>
          <p:cNvPr id="79" name="正方形/長方形 13"/>
          <p:cNvSpPr/>
          <p:nvPr/>
        </p:nvSpPr>
        <p:spPr>
          <a:xfrm>
            <a:off x="1582461" y="2309023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SAP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/IPDB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0" name="正方形/長方形 20"/>
          <p:cNvSpPr/>
          <p:nvPr/>
        </p:nvSpPr>
        <p:spPr>
          <a:xfrm>
            <a:off x="1582461" y="3558294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Merit21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2" name="正方形/長方形 21"/>
          <p:cNvSpPr/>
          <p:nvPr/>
        </p:nvSpPr>
        <p:spPr>
          <a:xfrm>
            <a:off x="1582461" y="2933659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WISDOM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5" name="Freeform 765"/>
          <p:cNvSpPr>
            <a:spLocks noChangeAspect="1" noEditPoints="1"/>
          </p:cNvSpPr>
          <p:nvPr/>
        </p:nvSpPr>
        <p:spPr bwMode="gray">
          <a:xfrm>
            <a:off x="11069879" y="2731733"/>
            <a:ext cx="459033" cy="459033"/>
          </a:xfrm>
          <a:custGeom>
            <a:avLst/>
            <a:gdLst>
              <a:gd name="T0" fmla="*/ 213 w 512"/>
              <a:gd name="T1" fmla="*/ 160 h 512"/>
              <a:gd name="T2" fmla="*/ 256 w 512"/>
              <a:gd name="T3" fmla="*/ 117 h 512"/>
              <a:gd name="T4" fmla="*/ 298 w 512"/>
              <a:gd name="T5" fmla="*/ 160 h 512"/>
              <a:gd name="T6" fmla="*/ 256 w 512"/>
              <a:gd name="T7" fmla="*/ 202 h 512"/>
              <a:gd name="T8" fmla="*/ 213 w 512"/>
              <a:gd name="T9" fmla="*/ 160 h 512"/>
              <a:gd name="T10" fmla="*/ 512 w 512"/>
              <a:gd name="T11" fmla="*/ 256 h 512"/>
              <a:gd name="T12" fmla="*/ 256 w 512"/>
              <a:gd name="T13" fmla="*/ 512 h 512"/>
              <a:gd name="T14" fmla="*/ 0 w 512"/>
              <a:gd name="T15" fmla="*/ 256 h 512"/>
              <a:gd name="T16" fmla="*/ 256 w 512"/>
              <a:gd name="T17" fmla="*/ 0 h 512"/>
              <a:gd name="T18" fmla="*/ 512 w 512"/>
              <a:gd name="T19" fmla="*/ 256 h 512"/>
              <a:gd name="T20" fmla="*/ 192 w 512"/>
              <a:gd name="T21" fmla="*/ 160 h 512"/>
              <a:gd name="T22" fmla="*/ 256 w 512"/>
              <a:gd name="T23" fmla="*/ 224 h 512"/>
              <a:gd name="T24" fmla="*/ 320 w 512"/>
              <a:gd name="T25" fmla="*/ 160 h 512"/>
              <a:gd name="T26" fmla="*/ 256 w 512"/>
              <a:gd name="T27" fmla="*/ 96 h 512"/>
              <a:gd name="T28" fmla="*/ 192 w 512"/>
              <a:gd name="T29" fmla="*/ 160 h 512"/>
              <a:gd name="T30" fmla="*/ 384 w 512"/>
              <a:gd name="T31" fmla="*/ 309 h 512"/>
              <a:gd name="T32" fmla="*/ 320 w 512"/>
              <a:gd name="T33" fmla="*/ 245 h 512"/>
              <a:gd name="T34" fmla="*/ 192 w 512"/>
              <a:gd name="T35" fmla="*/ 245 h 512"/>
              <a:gd name="T36" fmla="*/ 128 w 512"/>
              <a:gd name="T37" fmla="*/ 309 h 512"/>
              <a:gd name="T38" fmla="*/ 128 w 512"/>
              <a:gd name="T39" fmla="*/ 405 h 512"/>
              <a:gd name="T40" fmla="*/ 138 w 512"/>
              <a:gd name="T41" fmla="*/ 416 h 512"/>
              <a:gd name="T42" fmla="*/ 149 w 512"/>
              <a:gd name="T43" fmla="*/ 405 h 512"/>
              <a:gd name="T44" fmla="*/ 149 w 512"/>
              <a:gd name="T45" fmla="*/ 309 h 512"/>
              <a:gd name="T46" fmla="*/ 192 w 512"/>
              <a:gd name="T47" fmla="*/ 266 h 512"/>
              <a:gd name="T48" fmla="*/ 320 w 512"/>
              <a:gd name="T49" fmla="*/ 266 h 512"/>
              <a:gd name="T50" fmla="*/ 362 w 512"/>
              <a:gd name="T51" fmla="*/ 309 h 512"/>
              <a:gd name="T52" fmla="*/ 362 w 512"/>
              <a:gd name="T53" fmla="*/ 405 h 512"/>
              <a:gd name="T54" fmla="*/ 373 w 512"/>
              <a:gd name="T55" fmla="*/ 416 h 512"/>
              <a:gd name="T56" fmla="*/ 384 w 512"/>
              <a:gd name="T57" fmla="*/ 405 h 512"/>
              <a:gd name="T58" fmla="*/ 384 w 512"/>
              <a:gd name="T59" fmla="*/ 309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512" h="512">
                <a:moveTo>
                  <a:pt x="213" y="160"/>
                </a:moveTo>
                <a:cubicBezTo>
                  <a:pt x="213" y="136"/>
                  <a:pt x="232" y="117"/>
                  <a:pt x="256" y="117"/>
                </a:cubicBezTo>
                <a:cubicBezTo>
                  <a:pt x="279" y="117"/>
                  <a:pt x="298" y="136"/>
                  <a:pt x="298" y="160"/>
                </a:cubicBezTo>
                <a:cubicBezTo>
                  <a:pt x="298" y="183"/>
                  <a:pt x="279" y="202"/>
                  <a:pt x="256" y="202"/>
                </a:cubicBezTo>
                <a:cubicBezTo>
                  <a:pt x="232" y="202"/>
                  <a:pt x="213" y="183"/>
                  <a:pt x="213" y="160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192" y="160"/>
                </a:moveTo>
                <a:cubicBezTo>
                  <a:pt x="192" y="195"/>
                  <a:pt x="220" y="224"/>
                  <a:pt x="256" y="224"/>
                </a:cubicBezTo>
                <a:cubicBezTo>
                  <a:pt x="291" y="224"/>
                  <a:pt x="320" y="195"/>
                  <a:pt x="320" y="160"/>
                </a:cubicBezTo>
                <a:cubicBezTo>
                  <a:pt x="320" y="124"/>
                  <a:pt x="291" y="96"/>
                  <a:pt x="256" y="96"/>
                </a:cubicBezTo>
                <a:cubicBezTo>
                  <a:pt x="220" y="96"/>
                  <a:pt x="192" y="124"/>
                  <a:pt x="192" y="160"/>
                </a:cubicBezTo>
                <a:close/>
                <a:moveTo>
                  <a:pt x="384" y="309"/>
                </a:moveTo>
                <a:cubicBezTo>
                  <a:pt x="384" y="274"/>
                  <a:pt x="355" y="245"/>
                  <a:pt x="320" y="245"/>
                </a:cubicBezTo>
                <a:cubicBezTo>
                  <a:pt x="192" y="245"/>
                  <a:pt x="192" y="245"/>
                  <a:pt x="192" y="245"/>
                </a:cubicBezTo>
                <a:cubicBezTo>
                  <a:pt x="156" y="245"/>
                  <a:pt x="128" y="274"/>
                  <a:pt x="128" y="309"/>
                </a:cubicBezTo>
                <a:cubicBezTo>
                  <a:pt x="128" y="405"/>
                  <a:pt x="128" y="405"/>
                  <a:pt x="128" y="405"/>
                </a:cubicBezTo>
                <a:cubicBezTo>
                  <a:pt x="128" y="411"/>
                  <a:pt x="132" y="416"/>
                  <a:pt x="138" y="416"/>
                </a:cubicBezTo>
                <a:cubicBezTo>
                  <a:pt x="144" y="416"/>
                  <a:pt x="149" y="411"/>
                  <a:pt x="149" y="405"/>
                </a:cubicBezTo>
                <a:cubicBezTo>
                  <a:pt x="149" y="309"/>
                  <a:pt x="149" y="309"/>
                  <a:pt x="149" y="309"/>
                </a:cubicBezTo>
                <a:cubicBezTo>
                  <a:pt x="149" y="285"/>
                  <a:pt x="168" y="266"/>
                  <a:pt x="192" y="266"/>
                </a:cubicBezTo>
                <a:cubicBezTo>
                  <a:pt x="320" y="266"/>
                  <a:pt x="320" y="266"/>
                  <a:pt x="320" y="266"/>
                </a:cubicBezTo>
                <a:cubicBezTo>
                  <a:pt x="343" y="266"/>
                  <a:pt x="362" y="285"/>
                  <a:pt x="362" y="309"/>
                </a:cubicBezTo>
                <a:cubicBezTo>
                  <a:pt x="362" y="405"/>
                  <a:pt x="362" y="405"/>
                  <a:pt x="362" y="405"/>
                </a:cubicBezTo>
                <a:cubicBezTo>
                  <a:pt x="362" y="411"/>
                  <a:pt x="367" y="416"/>
                  <a:pt x="373" y="416"/>
                </a:cubicBezTo>
                <a:cubicBezTo>
                  <a:pt x="379" y="416"/>
                  <a:pt x="384" y="411"/>
                  <a:pt x="384" y="405"/>
                </a:cubicBezTo>
                <a:lnTo>
                  <a:pt x="384" y="3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/>
              <a:cs typeface="Arial"/>
            </a:endParaRPr>
          </a:p>
        </p:txBody>
      </p:sp>
      <p:grpSp>
        <p:nvGrpSpPr>
          <p:cNvPr id="88" name="Group 87"/>
          <p:cNvGrpSpPr/>
          <p:nvPr/>
        </p:nvGrpSpPr>
        <p:grpSpPr>
          <a:xfrm>
            <a:off x="8143611" y="2645943"/>
            <a:ext cx="2293567" cy="713648"/>
            <a:chOff x="8836615" y="1777011"/>
            <a:chExt cx="2372471" cy="713834"/>
          </a:xfrm>
        </p:grpSpPr>
        <p:sp>
          <p:nvSpPr>
            <p:cNvPr id="89" name="楕円 182"/>
            <p:cNvSpPr/>
            <p:nvPr/>
          </p:nvSpPr>
          <p:spPr>
            <a:xfrm>
              <a:off x="8836615" y="1777011"/>
              <a:ext cx="1225655" cy="332135"/>
            </a:xfrm>
            <a:prstGeom prst="ellipse">
              <a:avLst/>
            </a:prstGeom>
            <a:solidFill>
              <a:srgbClr val="00A9E0">
                <a:lumMod val="20000"/>
                <a:lumOff val="80000"/>
              </a:srgbClr>
            </a:solidFill>
            <a:ln w="190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7427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700" b="0" i="0" u="none" strike="noStrike" kern="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FCN/SI parts</a:t>
              </a:r>
              <a:endParaRPr kumimoji="0" lang="en-US" altLang="ja-JP" sz="700" b="0" i="0" u="none" strike="noStrike" kern="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/>
              </a:endParaRPr>
            </a:p>
            <a:p>
              <a:pPr marL="0" marR="0" lvl="0" indent="0" algn="ctr" defTabSz="7427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700" b="0" i="0" u="none" strike="noStrike" kern="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Tracking</a:t>
              </a:r>
            </a:p>
          </p:txBody>
        </p:sp>
        <p:sp>
          <p:nvSpPr>
            <p:cNvPr id="90" name="楕円 183"/>
            <p:cNvSpPr/>
            <p:nvPr/>
          </p:nvSpPr>
          <p:spPr>
            <a:xfrm>
              <a:off x="8836615" y="2158710"/>
              <a:ext cx="1146816" cy="332135"/>
            </a:xfrm>
            <a:prstGeom prst="ellipse">
              <a:avLst/>
            </a:prstGeom>
            <a:solidFill>
              <a:srgbClr val="EEDC00">
                <a:lumMod val="20000"/>
                <a:lumOff val="80000"/>
              </a:srgbClr>
            </a:solidFill>
            <a:ln w="190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7427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700" b="0" i="0" u="none" strike="noStrike" kern="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parts</a:t>
              </a:r>
              <a:endParaRPr kumimoji="0" lang="en-US" altLang="ja-JP" sz="700" b="0" i="0" u="none" strike="noStrike" kern="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/>
              </a:endParaRPr>
            </a:p>
            <a:p>
              <a:pPr marL="0" marR="0" lvl="0" indent="0" algn="ctr" defTabSz="7427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700" b="0" i="0" u="none" strike="noStrike" kern="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Lifespan Management</a:t>
              </a:r>
            </a:p>
          </p:txBody>
        </p:sp>
        <p:sp>
          <p:nvSpPr>
            <p:cNvPr id="91" name="楕円 184"/>
            <p:cNvSpPr/>
            <p:nvPr/>
          </p:nvSpPr>
          <p:spPr>
            <a:xfrm>
              <a:off x="10062270" y="1777011"/>
              <a:ext cx="1146816" cy="332135"/>
            </a:xfrm>
            <a:prstGeom prst="ellipse">
              <a:avLst/>
            </a:prstGeom>
            <a:solidFill>
              <a:srgbClr val="8031A7">
                <a:lumMod val="20000"/>
                <a:lumOff val="80000"/>
              </a:srgbClr>
            </a:solidFill>
            <a:ln w="190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rIns="0" anchor="ctr"/>
            <a:lstStyle/>
            <a:p>
              <a:pPr marL="0" marR="0" lvl="0" indent="0" algn="ctr" defTabSz="7427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700" b="0" i="0" u="none" strike="noStrike" kern="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Inquiry parts inspection result processing</a:t>
              </a:r>
            </a:p>
          </p:txBody>
        </p:sp>
        <p:sp>
          <p:nvSpPr>
            <p:cNvPr id="93" name="楕円 185"/>
            <p:cNvSpPr/>
            <p:nvPr/>
          </p:nvSpPr>
          <p:spPr>
            <a:xfrm>
              <a:off x="10062270" y="2158710"/>
              <a:ext cx="1146816" cy="332135"/>
            </a:xfrm>
            <a:prstGeom prst="ellipse">
              <a:avLst/>
            </a:prstGeom>
            <a:solidFill>
              <a:srgbClr val="78BE20">
                <a:lumMod val="20000"/>
                <a:lumOff val="80000"/>
              </a:srgbClr>
            </a:solidFill>
            <a:ln w="190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7427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700" b="0" i="0" u="none" strike="noStrike" kern="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Machine difference</a:t>
              </a:r>
              <a:endParaRPr kumimoji="0" lang="en-US" altLang="ja-JP" sz="700" b="0" i="0" u="none" strike="noStrike" kern="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/>
              </a:endParaRPr>
            </a:p>
            <a:p>
              <a:pPr marL="0" marR="0" lvl="0" indent="0" algn="ctr" defTabSz="7427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700" b="0" i="0" u="none" strike="noStrike" kern="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trouble</a:t>
              </a:r>
            </a:p>
          </p:txBody>
        </p:sp>
      </p:grpSp>
      <p:sp>
        <p:nvSpPr>
          <p:cNvPr id="94" name="円柱 47"/>
          <p:cNvSpPr/>
          <p:nvPr/>
        </p:nvSpPr>
        <p:spPr>
          <a:xfrm>
            <a:off x="5107452" y="2659034"/>
            <a:ext cx="1116268" cy="745006"/>
          </a:xfrm>
          <a:prstGeom prst="can">
            <a:avLst>
              <a:gd name="adj" fmla="val 27628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marL="0" marR="0" lvl="0" indent="0" algn="ctr" defTabSz="7427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0" cap="none" spc="0" normalizeH="0" baseline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GMX</a:t>
            </a:r>
          </a:p>
          <a:p>
            <a:pPr marL="0" marR="0" lvl="0" indent="0" algn="ctr" defTabSz="7427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00" b="1" i="0" u="none" strike="noStrike" kern="0" cap="none" spc="0" normalizeH="0" baseline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*Green text: Obtained via GMX</a:t>
            </a:r>
            <a:endParaRPr kumimoji="0" lang="en-US" altLang="ja-JP" sz="700" b="1" i="0" u="none" strike="noStrike" kern="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98" name="直線矢印コネクタ 2"/>
          <p:cNvCxnSpPr>
            <a:cxnSpLocks/>
            <a:stCxn id="79" idx="3"/>
          </p:cNvCxnSpPr>
          <p:nvPr/>
        </p:nvCxnSpPr>
        <p:spPr>
          <a:xfrm>
            <a:off x="2518321" y="2596980"/>
            <a:ext cx="23483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テキスト ボックス 61"/>
          <p:cNvSpPr txBox="1"/>
          <p:nvPr/>
        </p:nvSpPr>
        <p:spPr>
          <a:xfrm>
            <a:off x="2716486" y="2364737"/>
            <a:ext cx="1160187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Parts Item Code Information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Assy item code information</a:t>
            </a: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Traceability flag 5 items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Parts master information</a:t>
            </a:r>
          </a:p>
        </p:txBody>
      </p:sp>
      <p:cxnSp>
        <p:nvCxnSpPr>
          <p:cNvPr id="100" name="カギ線コネクタ 15"/>
          <p:cNvCxnSpPr>
            <a:cxnSpLocks/>
            <a:stCxn id="82" idx="3"/>
            <a:endCxn id="135" idx="1"/>
          </p:cNvCxnSpPr>
          <p:nvPr/>
        </p:nvCxnSpPr>
        <p:spPr>
          <a:xfrm flipV="1">
            <a:off x="2518321" y="2913399"/>
            <a:ext cx="2348368" cy="30821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60"/>
          <p:cNvSpPr txBox="1"/>
          <p:nvPr/>
        </p:nvSpPr>
        <p:spPr>
          <a:xfrm>
            <a:off x="2716486" y="3098540"/>
            <a:ext cx="1224694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Equipment Master Information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Equipment history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(Relocation, decommissioning, etc.)</a:t>
            </a:r>
            <a:endParaRPr kumimoji="0" lang="ja-JP" altLang="en-US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02" name="カギ線コネクタ 58"/>
          <p:cNvCxnSpPr>
            <a:cxnSpLocks/>
            <a:stCxn id="80" idx="3"/>
          </p:cNvCxnSpPr>
          <p:nvPr/>
        </p:nvCxnSpPr>
        <p:spPr>
          <a:xfrm flipV="1">
            <a:off x="2518321" y="3285882"/>
            <a:ext cx="2348368" cy="56036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テキスト ボックス 137"/>
          <p:cNvSpPr txBox="1"/>
          <p:nvPr/>
        </p:nvSpPr>
        <p:spPr>
          <a:xfrm>
            <a:off x="2716485" y="3784715"/>
            <a:ext cx="902170" cy="1077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7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Device configuration</a:t>
            </a:r>
          </a:p>
        </p:txBody>
      </p:sp>
      <p:cxnSp>
        <p:nvCxnSpPr>
          <p:cNvPr id="105" name="カギ線コネクタ 63"/>
          <p:cNvCxnSpPr>
            <a:cxnSpLocks/>
          </p:cNvCxnSpPr>
          <p:nvPr/>
        </p:nvCxnSpPr>
        <p:spPr>
          <a:xfrm rot="5400000" flipH="1" flipV="1">
            <a:off x="1666384" y="2773035"/>
            <a:ext cx="2628310" cy="3991372"/>
          </a:xfrm>
          <a:prstGeom prst="bentConnector3">
            <a:avLst>
              <a:gd name="adj1" fmla="val 7164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テキスト ボックス 140"/>
          <p:cNvSpPr txBox="1"/>
          <p:nvPr/>
        </p:nvSpPr>
        <p:spPr>
          <a:xfrm>
            <a:off x="561402" y="5481138"/>
            <a:ext cx="1059264" cy="323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Supplier Information</a:t>
            </a:r>
            <a:endParaRPr kumimoji="0" lang="en-US" altLang="ja-JP" sz="7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7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Parts Inspection Results</a:t>
            </a:r>
            <a:endParaRPr kumimoji="0" lang="en-US" altLang="ja-JP" sz="7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7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Assy inspection results</a:t>
            </a:r>
            <a:endParaRPr kumimoji="0" lang="en-US" altLang="ja-JP" sz="7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10" name="カギ線コネクタ 80"/>
          <p:cNvCxnSpPr>
            <a:cxnSpLocks/>
          </p:cNvCxnSpPr>
          <p:nvPr/>
        </p:nvCxnSpPr>
        <p:spPr>
          <a:xfrm rot="5400000" flipH="1" flipV="1">
            <a:off x="3721070" y="3670566"/>
            <a:ext cx="1980000" cy="1548000"/>
          </a:xfrm>
          <a:prstGeom prst="bentConnector3">
            <a:avLst>
              <a:gd name="adj1" fmla="val 5157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テキスト ボックス 142"/>
          <p:cNvSpPr txBox="1"/>
          <p:nvPr/>
        </p:nvSpPr>
        <p:spPr>
          <a:xfrm>
            <a:off x="3140847" y="4513238"/>
            <a:ext cx="1905230" cy="7386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equipment production results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parts/assembly production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Assy supplier production performance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Parts/Assy disposal record during manufacturing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parts/assembly in-process inspection results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parts/assembly pre-shipment inspection results</a:t>
            </a: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equipment in-process inspection results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14" name="カギ線コネクタ 71"/>
          <p:cNvCxnSpPr>
            <a:cxnSpLocks/>
          </p:cNvCxnSpPr>
          <p:nvPr/>
        </p:nvCxnSpPr>
        <p:spPr>
          <a:xfrm rot="5400000" flipH="1" flipV="1">
            <a:off x="4246518" y="4573587"/>
            <a:ext cx="2664000" cy="425959"/>
          </a:xfrm>
          <a:prstGeom prst="bentConnector3">
            <a:avLst>
              <a:gd name="adj1" fmla="val 5373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カギ線コネクタ 107"/>
          <p:cNvCxnSpPr>
            <a:cxnSpLocks/>
          </p:cNvCxnSpPr>
          <p:nvPr/>
        </p:nvCxnSpPr>
        <p:spPr>
          <a:xfrm rot="16200000" flipV="1">
            <a:off x="6096984" y="3831039"/>
            <a:ext cx="2531626" cy="1778682"/>
          </a:xfrm>
          <a:prstGeom prst="bentConnector3">
            <a:avLst>
              <a:gd name="adj1" fmla="val 7719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カギ線コネクタ 107"/>
          <p:cNvCxnSpPr>
            <a:cxnSpLocks/>
          </p:cNvCxnSpPr>
          <p:nvPr/>
        </p:nvCxnSpPr>
        <p:spPr>
          <a:xfrm rot="16200000" flipV="1">
            <a:off x="6953641" y="3418521"/>
            <a:ext cx="2621841" cy="2693932"/>
          </a:xfrm>
          <a:prstGeom prst="bentConnector3">
            <a:avLst>
              <a:gd name="adj1" fmla="val 9024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テキスト ボックス 162"/>
          <p:cNvSpPr txBox="1"/>
          <p:nvPr/>
        </p:nvSpPr>
        <p:spPr>
          <a:xfrm>
            <a:off x="9056085" y="5279744"/>
            <a:ext cx="1078821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Parts assembly performance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Parts removal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Assy assembly performance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Assy removal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*FE customer work track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32" name="カギ線コネクタ 89"/>
          <p:cNvCxnSpPr>
            <a:cxnSpLocks/>
            <a:stCxn id="71" idx="2"/>
            <a:endCxn id="130" idx="0"/>
          </p:cNvCxnSpPr>
          <p:nvPr/>
        </p:nvCxnSpPr>
        <p:spPr>
          <a:xfrm rot="16200000" flipH="1">
            <a:off x="9576069" y="3412200"/>
            <a:ext cx="1320293" cy="1483270"/>
          </a:xfrm>
          <a:prstGeom prst="bentConnector3">
            <a:avLst>
              <a:gd name="adj1" fmla="val 21624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テキスト ボックス 91"/>
          <p:cNvSpPr txBox="1"/>
          <p:nvPr/>
        </p:nvSpPr>
        <p:spPr>
          <a:xfrm>
            <a:off x="9898717" y="4279974"/>
            <a:ext cx="1745350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Trouble information (supplier)</a:t>
            </a: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Trouble information (factory)</a:t>
            </a:r>
            <a:endParaRPr kumimoji="0" lang="ja-JP" altLang="en-US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Trouble information (after shipment from factory)</a:t>
            </a:r>
            <a:endParaRPr kumimoji="0" lang="ja-JP" altLang="en-US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34" name="テキスト ボックス 91"/>
          <p:cNvSpPr txBox="1"/>
          <p:nvPr/>
        </p:nvSpPr>
        <p:spPr>
          <a:xfrm>
            <a:off x="10371569" y="3846251"/>
            <a:ext cx="512827" cy="12307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Link reference</a:t>
            </a:r>
          </a:p>
        </p:txBody>
      </p:sp>
      <p:sp>
        <p:nvSpPr>
          <p:cNvPr id="135" name="正方形/長方形 14"/>
          <p:cNvSpPr/>
          <p:nvPr/>
        </p:nvSpPr>
        <p:spPr>
          <a:xfrm>
            <a:off x="4866691" y="2373375"/>
            <a:ext cx="3036632" cy="108004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1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Traceability Data</a:t>
            </a:r>
          </a:p>
        </p:txBody>
      </p:sp>
      <p:cxnSp>
        <p:nvCxnSpPr>
          <p:cNvPr id="75" name="カギ線コネクタ 69"/>
          <p:cNvCxnSpPr>
            <a:cxnSpLocks/>
          </p:cNvCxnSpPr>
          <p:nvPr/>
        </p:nvCxnSpPr>
        <p:spPr>
          <a:xfrm rot="5400000" flipH="1" flipV="1">
            <a:off x="2539905" y="3359741"/>
            <a:ext cx="2621839" cy="2811490"/>
          </a:xfrm>
          <a:prstGeom prst="bentConnector3">
            <a:avLst>
              <a:gd name="adj1" fmla="val 6906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カギ線コネクタ 103"/>
          <p:cNvCxnSpPr>
            <a:cxnSpLocks/>
          </p:cNvCxnSpPr>
          <p:nvPr/>
        </p:nvCxnSpPr>
        <p:spPr>
          <a:xfrm rot="16200000" flipV="1">
            <a:off x="5494368" y="4103170"/>
            <a:ext cx="1980000" cy="682794"/>
          </a:xfrm>
          <a:prstGeom prst="bentConnector3">
            <a:avLst>
              <a:gd name="adj1" fmla="val 6365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正方形/長方形 10"/>
          <p:cNvSpPr/>
          <p:nvPr/>
        </p:nvSpPr>
        <p:spPr>
          <a:xfrm>
            <a:off x="1963053" y="5441928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WMS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7" name="正方形/長方形 11"/>
          <p:cNvSpPr/>
          <p:nvPr/>
        </p:nvSpPr>
        <p:spPr>
          <a:xfrm>
            <a:off x="516917" y="6006537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TEXAS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DB</a:t>
            </a:r>
            <a:b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</a:br>
            <a:r>
              <a:rPr kumimoji="0" lang="en-US" altLang="ja-JP" sz="11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(3 systems)</a:t>
            </a:r>
            <a:endParaRPr kumimoji="0" lang="ja-JP" altLang="en-US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8" name="正方形/長方形 12"/>
          <p:cNvSpPr/>
          <p:nvPr/>
        </p:nvSpPr>
        <p:spPr>
          <a:xfrm>
            <a:off x="9138526" y="5979697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Service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CRM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3" name="正方形/長方形 64"/>
          <p:cNvSpPr/>
          <p:nvPr/>
        </p:nvSpPr>
        <p:spPr>
          <a:xfrm>
            <a:off x="7813979" y="5987042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TBD</a:t>
            </a:r>
            <a:endParaRPr kumimoji="0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(SAP/SMARTS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etc. under consideration)</a:t>
            </a:r>
            <a:endParaRPr kumimoji="0" lang="ja-JP" altLang="en-US" sz="7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7" name="正方形/長方形 9"/>
          <p:cNvSpPr/>
          <p:nvPr/>
        </p:nvSpPr>
        <p:spPr>
          <a:xfrm>
            <a:off x="3437375" y="5423920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Each factory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MES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(3 systems)</a:t>
            </a:r>
            <a:endParaRPr kumimoji="0" lang="ja-JP" altLang="en-US" sz="7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6" name="正方形/長方形 95"/>
          <p:cNvSpPr/>
          <p:nvPr/>
        </p:nvSpPr>
        <p:spPr>
          <a:xfrm>
            <a:off x="4881457" y="5422951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SAP MM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7" name="正方形/長方形 96"/>
          <p:cNvSpPr/>
          <p:nvPr/>
        </p:nvSpPr>
        <p:spPr>
          <a:xfrm>
            <a:off x="4881457" y="5995082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EWM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9" name="正方形/長方形 7"/>
          <p:cNvSpPr/>
          <p:nvPr/>
        </p:nvSpPr>
        <p:spPr>
          <a:xfrm>
            <a:off x="6341686" y="5422951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SAP(MM)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0" name="正方形/長方形 57"/>
          <p:cNvSpPr/>
          <p:nvPr/>
        </p:nvSpPr>
        <p:spPr>
          <a:xfrm>
            <a:off x="6341686" y="5995082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EWM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30" name="正方形/長方形 52"/>
          <p:cNvSpPr/>
          <p:nvPr/>
        </p:nvSpPr>
        <p:spPr>
          <a:xfrm>
            <a:off x="10509920" y="4813982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SCM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50" b="0" i="0" u="none" strike="noStrike" kern="1200" cap="none" spc="0" normalizeH="0" baseline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(Specially selected)</a:t>
            </a:r>
            <a:endParaRPr kumimoji="0" lang="ja-JP" altLang="en-US" sz="1050" b="0" i="0" u="none" strike="noStrike" kern="120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6" name="テキスト ボックス 144"/>
          <p:cNvSpPr txBox="1"/>
          <p:nvPr/>
        </p:nvSpPr>
        <p:spPr>
          <a:xfrm>
            <a:off x="7691332" y="5022265"/>
            <a:ext cx="1144224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Supplier Rework Track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Supplier Repair Track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Supplier overhaul track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rework results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repair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overhaul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Parts S/N change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31" name="テキスト ボックス 143"/>
          <p:cNvSpPr txBox="1"/>
          <p:nvPr/>
        </p:nvSpPr>
        <p:spPr>
          <a:xfrm>
            <a:off x="4999862" y="4392726"/>
            <a:ext cx="1463221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parts/assembly shipment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parts/assembly inventory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parts/Assy stock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Narita Parts/Assy Shipment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Narita Parts/Assy Stock Information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1" name="正方形/長方形 52"/>
          <p:cNvSpPr/>
          <p:nvPr/>
        </p:nvSpPr>
        <p:spPr>
          <a:xfrm>
            <a:off x="434232" y="1353923"/>
            <a:ext cx="3736902" cy="8081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rIns="71981" anchor="ctr"/>
          <a:lstStyle/>
          <a:p>
            <a:pPr marL="171399" marR="0" lvl="0" indent="-1713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1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It is expected that data required for traceability will be collected from multiple data source systems into the GMX container, ADP data lake, and production container. </a:t>
            </a:r>
            <a:endParaRPr kumimoji="0" lang="en-US" altLang="ja-JP" sz="11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2" name="正方形/長方形 52"/>
          <p:cNvSpPr/>
          <p:nvPr/>
        </p:nvSpPr>
        <p:spPr>
          <a:xfrm>
            <a:off x="4234492" y="1353923"/>
            <a:ext cx="3736902" cy="8081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rIns="71981" anchor="ctr"/>
          <a:lstStyle/>
          <a:p>
            <a:pPr marL="171399" marR="0" lvl="0" indent="-1713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9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The information collected in each container is expected to be stored in a form that can be searched using a traceability inquiry app. </a:t>
            </a:r>
            <a:endParaRPr kumimoji="0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171399" marR="0" lvl="0" indent="-1713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9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Any information that falls outside the data retention period specified by the main purpose of each container will be stored in a long-term storage container. </a:t>
            </a:r>
            <a:endParaRPr kumimoji="0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4" name="正方形/長方形 52"/>
          <p:cNvSpPr/>
          <p:nvPr/>
        </p:nvSpPr>
        <p:spPr>
          <a:xfrm>
            <a:off x="8034750" y="1334246"/>
            <a:ext cx="3702356" cy="8278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rIns="71981" anchor="ctr"/>
          <a:lstStyle/>
          <a:p>
            <a:pPr marL="171399" marR="0" lvl="0" indent="-1713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05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Build reports to check part history from various traceability data</a:t>
            </a:r>
            <a:endParaRPr kumimoji="0" lang="en-US" altLang="ja-JP" sz="105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171399" marR="0" lvl="0" indent="-1713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05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It also supports operations such as deriving part history from device configuration and tracking changes in part S/N. </a:t>
            </a:r>
          </a:p>
        </p:txBody>
      </p:sp>
      <p:sp>
        <p:nvSpPr>
          <p:cNvPr id="170" name="正方形/長方形 52"/>
          <p:cNvSpPr/>
          <p:nvPr/>
        </p:nvSpPr>
        <p:spPr>
          <a:xfrm>
            <a:off x="434232" y="1111218"/>
            <a:ext cx="3736902" cy="24270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rIns="7198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① Collection (EAI/ETL)</a:t>
            </a:r>
          </a:p>
        </p:txBody>
      </p:sp>
      <p:sp>
        <p:nvSpPr>
          <p:cNvPr id="171" name="正方形/長方形 52"/>
          <p:cNvSpPr/>
          <p:nvPr/>
        </p:nvSpPr>
        <p:spPr>
          <a:xfrm>
            <a:off x="4234492" y="1111218"/>
            <a:ext cx="3736902" cy="24270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rIns="7198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②Storage (DWH)</a:t>
            </a:r>
          </a:p>
        </p:txBody>
      </p:sp>
      <p:sp>
        <p:nvSpPr>
          <p:cNvPr id="172" name="正方形/長方形 52"/>
          <p:cNvSpPr/>
          <p:nvPr/>
        </p:nvSpPr>
        <p:spPr>
          <a:xfrm>
            <a:off x="8034750" y="1111218"/>
            <a:ext cx="3702356" cy="2427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rIns="7198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③ Inquiry (Parts Traceability System)</a:t>
            </a:r>
          </a:p>
        </p:txBody>
      </p:sp>
      <p:sp>
        <p:nvSpPr>
          <p:cNvPr id="176" name="Freeform 175"/>
          <p:cNvSpPr/>
          <p:nvPr/>
        </p:nvSpPr>
        <p:spPr>
          <a:xfrm>
            <a:off x="433115" y="2214761"/>
            <a:ext cx="11303991" cy="4407064"/>
          </a:xfrm>
          <a:custGeom>
            <a:avLst/>
            <a:gdLst>
              <a:gd name="connsiteX0" fmla="*/ 0 w 11306936"/>
              <a:gd name="connsiteY0" fmla="*/ 0 h 4408212"/>
              <a:gd name="connsiteX1" fmla="*/ 3703320 w 11306936"/>
              <a:gd name="connsiteY1" fmla="*/ 0 h 4408212"/>
              <a:gd name="connsiteX2" fmla="*/ 3703320 w 11306936"/>
              <a:gd name="connsiteY2" fmla="*/ 1446182 h 4408212"/>
              <a:gd name="connsiteX3" fmla="*/ 11306936 w 11306936"/>
              <a:gd name="connsiteY3" fmla="*/ 1446182 h 4408212"/>
              <a:gd name="connsiteX4" fmla="*/ 11306936 w 11306936"/>
              <a:gd name="connsiteY4" fmla="*/ 4408212 h 4408212"/>
              <a:gd name="connsiteX5" fmla="*/ 0 w 11306936"/>
              <a:gd name="connsiteY5" fmla="*/ 4408212 h 4408212"/>
              <a:gd name="connsiteX6" fmla="*/ 0 w 11306936"/>
              <a:gd name="connsiteY6" fmla="*/ 1820057 h 4408212"/>
              <a:gd name="connsiteX7" fmla="*/ 0 w 11306936"/>
              <a:gd name="connsiteY7" fmla="*/ 1446182 h 4408212"/>
              <a:gd name="connsiteX0" fmla="*/ 0 w 11306936"/>
              <a:gd name="connsiteY0" fmla="*/ 0 h 4408212"/>
              <a:gd name="connsiteX1" fmla="*/ 3703320 w 11306936"/>
              <a:gd name="connsiteY1" fmla="*/ 0 h 4408212"/>
              <a:gd name="connsiteX2" fmla="*/ 3703320 w 11306936"/>
              <a:gd name="connsiteY2" fmla="*/ 1494734 h 4408212"/>
              <a:gd name="connsiteX3" fmla="*/ 11306936 w 11306936"/>
              <a:gd name="connsiteY3" fmla="*/ 1446182 h 4408212"/>
              <a:gd name="connsiteX4" fmla="*/ 11306936 w 11306936"/>
              <a:gd name="connsiteY4" fmla="*/ 4408212 h 4408212"/>
              <a:gd name="connsiteX5" fmla="*/ 0 w 11306936"/>
              <a:gd name="connsiteY5" fmla="*/ 4408212 h 4408212"/>
              <a:gd name="connsiteX6" fmla="*/ 0 w 11306936"/>
              <a:gd name="connsiteY6" fmla="*/ 1820057 h 4408212"/>
              <a:gd name="connsiteX7" fmla="*/ 0 w 11306936"/>
              <a:gd name="connsiteY7" fmla="*/ 1446182 h 4408212"/>
              <a:gd name="connsiteX8" fmla="*/ 0 w 11306936"/>
              <a:gd name="connsiteY8" fmla="*/ 0 h 4408212"/>
              <a:gd name="connsiteX0" fmla="*/ 0 w 11306936"/>
              <a:gd name="connsiteY0" fmla="*/ 0 h 4408212"/>
              <a:gd name="connsiteX1" fmla="*/ 3703320 w 11306936"/>
              <a:gd name="connsiteY1" fmla="*/ 0 h 4408212"/>
              <a:gd name="connsiteX2" fmla="*/ 3703320 w 11306936"/>
              <a:gd name="connsiteY2" fmla="*/ 1494734 h 4408212"/>
              <a:gd name="connsiteX3" fmla="*/ 11306936 w 11306936"/>
              <a:gd name="connsiteY3" fmla="*/ 1502826 h 4408212"/>
              <a:gd name="connsiteX4" fmla="*/ 11306936 w 11306936"/>
              <a:gd name="connsiteY4" fmla="*/ 4408212 h 4408212"/>
              <a:gd name="connsiteX5" fmla="*/ 0 w 11306936"/>
              <a:gd name="connsiteY5" fmla="*/ 4408212 h 4408212"/>
              <a:gd name="connsiteX6" fmla="*/ 0 w 11306936"/>
              <a:gd name="connsiteY6" fmla="*/ 1820057 h 4408212"/>
              <a:gd name="connsiteX7" fmla="*/ 0 w 11306936"/>
              <a:gd name="connsiteY7" fmla="*/ 1446182 h 4408212"/>
              <a:gd name="connsiteX8" fmla="*/ 0 w 11306936"/>
              <a:gd name="connsiteY8" fmla="*/ 0 h 440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06936" h="4408212">
                <a:moveTo>
                  <a:pt x="0" y="0"/>
                </a:moveTo>
                <a:lnTo>
                  <a:pt x="3703320" y="0"/>
                </a:lnTo>
                <a:lnTo>
                  <a:pt x="3703320" y="1494734"/>
                </a:lnTo>
                <a:lnTo>
                  <a:pt x="11306936" y="1502826"/>
                </a:lnTo>
                <a:lnTo>
                  <a:pt x="11306936" y="4408212"/>
                </a:lnTo>
                <a:lnTo>
                  <a:pt x="0" y="4408212"/>
                </a:lnTo>
                <a:lnTo>
                  <a:pt x="0" y="1820057"/>
                </a:lnTo>
                <a:lnTo>
                  <a:pt x="0" y="1446182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999" b="1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4897" y="2245628"/>
            <a:ext cx="1028741" cy="305479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defPPr>
              <a:defRPr lang="en-US"/>
            </a:defPPr>
            <a:lvl1pPr>
              <a:defRPr kumimoji="1" sz="20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99" b="1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collection</a:t>
            </a:r>
          </a:p>
        </p:txBody>
      </p:sp>
      <p:sp>
        <p:nvSpPr>
          <p:cNvPr id="60" name="正方形/長方形 69"/>
          <p:cNvSpPr/>
          <p:nvPr/>
        </p:nvSpPr>
        <p:spPr>
          <a:xfrm>
            <a:off x="4244822" y="2223220"/>
            <a:ext cx="3702356" cy="1357827"/>
          </a:xfrm>
          <a:prstGeom prst="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999" b="1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4244825" y="2245628"/>
            <a:ext cx="1028741" cy="305479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defPPr>
              <a:defRPr lang="en-US"/>
            </a:defPPr>
            <a:lvl1pPr>
              <a:defRPr kumimoji="1" sz="20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99" b="1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Store</a:t>
            </a:r>
          </a:p>
        </p:txBody>
      </p:sp>
      <p:sp>
        <p:nvSpPr>
          <p:cNvPr id="57" name="正方形/長方形 2"/>
          <p:cNvSpPr/>
          <p:nvPr/>
        </p:nvSpPr>
        <p:spPr>
          <a:xfrm>
            <a:off x="8034750" y="2223927"/>
            <a:ext cx="3702356" cy="1363840"/>
          </a:xfrm>
          <a:prstGeom prst="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999" b="1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10926326" y="2245628"/>
            <a:ext cx="1028741" cy="305479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defPPr>
              <a:defRPr lang="en-US"/>
            </a:defPPr>
            <a:lvl1pPr>
              <a:defRPr kumimoji="1" sz="20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inquiry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Step 1/2 Traceability System Collaboration Overview</a:t>
            </a:r>
            <a:endParaRPr lang="ja-JP" altLang="en-US" sz="2000"/>
          </a:p>
        </p:txBody>
      </p:sp>
      <p:sp>
        <p:nvSpPr>
          <p:cNvPr id="74" name="正方形/長方形 73"/>
          <p:cNvSpPr/>
          <p:nvPr/>
        </p:nvSpPr>
        <p:spPr>
          <a:xfrm>
            <a:off x="7988983" y="1080307"/>
            <a:ext cx="3798091" cy="2568807"/>
          </a:xfrm>
          <a:prstGeom prst="rect">
            <a:avLst/>
          </a:prstGeom>
          <a:noFill/>
          <a:ln w="3810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49" name="正方形/長方形 52">
            <a:extLst>
              <a:ext uri="{FF2B5EF4-FFF2-40B4-BE49-F238E27FC236}">
                <a16:creationId xmlns:a16="http://schemas.microsoft.com/office/drawing/2014/main" id="{8027C99F-4AC0-4D05-B117-A510564F448D}"/>
              </a:ext>
            </a:extLst>
          </p:cNvPr>
          <p:cNvSpPr/>
          <p:nvPr/>
        </p:nvSpPr>
        <p:spPr>
          <a:xfrm>
            <a:off x="10509920" y="5395007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QVICS-i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50" name="正方形/長方形 52">
            <a:extLst>
              <a:ext uri="{FF2B5EF4-FFF2-40B4-BE49-F238E27FC236}">
                <a16:creationId xmlns:a16="http://schemas.microsoft.com/office/drawing/2014/main" id="{CF1C6C6C-3A6E-4D29-94FF-58AFF3908EAD}"/>
              </a:ext>
            </a:extLst>
          </p:cNvPr>
          <p:cNvSpPr/>
          <p:nvPr/>
        </p:nvSpPr>
        <p:spPr>
          <a:xfrm>
            <a:off x="10509920" y="5976032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TELe Search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58" name="正方形/長方形 9">
            <a:extLst>
              <a:ext uri="{FF2B5EF4-FFF2-40B4-BE49-F238E27FC236}">
                <a16:creationId xmlns:a16="http://schemas.microsoft.com/office/drawing/2014/main" id="{1A6FD391-5ABF-4B75-A2C5-8FEC7D5A15E5}"/>
              </a:ext>
            </a:extLst>
          </p:cNvPr>
          <p:cNvSpPr/>
          <p:nvPr/>
        </p:nvSpPr>
        <p:spPr>
          <a:xfrm>
            <a:off x="3437375" y="6004327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Each factory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Local system (8 systems)</a:t>
            </a:r>
            <a:endParaRPr kumimoji="0" lang="ja-JP" altLang="en-US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60" name="正方形/長方形 9">
            <a:extLst>
              <a:ext uri="{FF2B5EF4-FFF2-40B4-BE49-F238E27FC236}">
                <a16:creationId xmlns:a16="http://schemas.microsoft.com/office/drawing/2014/main" id="{F2E18B93-6E1C-46B1-B081-6500921266C0}"/>
              </a:ext>
            </a:extLst>
          </p:cNvPr>
          <p:cNvSpPr/>
          <p:nvPr/>
        </p:nvSpPr>
        <p:spPr>
          <a:xfrm>
            <a:off x="1963053" y="6004327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BaaN</a:t>
            </a:r>
            <a:endParaRPr kumimoji="0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5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(Historical data)</a:t>
            </a:r>
            <a:endParaRPr kumimoji="0" lang="ja-JP" altLang="en-US" sz="105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2" name="テキスト ボックス 149"/>
          <p:cNvSpPr txBox="1"/>
          <p:nvPr/>
        </p:nvSpPr>
        <p:spPr>
          <a:xfrm>
            <a:off x="1167596" y="4401630"/>
            <a:ext cx="1923283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equipment production results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parts/assembly production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Assy supplier production performance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equipment shipment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parts/assembly shipment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parts/assembly inventory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parts/assembly disposal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parts/assembly acceptance inspection results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parts/Assy/Equipment inventory information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5" name="テキスト ボックス 49"/>
          <p:cNvSpPr txBox="1"/>
          <p:nvPr/>
        </p:nvSpPr>
        <p:spPr>
          <a:xfrm>
            <a:off x="6212823" y="5022265"/>
            <a:ext cx="1472839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Genpo parts/assembly shipment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Genpo parts/Assy disposal record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6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Deposit parts/Assy inventory information</a:t>
            </a:r>
            <a:endParaRPr kumimoji="0" lang="en-US" altLang="ja-JP" sz="6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1" name="円柱 47">
            <a:extLst>
              <a:ext uri="{FF2B5EF4-FFF2-40B4-BE49-F238E27FC236}">
                <a16:creationId xmlns:a16="http://schemas.microsoft.com/office/drawing/2014/main" id="{90DD199A-2B73-4D3B-A997-65EAC064611B}"/>
              </a:ext>
            </a:extLst>
          </p:cNvPr>
          <p:cNvSpPr/>
          <p:nvPr/>
        </p:nvSpPr>
        <p:spPr>
          <a:xfrm>
            <a:off x="6439865" y="2659034"/>
            <a:ext cx="1170455" cy="745006"/>
          </a:xfrm>
          <a:prstGeom prst="can">
            <a:avLst>
              <a:gd name="adj" fmla="val 27628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/>
          <a:p>
            <a:pPr marL="0" marR="0" lvl="0" indent="0" algn="ctr" defTabSz="7427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Traceability</a:t>
            </a:r>
            <a:endParaRPr kumimoji="0" lang="en-US" altLang="ja-JP" sz="1200" b="1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7427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Data Mart</a:t>
            </a:r>
            <a:endParaRPr kumimoji="0" lang="en-US" altLang="ja-JP" sz="1200" b="1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04" name="直線矢印コネクタ 2">
            <a:extLst>
              <a:ext uri="{FF2B5EF4-FFF2-40B4-BE49-F238E27FC236}">
                <a16:creationId xmlns:a16="http://schemas.microsoft.com/office/drawing/2014/main" id="{31EB9E2E-7220-4DE0-8AF7-BD9A2A7AD3CA}"/>
              </a:ext>
            </a:extLst>
          </p:cNvPr>
          <p:cNvCxnSpPr>
            <a:cxnSpLocks/>
            <a:stCxn id="94" idx="4"/>
            <a:endCxn id="81" idx="2"/>
          </p:cNvCxnSpPr>
          <p:nvPr/>
        </p:nvCxnSpPr>
        <p:spPr>
          <a:xfrm>
            <a:off x="6223720" y="3031537"/>
            <a:ext cx="21614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ホームベース 8">
            <a:extLst>
              <a:ext uri="{FF2B5EF4-FFF2-40B4-BE49-F238E27FC236}">
                <a16:creationId xmlns:a16="http://schemas.microsoft.com/office/drawing/2014/main" id="{933EFC01-0EC9-A1C4-2755-60E1DBCFFA6D}"/>
              </a:ext>
            </a:extLst>
          </p:cNvPr>
          <p:cNvSpPr/>
          <p:nvPr/>
        </p:nvSpPr>
        <p:spPr>
          <a:xfrm>
            <a:off x="9623035" y="156426"/>
            <a:ext cx="683822" cy="287925"/>
          </a:xfrm>
          <a:prstGeom prst="homePlate">
            <a:avLst>
              <a:gd name="adj" fmla="val 9502"/>
            </a:avLst>
          </a:prstGeom>
          <a:solidFill>
            <a:schemeClr val="accent2"/>
          </a:solidFill>
          <a:ln w="2857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Step3</a:t>
            </a:r>
          </a:p>
        </p:txBody>
      </p:sp>
      <p:sp>
        <p:nvSpPr>
          <p:cNvPr id="4" name="ホームベース 7">
            <a:extLst>
              <a:ext uri="{FF2B5EF4-FFF2-40B4-BE49-F238E27FC236}">
                <a16:creationId xmlns:a16="http://schemas.microsoft.com/office/drawing/2014/main" id="{6B22F200-CEAA-EA25-B390-54DFB12E1291}"/>
              </a:ext>
            </a:extLst>
          </p:cNvPr>
          <p:cNvSpPr/>
          <p:nvPr/>
        </p:nvSpPr>
        <p:spPr>
          <a:xfrm>
            <a:off x="8981860" y="156426"/>
            <a:ext cx="683822" cy="287925"/>
          </a:xfrm>
          <a:prstGeom prst="homePlate">
            <a:avLst>
              <a:gd name="adj" fmla="val 9502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Step2</a:t>
            </a:r>
          </a:p>
        </p:txBody>
      </p:sp>
      <p:sp>
        <p:nvSpPr>
          <p:cNvPr id="5" name="ホームベース 4">
            <a:extLst>
              <a:ext uri="{FF2B5EF4-FFF2-40B4-BE49-F238E27FC236}">
                <a16:creationId xmlns:a16="http://schemas.microsoft.com/office/drawing/2014/main" id="{3DF5C7DF-18A2-86B4-9DD4-10BE7A364AE7}"/>
              </a:ext>
            </a:extLst>
          </p:cNvPr>
          <p:cNvSpPr/>
          <p:nvPr/>
        </p:nvSpPr>
        <p:spPr>
          <a:xfrm>
            <a:off x="8340684" y="156426"/>
            <a:ext cx="683822" cy="287925"/>
          </a:xfrm>
          <a:prstGeom prst="homePlate">
            <a:avLst>
              <a:gd name="adj" fmla="val 9502"/>
            </a:avLst>
          </a:prstGeom>
          <a:solidFill>
            <a:srgbClr val="1DB5D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Step1</a:t>
            </a:r>
            <a:endParaRPr kumimoji="0" lang="ja-JP" alt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E92A948-F015-8C49-4A15-61FB9186C2C0}"/>
              </a:ext>
            </a:extLst>
          </p:cNvPr>
          <p:cNvSpPr/>
          <p:nvPr/>
        </p:nvSpPr>
        <p:spPr>
          <a:xfrm>
            <a:off x="8340686" y="135390"/>
            <a:ext cx="1324998" cy="321243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799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869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オブジェクト 90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7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660" imgH="659" progId="TCLayout.ActiveDocument.1">
                  <p:embed/>
                </p:oleObj>
              </mc:Choice>
              <mc:Fallback>
                <p:oleObj name="think-cell スライド" r:id="rId4" imgW="660" imgH="659" progId="TCLayout.ActiveDocument.1">
                  <p:embed/>
                  <p:pic>
                    <p:nvPicPr>
                      <p:cNvPr id="91" name="オブジェクト 90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77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64CA4E1E-21F4-49B6-B6A3-39D683DBD12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88" y="0"/>
            <a:ext cx="158750" cy="1587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altLang="ja-JP" sz="3000">
              <a:solidFill>
                <a:srgbClr val="2D2D2D"/>
              </a:solidFill>
              <a:latin typeface="Arial" panose="020B0604020202020204" pitchFamily="34" charset="0"/>
              <a:ea typeface="Meiryo" panose="020B0604030504040204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Traceability System</a:t>
            </a:r>
            <a:r>
              <a:rPr lang="en-US" altLang="ja-JP" sz="1800"/>
              <a:t>(Tracing</a:t>
            </a:r>
            <a:r>
              <a:rPr lang="ja-JP" altLang="en-US" sz="1800"/>
              <a:t> </a:t>
            </a:r>
            <a:r>
              <a:rPr lang="en-US" altLang="ja-JP" sz="1800"/>
              <a:t>App) </a:t>
            </a:r>
            <a:r>
              <a:rPr lang="en-US" altLang="ja-JP"/>
              <a:t>Themes to be Covered</a:t>
            </a:r>
            <a:endParaRPr kumimoji="1" lang="ja-JP" altLang="en-US"/>
          </a:p>
        </p:txBody>
      </p:sp>
      <p:sp>
        <p:nvSpPr>
          <p:cNvPr id="36" name="正方形/長方形 35"/>
          <p:cNvSpPr/>
          <p:nvPr/>
        </p:nvSpPr>
        <p:spPr>
          <a:xfrm>
            <a:off x="6806770" y="2163056"/>
            <a:ext cx="2064374" cy="54635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Identifying whereabouts of parts subject to FCN/SI</a:t>
            </a:r>
          </a:p>
        </p:txBody>
      </p:sp>
      <p:sp>
        <p:nvSpPr>
          <p:cNvPr id="76" name="正方形/長方形 75"/>
          <p:cNvSpPr/>
          <p:nvPr/>
        </p:nvSpPr>
        <p:spPr>
          <a:xfrm>
            <a:off x="6797873" y="2847575"/>
            <a:ext cx="2064374" cy="54635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Responding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to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customer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inquiries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regarding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parts</a:t>
            </a: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0" name="正方形/長方形 79"/>
          <p:cNvSpPr/>
          <p:nvPr/>
        </p:nvSpPr>
        <p:spPr>
          <a:xfrm>
            <a:off x="6797873" y="3533802"/>
            <a:ext cx="2064374" cy="54635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Identifying and analyzing equipment variation, issues, conditions, etc.</a:t>
            </a:r>
          </a:p>
        </p:txBody>
      </p:sp>
      <p:sp>
        <p:nvSpPr>
          <p:cNvPr id="90" name="正方形/長方形 89"/>
          <p:cNvSpPr/>
          <p:nvPr/>
        </p:nvSpPr>
        <p:spPr>
          <a:xfrm>
            <a:off x="6797873" y="4195959"/>
            <a:ext cx="2064374" cy="54635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 Parts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Mgmt.</a:t>
            </a:r>
            <a:b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</a:br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(</a:t>
            </a:r>
            <a:r>
              <a:rPr kumimoji="0"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Checking up on to-be expired parts during a certain period)</a:t>
            </a:r>
            <a:endParaRPr lang="ja-JP" altLang="en-US" sz="105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2" name="正方形/長方形 91"/>
          <p:cNvSpPr/>
          <p:nvPr/>
        </p:nvSpPr>
        <p:spPr>
          <a:xfrm>
            <a:off x="6797873" y="4889286"/>
            <a:ext cx="2064374" cy="54635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 Parts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Mgmt.</a:t>
            </a:r>
            <a:b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</a:br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(Checking</a:t>
            </a:r>
            <a:r>
              <a:rPr lang="ja-JP" altLang="en-US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up</a:t>
            </a:r>
            <a:r>
              <a:rPr lang="ja-JP" altLang="en-US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on</a:t>
            </a:r>
            <a:r>
              <a:rPr lang="ja-JP" altLang="en-US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shelf-life/best-before date</a:t>
            </a:r>
            <a:r>
              <a:rPr lang="ja-JP" altLang="en-US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monthly)</a:t>
            </a:r>
            <a:endParaRPr lang="ja-JP" altLang="en-US" sz="105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3" name="正方形/長方形 92"/>
          <p:cNvSpPr/>
          <p:nvPr/>
        </p:nvSpPr>
        <p:spPr>
          <a:xfrm>
            <a:off x="6807503" y="5534534"/>
            <a:ext cx="2064374" cy="54635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 Parts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Mgmt.</a:t>
            </a:r>
          </a:p>
          <a:p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(</a:t>
            </a:r>
            <a:r>
              <a:rPr kumimoji="0"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Exporting a list of managed parts when preparing for shipment)</a:t>
            </a:r>
            <a:endParaRPr lang="ja-JP" altLang="en-US" sz="9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4" name="正方形/長方形 93"/>
          <p:cNvSpPr/>
          <p:nvPr/>
        </p:nvSpPr>
        <p:spPr>
          <a:xfrm>
            <a:off x="6806770" y="1477893"/>
            <a:ext cx="2064374" cy="54635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Identifying equipment subject to FCN (traceable to parts)</a:t>
            </a:r>
          </a:p>
        </p:txBody>
      </p:sp>
      <p:sp>
        <p:nvSpPr>
          <p:cNvPr id="95" name="正方形/長方形 94"/>
          <p:cNvSpPr/>
          <p:nvPr/>
        </p:nvSpPr>
        <p:spPr>
          <a:xfrm>
            <a:off x="6537623" y="1482714"/>
            <a:ext cx="227108" cy="5463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1</a:t>
            </a:r>
            <a:endParaRPr lang="ja-JP" altLang="en-US" sz="1400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6" name="正方形/長方形 95"/>
          <p:cNvSpPr/>
          <p:nvPr/>
        </p:nvSpPr>
        <p:spPr>
          <a:xfrm>
            <a:off x="6537623" y="2163056"/>
            <a:ext cx="227108" cy="5463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2</a:t>
            </a:r>
            <a:endParaRPr lang="ja-JP" altLang="en-US" sz="1400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7" name="正方形/長方形 96"/>
          <p:cNvSpPr/>
          <p:nvPr/>
        </p:nvSpPr>
        <p:spPr>
          <a:xfrm>
            <a:off x="6529916" y="2843398"/>
            <a:ext cx="227108" cy="5463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3</a:t>
            </a:r>
            <a:endParaRPr lang="ja-JP" altLang="en-US" sz="1400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8" name="正方形/長方形 97"/>
          <p:cNvSpPr/>
          <p:nvPr/>
        </p:nvSpPr>
        <p:spPr>
          <a:xfrm>
            <a:off x="6528451" y="3528866"/>
            <a:ext cx="227108" cy="5463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4</a:t>
            </a:r>
            <a:endParaRPr lang="ja-JP" altLang="en-US" sz="1400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9" name="正方形/長方形 98"/>
          <p:cNvSpPr/>
          <p:nvPr/>
        </p:nvSpPr>
        <p:spPr>
          <a:xfrm>
            <a:off x="6519107" y="4201766"/>
            <a:ext cx="227108" cy="5463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5</a:t>
            </a:r>
            <a:endParaRPr lang="ja-JP" altLang="en-US" sz="1400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0" name="正方形/長方形 99"/>
          <p:cNvSpPr/>
          <p:nvPr/>
        </p:nvSpPr>
        <p:spPr>
          <a:xfrm>
            <a:off x="6527704" y="4887234"/>
            <a:ext cx="227108" cy="5463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6</a:t>
            </a:r>
            <a:endParaRPr lang="ja-JP" altLang="en-US" sz="1400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3" name="正方形/長方形 102"/>
          <p:cNvSpPr/>
          <p:nvPr/>
        </p:nvSpPr>
        <p:spPr>
          <a:xfrm>
            <a:off x="6535435" y="5537638"/>
            <a:ext cx="227108" cy="5463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7</a:t>
            </a:r>
            <a:endParaRPr lang="ja-JP" altLang="en-US" sz="1400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pic>
        <p:nvPicPr>
          <p:cNvPr id="42" name="図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9601" y="2855451"/>
            <a:ext cx="999927" cy="5463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</p:pic>
      <p:pic>
        <p:nvPicPr>
          <p:cNvPr id="45" name="図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600" y="3535002"/>
            <a:ext cx="999927" cy="5463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</p:pic>
      <p:pic>
        <p:nvPicPr>
          <p:cNvPr id="46" name="図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9601" y="1466273"/>
            <a:ext cx="999927" cy="5463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</p:pic>
      <p:pic>
        <p:nvPicPr>
          <p:cNvPr id="47" name="図 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9601" y="2145227"/>
            <a:ext cx="999927" cy="5463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</p:pic>
      <p:pic>
        <p:nvPicPr>
          <p:cNvPr id="48" name="図 4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19599" y="4196811"/>
            <a:ext cx="999927" cy="5463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</p:pic>
      <p:pic>
        <p:nvPicPr>
          <p:cNvPr id="49" name="図 4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19597" y="4875765"/>
            <a:ext cx="999927" cy="5463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</p:pic>
      <p:pic>
        <p:nvPicPr>
          <p:cNvPr id="50" name="図 4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19597" y="5530438"/>
            <a:ext cx="999927" cy="5463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</p:pic>
      <p:sp>
        <p:nvSpPr>
          <p:cNvPr id="104" name="正方形/長方形 103"/>
          <p:cNvSpPr/>
          <p:nvPr/>
        </p:nvSpPr>
        <p:spPr>
          <a:xfrm>
            <a:off x="8913183" y="1474436"/>
            <a:ext cx="2064374" cy="54635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Find out which parts are installed to which equipment, by tracking S/N</a:t>
            </a:r>
          </a:p>
        </p:txBody>
      </p:sp>
      <p:sp>
        <p:nvSpPr>
          <p:cNvPr id="105" name="正方形/長方形 104"/>
          <p:cNvSpPr/>
          <p:nvPr/>
        </p:nvSpPr>
        <p:spPr>
          <a:xfrm>
            <a:off x="8913183" y="2159518"/>
            <a:ext cx="2064374" cy="54635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Find out where the FCN/SI parts are currently being used</a:t>
            </a:r>
          </a:p>
        </p:txBody>
      </p:sp>
      <p:sp>
        <p:nvSpPr>
          <p:cNvPr id="106" name="正方形/長方形 105"/>
          <p:cNvSpPr/>
          <p:nvPr/>
        </p:nvSpPr>
        <p:spPr>
          <a:xfrm>
            <a:off x="8913183" y="2850263"/>
            <a:ext cx="2064374" cy="54635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Look up information about parts requested by the customer</a:t>
            </a:r>
          </a:p>
        </p:txBody>
      </p:sp>
      <p:sp>
        <p:nvSpPr>
          <p:cNvPr id="107" name="正方形/長方形 106"/>
          <p:cNvSpPr/>
          <p:nvPr/>
        </p:nvSpPr>
        <p:spPr>
          <a:xfrm>
            <a:off x="8913183" y="3529547"/>
            <a:ext cx="2064374" cy="54635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Look up information about parts linked to specific equipment</a:t>
            </a:r>
          </a:p>
        </p:txBody>
      </p:sp>
      <p:sp>
        <p:nvSpPr>
          <p:cNvPr id="108" name="正方形/長方形 107"/>
          <p:cNvSpPr/>
          <p:nvPr/>
        </p:nvSpPr>
        <p:spPr>
          <a:xfrm>
            <a:off x="8913183" y="4195959"/>
            <a:ext cx="2064374" cy="54635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Look up shelf-life/best-before life about parts that have been requested for shipment</a:t>
            </a:r>
          </a:p>
        </p:txBody>
      </p:sp>
      <p:sp>
        <p:nvSpPr>
          <p:cNvPr id="109" name="正方形/長方形 108"/>
          <p:cNvSpPr/>
          <p:nvPr/>
        </p:nvSpPr>
        <p:spPr>
          <a:xfrm>
            <a:off x="8912162" y="4889842"/>
            <a:ext cx="2064374" cy="54635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Regularly check shelf-life/best-before life of inventory parts</a:t>
            </a:r>
          </a:p>
        </p:txBody>
      </p:sp>
      <p:sp>
        <p:nvSpPr>
          <p:cNvPr id="110" name="正方形/長方形 109"/>
          <p:cNvSpPr/>
          <p:nvPr/>
        </p:nvSpPr>
        <p:spPr>
          <a:xfrm>
            <a:off x="8917870" y="5537638"/>
            <a:ext cx="2064374" cy="54635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Check whether parts preparing for shipment is not expired</a:t>
            </a: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7847854" y="1104967"/>
            <a:ext cx="28836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u="sng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Use Cases(Tracing</a:t>
            </a:r>
            <a:r>
              <a:rPr lang="ja-JP" altLang="en-US" sz="1400" b="1" u="sng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400" b="1" u="sng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App</a:t>
            </a:r>
            <a:r>
              <a:rPr lang="ja-JP" altLang="en-US" sz="1400" b="1" u="sng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400" b="1" u="sng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Screen)</a:t>
            </a:r>
            <a:endParaRPr lang="ja-JP" altLang="en-US" sz="1400" b="1" u="sng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64" name="直線コネクタ 63"/>
          <p:cNvCxnSpPr>
            <a:cxnSpLocks/>
            <a:stCxn id="124" idx="3"/>
            <a:endCxn id="97" idx="1"/>
          </p:cNvCxnSpPr>
          <p:nvPr/>
        </p:nvCxnSpPr>
        <p:spPr>
          <a:xfrm>
            <a:off x="5402614" y="1735671"/>
            <a:ext cx="1127302" cy="13809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コネクタ 110"/>
          <p:cNvCxnSpPr>
            <a:cxnSpLocks/>
            <a:stCxn id="69" idx="3"/>
            <a:endCxn id="95" idx="1"/>
          </p:cNvCxnSpPr>
          <p:nvPr/>
        </p:nvCxnSpPr>
        <p:spPr>
          <a:xfrm flipV="1">
            <a:off x="5402617" y="1755892"/>
            <a:ext cx="1135007" cy="4665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コネクタ 112"/>
          <p:cNvCxnSpPr>
            <a:cxnSpLocks/>
            <a:stCxn id="69" idx="3"/>
            <a:endCxn id="96" idx="1"/>
          </p:cNvCxnSpPr>
          <p:nvPr/>
        </p:nvCxnSpPr>
        <p:spPr>
          <a:xfrm>
            <a:off x="5402617" y="2222439"/>
            <a:ext cx="1135007" cy="21379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コネクタ 115"/>
          <p:cNvCxnSpPr>
            <a:cxnSpLocks/>
            <a:stCxn id="70" idx="3"/>
            <a:endCxn id="97" idx="1"/>
          </p:cNvCxnSpPr>
          <p:nvPr/>
        </p:nvCxnSpPr>
        <p:spPr>
          <a:xfrm>
            <a:off x="5402616" y="2746089"/>
            <a:ext cx="1127300" cy="37048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コネクタ 118"/>
          <p:cNvCxnSpPr>
            <a:cxnSpLocks/>
            <a:stCxn id="71" idx="3"/>
            <a:endCxn id="98" idx="1"/>
          </p:cNvCxnSpPr>
          <p:nvPr/>
        </p:nvCxnSpPr>
        <p:spPr>
          <a:xfrm>
            <a:off x="5402617" y="3267257"/>
            <a:ext cx="1125835" cy="53478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コネクタ 122"/>
          <p:cNvCxnSpPr>
            <a:cxnSpLocks/>
            <a:stCxn id="78" idx="3"/>
            <a:endCxn id="98" idx="1"/>
          </p:cNvCxnSpPr>
          <p:nvPr/>
        </p:nvCxnSpPr>
        <p:spPr>
          <a:xfrm>
            <a:off x="5402615" y="3798573"/>
            <a:ext cx="1125837" cy="34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コネクタ 125"/>
          <p:cNvCxnSpPr>
            <a:cxnSpLocks/>
            <a:stCxn id="73" idx="3"/>
            <a:endCxn id="98" idx="1"/>
          </p:cNvCxnSpPr>
          <p:nvPr/>
        </p:nvCxnSpPr>
        <p:spPr>
          <a:xfrm flipV="1">
            <a:off x="5402615" y="3802044"/>
            <a:ext cx="1125836" cy="53658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コネクタ 128"/>
          <p:cNvCxnSpPr>
            <a:cxnSpLocks/>
            <a:stCxn id="74" idx="3"/>
            <a:endCxn id="98" idx="1"/>
          </p:cNvCxnSpPr>
          <p:nvPr/>
        </p:nvCxnSpPr>
        <p:spPr>
          <a:xfrm flipV="1">
            <a:off x="5402617" y="3802044"/>
            <a:ext cx="1125835" cy="105178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コネクタ 131"/>
          <p:cNvCxnSpPr>
            <a:cxnSpLocks/>
            <a:stCxn id="75" idx="3"/>
            <a:endCxn id="99" idx="1"/>
          </p:cNvCxnSpPr>
          <p:nvPr/>
        </p:nvCxnSpPr>
        <p:spPr>
          <a:xfrm flipV="1">
            <a:off x="5402617" y="4474944"/>
            <a:ext cx="1116491" cy="112586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コネクタ 134"/>
          <p:cNvCxnSpPr>
            <a:cxnSpLocks/>
            <a:stCxn id="75" idx="3"/>
            <a:endCxn id="100" idx="1"/>
          </p:cNvCxnSpPr>
          <p:nvPr/>
        </p:nvCxnSpPr>
        <p:spPr>
          <a:xfrm flipV="1">
            <a:off x="5402616" y="5160412"/>
            <a:ext cx="1125088" cy="44039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コネクタ 137"/>
          <p:cNvCxnSpPr>
            <a:cxnSpLocks/>
            <a:stCxn id="75" idx="3"/>
            <a:endCxn id="103" idx="1"/>
          </p:cNvCxnSpPr>
          <p:nvPr/>
        </p:nvCxnSpPr>
        <p:spPr>
          <a:xfrm>
            <a:off x="5402617" y="5600805"/>
            <a:ext cx="1132819" cy="2100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E5793839-0182-4AF4-BB59-861DBB86CADF}"/>
              </a:ext>
            </a:extLst>
          </p:cNvPr>
          <p:cNvSpPr/>
          <p:nvPr/>
        </p:nvSpPr>
        <p:spPr>
          <a:xfrm>
            <a:off x="3294236" y="1999137"/>
            <a:ext cx="2108381" cy="446603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2. Identify equipment which FCN/SI part is installed</a:t>
            </a:r>
            <a:endParaRPr kumimoji="0" lang="ja-JP" altLang="en-US" sz="1100" b="1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AC8625CC-B24C-4275-9C76-66ECEC8ED5A7}"/>
              </a:ext>
            </a:extLst>
          </p:cNvPr>
          <p:cNvSpPr/>
          <p:nvPr/>
        </p:nvSpPr>
        <p:spPr>
          <a:xfrm>
            <a:off x="3294236" y="2522787"/>
            <a:ext cx="2108381" cy="446603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3.</a:t>
            </a:r>
            <a:r>
              <a:rPr kumimoji="0" lang="ja-JP" altLang="en-US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Respond</a:t>
            </a:r>
            <a:r>
              <a:rPr kumimoji="0" lang="ja-JP" altLang="en-US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to</a:t>
            </a:r>
            <a:r>
              <a:rPr kumimoji="0" lang="ja-JP" altLang="en-US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customer</a:t>
            </a:r>
            <a:r>
              <a:rPr kumimoji="0" lang="ja-JP" altLang="en-US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inquiries quicker</a:t>
            </a:r>
            <a:endParaRPr kumimoji="0" lang="ja-JP" altLang="en-US" sz="1100" b="1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6F94E351-4BF2-4526-8C29-B2DCF06C640B}"/>
              </a:ext>
            </a:extLst>
          </p:cNvPr>
          <p:cNvSpPr/>
          <p:nvPr/>
        </p:nvSpPr>
        <p:spPr>
          <a:xfrm>
            <a:off x="3294236" y="3043956"/>
            <a:ext cx="2108381" cy="446603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4. Analyze</a:t>
            </a:r>
            <a:r>
              <a:rPr kumimoji="0" lang="ja-JP" altLang="en-US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causes of trouble</a:t>
            </a:r>
            <a:endParaRPr kumimoji="0" lang="ja-JP" altLang="en-US" sz="1100" b="1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8BC112F0-C8CE-4728-A49C-6ECF3BA646C1}"/>
              </a:ext>
            </a:extLst>
          </p:cNvPr>
          <p:cNvSpPr/>
          <p:nvPr/>
        </p:nvSpPr>
        <p:spPr>
          <a:xfrm>
            <a:off x="1699199" y="3572032"/>
            <a:ext cx="212801" cy="149802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ja-JP" sz="11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2</a:t>
            </a:r>
            <a:endParaRPr kumimoji="0" lang="ja-JP" altLang="en-US" sz="1100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522CA18A-75A2-4B25-9755-55ACBBD61A48}"/>
              </a:ext>
            </a:extLst>
          </p:cNvPr>
          <p:cNvSpPr/>
          <p:nvPr/>
        </p:nvSpPr>
        <p:spPr>
          <a:xfrm>
            <a:off x="3294235" y="4097369"/>
            <a:ext cx="2108381" cy="482526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6. Analyze</a:t>
            </a:r>
            <a:r>
              <a:rPr kumimoji="0" lang="ja-JP" altLang="en-US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the</a:t>
            </a:r>
            <a:r>
              <a:rPr kumimoji="0" lang="ja-JP" altLang="en-US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condition of equipment</a:t>
            </a:r>
            <a:endParaRPr kumimoji="0" lang="ja-JP" altLang="en-US" sz="1100" b="1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965D5DFF-AF8C-4E0C-85F3-2B88850FB87F}"/>
              </a:ext>
            </a:extLst>
          </p:cNvPr>
          <p:cNvSpPr/>
          <p:nvPr/>
        </p:nvSpPr>
        <p:spPr>
          <a:xfrm>
            <a:off x="3294236" y="4637415"/>
            <a:ext cx="2108381" cy="43283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7.</a:t>
            </a:r>
            <a:r>
              <a:rPr kumimoji="0" lang="ja-JP" altLang="en-US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Analyze the frequency of part defects</a:t>
            </a:r>
            <a:endParaRPr kumimoji="0" lang="ja-JP" altLang="en-US" sz="1100" b="1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AF9677FA-6B37-46C5-AB06-915182FB84B7}"/>
              </a:ext>
            </a:extLst>
          </p:cNvPr>
          <p:cNvSpPr/>
          <p:nvPr/>
        </p:nvSpPr>
        <p:spPr>
          <a:xfrm>
            <a:off x="3294236" y="5143710"/>
            <a:ext cx="2108381" cy="91418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8.</a:t>
            </a:r>
            <a:r>
              <a:rPr kumimoji="0" lang="ja-JP" altLang="en-US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Manage</a:t>
            </a:r>
            <a:r>
              <a:rPr kumimoji="0" lang="ja-JP" altLang="en-US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kumimoji="0" lang="ja-JP" altLang="en-US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of</a:t>
            </a:r>
            <a:r>
              <a:rPr kumimoji="0" lang="ja-JP" altLang="en-US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parts</a:t>
            </a:r>
            <a:endParaRPr kumimoji="0" lang="ja-JP" altLang="en-US" sz="1100" b="1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80635E28-EAFE-49C0-A16A-75E1D3B85421}"/>
              </a:ext>
            </a:extLst>
          </p:cNvPr>
          <p:cNvSpPr/>
          <p:nvPr/>
        </p:nvSpPr>
        <p:spPr>
          <a:xfrm>
            <a:off x="1699199" y="1502857"/>
            <a:ext cx="226171" cy="199552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ja-JP" sz="11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1</a:t>
            </a:r>
            <a:endParaRPr kumimoji="0" lang="ja-JP" altLang="en-US" sz="1100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A45E2EC9-0C79-4755-BE62-A75169458127}"/>
              </a:ext>
            </a:extLst>
          </p:cNvPr>
          <p:cNvSpPr/>
          <p:nvPr/>
        </p:nvSpPr>
        <p:spPr>
          <a:xfrm>
            <a:off x="3294234" y="3567283"/>
            <a:ext cx="2108381" cy="46258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5.</a:t>
            </a:r>
            <a:r>
              <a:rPr kumimoji="0" lang="ja-JP" altLang="en-US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Analyze tool-to-tool &amp; chamber-to-chamber matching</a:t>
            </a:r>
            <a:endParaRPr kumimoji="0" lang="ja-JP" altLang="en-US" sz="1100" b="1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E40CE49E-0C0F-4469-A485-1148C6332ACF}"/>
              </a:ext>
            </a:extLst>
          </p:cNvPr>
          <p:cNvSpPr/>
          <p:nvPr/>
        </p:nvSpPr>
        <p:spPr>
          <a:xfrm>
            <a:off x="243753" y="3353446"/>
            <a:ext cx="1276946" cy="1057612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kumimoji="0" lang="en-US" altLang="ja-JP" sz="12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High-Level Product Quality Assurance</a:t>
            </a:r>
            <a:endParaRPr kumimoji="0" lang="ja-JP" altLang="en-US" sz="1200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81" name="カギ線コネクタ 60">
            <a:extLst>
              <a:ext uri="{FF2B5EF4-FFF2-40B4-BE49-F238E27FC236}">
                <a16:creationId xmlns:a16="http://schemas.microsoft.com/office/drawing/2014/main" id="{62E0F897-3B30-411D-845B-28786BE73C10}"/>
              </a:ext>
            </a:extLst>
          </p:cNvPr>
          <p:cNvCxnSpPr>
            <a:stCxn id="77" idx="1"/>
            <a:endCxn id="79" idx="3"/>
          </p:cNvCxnSpPr>
          <p:nvPr/>
        </p:nvCxnSpPr>
        <p:spPr>
          <a:xfrm rot="10800000" flipV="1">
            <a:off x="1520698" y="2500618"/>
            <a:ext cx="178500" cy="1381635"/>
          </a:xfrm>
          <a:prstGeom prst="bentConnector3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カギ線コネクタ 61">
            <a:extLst>
              <a:ext uri="{FF2B5EF4-FFF2-40B4-BE49-F238E27FC236}">
                <a16:creationId xmlns:a16="http://schemas.microsoft.com/office/drawing/2014/main" id="{BCD54DBA-175B-4984-BEEA-F40D0AAE1A64}"/>
              </a:ext>
            </a:extLst>
          </p:cNvPr>
          <p:cNvCxnSpPr>
            <a:stCxn id="72" idx="1"/>
            <a:endCxn id="79" idx="3"/>
          </p:cNvCxnSpPr>
          <p:nvPr/>
        </p:nvCxnSpPr>
        <p:spPr>
          <a:xfrm rot="10800000">
            <a:off x="1520698" y="3882253"/>
            <a:ext cx="178500" cy="438789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カギ線コネクタ 64">
            <a:extLst>
              <a:ext uri="{FF2B5EF4-FFF2-40B4-BE49-F238E27FC236}">
                <a16:creationId xmlns:a16="http://schemas.microsoft.com/office/drawing/2014/main" id="{89E30925-1C11-4FA8-8BFC-2D9373D006F7}"/>
              </a:ext>
            </a:extLst>
          </p:cNvPr>
          <p:cNvCxnSpPr>
            <a:cxnSpLocks/>
            <a:stCxn id="118" idx="1"/>
            <a:endCxn id="79" idx="3"/>
          </p:cNvCxnSpPr>
          <p:nvPr/>
        </p:nvCxnSpPr>
        <p:spPr>
          <a:xfrm rot="10800000">
            <a:off x="1520699" y="3882252"/>
            <a:ext cx="178500" cy="171855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B2E632EC-E6F5-4CB7-9332-502F411B330E}"/>
              </a:ext>
            </a:extLst>
          </p:cNvPr>
          <p:cNvCxnSpPr/>
          <p:nvPr/>
        </p:nvCxnSpPr>
        <p:spPr>
          <a:xfrm>
            <a:off x="278079" y="1446398"/>
            <a:ext cx="120829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A38EDC2D-838D-4AE9-8F16-7CD56B12F460}"/>
              </a:ext>
            </a:extLst>
          </p:cNvPr>
          <p:cNvCxnSpPr/>
          <p:nvPr/>
        </p:nvCxnSpPr>
        <p:spPr>
          <a:xfrm>
            <a:off x="1699199" y="1446398"/>
            <a:ext cx="15240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B1311D95-9C3C-4A70-A01B-D0CB05386A25}"/>
              </a:ext>
            </a:extLst>
          </p:cNvPr>
          <p:cNvSpPr txBox="1"/>
          <p:nvPr/>
        </p:nvSpPr>
        <p:spPr>
          <a:xfrm>
            <a:off x="645647" y="1183986"/>
            <a:ext cx="5277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Goal</a:t>
            </a:r>
            <a:endParaRPr kumimoji="0" lang="ja-JP" altLang="en-US" sz="1200" b="1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5AD8B148-64F6-4C51-A36F-BB082F291668}"/>
              </a:ext>
            </a:extLst>
          </p:cNvPr>
          <p:cNvSpPr txBox="1"/>
          <p:nvPr/>
        </p:nvSpPr>
        <p:spPr>
          <a:xfrm>
            <a:off x="2181700" y="1183986"/>
            <a:ext cx="679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Theme</a:t>
            </a:r>
            <a:endParaRPr kumimoji="0" lang="ja-JP" altLang="en-US" sz="1200" b="1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F6C9A0E9-7473-4324-9BD6-A40D3646990C}"/>
              </a:ext>
            </a:extLst>
          </p:cNvPr>
          <p:cNvSpPr/>
          <p:nvPr/>
        </p:nvSpPr>
        <p:spPr>
          <a:xfrm>
            <a:off x="1925371" y="1502858"/>
            <a:ext cx="1297921" cy="1995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Faster Response to Quality Issues</a:t>
            </a: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28CC42DA-A290-48DC-96F0-516AE8E901FD}"/>
              </a:ext>
            </a:extLst>
          </p:cNvPr>
          <p:cNvSpPr/>
          <p:nvPr/>
        </p:nvSpPr>
        <p:spPr>
          <a:xfrm>
            <a:off x="1925372" y="3572033"/>
            <a:ext cx="1297921" cy="149802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Improvement of Design &amp; Development</a:t>
            </a: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A6617500-FE03-417B-B1ED-0AFFF922F983}"/>
              </a:ext>
            </a:extLst>
          </p:cNvPr>
          <p:cNvSpPr/>
          <p:nvPr/>
        </p:nvSpPr>
        <p:spPr>
          <a:xfrm>
            <a:off x="1699199" y="5143710"/>
            <a:ext cx="226170" cy="914189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ja-JP" sz="11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3</a:t>
            </a:r>
            <a:endParaRPr kumimoji="0" lang="ja-JP" altLang="en-US" sz="1100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2DE3F28B-1557-4122-BC58-C2AD94757C06}"/>
              </a:ext>
            </a:extLst>
          </p:cNvPr>
          <p:cNvSpPr/>
          <p:nvPr/>
        </p:nvSpPr>
        <p:spPr>
          <a:xfrm>
            <a:off x="1925372" y="5143710"/>
            <a:ext cx="1297921" cy="91418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Improvement of Shelf-life Management Parts</a:t>
            </a: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78941AFB-D2BB-4A31-AB64-B23BC9D069B4}"/>
              </a:ext>
            </a:extLst>
          </p:cNvPr>
          <p:cNvCxnSpPr/>
          <p:nvPr/>
        </p:nvCxnSpPr>
        <p:spPr>
          <a:xfrm>
            <a:off x="3294236" y="1451920"/>
            <a:ext cx="210838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78C6F49E-4886-421E-AEDE-6959A7209788}"/>
              </a:ext>
            </a:extLst>
          </p:cNvPr>
          <p:cNvSpPr txBox="1"/>
          <p:nvPr/>
        </p:nvSpPr>
        <p:spPr>
          <a:xfrm>
            <a:off x="3943511" y="1190553"/>
            <a:ext cx="8098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Initiative</a:t>
            </a:r>
            <a:endParaRPr kumimoji="0" lang="ja-JP" altLang="en-US" sz="1200" b="1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C5740E25-9AC0-48BB-949F-AE521941D617}"/>
              </a:ext>
            </a:extLst>
          </p:cNvPr>
          <p:cNvSpPr/>
          <p:nvPr/>
        </p:nvSpPr>
        <p:spPr>
          <a:xfrm>
            <a:off x="3294234" y="1512370"/>
            <a:ext cx="2108381" cy="446603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1. Understand the current status/situation of parts</a:t>
            </a:r>
            <a:endParaRPr kumimoji="0" lang="ja-JP" altLang="en-US" sz="1100" b="1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" name="ホームベース 8">
            <a:extLst>
              <a:ext uri="{FF2B5EF4-FFF2-40B4-BE49-F238E27FC236}">
                <a16:creationId xmlns:a16="http://schemas.microsoft.com/office/drawing/2014/main" id="{2B6BC55B-1513-A2F4-A94B-4A30B2B3DAFD}"/>
              </a:ext>
            </a:extLst>
          </p:cNvPr>
          <p:cNvSpPr/>
          <p:nvPr/>
        </p:nvSpPr>
        <p:spPr>
          <a:xfrm>
            <a:off x="9623035" y="156426"/>
            <a:ext cx="683822" cy="287925"/>
          </a:xfrm>
          <a:prstGeom prst="homePlate">
            <a:avLst>
              <a:gd name="adj" fmla="val 9502"/>
            </a:avLst>
          </a:prstGeom>
          <a:solidFill>
            <a:schemeClr val="accent2"/>
          </a:solidFill>
          <a:ln w="2857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Step3</a:t>
            </a:r>
          </a:p>
        </p:txBody>
      </p:sp>
      <p:sp>
        <p:nvSpPr>
          <p:cNvPr id="5" name="ホームベース 7">
            <a:extLst>
              <a:ext uri="{FF2B5EF4-FFF2-40B4-BE49-F238E27FC236}">
                <a16:creationId xmlns:a16="http://schemas.microsoft.com/office/drawing/2014/main" id="{AD973945-FCBE-B9D3-79E7-BEAEC1674D15}"/>
              </a:ext>
            </a:extLst>
          </p:cNvPr>
          <p:cNvSpPr/>
          <p:nvPr/>
        </p:nvSpPr>
        <p:spPr>
          <a:xfrm>
            <a:off x="8981860" y="156426"/>
            <a:ext cx="683822" cy="287925"/>
          </a:xfrm>
          <a:prstGeom prst="homePlate">
            <a:avLst>
              <a:gd name="adj" fmla="val 9502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Step2</a:t>
            </a:r>
          </a:p>
        </p:txBody>
      </p:sp>
      <p:sp>
        <p:nvSpPr>
          <p:cNvPr id="6" name="ホームベース 4">
            <a:extLst>
              <a:ext uri="{FF2B5EF4-FFF2-40B4-BE49-F238E27FC236}">
                <a16:creationId xmlns:a16="http://schemas.microsoft.com/office/drawing/2014/main" id="{1AD3B830-15A2-1905-60FC-03AF549F5710}"/>
              </a:ext>
            </a:extLst>
          </p:cNvPr>
          <p:cNvSpPr/>
          <p:nvPr/>
        </p:nvSpPr>
        <p:spPr>
          <a:xfrm>
            <a:off x="8340684" y="156426"/>
            <a:ext cx="683822" cy="287925"/>
          </a:xfrm>
          <a:prstGeom prst="homePlate">
            <a:avLst>
              <a:gd name="adj" fmla="val 9502"/>
            </a:avLst>
          </a:prstGeom>
          <a:solidFill>
            <a:srgbClr val="1DB5D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Step1</a:t>
            </a:r>
            <a:endParaRPr kumimoji="0" lang="ja-JP" alt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484625A-31FF-7918-9500-737966F9BAEA}"/>
              </a:ext>
            </a:extLst>
          </p:cNvPr>
          <p:cNvSpPr/>
          <p:nvPr/>
        </p:nvSpPr>
        <p:spPr>
          <a:xfrm>
            <a:off x="8340686" y="135390"/>
            <a:ext cx="1324998" cy="321243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799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946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4"/>
          </p:nvPr>
        </p:nvSpPr>
        <p:spPr>
          <a:xfrm>
            <a:off x="537309" y="465886"/>
            <a:ext cx="10918493" cy="530368"/>
          </a:xfrm>
        </p:spPr>
        <p:txBody>
          <a:bodyPr/>
          <a:lstStyle/>
          <a:p>
            <a:r>
              <a:rPr lang="en-US" altLang="ja-JP"/>
              <a:t>Step 1/2 Parts Traceability System Screen Image</a:t>
            </a:r>
            <a:endParaRPr lang="ja-JP" altLang="en-US" sz="240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73" y="1178731"/>
            <a:ext cx="4068104" cy="25347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62" y="1173608"/>
            <a:ext cx="4044038" cy="252546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09" y="3814714"/>
            <a:ext cx="4061957" cy="253837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27" y="3814714"/>
            <a:ext cx="4070252" cy="253837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1666" y="2434034"/>
            <a:ext cx="5096158" cy="22240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テキスト ボックス 9"/>
          <p:cNvSpPr txBox="1"/>
          <p:nvPr/>
        </p:nvSpPr>
        <p:spPr>
          <a:xfrm rot="20005228">
            <a:off x="3865096" y="3358296"/>
            <a:ext cx="2056973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0" i="0" u="none" strike="noStrike" kern="1200" cap="none" spc="0" normalizeH="0" baseline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SAMPLE</a:t>
            </a:r>
            <a:endParaRPr kumimoji="1" lang="ja-JP" altLang="en-US" sz="36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3" name="ホームベース 8">
            <a:extLst>
              <a:ext uri="{FF2B5EF4-FFF2-40B4-BE49-F238E27FC236}">
                <a16:creationId xmlns:a16="http://schemas.microsoft.com/office/drawing/2014/main" id="{4BD7D2F2-508B-DA0B-95F7-A731420066A2}"/>
              </a:ext>
            </a:extLst>
          </p:cNvPr>
          <p:cNvSpPr/>
          <p:nvPr/>
        </p:nvSpPr>
        <p:spPr>
          <a:xfrm>
            <a:off x="9623035" y="156426"/>
            <a:ext cx="683822" cy="287925"/>
          </a:xfrm>
          <a:prstGeom prst="homePlate">
            <a:avLst>
              <a:gd name="adj" fmla="val 9502"/>
            </a:avLst>
          </a:prstGeom>
          <a:solidFill>
            <a:schemeClr val="accent2"/>
          </a:solidFill>
          <a:ln w="2857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Step3</a:t>
            </a:r>
          </a:p>
        </p:txBody>
      </p:sp>
      <p:sp>
        <p:nvSpPr>
          <p:cNvPr id="4" name="ホームベース 7">
            <a:extLst>
              <a:ext uri="{FF2B5EF4-FFF2-40B4-BE49-F238E27FC236}">
                <a16:creationId xmlns:a16="http://schemas.microsoft.com/office/drawing/2014/main" id="{7DBA716A-8A11-44DF-EDCF-3AB6FA5CDBCC}"/>
              </a:ext>
            </a:extLst>
          </p:cNvPr>
          <p:cNvSpPr/>
          <p:nvPr/>
        </p:nvSpPr>
        <p:spPr>
          <a:xfrm>
            <a:off x="8981860" y="156426"/>
            <a:ext cx="683822" cy="287925"/>
          </a:xfrm>
          <a:prstGeom prst="homePlate">
            <a:avLst>
              <a:gd name="adj" fmla="val 9502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Step2</a:t>
            </a:r>
          </a:p>
        </p:txBody>
      </p:sp>
      <p:sp>
        <p:nvSpPr>
          <p:cNvPr id="11" name="ホームベース 4">
            <a:extLst>
              <a:ext uri="{FF2B5EF4-FFF2-40B4-BE49-F238E27FC236}">
                <a16:creationId xmlns:a16="http://schemas.microsoft.com/office/drawing/2014/main" id="{22CC54B9-BDAA-765B-8185-07CEC711929D}"/>
              </a:ext>
            </a:extLst>
          </p:cNvPr>
          <p:cNvSpPr/>
          <p:nvPr/>
        </p:nvSpPr>
        <p:spPr>
          <a:xfrm>
            <a:off x="8340684" y="156426"/>
            <a:ext cx="683822" cy="287925"/>
          </a:xfrm>
          <a:prstGeom prst="homePlate">
            <a:avLst>
              <a:gd name="adj" fmla="val 9502"/>
            </a:avLst>
          </a:prstGeom>
          <a:solidFill>
            <a:srgbClr val="1DB5D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Step1</a:t>
            </a:r>
            <a:endParaRPr kumimoji="0" lang="ja-JP" alt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46093DB-3407-5AA3-4AD1-C3852FDE9AF7}"/>
              </a:ext>
            </a:extLst>
          </p:cNvPr>
          <p:cNvSpPr/>
          <p:nvPr/>
        </p:nvSpPr>
        <p:spPr>
          <a:xfrm>
            <a:off x="8340686" y="135390"/>
            <a:ext cx="1324998" cy="321243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799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053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4F8557-D97A-B8DD-F7E8-390FB43C2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How to Manage Tracing Parts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957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6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353" imgH="318" progId="TCLayout.ActiveDocument.1">
                  <p:embed/>
                </p:oleObj>
              </mc:Choice>
              <mc:Fallback>
                <p:oleObj name="think-cell スライド" r:id="rId4" imgW="353" imgH="318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76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4F02E8C3-3D28-42CB-AD0F-0B9912C7D29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88" y="0"/>
            <a:ext cx="158750" cy="1587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altLang="ja-JP" sz="3000">
              <a:solidFill>
                <a:srgbClr val="2D2D2D"/>
              </a:solidFill>
              <a:latin typeface="Arial" panose="020B0604020202020204" pitchFamily="34" charset="0"/>
              <a:ea typeface="Meiryo" panose="020B0604030504040204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What Kind of Parts Will be Traced (Overview)</a:t>
            </a:r>
            <a:endParaRPr kumimoji="1" lang="ja-JP" altLang="en-US"/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611189" y="1058906"/>
            <a:ext cx="11085513" cy="4746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spcBef>
                <a:spcPts val="12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kumimoji="1" sz="24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1pPr>
            <a:lvl2pPr marL="466344" indent="-237744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–"/>
              <a:defRPr kumimoji="1" sz="20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2pPr>
            <a:lvl3pPr marL="676656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6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4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5pPr>
            <a:lvl6pPr marL="13716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78BE20"/>
              </a:buClr>
            </a:pPr>
            <a:r>
              <a:rPr lang="en-US" altLang="ja-JP" sz="1800">
                <a:solidFill>
                  <a:srgbClr val="2D2D2D"/>
                </a:solidFill>
                <a:cs typeface="Arial"/>
              </a:rPr>
              <a:t>To achieve traceability, we will manage the S/N and shelf-life/best-before life of individual parts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332258"/>
              </p:ext>
            </p:extLst>
          </p:nvPr>
        </p:nvGraphicFramePr>
        <p:xfrm>
          <a:off x="506644" y="1533568"/>
          <a:ext cx="11204577" cy="481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3329">
                  <a:extLst>
                    <a:ext uri="{9D8B030D-6E8A-4147-A177-3AD203B41FA5}">
                      <a16:colId xmlns:a16="http://schemas.microsoft.com/office/drawing/2014/main" val="3589376202"/>
                    </a:ext>
                  </a:extLst>
                </a:gridCol>
                <a:gridCol w="5040624">
                  <a:extLst>
                    <a:ext uri="{9D8B030D-6E8A-4147-A177-3AD203B41FA5}">
                      <a16:colId xmlns:a16="http://schemas.microsoft.com/office/drawing/2014/main" val="90057843"/>
                    </a:ext>
                  </a:extLst>
                </a:gridCol>
                <a:gridCol w="5040624">
                  <a:extLst>
                    <a:ext uri="{9D8B030D-6E8A-4147-A177-3AD203B41FA5}">
                      <a16:colId xmlns:a16="http://schemas.microsoft.com/office/drawing/2014/main" val="294227686"/>
                    </a:ext>
                  </a:extLst>
                </a:gridCol>
              </a:tblGrid>
              <a:tr h="355127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</a:rPr>
                        <a:t>①</a:t>
                      </a:r>
                      <a:r>
                        <a:rPr kumimoji="1" lang="en-US" altLang="ja-JP" sz="1600" b="1" dirty="0">
                          <a:solidFill>
                            <a:schemeClr val="bg1"/>
                          </a:solidFill>
                        </a:rPr>
                        <a:t>S/N</a:t>
                      </a:r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kumimoji="1" lang="en-US" altLang="ja-JP" sz="1600" b="1" dirty="0">
                          <a:solidFill>
                            <a:schemeClr val="bg1"/>
                          </a:solidFill>
                        </a:rPr>
                        <a:t>Management</a:t>
                      </a:r>
                      <a:endParaRPr kumimoji="1" lang="ja-JP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</a:rPr>
                        <a:t>②</a:t>
                      </a:r>
                      <a:r>
                        <a:rPr kumimoji="1" lang="en-US" altLang="ja-JP" sz="1600" b="1" dirty="0">
                          <a:solidFill>
                            <a:schemeClr val="bg1"/>
                          </a:solidFill>
                        </a:rPr>
                        <a:t>Perishable Parts</a:t>
                      </a:r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kumimoji="1" lang="en-US" altLang="ja-JP" sz="1600" b="1" dirty="0">
                          <a:solidFill>
                            <a:schemeClr val="bg1"/>
                          </a:solidFill>
                        </a:rPr>
                        <a:t>Management</a:t>
                      </a:r>
                      <a:endParaRPr kumimoji="1" lang="ja-JP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591467"/>
                  </a:ext>
                </a:extLst>
              </a:tr>
              <a:tr h="71023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</a:rPr>
                        <a:t>Managing the full history (manufacturing, purchasing, warehousing, assembling, operating etc.) of individual, critical parts.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Managing the shelf-life/best-before life (by month) of individual parts that deteriorate over time.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48476"/>
                  </a:ext>
                </a:extLst>
              </a:tr>
              <a:tr h="134069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To quickly collect and repair all parts that have an issue and determine the cause of trouble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In order to accurately identify these parts, it is necessary to record information such inspection and adjustment data, and to track its history.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To prevent the shipment of parts that have deteriorated over time, and to perform proper asset valuation of our equipment/parts</a:t>
                      </a:r>
                      <a:endParaRPr kumimoji="1" lang="ja-JP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11418"/>
                  </a:ext>
                </a:extLst>
              </a:tr>
              <a:tr h="50309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r>
                        <a:rPr kumimoji="1" lang="ja-JP" altLang="en-US" sz="14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</a:rPr>
                        <a:t>of</a:t>
                      </a:r>
                      <a:r>
                        <a:rPr kumimoji="1" lang="ja-JP" altLang="en-US" sz="14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</a:rPr>
                        <a:t>Mgmt.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By parts</a:t>
                      </a: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S/N</a:t>
                      </a:r>
                      <a:b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(By batch no. for parts that cannot be traced individually)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By batch no.</a:t>
                      </a:r>
                      <a:b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(Batch number will be assigned at good receipt)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561992"/>
                  </a:ext>
                </a:extLst>
              </a:tr>
              <a:tr h="50309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</a:rPr>
                        <a:t>Selection</a:t>
                      </a:r>
                      <a:r>
                        <a:rPr kumimoji="1" lang="ja-JP" altLang="en-US" sz="14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</a:rPr>
                        <a:t>Process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Decide which parts to trace upon consideration among the engineering dept. and factory QA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1" lang="en-US" altLang="ja-JP" sz="1600">
                        <a:solidFill>
                          <a:schemeClr val="tx1"/>
                        </a:solidFill>
                      </a:endParaRP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366019"/>
                  </a:ext>
                </a:extLst>
              </a:tr>
              <a:tr h="134069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 dirty="0">
                          <a:solidFill>
                            <a:schemeClr val="bg1"/>
                          </a:solidFill>
                        </a:rPr>
                        <a:t>What to Manage</a:t>
                      </a:r>
                      <a:endParaRPr kumimoji="1" lang="ja-JP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The following 2 categories of critical parts:</a:t>
                      </a:r>
                      <a:b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①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Trouble</a:t>
                      </a: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Parts</a:t>
                      </a:r>
                      <a:b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②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PCS</a:t>
                      </a: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(Process Control System) Parts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The following 2 types of dates:</a:t>
                      </a:r>
                      <a:b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①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BBD (best-before date), which can be extended by overhauling, calibration, etc.</a:t>
                      </a:r>
                      <a:b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</a:rPr>
                        <a:t>②</a:t>
                      </a:r>
                      <a:r>
                        <a:rPr kumimoji="1" lang="en-US" altLang="ja-JP" sz="1400" dirty="0">
                          <a:solidFill>
                            <a:schemeClr val="tx1"/>
                          </a:solidFill>
                        </a:rPr>
                        <a:t>SLED (shelf-life end date), which cannot be extended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08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62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Object 5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6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5" imgW="353" imgH="353" progId="TCLayout.ActiveDocument.1">
                  <p:embed/>
                </p:oleObj>
              </mc:Choice>
              <mc:Fallback>
                <p:oleObj name="think-cell スライド" r:id="rId5" imgW="353" imgH="353" progId="TCLayout.ActiveDocument.1">
                  <p:embed/>
                  <p:pic>
                    <p:nvPicPr>
                      <p:cNvPr id="54" name="Object 5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6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正方形/長方形 4" hidden="1">
            <a:extLst>
              <a:ext uri="{FF2B5EF4-FFF2-40B4-BE49-F238E27FC236}">
                <a16:creationId xmlns:a16="http://schemas.microsoft.com/office/drawing/2014/main" id="{B306F94E-CC33-4151-BDF2-ED5F21BB13E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88" y="0"/>
            <a:ext cx="158750" cy="1587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altLang="ja-JP" sz="2800">
              <a:solidFill>
                <a:srgbClr val="2D2D2D"/>
              </a:solidFill>
              <a:latin typeface="Meiryo" panose="020B0604030504040204" pitchFamily="50" charset="-128"/>
              <a:ea typeface="Meiryo" panose="020B0604030504040204" pitchFamily="50" charset="-128"/>
              <a:cs typeface="Arial" panose="020B0604020202020204" pitchFamily="34" charset="0"/>
              <a:sym typeface="Meiryo" panose="020B0604030504040204" pitchFamily="50" charset="-128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ja-JP" sz="2800"/>
              <a:t>How</a:t>
            </a:r>
            <a:r>
              <a:rPr lang="ja-JP" altLang="en-US" sz="2800"/>
              <a:t> </a:t>
            </a:r>
            <a:r>
              <a:rPr lang="en-US" altLang="ja-JP" sz="2800"/>
              <a:t>to</a:t>
            </a:r>
            <a:r>
              <a:rPr lang="ja-JP" altLang="en-US" sz="2800"/>
              <a:t> </a:t>
            </a:r>
            <a:r>
              <a:rPr lang="en-US" altLang="ja-JP" sz="2800"/>
              <a:t>Manage</a:t>
            </a:r>
            <a:r>
              <a:rPr lang="ja-JP" altLang="en-US" sz="2800"/>
              <a:t> </a:t>
            </a:r>
            <a:r>
              <a:rPr lang="en-US" altLang="ja-JP" sz="2800"/>
              <a:t>Tracing</a:t>
            </a:r>
            <a:r>
              <a:rPr lang="ja-JP" altLang="en-US" sz="2800"/>
              <a:t> </a:t>
            </a:r>
            <a:r>
              <a:rPr lang="en-US" altLang="ja-JP" sz="2800"/>
              <a:t>Parts</a:t>
            </a:r>
            <a:endParaRPr lang="ja-JP" altLang="en-US" sz="2800"/>
          </a:p>
        </p:txBody>
      </p:sp>
      <p:sp>
        <p:nvSpPr>
          <p:cNvPr id="87" name="Text Placeholder 6"/>
          <p:cNvSpPr txBox="1">
            <a:spLocks/>
          </p:cNvSpPr>
          <p:nvPr/>
        </p:nvSpPr>
        <p:spPr>
          <a:xfrm>
            <a:off x="611188" y="1004200"/>
            <a:ext cx="11355754" cy="4746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spcBef>
                <a:spcPts val="12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kumimoji="1" sz="24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1pPr>
            <a:lvl2pPr marL="466344" indent="-237744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–"/>
              <a:defRPr kumimoji="1" sz="20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2pPr>
            <a:lvl3pPr marL="676656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6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4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5pPr>
            <a:lvl6pPr marL="13716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78BE20"/>
              </a:buClr>
            </a:pPr>
            <a:r>
              <a:rPr lang="en-US" altLang="ja-JP" sz="2000">
                <a:solidFill>
                  <a:srgbClr val="2D2D2D"/>
                </a:solidFill>
                <a:cs typeface="Arial"/>
              </a:rPr>
              <a:t>Indicators for the traceability target parts are set per part number.</a:t>
            </a:r>
            <a:endParaRPr lang="ja-JP" altLang="en-US" sz="2000">
              <a:solidFill>
                <a:srgbClr val="2D2D2D"/>
              </a:solidFill>
              <a:cs typeface="Arial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611189" y="4976653"/>
            <a:ext cx="5029200" cy="14045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en-US" altLang="ja-JP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【Current</a:t>
            </a:r>
            <a:r>
              <a:rPr lang="ja-JP" altLang="en-US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Issues】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Serialization of parts based on ambiguous rules set at each BU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No communication present for setting shelf-life or best-before life among BUs/factories</a:t>
            </a:r>
          </a:p>
        </p:txBody>
      </p:sp>
      <p:sp>
        <p:nvSpPr>
          <p:cNvPr id="65" name="正方形/長方形 64"/>
          <p:cNvSpPr/>
          <p:nvPr/>
        </p:nvSpPr>
        <p:spPr>
          <a:xfrm>
            <a:off x="623952" y="1453664"/>
            <a:ext cx="5029200" cy="28090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US" altLang="ja-JP" sz="16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As-Is</a:t>
            </a:r>
            <a:endParaRPr lang="ja-JP" altLang="en-US" sz="1600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67" name="正方形/長方形 66"/>
          <p:cNvSpPr/>
          <p:nvPr/>
        </p:nvSpPr>
        <p:spPr>
          <a:xfrm>
            <a:off x="623888" y="1803145"/>
            <a:ext cx="5029200" cy="3511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US" altLang="ja-JP" sz="16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Discretionary Tracing of Parts</a:t>
            </a:r>
            <a:endParaRPr lang="ja-JP" altLang="en-US" sz="16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59" name="Straight Connector 158"/>
          <p:cNvCxnSpPr>
            <a:stCxn id="175" idx="2"/>
            <a:endCxn id="163" idx="3"/>
          </p:cNvCxnSpPr>
          <p:nvPr/>
        </p:nvCxnSpPr>
        <p:spPr>
          <a:xfrm flipH="1">
            <a:off x="2393299" y="2910544"/>
            <a:ext cx="2221228" cy="521535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>
            <a:stCxn id="175" idx="2"/>
            <a:endCxn id="165" idx="0"/>
          </p:cNvCxnSpPr>
          <p:nvPr/>
        </p:nvCxnSpPr>
        <p:spPr>
          <a:xfrm flipH="1">
            <a:off x="1652779" y="2910544"/>
            <a:ext cx="2961748" cy="1173425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>
            <a:stCxn id="175" idx="2"/>
            <a:endCxn id="164" idx="0"/>
          </p:cNvCxnSpPr>
          <p:nvPr/>
        </p:nvCxnSpPr>
        <p:spPr>
          <a:xfrm flipH="1">
            <a:off x="3277227" y="2910544"/>
            <a:ext cx="1337300" cy="6455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>
            <a:stCxn id="175" idx="2"/>
            <a:endCxn id="166" idx="0"/>
          </p:cNvCxnSpPr>
          <p:nvPr/>
        </p:nvCxnSpPr>
        <p:spPr>
          <a:xfrm>
            <a:off x="4614527" y="2910544"/>
            <a:ext cx="228708" cy="645581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正方形/長方形 1"/>
          <p:cNvSpPr/>
          <p:nvPr/>
        </p:nvSpPr>
        <p:spPr>
          <a:xfrm>
            <a:off x="912259" y="3028280"/>
            <a:ext cx="1481040" cy="8075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Factory</a:t>
            </a:r>
            <a:r>
              <a:rPr lang="ja-JP" altLang="en-US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A</a:t>
            </a:r>
          </a:p>
          <a:p>
            <a:endParaRPr lang="en-US" altLang="ja-JP" sz="1000">
              <a:solidFill>
                <a:srgbClr val="00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  <a:r>
              <a:rPr lang="ja-JP" altLang="en-US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4" name="正方形/長方形 99"/>
          <p:cNvSpPr/>
          <p:nvPr/>
        </p:nvSpPr>
        <p:spPr>
          <a:xfrm>
            <a:off x="2536707" y="3556125"/>
            <a:ext cx="1481040" cy="8075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Narita</a:t>
            </a:r>
            <a:r>
              <a:rPr lang="ja-JP" altLang="en-US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Warehouse</a:t>
            </a:r>
          </a:p>
          <a:p>
            <a:endParaRPr lang="en-US" altLang="ja-JP" sz="1000">
              <a:solidFill>
                <a:srgbClr val="00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12</a:t>
            </a:r>
            <a:r>
              <a:rPr lang="ja-JP" altLang="en-US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Doesn’t manage S/N</a:t>
            </a:r>
            <a:endParaRPr lang="ja-JP" altLang="en-US" sz="1000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5" name="正方形/長方形 101"/>
          <p:cNvSpPr/>
          <p:nvPr/>
        </p:nvSpPr>
        <p:spPr>
          <a:xfrm>
            <a:off x="912259" y="4083969"/>
            <a:ext cx="1481040" cy="8075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Factory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B</a:t>
            </a:r>
          </a:p>
          <a:p>
            <a:endParaRPr lang="en-US" altLang="ja-JP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60</a:t>
            </a:r>
            <a:r>
              <a:rPr lang="ja-JP" altLang="en-US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Doesn’t manage S/N</a:t>
            </a:r>
            <a:endParaRPr lang="ja-JP" altLang="en-US" sz="1000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6" name="正方形/長方形 102"/>
          <p:cNvSpPr/>
          <p:nvPr/>
        </p:nvSpPr>
        <p:spPr>
          <a:xfrm>
            <a:off x="4102715" y="3556125"/>
            <a:ext cx="1481040" cy="8075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FS</a:t>
            </a:r>
          </a:p>
          <a:p>
            <a:endParaRPr lang="en-US" altLang="ja-JP" sz="1000">
              <a:solidFill>
                <a:srgbClr val="00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Doesn’t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manage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endParaRPr lang="ja-JP" altLang="en-US" sz="1000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grpSp>
        <p:nvGrpSpPr>
          <p:cNvPr id="167" name="Group 166"/>
          <p:cNvGrpSpPr/>
          <p:nvPr/>
        </p:nvGrpSpPr>
        <p:grpSpPr>
          <a:xfrm>
            <a:off x="699684" y="2416108"/>
            <a:ext cx="2880474" cy="374534"/>
            <a:chOff x="2360802" y="2443757"/>
            <a:chExt cx="2880474" cy="374534"/>
          </a:xfrm>
        </p:grpSpPr>
        <p:pic>
          <p:nvPicPr>
            <p:cNvPr id="176" name="図 10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0802" y="2443757"/>
              <a:ext cx="362726" cy="370635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177" name="テキスト ボックス 144"/>
            <p:cNvSpPr txBox="1"/>
            <p:nvPr/>
          </p:nvSpPr>
          <p:spPr>
            <a:xfrm>
              <a:off x="2753287" y="2448959"/>
              <a:ext cx="248798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ja-JP" sz="12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Parts#</a:t>
              </a:r>
              <a:r>
                <a:rPr lang="ja-JP" altLang="en-US" sz="12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：</a:t>
              </a:r>
              <a:r>
                <a:rPr lang="en-US" altLang="ja-JP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2L10-123456-11</a:t>
              </a:r>
            </a:p>
            <a:p>
              <a:r>
                <a:rPr lang="en-US" altLang="ja-JP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Spare</a:t>
              </a:r>
              <a:r>
                <a:rPr lang="ja-JP" altLang="en-US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 </a:t>
              </a:r>
              <a:r>
                <a:rPr lang="en-US" altLang="ja-JP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Parts</a:t>
              </a:r>
              <a:r>
                <a:rPr lang="ja-JP" altLang="en-US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：</a:t>
              </a:r>
              <a:r>
                <a:rPr lang="en-US" altLang="ja-JP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ES2L10-123456-11</a:t>
              </a:r>
            </a:p>
          </p:txBody>
        </p:sp>
      </p:grpSp>
      <p:pic>
        <p:nvPicPr>
          <p:cNvPr id="168" name="Picture 20" descr="j043262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834910" y="3944368"/>
            <a:ext cx="451482" cy="47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" name="Picture 17" descr="j043262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699049" y="3413616"/>
            <a:ext cx="443079" cy="477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" name="Picture 17" descr="j043262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156531" y="3413616"/>
            <a:ext cx="443079" cy="477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1" name="Picture 20" descr="j043262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834910" y="2895235"/>
            <a:ext cx="451482" cy="47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2" name="Elbow Connector 171"/>
          <p:cNvCxnSpPr>
            <a:stCxn id="163" idx="3"/>
            <a:endCxn id="164" idx="1"/>
          </p:cNvCxnSpPr>
          <p:nvPr/>
        </p:nvCxnSpPr>
        <p:spPr>
          <a:xfrm>
            <a:off x="2393299" y="3432079"/>
            <a:ext cx="143408" cy="527845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lbow Connector 172"/>
          <p:cNvCxnSpPr>
            <a:stCxn id="165" idx="3"/>
            <a:endCxn id="164" idx="1"/>
          </p:cNvCxnSpPr>
          <p:nvPr/>
        </p:nvCxnSpPr>
        <p:spPr>
          <a:xfrm flipV="1">
            <a:off x="2393299" y="3959923"/>
            <a:ext cx="143408" cy="527844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>
            <a:stCxn id="164" idx="3"/>
            <a:endCxn id="166" idx="1"/>
          </p:cNvCxnSpPr>
          <p:nvPr/>
        </p:nvCxnSpPr>
        <p:spPr>
          <a:xfrm>
            <a:off x="4017747" y="3959923"/>
            <a:ext cx="84968" cy="0"/>
          </a:xfrm>
          <a:prstGeom prst="straightConnector1">
            <a:avLst/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174"/>
          <p:cNvSpPr/>
          <p:nvPr/>
        </p:nvSpPr>
        <p:spPr>
          <a:xfrm>
            <a:off x="3574556" y="2345775"/>
            <a:ext cx="2079942" cy="5647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Shelf-life/best-before life &amp;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S/N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management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policies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may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differ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depending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on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the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location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6612664" y="4976545"/>
            <a:ext cx="5029200" cy="14045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en-US" altLang="ja-JP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【Expected</a:t>
            </a:r>
            <a:r>
              <a:rPr lang="ja-JP" altLang="en-US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Results】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One-TEL list declares serialization and shelf-life for each material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Consistent serialization across operations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Tracing of parts reflect QA requirements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ja-JP" sz="1400">
              <a:solidFill>
                <a:srgbClr val="2D2D2D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66" name="正方形/長方形 65"/>
          <p:cNvSpPr/>
          <p:nvPr/>
        </p:nvSpPr>
        <p:spPr>
          <a:xfrm>
            <a:off x="6612664" y="1453771"/>
            <a:ext cx="5029200" cy="29202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US" altLang="ja-JP" sz="16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To-Be</a:t>
            </a:r>
            <a:endParaRPr lang="ja-JP" altLang="en-US" sz="1600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68" name="正方形/長方形 67"/>
          <p:cNvSpPr/>
          <p:nvPr/>
        </p:nvSpPr>
        <p:spPr>
          <a:xfrm>
            <a:off x="6612664" y="1803037"/>
            <a:ext cx="5029200" cy="3511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US" altLang="ja-JP" sz="16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One-TEL Standardized Policy</a:t>
            </a:r>
            <a:endParaRPr lang="ja-JP" altLang="en-US" sz="16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" name="正方形/長方形 1"/>
          <p:cNvSpPr/>
          <p:nvPr/>
        </p:nvSpPr>
        <p:spPr>
          <a:xfrm>
            <a:off x="6484144" y="3214040"/>
            <a:ext cx="148104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Factory</a:t>
            </a:r>
            <a:r>
              <a:rPr lang="ja-JP" altLang="en-US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A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2" name="正方形/長方形 101"/>
          <p:cNvSpPr/>
          <p:nvPr/>
        </p:nvSpPr>
        <p:spPr>
          <a:xfrm>
            <a:off x="6484144" y="4164185"/>
            <a:ext cx="148104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Factory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B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86" name="Straight Connector 185"/>
          <p:cNvCxnSpPr>
            <a:stCxn id="181" idx="2"/>
          </p:cNvCxnSpPr>
          <p:nvPr/>
        </p:nvCxnSpPr>
        <p:spPr>
          <a:xfrm flipH="1">
            <a:off x="7973966" y="3056080"/>
            <a:ext cx="2705358" cy="331276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>
            <a:stCxn id="181" idx="2"/>
          </p:cNvCxnSpPr>
          <p:nvPr/>
        </p:nvCxnSpPr>
        <p:spPr>
          <a:xfrm flipH="1">
            <a:off x="7973966" y="3056081"/>
            <a:ext cx="2705358" cy="1273113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>
            <a:stCxn id="181" idx="2"/>
            <a:endCxn id="103" idx="0"/>
          </p:cNvCxnSpPr>
          <p:nvPr/>
        </p:nvCxnSpPr>
        <p:spPr>
          <a:xfrm>
            <a:off x="10679325" y="3056081"/>
            <a:ext cx="279801" cy="633033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/>
          <p:cNvCxnSpPr>
            <a:stCxn id="181" idx="2"/>
          </p:cNvCxnSpPr>
          <p:nvPr/>
        </p:nvCxnSpPr>
        <p:spPr>
          <a:xfrm flipH="1">
            <a:off x="9860492" y="3056080"/>
            <a:ext cx="818832" cy="79804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正方形/長方形 99"/>
          <p:cNvSpPr/>
          <p:nvPr/>
        </p:nvSpPr>
        <p:spPr>
          <a:xfrm>
            <a:off x="8342035" y="3689113"/>
            <a:ext cx="148104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Narita</a:t>
            </a:r>
            <a:r>
              <a:rPr lang="ja-JP" altLang="en-US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Warehouse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3" name="正方形/長方形 102"/>
          <p:cNvSpPr/>
          <p:nvPr/>
        </p:nvSpPr>
        <p:spPr>
          <a:xfrm>
            <a:off x="10218605" y="3689113"/>
            <a:ext cx="148104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FS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pic>
        <p:nvPicPr>
          <p:cNvPr id="154" name="Picture 20" descr="j043262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7388115" y="3869543"/>
            <a:ext cx="451482" cy="47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" name="Picture 17" descr="j043262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39367" y="3433403"/>
            <a:ext cx="443079" cy="477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Picture 17" descr="j043262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49743" y="3433403"/>
            <a:ext cx="443079" cy="477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" name="Picture 20" descr="j043262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7396261" y="2916645"/>
            <a:ext cx="451482" cy="47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1" name="Elbow Connector 30"/>
          <p:cNvCxnSpPr>
            <a:stCxn id="2" idx="3"/>
            <a:endCxn id="100" idx="1"/>
          </p:cNvCxnSpPr>
          <p:nvPr/>
        </p:nvCxnSpPr>
        <p:spPr>
          <a:xfrm>
            <a:off x="7965185" y="3534081"/>
            <a:ext cx="376851" cy="475073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114"/>
          <p:cNvCxnSpPr>
            <a:stCxn id="102" idx="3"/>
            <a:endCxn id="100" idx="1"/>
          </p:cNvCxnSpPr>
          <p:nvPr/>
        </p:nvCxnSpPr>
        <p:spPr>
          <a:xfrm flipV="1">
            <a:off x="7965185" y="4009153"/>
            <a:ext cx="376851" cy="475072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00" idx="3"/>
            <a:endCxn id="103" idx="1"/>
          </p:cNvCxnSpPr>
          <p:nvPr/>
        </p:nvCxnSpPr>
        <p:spPr>
          <a:xfrm>
            <a:off x="9823075" y="4009153"/>
            <a:ext cx="395530" cy="0"/>
          </a:xfrm>
          <a:prstGeom prst="straightConnector1">
            <a:avLst/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正方形/長方形 1"/>
          <p:cNvSpPr/>
          <p:nvPr/>
        </p:nvSpPr>
        <p:spPr>
          <a:xfrm>
            <a:off x="9675455" y="2416000"/>
            <a:ext cx="2007738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QA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Dept.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Sets the same shelf-life and S/N management policy for each part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pic>
        <p:nvPicPr>
          <p:cNvPr id="185" name="Picture 20" descr="j043262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1255194" y="2144562"/>
            <a:ext cx="451482" cy="47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4" name="Isosceles Triangle 213"/>
          <p:cNvSpPr/>
          <p:nvPr/>
        </p:nvSpPr>
        <p:spPr>
          <a:xfrm rot="5400000">
            <a:off x="4463073" y="3704081"/>
            <a:ext cx="3339670" cy="426673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40E3B6C4-35C3-4633-8220-74BD95DF8C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628" y="2441125"/>
            <a:ext cx="362726" cy="37063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29EA5EC-62C7-4AAE-8733-CC1BC2FA4364}"/>
              </a:ext>
            </a:extLst>
          </p:cNvPr>
          <p:cNvSpPr txBox="1"/>
          <p:nvPr/>
        </p:nvSpPr>
        <p:spPr>
          <a:xfrm>
            <a:off x="7090241" y="2446326"/>
            <a:ext cx="2487989" cy="3693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Parts#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：</a:t>
            </a:r>
            <a:r>
              <a:rPr lang="en-US" altLang="ja-JP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2L10-123456-11</a:t>
            </a:r>
          </a:p>
          <a:p>
            <a:r>
              <a:rPr lang="en-US" altLang="ja-JP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Spare</a:t>
            </a:r>
            <a:r>
              <a:rPr lang="ja-JP" altLang="en-US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Parts</a:t>
            </a:r>
            <a:r>
              <a:rPr lang="ja-JP" altLang="en-US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：</a:t>
            </a:r>
            <a:r>
              <a:rPr lang="en-US" altLang="ja-JP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ES2L10-123456-11</a:t>
            </a:r>
          </a:p>
        </p:txBody>
      </p:sp>
    </p:spTree>
    <p:extLst>
      <p:ext uri="{BB962C8B-B14F-4D97-AF65-F5344CB8AC3E}">
        <p14:creationId xmlns:p14="http://schemas.microsoft.com/office/powerpoint/2010/main" val="207932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Object 5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6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5" imgW="353" imgH="353" progId="TCLayout.ActiveDocument.1">
                  <p:embed/>
                </p:oleObj>
              </mc:Choice>
              <mc:Fallback>
                <p:oleObj name="think-cell スライド" r:id="rId5" imgW="353" imgH="353" progId="TCLayout.ActiveDocument.1">
                  <p:embed/>
                  <p:pic>
                    <p:nvPicPr>
                      <p:cNvPr id="54" name="Object 5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6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正方形/長方形 4" hidden="1">
            <a:extLst>
              <a:ext uri="{FF2B5EF4-FFF2-40B4-BE49-F238E27FC236}">
                <a16:creationId xmlns:a16="http://schemas.microsoft.com/office/drawing/2014/main" id="{B306F94E-CC33-4151-BDF2-ED5F21BB13E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88" y="0"/>
            <a:ext cx="158750" cy="1587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altLang="ja-JP" sz="2800">
              <a:solidFill>
                <a:srgbClr val="2D2D2D"/>
              </a:solidFill>
              <a:latin typeface="Meiryo" panose="020B0604030504040204" pitchFamily="50" charset="-128"/>
              <a:ea typeface="Meiryo" panose="020B0604030504040204" pitchFamily="50" charset="-128"/>
              <a:cs typeface="Arial" panose="020B0604020202020204" pitchFamily="34" charset="0"/>
              <a:sym typeface="Meiryo" panose="020B0604030504040204" pitchFamily="50" charset="-128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ja-JP" sz="2800"/>
              <a:t>How</a:t>
            </a:r>
            <a:r>
              <a:rPr lang="ja-JP" altLang="en-US" sz="2800"/>
              <a:t> </a:t>
            </a:r>
            <a:r>
              <a:rPr lang="en-US" altLang="ja-JP" sz="2800"/>
              <a:t>to</a:t>
            </a:r>
            <a:r>
              <a:rPr lang="ja-JP" altLang="en-US" sz="2800"/>
              <a:t> </a:t>
            </a:r>
            <a:r>
              <a:rPr lang="en-US" altLang="ja-JP" sz="2800"/>
              <a:t>Manage</a:t>
            </a:r>
            <a:r>
              <a:rPr lang="ja-JP" altLang="en-US" sz="2800"/>
              <a:t> </a:t>
            </a:r>
            <a:r>
              <a:rPr lang="en-US" altLang="ja-JP" sz="2800"/>
              <a:t>Tracing</a:t>
            </a:r>
            <a:r>
              <a:rPr lang="ja-JP" altLang="en-US" sz="2800"/>
              <a:t> </a:t>
            </a:r>
            <a:r>
              <a:rPr lang="en-US" altLang="ja-JP" sz="2800"/>
              <a:t>Parts</a:t>
            </a:r>
            <a:endParaRPr lang="ja-JP" altLang="en-US" sz="2800"/>
          </a:p>
        </p:txBody>
      </p:sp>
      <p:sp>
        <p:nvSpPr>
          <p:cNvPr id="87" name="Text Placeholder 6"/>
          <p:cNvSpPr txBox="1">
            <a:spLocks/>
          </p:cNvSpPr>
          <p:nvPr/>
        </p:nvSpPr>
        <p:spPr>
          <a:xfrm>
            <a:off x="611188" y="1019831"/>
            <a:ext cx="11355754" cy="4746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spcBef>
                <a:spcPts val="12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kumimoji="1" sz="24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1pPr>
            <a:lvl2pPr marL="466344" indent="-237744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–"/>
              <a:defRPr kumimoji="1" sz="20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2pPr>
            <a:lvl3pPr marL="676656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6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4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5pPr>
            <a:lvl6pPr marL="13716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78BE20"/>
              </a:buClr>
            </a:pPr>
            <a:r>
              <a:rPr lang="en-US" altLang="ja-JP" sz="2000">
                <a:solidFill>
                  <a:srgbClr val="2D2D2D"/>
                </a:solidFill>
                <a:cs typeface="Arial"/>
              </a:rPr>
              <a:t>Indicators for the traceability target parts are set per part number.</a:t>
            </a:r>
          </a:p>
        </p:txBody>
      </p:sp>
      <p:sp>
        <p:nvSpPr>
          <p:cNvPr id="13" name="正方形/長方形 12"/>
          <p:cNvSpPr/>
          <p:nvPr/>
        </p:nvSpPr>
        <p:spPr>
          <a:xfrm>
            <a:off x="611189" y="4976653"/>
            <a:ext cx="5029200" cy="14045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en-US" altLang="ja-JP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【Current</a:t>
            </a:r>
            <a:r>
              <a:rPr lang="ja-JP" altLang="en-US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Issues】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Serialization of parts based on ambiguous rules set at each BU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No communication present for setting shelf-life or best-before life</a:t>
            </a:r>
          </a:p>
        </p:txBody>
      </p:sp>
      <p:sp>
        <p:nvSpPr>
          <p:cNvPr id="65" name="正方形/長方形 64"/>
          <p:cNvSpPr/>
          <p:nvPr/>
        </p:nvSpPr>
        <p:spPr>
          <a:xfrm>
            <a:off x="623952" y="1453664"/>
            <a:ext cx="5029200" cy="28090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US" altLang="ja-JP" sz="16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As-Is</a:t>
            </a:r>
            <a:endParaRPr lang="ja-JP" altLang="en-US" sz="1600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67" name="正方形/長方形 66"/>
          <p:cNvSpPr/>
          <p:nvPr/>
        </p:nvSpPr>
        <p:spPr>
          <a:xfrm>
            <a:off x="623888" y="1803145"/>
            <a:ext cx="5029200" cy="3511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US" altLang="ja-JP" sz="16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Discretionary Tracing of Parts</a:t>
            </a:r>
            <a:endParaRPr lang="ja-JP" altLang="en-US" sz="16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59" name="Straight Connector 158"/>
          <p:cNvCxnSpPr>
            <a:stCxn id="175" idx="2"/>
            <a:endCxn id="163" idx="3"/>
          </p:cNvCxnSpPr>
          <p:nvPr/>
        </p:nvCxnSpPr>
        <p:spPr>
          <a:xfrm flipH="1">
            <a:off x="2393299" y="2840318"/>
            <a:ext cx="2221228" cy="59176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>
            <a:stCxn id="175" idx="2"/>
            <a:endCxn id="165" idx="0"/>
          </p:cNvCxnSpPr>
          <p:nvPr/>
        </p:nvCxnSpPr>
        <p:spPr>
          <a:xfrm flipH="1">
            <a:off x="1652779" y="2840318"/>
            <a:ext cx="2961748" cy="124365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>
            <a:stCxn id="175" idx="2"/>
            <a:endCxn id="164" idx="0"/>
          </p:cNvCxnSpPr>
          <p:nvPr/>
        </p:nvCxnSpPr>
        <p:spPr>
          <a:xfrm flipH="1">
            <a:off x="3277227" y="2840318"/>
            <a:ext cx="1337300" cy="715806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>
            <a:stCxn id="175" idx="2"/>
            <a:endCxn id="166" idx="0"/>
          </p:cNvCxnSpPr>
          <p:nvPr/>
        </p:nvCxnSpPr>
        <p:spPr>
          <a:xfrm>
            <a:off x="4614527" y="2840318"/>
            <a:ext cx="228708" cy="715806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正方形/長方形 1"/>
          <p:cNvSpPr/>
          <p:nvPr/>
        </p:nvSpPr>
        <p:spPr>
          <a:xfrm>
            <a:off x="912259" y="3028280"/>
            <a:ext cx="1481040" cy="8075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Factory</a:t>
            </a:r>
            <a:r>
              <a:rPr lang="ja-JP" altLang="en-US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A</a:t>
            </a:r>
          </a:p>
          <a:p>
            <a:endParaRPr lang="en-US" altLang="ja-JP" sz="1000">
              <a:solidFill>
                <a:srgbClr val="00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  <a:r>
              <a:rPr lang="ja-JP" altLang="en-US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4" name="正方形/長方形 99"/>
          <p:cNvSpPr/>
          <p:nvPr/>
        </p:nvSpPr>
        <p:spPr>
          <a:xfrm>
            <a:off x="2536707" y="3556125"/>
            <a:ext cx="1481040" cy="8075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Narita</a:t>
            </a:r>
            <a:r>
              <a:rPr lang="ja-JP" altLang="en-US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Warehouse</a:t>
            </a:r>
          </a:p>
          <a:p>
            <a:endParaRPr lang="en-US" altLang="ja-JP" sz="1000">
              <a:solidFill>
                <a:srgbClr val="00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12</a:t>
            </a:r>
            <a:r>
              <a:rPr lang="ja-JP" altLang="en-US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Doesn’t manage S/N</a:t>
            </a:r>
            <a:endParaRPr lang="ja-JP" altLang="en-US" sz="1000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5" name="正方形/長方形 101"/>
          <p:cNvSpPr/>
          <p:nvPr/>
        </p:nvSpPr>
        <p:spPr>
          <a:xfrm>
            <a:off x="912259" y="4083969"/>
            <a:ext cx="1481040" cy="8075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Factory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B</a:t>
            </a:r>
          </a:p>
          <a:p>
            <a:endParaRPr lang="en-US" altLang="ja-JP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60</a:t>
            </a:r>
            <a:r>
              <a:rPr lang="ja-JP" altLang="en-US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Doesn’t manage S/N</a:t>
            </a:r>
            <a:endParaRPr lang="ja-JP" altLang="en-US" sz="1000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6" name="正方形/長方形 102"/>
          <p:cNvSpPr/>
          <p:nvPr/>
        </p:nvSpPr>
        <p:spPr>
          <a:xfrm>
            <a:off x="4102715" y="3556125"/>
            <a:ext cx="1481040" cy="8075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FS</a:t>
            </a:r>
          </a:p>
          <a:p>
            <a:endParaRPr lang="en-US" altLang="ja-JP" sz="1000">
              <a:solidFill>
                <a:srgbClr val="00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Doesn’t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manage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endParaRPr lang="ja-JP" altLang="en-US" sz="1000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grpSp>
        <p:nvGrpSpPr>
          <p:cNvPr id="167" name="Group 166"/>
          <p:cNvGrpSpPr/>
          <p:nvPr/>
        </p:nvGrpSpPr>
        <p:grpSpPr>
          <a:xfrm>
            <a:off x="699684" y="2416108"/>
            <a:ext cx="2880474" cy="374534"/>
            <a:chOff x="2360802" y="2443757"/>
            <a:chExt cx="2880474" cy="374534"/>
          </a:xfrm>
        </p:grpSpPr>
        <p:pic>
          <p:nvPicPr>
            <p:cNvPr id="176" name="図 10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0802" y="2443757"/>
              <a:ext cx="362726" cy="370635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177" name="テキスト ボックス 144"/>
            <p:cNvSpPr txBox="1"/>
            <p:nvPr/>
          </p:nvSpPr>
          <p:spPr>
            <a:xfrm>
              <a:off x="2753287" y="2448959"/>
              <a:ext cx="248798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ja-JP" sz="12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Parts#</a:t>
              </a:r>
              <a:r>
                <a:rPr lang="ja-JP" altLang="en-US" sz="12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：</a:t>
              </a:r>
              <a:r>
                <a:rPr lang="en-US" altLang="ja-JP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2L10-123456-11</a:t>
              </a:r>
            </a:p>
            <a:p>
              <a:r>
                <a:rPr lang="en-US" altLang="ja-JP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Spare</a:t>
              </a:r>
              <a:r>
                <a:rPr lang="ja-JP" altLang="en-US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 </a:t>
              </a:r>
              <a:r>
                <a:rPr lang="en-US" altLang="ja-JP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Parts</a:t>
              </a:r>
              <a:r>
                <a:rPr lang="ja-JP" altLang="en-US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：</a:t>
              </a:r>
              <a:r>
                <a:rPr lang="en-US" altLang="ja-JP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ES2L10-123456-11</a:t>
              </a:r>
            </a:p>
          </p:txBody>
        </p:sp>
      </p:grpSp>
      <p:pic>
        <p:nvPicPr>
          <p:cNvPr id="168" name="Picture 20" descr="j043262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834910" y="3944368"/>
            <a:ext cx="451482" cy="47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" name="Picture 17" descr="j043262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699049" y="3413616"/>
            <a:ext cx="443079" cy="477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" name="Picture 17" descr="j043262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156531" y="3413616"/>
            <a:ext cx="443079" cy="477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1" name="Picture 20" descr="j043262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834910" y="2895235"/>
            <a:ext cx="451482" cy="47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2" name="Elbow Connector 171"/>
          <p:cNvCxnSpPr>
            <a:stCxn id="163" idx="3"/>
            <a:endCxn id="164" idx="1"/>
          </p:cNvCxnSpPr>
          <p:nvPr/>
        </p:nvCxnSpPr>
        <p:spPr>
          <a:xfrm>
            <a:off x="2393299" y="3432079"/>
            <a:ext cx="143408" cy="527845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lbow Connector 172"/>
          <p:cNvCxnSpPr>
            <a:stCxn id="165" idx="3"/>
            <a:endCxn id="164" idx="1"/>
          </p:cNvCxnSpPr>
          <p:nvPr/>
        </p:nvCxnSpPr>
        <p:spPr>
          <a:xfrm flipV="1">
            <a:off x="2393299" y="3959923"/>
            <a:ext cx="143408" cy="527844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>
            <a:stCxn id="164" idx="3"/>
            <a:endCxn id="166" idx="1"/>
          </p:cNvCxnSpPr>
          <p:nvPr/>
        </p:nvCxnSpPr>
        <p:spPr>
          <a:xfrm>
            <a:off x="4017747" y="3959923"/>
            <a:ext cx="84968" cy="0"/>
          </a:xfrm>
          <a:prstGeom prst="straightConnector1">
            <a:avLst/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174"/>
          <p:cNvSpPr/>
          <p:nvPr/>
        </p:nvSpPr>
        <p:spPr>
          <a:xfrm>
            <a:off x="3470559" y="2416000"/>
            <a:ext cx="2287936" cy="4243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Shelf-life/best-before date &amp;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S/N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management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policies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may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differ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depending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on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the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location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6612664" y="4976545"/>
            <a:ext cx="5029200" cy="14045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en-US" altLang="ja-JP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【Expected</a:t>
            </a:r>
            <a:r>
              <a:rPr lang="ja-JP" altLang="en-US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Results】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One-TEL list declares serialization and shelf-life for each material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Consistent serialization across operations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Tracing of parts reflect QA requirements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ja-JP" sz="1400">
              <a:solidFill>
                <a:srgbClr val="2D2D2D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66" name="正方形/長方形 65"/>
          <p:cNvSpPr/>
          <p:nvPr/>
        </p:nvSpPr>
        <p:spPr>
          <a:xfrm>
            <a:off x="6612664" y="1453771"/>
            <a:ext cx="5029200" cy="29202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US" altLang="ja-JP" sz="16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To-Be</a:t>
            </a:r>
            <a:endParaRPr lang="ja-JP" altLang="en-US" sz="1600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68" name="正方形/長方形 67"/>
          <p:cNvSpPr/>
          <p:nvPr/>
        </p:nvSpPr>
        <p:spPr>
          <a:xfrm>
            <a:off x="6612664" y="1803037"/>
            <a:ext cx="5029200" cy="3511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US" altLang="ja-JP" sz="16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One-TEL Standardized Policy</a:t>
            </a:r>
            <a:endParaRPr lang="ja-JP" altLang="en-US" sz="16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" name="正方形/長方形 1"/>
          <p:cNvSpPr/>
          <p:nvPr/>
        </p:nvSpPr>
        <p:spPr>
          <a:xfrm>
            <a:off x="6484144" y="3214040"/>
            <a:ext cx="148104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Factory</a:t>
            </a:r>
            <a:r>
              <a:rPr lang="ja-JP" altLang="en-US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A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2" name="正方形/長方形 101"/>
          <p:cNvSpPr/>
          <p:nvPr/>
        </p:nvSpPr>
        <p:spPr>
          <a:xfrm>
            <a:off x="6484144" y="4164185"/>
            <a:ext cx="148104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Factory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B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86" name="Straight Connector 185"/>
          <p:cNvCxnSpPr>
            <a:stCxn id="181" idx="2"/>
          </p:cNvCxnSpPr>
          <p:nvPr/>
        </p:nvCxnSpPr>
        <p:spPr>
          <a:xfrm flipH="1">
            <a:off x="7973966" y="3056080"/>
            <a:ext cx="2705358" cy="331276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>
            <a:stCxn id="181" idx="2"/>
          </p:cNvCxnSpPr>
          <p:nvPr/>
        </p:nvCxnSpPr>
        <p:spPr>
          <a:xfrm flipH="1">
            <a:off x="7973966" y="3056081"/>
            <a:ext cx="2705358" cy="1273113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>
            <a:stCxn id="181" idx="2"/>
            <a:endCxn id="103" idx="0"/>
          </p:cNvCxnSpPr>
          <p:nvPr/>
        </p:nvCxnSpPr>
        <p:spPr>
          <a:xfrm>
            <a:off x="10679325" y="3056081"/>
            <a:ext cx="279801" cy="633033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/>
          <p:cNvCxnSpPr>
            <a:stCxn id="181" idx="2"/>
          </p:cNvCxnSpPr>
          <p:nvPr/>
        </p:nvCxnSpPr>
        <p:spPr>
          <a:xfrm flipH="1">
            <a:off x="9860492" y="3056080"/>
            <a:ext cx="818832" cy="79804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正方形/長方形 99"/>
          <p:cNvSpPr/>
          <p:nvPr/>
        </p:nvSpPr>
        <p:spPr>
          <a:xfrm>
            <a:off x="8342035" y="3689113"/>
            <a:ext cx="148104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Narita</a:t>
            </a:r>
            <a:r>
              <a:rPr lang="ja-JP" altLang="en-US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Warehouse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3" name="正方形/長方形 102"/>
          <p:cNvSpPr/>
          <p:nvPr/>
        </p:nvSpPr>
        <p:spPr>
          <a:xfrm>
            <a:off x="10218605" y="3689113"/>
            <a:ext cx="148104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FS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pic>
        <p:nvPicPr>
          <p:cNvPr id="154" name="Picture 20" descr="j043262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7388115" y="3869543"/>
            <a:ext cx="451482" cy="47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" name="Picture 17" descr="j043262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39367" y="3433403"/>
            <a:ext cx="443079" cy="477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Picture 17" descr="j043262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49743" y="3433403"/>
            <a:ext cx="443079" cy="477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" name="Picture 20" descr="j043262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7396261" y="2916645"/>
            <a:ext cx="451482" cy="47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1" name="Elbow Connector 30"/>
          <p:cNvCxnSpPr>
            <a:stCxn id="2" idx="3"/>
            <a:endCxn id="100" idx="1"/>
          </p:cNvCxnSpPr>
          <p:nvPr/>
        </p:nvCxnSpPr>
        <p:spPr>
          <a:xfrm>
            <a:off x="7965185" y="3534081"/>
            <a:ext cx="376851" cy="475073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114"/>
          <p:cNvCxnSpPr>
            <a:stCxn id="102" idx="3"/>
            <a:endCxn id="100" idx="1"/>
          </p:cNvCxnSpPr>
          <p:nvPr/>
        </p:nvCxnSpPr>
        <p:spPr>
          <a:xfrm flipV="1">
            <a:off x="7965185" y="4009153"/>
            <a:ext cx="376851" cy="475072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00" idx="3"/>
            <a:endCxn id="103" idx="1"/>
          </p:cNvCxnSpPr>
          <p:nvPr/>
        </p:nvCxnSpPr>
        <p:spPr>
          <a:xfrm>
            <a:off x="9823075" y="4009153"/>
            <a:ext cx="395530" cy="0"/>
          </a:xfrm>
          <a:prstGeom prst="straightConnector1">
            <a:avLst/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正方形/長方形 1"/>
          <p:cNvSpPr/>
          <p:nvPr/>
        </p:nvSpPr>
        <p:spPr>
          <a:xfrm>
            <a:off x="9675455" y="2416000"/>
            <a:ext cx="2007738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QA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Dept.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Sets the same shelf-life and S/N management policy for each part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pic>
        <p:nvPicPr>
          <p:cNvPr id="185" name="Picture 20" descr="j043262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1255194" y="2144562"/>
            <a:ext cx="451482" cy="47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4" name="Isosceles Triangle 213"/>
          <p:cNvSpPr/>
          <p:nvPr/>
        </p:nvSpPr>
        <p:spPr>
          <a:xfrm rot="5400000">
            <a:off x="4463073" y="3704081"/>
            <a:ext cx="3339670" cy="426673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40E3B6C4-35C3-4633-8220-74BD95DF8C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628" y="2441125"/>
            <a:ext cx="362726" cy="37063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29EA5EC-62C7-4AAE-8733-CC1BC2FA4364}"/>
              </a:ext>
            </a:extLst>
          </p:cNvPr>
          <p:cNvSpPr txBox="1"/>
          <p:nvPr/>
        </p:nvSpPr>
        <p:spPr>
          <a:xfrm>
            <a:off x="7090241" y="2446326"/>
            <a:ext cx="2487989" cy="3693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Parts#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：</a:t>
            </a:r>
            <a:r>
              <a:rPr lang="en-US" altLang="ja-JP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2L10-123456-11</a:t>
            </a:r>
          </a:p>
          <a:p>
            <a:r>
              <a:rPr lang="en-US" altLang="ja-JP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Spare</a:t>
            </a:r>
            <a:r>
              <a:rPr lang="ja-JP" altLang="en-US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Parts</a:t>
            </a:r>
            <a:r>
              <a:rPr lang="ja-JP" altLang="en-US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：</a:t>
            </a:r>
            <a:r>
              <a:rPr lang="en-US" altLang="ja-JP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ES2L10-123456-11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58E0D637-65A1-402F-90A6-57500548298E}"/>
              </a:ext>
            </a:extLst>
          </p:cNvPr>
          <p:cNvSpPr/>
          <p:nvPr/>
        </p:nvSpPr>
        <p:spPr>
          <a:xfrm>
            <a:off x="6611493" y="2180920"/>
            <a:ext cx="5101083" cy="914559"/>
          </a:xfrm>
          <a:prstGeom prst="rect">
            <a:avLst/>
          </a:prstGeom>
          <a:noFill/>
          <a:ln w="38100">
            <a:solidFill>
              <a:srgbClr val="F2C1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BF50C8BD-B075-4203-8621-A99978EF64AA}"/>
              </a:ext>
            </a:extLst>
          </p:cNvPr>
          <p:cNvSpPr/>
          <p:nvPr/>
        </p:nvSpPr>
        <p:spPr>
          <a:xfrm>
            <a:off x="597346" y="1453663"/>
            <a:ext cx="5894392" cy="4891574"/>
          </a:xfrm>
          <a:prstGeom prst="rect">
            <a:avLst/>
          </a:prstGeom>
          <a:solidFill>
            <a:schemeClr val="tx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53" name="吹き出し: 四角形 52">
            <a:extLst>
              <a:ext uri="{FF2B5EF4-FFF2-40B4-BE49-F238E27FC236}">
                <a16:creationId xmlns:a16="http://schemas.microsoft.com/office/drawing/2014/main" id="{B8EA69F8-C453-4849-985E-150F47491940}"/>
              </a:ext>
            </a:extLst>
          </p:cNvPr>
          <p:cNvSpPr/>
          <p:nvPr/>
        </p:nvSpPr>
        <p:spPr>
          <a:xfrm>
            <a:off x="875486" y="2101884"/>
            <a:ext cx="4962639" cy="3423930"/>
          </a:xfrm>
          <a:prstGeom prst="wedgeRectCallout">
            <a:avLst>
              <a:gd name="adj1" fmla="val 64889"/>
              <a:gd name="adj2" fmla="val -34338"/>
            </a:avLst>
          </a:prstGeom>
          <a:solidFill>
            <a:schemeClr val="bg1"/>
          </a:solidFill>
          <a:ln w="38100">
            <a:solidFill>
              <a:srgbClr val="F2C1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/>
            <a:r>
              <a:rPr lang="en-US" altLang="ja-JP" sz="14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TEL Parts Traceability Management Using Traceability Flags</a:t>
            </a:r>
          </a:p>
          <a:p>
            <a:pPr algn="ctr"/>
            <a:endParaRPr lang="en-US" altLang="ja-JP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After the factory QA dept. decides the management policy for each part, that policy will be registered to SAP’s master data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We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would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like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to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ask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for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your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cooperation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to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manage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S/N and shelf-life/best-before life of parts based on SAP’s master data</a:t>
            </a:r>
          </a:p>
        </p:txBody>
      </p:sp>
      <p:sp>
        <p:nvSpPr>
          <p:cNvPr id="57" name="フローチャート: 磁気ディスク 56">
            <a:extLst>
              <a:ext uri="{FF2B5EF4-FFF2-40B4-BE49-F238E27FC236}">
                <a16:creationId xmlns:a16="http://schemas.microsoft.com/office/drawing/2014/main" id="{17AABE45-ED3B-408B-B429-F94EDFCED6C3}"/>
              </a:ext>
            </a:extLst>
          </p:cNvPr>
          <p:cNvSpPr/>
          <p:nvPr/>
        </p:nvSpPr>
        <p:spPr>
          <a:xfrm>
            <a:off x="3718224" y="4974059"/>
            <a:ext cx="881191" cy="454290"/>
          </a:xfrm>
          <a:prstGeom prst="flowChartMagneticDisk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Factory</a:t>
            </a:r>
            <a:r>
              <a:rPr lang="ja-JP" altLang="en-US" sz="12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SAP</a:t>
            </a:r>
            <a:endParaRPr lang="ja-JP" altLang="en-US" sz="1200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58" name="思考の吹き出し: 雲形 57">
            <a:extLst>
              <a:ext uri="{FF2B5EF4-FFF2-40B4-BE49-F238E27FC236}">
                <a16:creationId xmlns:a16="http://schemas.microsoft.com/office/drawing/2014/main" id="{91B54A31-B0D7-438F-8030-9F254627CDF6}"/>
              </a:ext>
            </a:extLst>
          </p:cNvPr>
          <p:cNvSpPr/>
          <p:nvPr/>
        </p:nvSpPr>
        <p:spPr>
          <a:xfrm>
            <a:off x="1009858" y="3374637"/>
            <a:ext cx="4729399" cy="1434032"/>
          </a:xfrm>
          <a:prstGeom prst="cloudCallout">
            <a:avLst>
              <a:gd name="adj1" fmla="val 15032"/>
              <a:gd name="adj2" fmla="val 64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fontAlgn="b"/>
            <a:endParaRPr kumimoji="0" lang="ja-JP" altLang="en-US" sz="140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59" name="フローチャート: 磁気ディスク 58">
            <a:extLst>
              <a:ext uri="{FF2B5EF4-FFF2-40B4-BE49-F238E27FC236}">
                <a16:creationId xmlns:a16="http://schemas.microsoft.com/office/drawing/2014/main" id="{89BF4F81-03B0-4AE4-898D-28D66F9E2B65}"/>
              </a:ext>
            </a:extLst>
          </p:cNvPr>
          <p:cNvSpPr/>
          <p:nvPr/>
        </p:nvSpPr>
        <p:spPr>
          <a:xfrm>
            <a:off x="4880700" y="4974059"/>
            <a:ext cx="881191" cy="454290"/>
          </a:xfrm>
          <a:prstGeom prst="flowChartMagneticDisk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TEL/GENPO</a:t>
            </a:r>
          </a:p>
          <a:p>
            <a:pPr algn="ctr"/>
            <a:r>
              <a:rPr lang="en-US" altLang="ja-JP" sz="12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SAP</a:t>
            </a:r>
            <a:endParaRPr lang="ja-JP" altLang="en-US" sz="1200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15DE6DA0-54EF-42ED-AFEC-CD5ED99986E6}"/>
              </a:ext>
            </a:extLst>
          </p:cNvPr>
          <p:cNvSpPr/>
          <p:nvPr/>
        </p:nvSpPr>
        <p:spPr>
          <a:xfrm>
            <a:off x="4596648" y="5076522"/>
            <a:ext cx="300637" cy="24936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fontAlgn="b"/>
            <a:r>
              <a:rPr kumimoji="0" lang="ja-JP" altLang="en-US" sz="14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⇒</a:t>
            </a:r>
            <a:endParaRPr kumimoji="0" lang="en-US" altLang="ja-JP" sz="140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7047DEF0-61E6-4E18-8162-39908B64CEF9}"/>
              </a:ext>
            </a:extLst>
          </p:cNvPr>
          <p:cNvSpPr/>
          <p:nvPr/>
        </p:nvSpPr>
        <p:spPr>
          <a:xfrm>
            <a:off x="1270953" y="4287749"/>
            <a:ext cx="2447271" cy="2493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fontAlgn="b"/>
            <a:r>
              <a:rPr kumimoji="0" lang="en-US" altLang="ja-JP" sz="14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Material</a:t>
            </a:r>
            <a:r>
              <a:rPr kumimoji="0" lang="ja-JP" altLang="en-US" sz="14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 </a:t>
            </a:r>
            <a:r>
              <a:rPr kumimoji="0" lang="en-US" altLang="ja-JP" sz="14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Code</a:t>
            </a:r>
            <a:r>
              <a:rPr kumimoji="0" lang="ja-JP" altLang="en-US" sz="14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：</a:t>
            </a:r>
            <a:endParaRPr kumimoji="0" lang="en-US" altLang="ja-JP" sz="140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  <a:p>
            <a:pPr algn="ctr" fontAlgn="b"/>
            <a:r>
              <a:rPr kumimoji="0" lang="en-US" altLang="ja-JP" sz="14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2L10-123456-11</a:t>
            </a:r>
          </a:p>
        </p:txBody>
      </p:sp>
      <p:pic>
        <p:nvPicPr>
          <p:cNvPr id="62" name="図 61">
            <a:extLst>
              <a:ext uri="{FF2B5EF4-FFF2-40B4-BE49-F238E27FC236}">
                <a16:creationId xmlns:a16="http://schemas.microsoft.com/office/drawing/2014/main" id="{7783AA19-47D7-46BC-99AF-63132D3CB9B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342" y="3797504"/>
            <a:ext cx="362726" cy="37063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3CF15A72-3455-4E14-A930-7A2F9D711AB0}"/>
              </a:ext>
            </a:extLst>
          </p:cNvPr>
          <p:cNvSpPr/>
          <p:nvPr/>
        </p:nvSpPr>
        <p:spPr>
          <a:xfrm>
            <a:off x="3505820" y="3514079"/>
            <a:ext cx="1685619" cy="819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S/N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Mgmt. Indicator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：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1</a:t>
            </a:r>
          </a:p>
          <a:p>
            <a:endParaRPr lang="en-US" altLang="ja-JP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SLED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：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</a:p>
          <a:p>
            <a:endParaRPr lang="en-US" altLang="ja-JP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BBD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：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0</a:t>
            </a:r>
          </a:p>
        </p:txBody>
      </p: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8429DD95-D657-4092-BFAA-10921706FF50}"/>
              </a:ext>
            </a:extLst>
          </p:cNvPr>
          <p:cNvCxnSpPr>
            <a:cxnSpLocks/>
          </p:cNvCxnSpPr>
          <p:nvPr/>
        </p:nvCxnSpPr>
        <p:spPr>
          <a:xfrm>
            <a:off x="3576434" y="4343416"/>
            <a:ext cx="1538727" cy="0"/>
          </a:xfrm>
          <a:prstGeom prst="straightConnector1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AF91D7F4-87F9-4375-9DB3-12AC95826A87}"/>
              </a:ext>
            </a:extLst>
          </p:cNvPr>
          <p:cNvCxnSpPr>
            <a:cxnSpLocks/>
          </p:cNvCxnSpPr>
          <p:nvPr/>
        </p:nvCxnSpPr>
        <p:spPr>
          <a:xfrm>
            <a:off x="3576434" y="4009153"/>
            <a:ext cx="1538727" cy="0"/>
          </a:xfrm>
          <a:prstGeom prst="straightConnector1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10771C91-EBF9-4E73-8329-F5D950136C34}"/>
              </a:ext>
            </a:extLst>
          </p:cNvPr>
          <p:cNvCxnSpPr>
            <a:cxnSpLocks/>
          </p:cNvCxnSpPr>
          <p:nvPr/>
        </p:nvCxnSpPr>
        <p:spPr>
          <a:xfrm>
            <a:off x="3576434" y="3696000"/>
            <a:ext cx="1538727" cy="0"/>
          </a:xfrm>
          <a:prstGeom prst="straightConnector1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B07E6E26-00E3-48B0-A3D4-F6C462474982}"/>
              </a:ext>
            </a:extLst>
          </p:cNvPr>
          <p:cNvCxnSpPr>
            <a:cxnSpLocks/>
          </p:cNvCxnSpPr>
          <p:nvPr/>
        </p:nvCxnSpPr>
        <p:spPr>
          <a:xfrm flipV="1">
            <a:off x="3360327" y="3696000"/>
            <a:ext cx="218869" cy="846144"/>
          </a:xfrm>
          <a:prstGeom prst="straightConnector1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B3B153C0-1F56-48C8-BB3E-A36842E7B159}"/>
              </a:ext>
            </a:extLst>
          </p:cNvPr>
          <p:cNvCxnSpPr>
            <a:cxnSpLocks/>
          </p:cNvCxnSpPr>
          <p:nvPr/>
        </p:nvCxnSpPr>
        <p:spPr>
          <a:xfrm flipV="1">
            <a:off x="3356805" y="4346012"/>
            <a:ext cx="230369" cy="191103"/>
          </a:xfrm>
          <a:prstGeom prst="straightConnector1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CCD1439A-8AC3-49A1-B0D5-AF7352080030}"/>
              </a:ext>
            </a:extLst>
          </p:cNvPr>
          <p:cNvCxnSpPr>
            <a:cxnSpLocks/>
          </p:cNvCxnSpPr>
          <p:nvPr/>
        </p:nvCxnSpPr>
        <p:spPr>
          <a:xfrm flipV="1">
            <a:off x="3356804" y="4014186"/>
            <a:ext cx="216696" cy="535041"/>
          </a:xfrm>
          <a:prstGeom prst="straightConnector1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851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62B716-35A3-B909-32F4-A4D6CE13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Business Operation Requirements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797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オブジェクト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6353" y="337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660" imgH="659" progId="TCLayout.ActiveDocument.1">
                  <p:embed/>
                </p:oleObj>
              </mc:Choice>
              <mc:Fallback>
                <p:oleObj name="think-cell スライド" r:id="rId4" imgW="660" imgH="659" progId="TCLayout.ActiveDocument.1">
                  <p:embed/>
                  <p:pic>
                    <p:nvPicPr>
                      <p:cNvPr id="14" name="オブジェクト 1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53" y="337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正方形/長方形 6" hidden="1"/>
          <p:cNvSpPr/>
          <p:nvPr>
            <p:custDataLst>
              <p:tags r:id="rId2"/>
            </p:custDataLst>
          </p:nvPr>
        </p:nvSpPr>
        <p:spPr>
          <a:xfrm>
            <a:off x="3175" y="1787"/>
            <a:ext cx="158668" cy="15866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914126">
              <a:defRPr/>
            </a:pPr>
            <a:endParaRPr lang="ja-JP" altLang="en-US" sz="2798">
              <a:solidFill>
                <a:srgbClr val="2D2D2D"/>
              </a:solidFill>
              <a:latin typeface="Arial" panose="020B0604020202020204" pitchFamily="34" charset="0"/>
              <a:ea typeface="Meiryo" panose="020B0604030504040204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45869" y="305296"/>
            <a:ext cx="10913322" cy="522948"/>
          </a:xfrm>
        </p:spPr>
        <p:txBody>
          <a:bodyPr/>
          <a:lstStyle/>
          <a:p>
            <a:r>
              <a:rPr lang="en-US" altLang="ja-JP" sz="2798"/>
              <a:t>Overview</a:t>
            </a:r>
            <a:r>
              <a:rPr lang="ja-JP" altLang="en-US" sz="2798"/>
              <a:t> </a:t>
            </a:r>
            <a:r>
              <a:rPr lang="en-US" altLang="ja-JP" sz="2798"/>
              <a:t>of</a:t>
            </a:r>
            <a:r>
              <a:rPr lang="ja-JP" altLang="en-US" sz="2798"/>
              <a:t> </a:t>
            </a:r>
            <a:r>
              <a:rPr lang="en-US" altLang="ja-JP" sz="2798"/>
              <a:t>Operational</a:t>
            </a:r>
            <a:r>
              <a:rPr lang="ja-JP" altLang="en-US" sz="2798"/>
              <a:t> </a:t>
            </a:r>
            <a:r>
              <a:rPr lang="en-US" altLang="ja-JP" sz="2798"/>
              <a:t>Changes</a:t>
            </a:r>
            <a:endParaRPr lang="ja-JP" altLang="en-US" sz="1998"/>
          </a:p>
        </p:txBody>
      </p:sp>
      <p:grpSp>
        <p:nvGrpSpPr>
          <p:cNvPr id="5" name="グループ化 4"/>
          <p:cNvGrpSpPr/>
          <p:nvPr/>
        </p:nvGrpSpPr>
        <p:grpSpPr>
          <a:xfrm>
            <a:off x="10261170" y="193818"/>
            <a:ext cx="1826098" cy="477517"/>
            <a:chOff x="10297308" y="863003"/>
            <a:chExt cx="1827050" cy="477765"/>
          </a:xfrm>
        </p:grpSpPr>
        <p:sp>
          <p:nvSpPr>
            <p:cNvPr id="200" name="角丸四角形 199"/>
            <p:cNvSpPr/>
            <p:nvPr/>
          </p:nvSpPr>
          <p:spPr>
            <a:xfrm>
              <a:off x="10297308" y="863003"/>
              <a:ext cx="1827050" cy="47776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>
                <a:defRPr/>
              </a:pPr>
              <a:endParaRPr lang="ja-JP" altLang="en-US" sz="1798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cxnSp>
          <p:nvCxnSpPr>
            <p:cNvPr id="201" name="直線矢印コネクタ 200"/>
            <p:cNvCxnSpPr/>
            <p:nvPr/>
          </p:nvCxnSpPr>
          <p:spPr>
            <a:xfrm flipV="1">
              <a:off x="10444275" y="981433"/>
              <a:ext cx="601537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正方形/長方形 202"/>
            <p:cNvSpPr/>
            <p:nvPr/>
          </p:nvSpPr>
          <p:spPr>
            <a:xfrm>
              <a:off x="11022771" y="875092"/>
              <a:ext cx="786908" cy="180552"/>
            </a:xfrm>
            <a:prstGeom prst="rect">
              <a:avLst/>
            </a:prstGeom>
          </p:spPr>
          <p:txBody>
            <a:bodyPr wrap="none" bIns="0" anchor="ctr">
              <a:noAutofit/>
            </a:bodyPr>
            <a:lstStyle/>
            <a:p>
              <a:pPr defTabSz="914126">
                <a:defRPr/>
              </a:pPr>
              <a:r>
                <a:rPr lang="en-US" altLang="ja-JP" sz="1100" b="1" kern="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Flow</a:t>
              </a:r>
              <a:r>
                <a:rPr lang="ja-JP" altLang="en-US" sz="1100" b="1" kern="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100" b="1" kern="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of</a:t>
              </a:r>
              <a:r>
                <a:rPr lang="ja-JP" altLang="en-US" sz="1100" b="1" kern="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100" b="1" kern="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Goods</a:t>
              </a:r>
            </a:p>
          </p:txBody>
        </p:sp>
        <p:cxnSp>
          <p:nvCxnSpPr>
            <p:cNvPr id="202" name="直線矢印コネクタ 201"/>
            <p:cNvCxnSpPr/>
            <p:nvPr/>
          </p:nvCxnSpPr>
          <p:spPr>
            <a:xfrm flipV="1">
              <a:off x="10453153" y="1216672"/>
              <a:ext cx="601537" cy="0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正方形/長方形 203"/>
            <p:cNvSpPr/>
            <p:nvPr/>
          </p:nvSpPr>
          <p:spPr>
            <a:xfrm>
              <a:off x="11031649" y="1115401"/>
              <a:ext cx="786908" cy="180552"/>
            </a:xfrm>
            <a:prstGeom prst="rect">
              <a:avLst/>
            </a:prstGeom>
          </p:spPr>
          <p:txBody>
            <a:bodyPr wrap="none" bIns="0" anchor="ctr">
              <a:noAutofit/>
            </a:bodyPr>
            <a:lstStyle/>
            <a:p>
              <a:pPr defTabSz="914126">
                <a:defRPr/>
              </a:pPr>
              <a:r>
                <a:rPr lang="en-US" altLang="ja-JP" sz="1100" b="1" kern="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Flow of Data</a:t>
              </a:r>
            </a:p>
          </p:txBody>
        </p:sp>
      </p:grpSp>
      <p:sp>
        <p:nvSpPr>
          <p:cNvPr id="8" name="フローチャート: 磁気ディスク 7"/>
          <p:cNvSpPr/>
          <p:nvPr/>
        </p:nvSpPr>
        <p:spPr>
          <a:xfrm>
            <a:off x="1997578" y="5387708"/>
            <a:ext cx="810675" cy="312330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SAP</a:t>
            </a:r>
            <a:endParaRPr lang="ja-JP" altLang="en-US" sz="105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72121" y="3926906"/>
            <a:ext cx="519424" cy="2768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914126">
              <a:defRPr/>
            </a:pPr>
            <a:r>
              <a:rPr lang="en-US" altLang="ja-JP" sz="1200" b="1" u="sng">
                <a:solidFill>
                  <a:srgbClr val="FFFFFF">
                    <a:lumMod val="50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Who</a:t>
            </a:r>
            <a:endParaRPr lang="ja-JP" altLang="en-US" sz="1200" b="1" u="sng">
              <a:solidFill>
                <a:srgbClr val="FFFFFF">
                  <a:lumMod val="50000"/>
                </a:srgbClr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0" name="テキスト ボックス 109"/>
          <p:cNvSpPr txBox="1"/>
          <p:nvPr/>
        </p:nvSpPr>
        <p:spPr>
          <a:xfrm>
            <a:off x="151292" y="4647940"/>
            <a:ext cx="561080" cy="2768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914126">
              <a:defRPr/>
            </a:pPr>
            <a:r>
              <a:rPr lang="en-US" altLang="ja-JP" sz="1200" b="1" u="sng">
                <a:solidFill>
                  <a:srgbClr val="FFFFFF">
                    <a:lumMod val="50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What</a:t>
            </a:r>
            <a:endParaRPr lang="ja-JP" altLang="en-US" sz="1200" b="1" u="sng">
              <a:solidFill>
                <a:srgbClr val="FFFFFF">
                  <a:lumMod val="50000"/>
                </a:srgbClr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5" name="テキスト ボックス 114"/>
          <p:cNvSpPr txBox="1"/>
          <p:nvPr/>
        </p:nvSpPr>
        <p:spPr>
          <a:xfrm>
            <a:off x="67182" y="5377116"/>
            <a:ext cx="729307" cy="2768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914126">
              <a:defRPr/>
            </a:pPr>
            <a:r>
              <a:rPr lang="en-US" altLang="ja-JP" sz="1200" b="1" u="sng">
                <a:solidFill>
                  <a:srgbClr val="FFFFFF">
                    <a:lumMod val="50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System</a:t>
            </a:r>
            <a:endParaRPr lang="ja-JP" altLang="en-US" sz="1200" b="1" u="sng">
              <a:solidFill>
                <a:srgbClr val="FFFFFF">
                  <a:lumMod val="50000"/>
                </a:srgbClr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9" name="フローチャート: 磁気ディスク 128"/>
          <p:cNvSpPr/>
          <p:nvPr/>
        </p:nvSpPr>
        <p:spPr>
          <a:xfrm>
            <a:off x="4047259" y="5387708"/>
            <a:ext cx="810675" cy="312330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SCM</a:t>
            </a:r>
            <a:endParaRPr lang="ja-JP" altLang="en-US" sz="105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32" name="フローチャート: 磁気ディスク 131"/>
          <p:cNvSpPr/>
          <p:nvPr/>
        </p:nvSpPr>
        <p:spPr>
          <a:xfrm>
            <a:off x="6302400" y="5387708"/>
            <a:ext cx="810675" cy="312330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MES</a:t>
            </a:r>
            <a:endParaRPr lang="ja-JP" altLang="en-US" sz="105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45" name="フローチャート: 磁気ディスク 144"/>
          <p:cNvSpPr/>
          <p:nvPr/>
        </p:nvSpPr>
        <p:spPr>
          <a:xfrm>
            <a:off x="7348890" y="5387708"/>
            <a:ext cx="810675" cy="312330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WMS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46" name="フローチャート: 磁気ディスク 145"/>
          <p:cNvSpPr/>
          <p:nvPr/>
        </p:nvSpPr>
        <p:spPr>
          <a:xfrm>
            <a:off x="8386997" y="5387708"/>
            <a:ext cx="810675" cy="312330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WMS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47" name="フローチャート: 磁気ディスク 146"/>
          <p:cNvSpPr/>
          <p:nvPr/>
        </p:nvSpPr>
        <p:spPr>
          <a:xfrm>
            <a:off x="10832214" y="5387708"/>
            <a:ext cx="810675" cy="312330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Service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CRM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49" name="フローチャート: 磁気ディスク 148"/>
          <p:cNvSpPr/>
          <p:nvPr/>
        </p:nvSpPr>
        <p:spPr>
          <a:xfrm>
            <a:off x="9789100" y="5387708"/>
            <a:ext cx="810675" cy="312330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Service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CRM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59" name="フローチャート: 磁気ディスク 158"/>
          <p:cNvSpPr/>
          <p:nvPr/>
        </p:nvSpPr>
        <p:spPr>
          <a:xfrm>
            <a:off x="834898" y="5387708"/>
            <a:ext cx="810675" cy="312330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JOE/IPDB</a:t>
            </a:r>
            <a:endParaRPr lang="ja-JP" altLang="en-US" sz="105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0" name="フローチャート: 磁気ディスク 159"/>
          <p:cNvSpPr/>
          <p:nvPr/>
        </p:nvSpPr>
        <p:spPr>
          <a:xfrm>
            <a:off x="4534921" y="5600098"/>
            <a:ext cx="524876" cy="233638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DCS</a:t>
            </a:r>
            <a:endParaRPr lang="ja-JP" altLang="en-US" sz="9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4" name="テキスト ボックス 113"/>
          <p:cNvSpPr txBox="1"/>
          <p:nvPr/>
        </p:nvSpPr>
        <p:spPr>
          <a:xfrm>
            <a:off x="5314332" y="2542248"/>
            <a:ext cx="110745" cy="2460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914126">
              <a:defRPr/>
            </a:pPr>
            <a:endParaRPr lang="en-US" altLang="ja-JP" sz="1000" b="1">
              <a:solidFill>
                <a:srgbClr val="2D2D2D"/>
              </a:solidFill>
              <a:latin typeface="Arial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93" name="テキスト ボックス 92"/>
          <p:cNvSpPr txBox="1"/>
          <p:nvPr/>
        </p:nvSpPr>
        <p:spPr>
          <a:xfrm>
            <a:off x="3164544" y="2414152"/>
            <a:ext cx="127509" cy="2460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914126">
              <a:defRPr/>
            </a:pPr>
            <a:endParaRPr lang="en-US" altLang="ja-JP" sz="1000" b="1">
              <a:solidFill>
                <a:srgbClr val="2D2D2D"/>
              </a:solidFill>
              <a:latin typeface="Arial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92" name="ホームベース 91"/>
          <p:cNvSpPr/>
          <p:nvPr/>
        </p:nvSpPr>
        <p:spPr>
          <a:xfrm>
            <a:off x="7750988" y="893494"/>
            <a:ext cx="3899339" cy="404457"/>
          </a:xfrm>
          <a:prstGeom prst="homePlate">
            <a:avLst>
              <a:gd name="adj" fmla="val 53314"/>
            </a:avLst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798" b="1">
                <a:solidFill>
                  <a:srgbClr val="2D2D2D"/>
                </a:solidFill>
                <a:effectLst>
                  <a:glow rad="101600">
                    <a:srgbClr val="FFFFFF">
                      <a:alpha val="60000"/>
                    </a:srgbClr>
                  </a:glow>
                </a:effectLst>
                <a:latin typeface="Arial"/>
                <a:ea typeface="Meiryo" panose="020B0604030504040204" pitchFamily="50" charset="-128"/>
                <a:cs typeface="Arial"/>
              </a:rPr>
              <a:t>Operation</a:t>
            </a:r>
            <a:r>
              <a:rPr lang="ja-JP" altLang="en-US" sz="1798" b="1">
                <a:solidFill>
                  <a:srgbClr val="2D2D2D"/>
                </a:solidFill>
                <a:effectLst>
                  <a:glow rad="101600">
                    <a:srgbClr val="FFFFFF">
                      <a:alpha val="60000"/>
                    </a:srgbClr>
                  </a:glow>
                </a:effectLst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798" b="1">
                <a:solidFill>
                  <a:srgbClr val="2D2D2D"/>
                </a:solidFill>
                <a:effectLst>
                  <a:glow rad="101600">
                    <a:srgbClr val="FFFFFF">
                      <a:alpha val="60000"/>
                    </a:srgbClr>
                  </a:glow>
                </a:effectLst>
                <a:latin typeface="Arial"/>
                <a:ea typeface="Meiryo" panose="020B0604030504040204" pitchFamily="50" charset="-128"/>
                <a:cs typeface="Arial"/>
              </a:rPr>
              <a:t>Information</a:t>
            </a:r>
            <a:endParaRPr lang="ja-JP" altLang="en-US" sz="1798" b="1">
              <a:solidFill>
                <a:srgbClr val="2D2D2D"/>
              </a:solidFill>
              <a:effectLst>
                <a:glow rad="101600">
                  <a:srgbClr val="FFFFFF">
                    <a:alpha val="60000"/>
                  </a:srgbClr>
                </a:glow>
              </a:effectLst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1" name="ホームベース 90"/>
          <p:cNvSpPr/>
          <p:nvPr/>
        </p:nvSpPr>
        <p:spPr>
          <a:xfrm>
            <a:off x="4933420" y="893494"/>
            <a:ext cx="3088140" cy="404457"/>
          </a:xfrm>
          <a:prstGeom prst="homePlate">
            <a:avLst>
              <a:gd name="adj" fmla="val 5331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798" b="1">
                <a:solidFill>
                  <a:srgbClr val="2D2D2D"/>
                </a:solidFill>
                <a:effectLst>
                  <a:glow rad="101600">
                    <a:srgbClr val="FFFFFF">
                      <a:alpha val="60000"/>
                    </a:srgbClr>
                  </a:glow>
                </a:effectLst>
                <a:latin typeface="Arial"/>
                <a:ea typeface="Meiryo" panose="020B0604030504040204" pitchFamily="50" charset="-128"/>
                <a:cs typeface="Arial"/>
              </a:rPr>
              <a:t>Equipment</a:t>
            </a:r>
            <a:r>
              <a:rPr lang="ja-JP" altLang="en-US" sz="1798" b="1">
                <a:solidFill>
                  <a:srgbClr val="2D2D2D"/>
                </a:solidFill>
                <a:effectLst>
                  <a:glow rad="101600">
                    <a:srgbClr val="FFFFFF">
                      <a:alpha val="60000"/>
                    </a:srgbClr>
                  </a:glow>
                </a:effectLst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798" b="1">
                <a:solidFill>
                  <a:srgbClr val="2D2D2D"/>
                </a:solidFill>
                <a:effectLst>
                  <a:glow rad="101600">
                    <a:srgbClr val="FFFFFF">
                      <a:alpha val="60000"/>
                    </a:srgbClr>
                  </a:glow>
                </a:effectLst>
                <a:latin typeface="Arial"/>
                <a:ea typeface="Meiryo" panose="020B0604030504040204" pitchFamily="50" charset="-128"/>
                <a:cs typeface="Arial"/>
              </a:rPr>
              <a:t>Production</a:t>
            </a:r>
            <a:r>
              <a:rPr lang="ja-JP" altLang="en-US" sz="1798" b="1">
                <a:solidFill>
                  <a:srgbClr val="2D2D2D"/>
                </a:solidFill>
                <a:effectLst>
                  <a:glow rad="101600">
                    <a:srgbClr val="FFFFFF">
                      <a:alpha val="60000"/>
                    </a:srgbClr>
                  </a:glow>
                </a:effectLst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798" b="1">
                <a:solidFill>
                  <a:srgbClr val="2D2D2D"/>
                </a:solidFill>
                <a:effectLst>
                  <a:glow rad="101600">
                    <a:srgbClr val="FFFFFF">
                      <a:alpha val="60000"/>
                    </a:srgbClr>
                  </a:glow>
                </a:effectLst>
                <a:latin typeface="Arial"/>
                <a:ea typeface="Meiryo" panose="020B0604030504040204" pitchFamily="50" charset="-128"/>
                <a:cs typeface="Arial"/>
              </a:rPr>
              <a:t>Information</a:t>
            </a:r>
            <a:endParaRPr lang="ja-JP" altLang="en-US" sz="1798" b="1">
              <a:solidFill>
                <a:srgbClr val="2D2D2D"/>
              </a:solidFill>
              <a:effectLst>
                <a:glow rad="101600">
                  <a:srgbClr val="FFFFFF">
                    <a:alpha val="60000"/>
                  </a:srgbClr>
                </a:glow>
              </a:effectLst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41" name="角丸四角形 140"/>
          <p:cNvSpPr/>
          <p:nvPr/>
        </p:nvSpPr>
        <p:spPr>
          <a:xfrm>
            <a:off x="3585678" y="2512104"/>
            <a:ext cx="1547752" cy="1095470"/>
          </a:xfrm>
          <a:prstGeom prst="roundRect">
            <a:avLst>
              <a:gd name="adj" fmla="val 11026"/>
            </a:avLst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126">
              <a:defRPr/>
            </a:pP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43" name="角丸四角形 142"/>
          <p:cNvSpPr/>
          <p:nvPr/>
        </p:nvSpPr>
        <p:spPr>
          <a:xfrm>
            <a:off x="2156175" y="1404371"/>
            <a:ext cx="1337973" cy="1699527"/>
          </a:xfrm>
          <a:prstGeom prst="roundRect">
            <a:avLst>
              <a:gd name="adj" fmla="val 11026"/>
            </a:avLst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126">
              <a:defRPr/>
            </a:pP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44" name="テキスト ボックス 143"/>
          <p:cNvSpPr txBox="1"/>
          <p:nvPr/>
        </p:nvSpPr>
        <p:spPr>
          <a:xfrm>
            <a:off x="2494943" y="1445840"/>
            <a:ext cx="750618" cy="218292"/>
          </a:xfrm>
          <a:prstGeom prst="rect">
            <a:avLst/>
          </a:prstGeom>
          <a:noFill/>
        </p:spPr>
        <p:txBody>
          <a:bodyPr wrap="none" bIns="0" rtlCol="0" anchor="ctr">
            <a:noAutofit/>
          </a:bodyPr>
          <a:lstStyle/>
          <a:p>
            <a:pPr algn="ctr" defTabSz="914126">
              <a:defRPr/>
            </a:pPr>
            <a:r>
              <a:rPr lang="en-US" altLang="ja-JP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Parts Supplier</a:t>
            </a:r>
          </a:p>
        </p:txBody>
      </p:sp>
      <p:sp>
        <p:nvSpPr>
          <p:cNvPr id="194" name="ホームベース 193"/>
          <p:cNvSpPr/>
          <p:nvPr/>
        </p:nvSpPr>
        <p:spPr>
          <a:xfrm>
            <a:off x="3817122" y="3130212"/>
            <a:ext cx="598271" cy="335751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126">
              <a:defRPr/>
            </a:pPr>
            <a:r>
              <a:rPr lang="en-US" altLang="ja-JP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rPr>
              <a:t>Production</a:t>
            </a:r>
            <a:endParaRPr lang="ja-JP" altLang="en-US" sz="900" b="1">
              <a:solidFill>
                <a:sysClr val="windowText" lastClr="000000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95" name="ホームベース 194"/>
          <p:cNvSpPr/>
          <p:nvPr/>
        </p:nvSpPr>
        <p:spPr>
          <a:xfrm>
            <a:off x="4415392" y="3130212"/>
            <a:ext cx="598271" cy="335751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126">
              <a:defRPr/>
            </a:pPr>
            <a:r>
              <a:rPr lang="en-US" altLang="ja-JP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rPr>
              <a:t>Inspection</a:t>
            </a:r>
            <a:endParaRPr lang="ja-JP" altLang="en-US" sz="900" b="1">
              <a:solidFill>
                <a:sysClr val="windowText" lastClr="000000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7" name="テキスト ボックス 106"/>
          <p:cNvSpPr txBox="1"/>
          <p:nvPr/>
        </p:nvSpPr>
        <p:spPr>
          <a:xfrm>
            <a:off x="3164544" y="2325286"/>
            <a:ext cx="127509" cy="2460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914126">
              <a:defRPr/>
            </a:pPr>
            <a:endParaRPr lang="en-US" altLang="ja-JP" sz="1000" b="1">
              <a:solidFill>
                <a:srgbClr val="2D2D2D"/>
              </a:solidFill>
              <a:latin typeface="Arial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13" name="テキスト ボックス 112"/>
          <p:cNvSpPr txBox="1"/>
          <p:nvPr/>
        </p:nvSpPr>
        <p:spPr>
          <a:xfrm>
            <a:off x="3164544" y="2453860"/>
            <a:ext cx="127509" cy="2460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914126">
              <a:defRPr/>
            </a:pPr>
            <a:endParaRPr lang="en-US" altLang="ja-JP" sz="1000" b="1">
              <a:solidFill>
                <a:srgbClr val="2D2D2D"/>
              </a:solidFill>
              <a:latin typeface="Arial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pic>
        <p:nvPicPr>
          <p:cNvPr id="125" name="図 124"/>
          <p:cNvPicPr>
            <a:picLocks noChangeAspect="1"/>
          </p:cNvPicPr>
          <p:nvPr/>
        </p:nvPicPr>
        <p:blipFill rotWithShape="1">
          <a:blip r:embed="rId6"/>
          <a:srcRect r="34172" b="72150"/>
          <a:stretch/>
        </p:blipFill>
        <p:spPr>
          <a:xfrm>
            <a:off x="2555532" y="1686804"/>
            <a:ext cx="558140" cy="403353"/>
          </a:xfrm>
          <a:prstGeom prst="rect">
            <a:avLst/>
          </a:prstGeom>
        </p:spPr>
      </p:pic>
      <p:sp>
        <p:nvSpPr>
          <p:cNvPr id="126" name="ホームベース 125"/>
          <p:cNvSpPr/>
          <p:nvPr/>
        </p:nvSpPr>
        <p:spPr>
          <a:xfrm>
            <a:off x="2283298" y="2198656"/>
            <a:ext cx="598271" cy="335751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rPr>
              <a:t>Production</a:t>
            </a:r>
            <a:endParaRPr lang="ja-JP" altLang="en-US" sz="900" b="1">
              <a:solidFill>
                <a:sysClr val="windowText" lastClr="000000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7" name="ホームベース 126"/>
          <p:cNvSpPr/>
          <p:nvPr/>
        </p:nvSpPr>
        <p:spPr>
          <a:xfrm>
            <a:off x="2881570" y="2198656"/>
            <a:ext cx="598271" cy="335751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rPr>
              <a:t>Inspection</a:t>
            </a:r>
            <a:endParaRPr lang="ja-JP" altLang="en-US" sz="900" b="1">
              <a:solidFill>
                <a:sysClr val="windowText" lastClr="000000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pic>
        <p:nvPicPr>
          <p:cNvPr id="128" name="図 127"/>
          <p:cNvPicPr>
            <a:picLocks noChangeAspect="1"/>
          </p:cNvPicPr>
          <p:nvPr/>
        </p:nvPicPr>
        <p:blipFill rotWithShape="1">
          <a:blip r:embed="rId6"/>
          <a:srcRect l="14687" t="37673" r="19629" b="22760"/>
          <a:stretch/>
        </p:blipFill>
        <p:spPr>
          <a:xfrm>
            <a:off x="2363350" y="2485342"/>
            <a:ext cx="473395" cy="487099"/>
          </a:xfrm>
          <a:prstGeom prst="rect">
            <a:avLst/>
          </a:prstGeom>
        </p:spPr>
      </p:pic>
      <p:sp>
        <p:nvSpPr>
          <p:cNvPr id="4" name="角丸四角形 3"/>
          <p:cNvSpPr/>
          <p:nvPr/>
        </p:nvSpPr>
        <p:spPr>
          <a:xfrm>
            <a:off x="5268011" y="1404769"/>
            <a:ext cx="2488784" cy="1546872"/>
          </a:xfrm>
          <a:prstGeom prst="roundRect">
            <a:avLst>
              <a:gd name="adj" fmla="val 7164"/>
            </a:avLst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126">
              <a:defRPr/>
            </a:pP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7820866" y="1404769"/>
            <a:ext cx="3844403" cy="1546872"/>
          </a:xfrm>
          <a:prstGeom prst="roundRect">
            <a:avLst>
              <a:gd name="adj" fmla="val 7716"/>
            </a:avLst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126">
              <a:defRPr/>
            </a:pP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6329671" y="1878232"/>
            <a:ext cx="155902" cy="263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126">
              <a:defRPr/>
            </a:pP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pic>
        <p:nvPicPr>
          <p:cNvPr id="20" name="Picture 4" descr="C:\Users\071122\Desktop\pictureicon-3d-factory-icon-image-galleries-imagekb-com.jpg"/>
          <p:cNvPicPr>
            <a:picLocks noChangeAspect="1" noChangeArrowheads="1"/>
          </p:cNvPicPr>
          <p:nvPr/>
        </p:nvPicPr>
        <p:blipFill rotWithShape="1">
          <a:blip r:embed="rId7" cstate="print">
            <a:clrChange>
              <a:clrFrom>
                <a:srgbClr val="F4F4F4"/>
              </a:clrFrom>
              <a:clrTo>
                <a:srgbClr val="F4F4F4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71" b="14946"/>
          <a:stretch/>
        </p:blipFill>
        <p:spPr bwMode="auto">
          <a:xfrm>
            <a:off x="9378522" y="1418992"/>
            <a:ext cx="959985" cy="66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/>
          <p:cNvSpPr txBox="1"/>
          <p:nvPr/>
        </p:nvSpPr>
        <p:spPr>
          <a:xfrm>
            <a:off x="8070976" y="1485045"/>
            <a:ext cx="1149460" cy="268601"/>
          </a:xfrm>
          <a:prstGeom prst="rect">
            <a:avLst/>
          </a:prstGeom>
          <a:noFill/>
        </p:spPr>
        <p:txBody>
          <a:bodyPr wrap="none" bIns="46776" rtlCol="0" anchor="ctr">
            <a:noAutofit/>
          </a:bodyPr>
          <a:lstStyle/>
          <a:p>
            <a:pPr algn="ctr" defTabSz="914126">
              <a:defRPr/>
            </a:pPr>
            <a:r>
              <a:rPr lang="en-US" altLang="ja-JP" sz="16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Customer FAB</a:t>
            </a:r>
            <a:endParaRPr lang="ja-JP" altLang="en-US" sz="1600" b="1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8521422" y="2331770"/>
            <a:ext cx="138258" cy="1884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126">
              <a:defRPr/>
            </a:pP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5370637" y="1478479"/>
            <a:ext cx="415285" cy="268601"/>
          </a:xfrm>
          <a:prstGeom prst="rect">
            <a:avLst/>
          </a:prstGeom>
          <a:noFill/>
        </p:spPr>
        <p:txBody>
          <a:bodyPr wrap="none" bIns="0" rtlCol="0" anchor="ctr">
            <a:noAutofit/>
          </a:bodyPr>
          <a:lstStyle/>
          <a:p>
            <a:pPr defTabSz="914126">
              <a:defRPr/>
            </a:pPr>
            <a:r>
              <a:rPr lang="en-US" altLang="ja-JP" sz="1798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TEL</a:t>
            </a:r>
          </a:p>
        </p:txBody>
      </p:sp>
      <p:sp>
        <p:nvSpPr>
          <p:cNvPr id="41" name="ホームベース 40"/>
          <p:cNvSpPr/>
          <p:nvPr/>
        </p:nvSpPr>
        <p:spPr>
          <a:xfrm>
            <a:off x="7949785" y="2185444"/>
            <a:ext cx="519613" cy="335751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126">
              <a:defRPr/>
            </a:pPr>
            <a:r>
              <a:rPr lang="en-US" altLang="ja-JP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rPr>
              <a:t>Carry</a:t>
            </a:r>
            <a:r>
              <a:rPr lang="ja-JP" altLang="en-US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rPr>
              <a:t>in</a:t>
            </a:r>
            <a:endParaRPr lang="ja-JP" altLang="en-US" sz="900" b="1">
              <a:solidFill>
                <a:sysClr val="windowText" lastClr="000000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2" name="ホームベース 41"/>
          <p:cNvSpPr/>
          <p:nvPr/>
        </p:nvSpPr>
        <p:spPr>
          <a:xfrm>
            <a:off x="8469398" y="2185444"/>
            <a:ext cx="519613" cy="335751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126">
              <a:defRPr/>
            </a:pPr>
            <a:r>
              <a:rPr lang="en-US" altLang="ja-JP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rPr>
              <a:t>S-UP</a:t>
            </a:r>
            <a:endParaRPr lang="ja-JP" altLang="en-US" sz="900" b="1">
              <a:solidFill>
                <a:sysClr val="windowText" lastClr="000000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3" name="ホームベース 42"/>
          <p:cNvSpPr/>
          <p:nvPr/>
        </p:nvSpPr>
        <p:spPr>
          <a:xfrm>
            <a:off x="8989010" y="2185444"/>
            <a:ext cx="519613" cy="335751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US" altLang="ja-JP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rPr>
              <a:t>Operation</a:t>
            </a:r>
            <a:endParaRPr lang="ja-JP" altLang="en-US" sz="900" b="1">
              <a:solidFill>
                <a:sysClr val="windowText" lastClr="000000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4" name="ホームベース 43"/>
          <p:cNvSpPr/>
          <p:nvPr/>
        </p:nvSpPr>
        <p:spPr>
          <a:xfrm>
            <a:off x="9508625" y="2185444"/>
            <a:ext cx="519613" cy="335751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US" altLang="ja-JP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rPr>
              <a:t>Maintenance</a:t>
            </a:r>
            <a:endParaRPr lang="ja-JP" altLang="en-US" sz="900" b="1">
              <a:solidFill>
                <a:sysClr val="windowText" lastClr="000000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grpSp>
        <p:nvGrpSpPr>
          <p:cNvPr id="13" name="グループ化 12"/>
          <p:cNvGrpSpPr/>
          <p:nvPr/>
        </p:nvGrpSpPr>
        <p:grpSpPr>
          <a:xfrm>
            <a:off x="10098891" y="2191106"/>
            <a:ext cx="1465761" cy="335751"/>
            <a:chOff x="11654753" y="3185793"/>
            <a:chExt cx="2613823" cy="372216"/>
          </a:xfrm>
          <a:solidFill>
            <a:schemeClr val="bg1">
              <a:lumMod val="85000"/>
            </a:schemeClr>
          </a:solidFill>
        </p:grpSpPr>
        <p:sp>
          <p:nvSpPr>
            <p:cNvPr id="137" name="ホームベース 136"/>
            <p:cNvSpPr/>
            <p:nvPr/>
          </p:nvSpPr>
          <p:spPr>
            <a:xfrm>
              <a:off x="11654753" y="3185793"/>
              <a:ext cx="870214" cy="372216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126"/>
              <a:r>
                <a:rPr lang="en-US" altLang="ja-JP" sz="900" b="1">
                  <a:solidFill>
                    <a:sysClr val="windowText" lastClr="000000"/>
                  </a:solidFill>
                  <a:latin typeface="Arial"/>
                  <a:ea typeface="Meiryo" panose="020B0604030504040204" pitchFamily="50" charset="-128"/>
                  <a:cs typeface="Arial"/>
                </a:rPr>
                <a:t>Carry in</a:t>
              </a:r>
              <a:endParaRPr lang="ja-JP" altLang="en-US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39" name="ホームベース 138"/>
            <p:cNvSpPr/>
            <p:nvPr/>
          </p:nvSpPr>
          <p:spPr>
            <a:xfrm>
              <a:off x="12528150" y="3185793"/>
              <a:ext cx="870214" cy="372216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126"/>
              <a:r>
                <a:rPr lang="en-US" altLang="ja-JP" sz="900" b="1">
                  <a:solidFill>
                    <a:sysClr val="windowText" lastClr="000000"/>
                  </a:solidFill>
                  <a:latin typeface="Arial"/>
                  <a:ea typeface="Meiryo" panose="020B0604030504040204" pitchFamily="50" charset="-128"/>
                  <a:cs typeface="Arial"/>
                </a:rPr>
                <a:t>Exchange</a:t>
              </a:r>
              <a:endParaRPr lang="ja-JP" altLang="en-US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64" name="ホームベース 163"/>
            <p:cNvSpPr/>
            <p:nvPr/>
          </p:nvSpPr>
          <p:spPr>
            <a:xfrm>
              <a:off x="13398362" y="3185793"/>
              <a:ext cx="870214" cy="372216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126"/>
              <a:r>
                <a:rPr lang="en-US" altLang="ja-JP" sz="900" b="1">
                  <a:solidFill>
                    <a:sysClr val="windowText" lastClr="000000"/>
                  </a:solidFill>
                  <a:latin typeface="Arial"/>
                  <a:ea typeface="Meiryo" panose="020B0604030504040204" pitchFamily="50" charset="-128"/>
                  <a:cs typeface="Arial"/>
                </a:rPr>
                <a:t>Operation</a:t>
              </a:r>
              <a:endParaRPr lang="ja-JP" altLang="en-US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sp>
        <p:nvSpPr>
          <p:cNvPr id="165" name="正方形/長方形 164"/>
          <p:cNvSpPr/>
          <p:nvPr/>
        </p:nvSpPr>
        <p:spPr>
          <a:xfrm>
            <a:off x="10098892" y="1919151"/>
            <a:ext cx="1472403" cy="22376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wrap="none" lIns="89954" bIns="0" rtlCol="0" anchor="ctr"/>
          <a:lstStyle/>
          <a:p>
            <a:pPr algn="ctr" defTabSz="914126">
              <a:defRPr/>
            </a:pPr>
            <a:r>
              <a:rPr lang="en-US" altLang="ja-JP" sz="1100" b="1" kern="0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Times New Roman"/>
              </a:rPr>
              <a:t>Parts</a:t>
            </a:r>
            <a:r>
              <a:rPr lang="ja-JP" altLang="en-US" sz="1100" b="1" kern="0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Times New Roman"/>
              </a:rPr>
              <a:t> </a:t>
            </a:r>
            <a:r>
              <a:rPr lang="en-US" altLang="ja-JP" sz="1100" b="1" kern="0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Times New Roman"/>
              </a:rPr>
              <a:t>Exchange</a:t>
            </a:r>
            <a:endParaRPr lang="ja-JP" altLang="en-US" sz="1100" b="1" kern="0">
              <a:solidFill>
                <a:sysClr val="windowText" lastClr="000000"/>
              </a:solidFill>
              <a:latin typeface="Arial"/>
              <a:ea typeface="Meiryo" panose="020B0604030504040204" pitchFamily="50" charset="-128"/>
              <a:cs typeface="Times New Roman"/>
            </a:endParaRPr>
          </a:p>
        </p:txBody>
      </p:sp>
      <p:cxnSp>
        <p:nvCxnSpPr>
          <p:cNvPr id="184" name="直線矢印コネクタ 183"/>
          <p:cNvCxnSpPr>
            <a:stCxn id="35" idx="3"/>
            <a:endCxn id="41" idx="1"/>
          </p:cNvCxnSpPr>
          <p:nvPr/>
        </p:nvCxnSpPr>
        <p:spPr>
          <a:xfrm flipV="1">
            <a:off x="7517626" y="2353319"/>
            <a:ext cx="440659" cy="562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矢印コネクタ 189"/>
          <p:cNvCxnSpPr/>
          <p:nvPr/>
        </p:nvCxnSpPr>
        <p:spPr>
          <a:xfrm>
            <a:off x="7754348" y="2038955"/>
            <a:ext cx="2329197" cy="327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線矢印コネクタ 190"/>
          <p:cNvCxnSpPr>
            <a:stCxn id="35" idx="3"/>
          </p:cNvCxnSpPr>
          <p:nvPr/>
        </p:nvCxnSpPr>
        <p:spPr>
          <a:xfrm flipV="1">
            <a:off x="7623118" y="2042224"/>
            <a:ext cx="127869" cy="31672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グループ化 18"/>
          <p:cNvGrpSpPr/>
          <p:nvPr/>
        </p:nvGrpSpPr>
        <p:grpSpPr>
          <a:xfrm>
            <a:off x="5430747" y="2185545"/>
            <a:ext cx="2192371" cy="341274"/>
            <a:chOff x="4460215" y="2851415"/>
            <a:chExt cx="2377214" cy="367042"/>
          </a:xfrm>
          <a:solidFill>
            <a:schemeClr val="bg1">
              <a:lumMod val="85000"/>
            </a:schemeClr>
          </a:solidFill>
        </p:grpSpPr>
        <p:sp>
          <p:nvSpPr>
            <p:cNvPr id="18" name="正方形/長方形 17"/>
            <p:cNvSpPr/>
            <p:nvPr/>
          </p:nvSpPr>
          <p:spPr>
            <a:xfrm>
              <a:off x="5609658" y="2851415"/>
              <a:ext cx="178311" cy="28317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126">
                <a:defRPr/>
              </a:pPr>
              <a:endParaRPr lang="ja-JP" altLang="en-US" sz="12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33" name="ホームベース 32"/>
            <p:cNvSpPr/>
            <p:nvPr/>
          </p:nvSpPr>
          <p:spPr>
            <a:xfrm>
              <a:off x="5054518" y="2857354"/>
              <a:ext cx="594303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r>
                <a:rPr lang="en-US" altLang="ja-JP" sz="900" b="1">
                  <a:solidFill>
                    <a:sysClr val="windowText" lastClr="000000"/>
                  </a:solidFill>
                  <a:latin typeface="Arial"/>
                  <a:ea typeface="Meiryo" panose="020B0604030504040204" pitchFamily="50" charset="-128"/>
                  <a:cs typeface="Arial"/>
                </a:rPr>
                <a:t>Assembly</a:t>
              </a:r>
              <a:endParaRPr lang="ja-JP" altLang="en-US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34" name="ホームベース 33"/>
            <p:cNvSpPr/>
            <p:nvPr/>
          </p:nvSpPr>
          <p:spPr>
            <a:xfrm>
              <a:off x="5648821" y="2857354"/>
              <a:ext cx="594303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r>
                <a:rPr lang="en-US" altLang="ja-JP" sz="900" b="1">
                  <a:solidFill>
                    <a:sysClr val="windowText" lastClr="000000"/>
                  </a:solidFill>
                  <a:latin typeface="Arial"/>
                  <a:ea typeface="Meiryo" panose="020B0604030504040204" pitchFamily="50" charset="-128"/>
                  <a:cs typeface="Arial"/>
                </a:rPr>
                <a:t>Inspection</a:t>
              </a:r>
            </a:p>
          </p:txBody>
        </p:sp>
        <p:sp>
          <p:nvSpPr>
            <p:cNvPr id="35" name="ホームベース 34"/>
            <p:cNvSpPr/>
            <p:nvPr/>
          </p:nvSpPr>
          <p:spPr>
            <a:xfrm>
              <a:off x="6243126" y="2857354"/>
              <a:ext cx="594303" cy="361103"/>
            </a:xfrm>
            <a:prstGeom prst="homePlate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126">
                <a:defRPr/>
              </a:pPr>
              <a:r>
                <a:rPr lang="en-US" altLang="ja-JP" sz="900" b="1">
                  <a:solidFill>
                    <a:sysClr val="windowText" lastClr="000000"/>
                  </a:solidFill>
                  <a:latin typeface="Arial"/>
                  <a:ea typeface="Meiryo" panose="020B0604030504040204" pitchFamily="50" charset="-128"/>
                  <a:cs typeface="Arial"/>
                </a:rPr>
                <a:t>Ship Out</a:t>
              </a:r>
              <a:endParaRPr lang="ja-JP" altLang="en-US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32" name="ホームベース 31"/>
            <p:cNvSpPr/>
            <p:nvPr/>
          </p:nvSpPr>
          <p:spPr>
            <a:xfrm>
              <a:off x="4460215" y="2857354"/>
              <a:ext cx="594303" cy="361103"/>
            </a:xfrm>
            <a:prstGeom prst="homePlate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126">
                <a:defRPr/>
              </a:pPr>
              <a:r>
                <a:rPr lang="en-US" altLang="ja-JP" sz="900" b="1">
                  <a:solidFill>
                    <a:sysClr val="windowText" lastClr="000000"/>
                  </a:solidFill>
                  <a:latin typeface="Arial"/>
                  <a:ea typeface="Meiryo" panose="020B0604030504040204" pitchFamily="50" charset="-128"/>
                  <a:cs typeface="Arial"/>
                </a:rPr>
                <a:t>Ship In</a:t>
              </a:r>
              <a:endParaRPr lang="ja-JP" altLang="en-US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pic>
        <p:nvPicPr>
          <p:cNvPr id="76" name="図 75"/>
          <p:cNvPicPr>
            <a:picLocks noChangeAspect="1"/>
          </p:cNvPicPr>
          <p:nvPr/>
        </p:nvPicPr>
        <p:blipFill rotWithShape="1">
          <a:blip r:embed="rId6"/>
          <a:srcRect l="70438" t="8918" r="369" b="64173"/>
          <a:stretch/>
        </p:blipFill>
        <p:spPr>
          <a:xfrm>
            <a:off x="3026882" y="2588675"/>
            <a:ext cx="251805" cy="396457"/>
          </a:xfrm>
          <a:prstGeom prst="rect">
            <a:avLst/>
          </a:prstGeom>
        </p:spPr>
      </p:pic>
      <p:pic>
        <p:nvPicPr>
          <p:cNvPr id="85" name="図 84"/>
          <p:cNvPicPr>
            <a:picLocks noChangeAspect="1"/>
          </p:cNvPicPr>
          <p:nvPr/>
        </p:nvPicPr>
        <p:blipFill rotWithShape="1">
          <a:blip r:embed="rId6"/>
          <a:srcRect r="34172" b="72150"/>
          <a:stretch/>
        </p:blipFill>
        <p:spPr>
          <a:xfrm>
            <a:off x="4095455" y="2771381"/>
            <a:ext cx="558140" cy="403353"/>
          </a:xfrm>
          <a:prstGeom prst="rect">
            <a:avLst/>
          </a:prstGeom>
        </p:spPr>
      </p:pic>
      <p:cxnSp>
        <p:nvCxnSpPr>
          <p:cNvPr id="27" name="カギ線コネクタ 26"/>
          <p:cNvCxnSpPr>
            <a:stCxn id="195" idx="3"/>
            <a:endCxn id="32" idx="1"/>
          </p:cNvCxnSpPr>
          <p:nvPr/>
        </p:nvCxnSpPr>
        <p:spPr>
          <a:xfrm flipV="1">
            <a:off x="5013663" y="2358944"/>
            <a:ext cx="417083" cy="939144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カギ線コネクタ 99"/>
          <p:cNvCxnSpPr>
            <a:stCxn id="127" idx="3"/>
            <a:endCxn id="194" idx="1"/>
          </p:cNvCxnSpPr>
          <p:nvPr/>
        </p:nvCxnSpPr>
        <p:spPr>
          <a:xfrm>
            <a:off x="3479841" y="2366531"/>
            <a:ext cx="337281" cy="931556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Picture 2" descr="FACTORY green"/>
          <p:cNvPicPr>
            <a:picLocks noChangeAspect="1" noChangeArrowheads="1"/>
          </p:cNvPicPr>
          <p:nvPr/>
        </p:nvPicPr>
        <p:blipFill>
          <a:blip r:embed="rId8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167" y="1023993"/>
            <a:ext cx="1416403" cy="110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" name="テキスト ボックス 83"/>
          <p:cNvSpPr txBox="1"/>
          <p:nvPr/>
        </p:nvSpPr>
        <p:spPr>
          <a:xfrm>
            <a:off x="4056505" y="2542247"/>
            <a:ext cx="750618" cy="218292"/>
          </a:xfrm>
          <a:prstGeom prst="rect">
            <a:avLst/>
          </a:prstGeom>
          <a:noFill/>
        </p:spPr>
        <p:txBody>
          <a:bodyPr wrap="none" bIns="0" rtlCol="0" anchor="ctr">
            <a:noAutofit/>
          </a:bodyPr>
          <a:lstStyle/>
          <a:p>
            <a:pPr algn="ctr" defTabSz="914126">
              <a:defRPr/>
            </a:pP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Assembly</a:t>
            </a:r>
            <a:r>
              <a:rPr lang="ja-JP" altLang="en-US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Supplier</a:t>
            </a:r>
          </a:p>
        </p:txBody>
      </p:sp>
      <p:sp>
        <p:nvSpPr>
          <p:cNvPr id="90" name="ホームベース 89"/>
          <p:cNvSpPr/>
          <p:nvPr/>
        </p:nvSpPr>
        <p:spPr>
          <a:xfrm>
            <a:off x="775690" y="893494"/>
            <a:ext cx="4386830" cy="404457"/>
          </a:xfrm>
          <a:prstGeom prst="homePlate">
            <a:avLst>
              <a:gd name="adj" fmla="val 53314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798" b="1">
                <a:solidFill>
                  <a:srgbClr val="2D2D2D"/>
                </a:solidFill>
                <a:effectLst>
                  <a:glow rad="101600">
                    <a:srgbClr val="FFFFFF">
                      <a:alpha val="60000"/>
                    </a:srgbClr>
                  </a:glow>
                </a:effectLst>
                <a:latin typeface="Arial"/>
                <a:ea typeface="Meiryo" panose="020B0604030504040204" pitchFamily="50" charset="-128"/>
                <a:cs typeface="Arial"/>
              </a:rPr>
              <a:t>Parts</a:t>
            </a:r>
            <a:r>
              <a:rPr lang="ja-JP" altLang="en-US" sz="1798" b="1">
                <a:solidFill>
                  <a:srgbClr val="2D2D2D"/>
                </a:solidFill>
                <a:effectLst>
                  <a:glow rad="101600">
                    <a:srgbClr val="FFFFFF">
                      <a:alpha val="60000"/>
                    </a:srgbClr>
                  </a:glow>
                </a:effectLst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798" b="1">
                <a:solidFill>
                  <a:srgbClr val="2D2D2D"/>
                </a:solidFill>
                <a:effectLst>
                  <a:glow rad="101600">
                    <a:srgbClr val="FFFFFF">
                      <a:alpha val="60000"/>
                    </a:srgbClr>
                  </a:glow>
                </a:effectLst>
                <a:latin typeface="Arial"/>
                <a:ea typeface="Meiryo" panose="020B0604030504040204" pitchFamily="50" charset="-128"/>
                <a:cs typeface="Arial"/>
              </a:rPr>
              <a:t>Information</a:t>
            </a:r>
            <a:endParaRPr lang="ja-JP" altLang="en-US" sz="1798" b="1">
              <a:solidFill>
                <a:srgbClr val="2D2D2D"/>
              </a:solidFill>
              <a:effectLst>
                <a:glow rad="101600">
                  <a:srgbClr val="FFFFFF">
                    <a:alpha val="60000"/>
                  </a:srgbClr>
                </a:glow>
              </a:effectLst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21" name="直線矢印コネクタ 120"/>
          <p:cNvCxnSpPr>
            <a:stCxn id="127" idx="3"/>
            <a:endCxn id="32" idx="1"/>
          </p:cNvCxnSpPr>
          <p:nvPr/>
        </p:nvCxnSpPr>
        <p:spPr>
          <a:xfrm flipV="1">
            <a:off x="3479840" y="2358945"/>
            <a:ext cx="1950906" cy="7587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角丸四角形 160"/>
          <p:cNvSpPr/>
          <p:nvPr/>
        </p:nvSpPr>
        <p:spPr>
          <a:xfrm>
            <a:off x="806282" y="1404371"/>
            <a:ext cx="1262597" cy="1699527"/>
          </a:xfrm>
          <a:prstGeom prst="roundRect">
            <a:avLst>
              <a:gd name="adj" fmla="val 11026"/>
            </a:avLst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126">
              <a:defRPr/>
            </a:pP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2" name="ホームベース 161"/>
          <p:cNvSpPr/>
          <p:nvPr/>
        </p:nvSpPr>
        <p:spPr>
          <a:xfrm>
            <a:off x="842619" y="2208347"/>
            <a:ext cx="598271" cy="335751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rPr>
              <a:t>Develop/Design</a:t>
            </a:r>
          </a:p>
        </p:txBody>
      </p:sp>
      <p:cxnSp>
        <p:nvCxnSpPr>
          <p:cNvPr id="166" name="直線矢印コネクタ 165"/>
          <p:cNvCxnSpPr>
            <a:stCxn id="168" idx="3"/>
            <a:endCxn id="126" idx="1"/>
          </p:cNvCxnSpPr>
          <p:nvPr/>
        </p:nvCxnSpPr>
        <p:spPr>
          <a:xfrm>
            <a:off x="2039069" y="2366531"/>
            <a:ext cx="244229" cy="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テキスト ボックス 166"/>
          <p:cNvSpPr txBox="1"/>
          <p:nvPr/>
        </p:nvSpPr>
        <p:spPr>
          <a:xfrm>
            <a:off x="1043423" y="1421673"/>
            <a:ext cx="750618" cy="296922"/>
          </a:xfrm>
          <a:prstGeom prst="rect">
            <a:avLst/>
          </a:prstGeom>
          <a:noFill/>
        </p:spPr>
        <p:txBody>
          <a:bodyPr wrap="none" bIns="0" rtlCol="0" anchor="ctr">
            <a:noAutofit/>
          </a:bodyPr>
          <a:lstStyle/>
          <a:p>
            <a:pPr algn="ctr" defTabSz="914126">
              <a:defRPr/>
            </a:pPr>
            <a:r>
              <a:rPr lang="en-US" altLang="ja-JP" sz="1798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TEL</a:t>
            </a:r>
          </a:p>
        </p:txBody>
      </p:sp>
      <p:sp>
        <p:nvSpPr>
          <p:cNvPr id="168" name="ホームベース 167"/>
          <p:cNvSpPr/>
          <p:nvPr/>
        </p:nvSpPr>
        <p:spPr>
          <a:xfrm>
            <a:off x="1440798" y="2198655"/>
            <a:ext cx="598271" cy="335751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900" b="1">
                <a:solidFill>
                  <a:sysClr val="windowText" lastClr="000000"/>
                </a:solidFill>
                <a:latin typeface="Arial"/>
                <a:ea typeface="Meiryo" panose="020B0604030504040204" pitchFamily="50" charset="-128"/>
                <a:cs typeface="Arial"/>
              </a:rPr>
              <a:t>Preparation</a:t>
            </a:r>
            <a:endParaRPr lang="ja-JP" altLang="en-US" sz="900" b="1">
              <a:solidFill>
                <a:sysClr val="windowText" lastClr="000000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9" name="フローチャート: 磁気ディスク 168"/>
          <p:cNvSpPr/>
          <p:nvPr/>
        </p:nvSpPr>
        <p:spPr>
          <a:xfrm>
            <a:off x="7667738" y="5632178"/>
            <a:ext cx="810675" cy="312330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SAP/EWM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70" name="フローチャート: 磁気ディスク 169"/>
          <p:cNvSpPr/>
          <p:nvPr/>
        </p:nvSpPr>
        <p:spPr>
          <a:xfrm>
            <a:off x="8750994" y="5632178"/>
            <a:ext cx="810675" cy="312330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SAP/EWM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38" name="正方形/長方形 37"/>
          <p:cNvSpPr/>
          <p:nvPr/>
        </p:nvSpPr>
        <p:spPr>
          <a:xfrm>
            <a:off x="868392" y="4637481"/>
            <a:ext cx="743684" cy="34959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New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Material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71" name="正方形/長方形 170"/>
          <p:cNvSpPr/>
          <p:nvPr/>
        </p:nvSpPr>
        <p:spPr>
          <a:xfrm>
            <a:off x="2031072" y="4637481"/>
            <a:ext cx="743684" cy="34959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Traceability Flag</a:t>
            </a:r>
          </a:p>
        </p:txBody>
      </p:sp>
      <p:sp>
        <p:nvSpPr>
          <p:cNvPr id="172" name="正方形/長方形 171"/>
          <p:cNvSpPr/>
          <p:nvPr/>
        </p:nvSpPr>
        <p:spPr>
          <a:xfrm>
            <a:off x="4080752" y="4637481"/>
            <a:ext cx="743684" cy="34959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Inspection Data</a:t>
            </a:r>
          </a:p>
        </p:txBody>
      </p:sp>
      <p:sp>
        <p:nvSpPr>
          <p:cNvPr id="173" name="正方形/長方形 172"/>
          <p:cNvSpPr/>
          <p:nvPr/>
        </p:nvSpPr>
        <p:spPr>
          <a:xfrm>
            <a:off x="6335894" y="4637481"/>
            <a:ext cx="743684" cy="34959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Parts</a:t>
            </a:r>
            <a:r>
              <a:rPr lang="ja-JP" altLang="en-US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S/N</a:t>
            </a:r>
          </a:p>
          <a:p>
            <a:pPr algn="ctr" defTabSz="914126">
              <a:defRPr/>
            </a:pP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(Assembly</a:t>
            </a:r>
            <a:r>
              <a:rPr lang="ja-JP" altLang="en-US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Work</a:t>
            </a:r>
            <a:r>
              <a:rPr lang="ja-JP" altLang="en-US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History)</a:t>
            </a:r>
          </a:p>
        </p:txBody>
      </p:sp>
      <p:sp>
        <p:nvSpPr>
          <p:cNvPr id="174" name="正方形/長方形 173"/>
          <p:cNvSpPr/>
          <p:nvPr/>
        </p:nvSpPr>
        <p:spPr>
          <a:xfrm>
            <a:off x="5342252" y="4637481"/>
            <a:ext cx="743684" cy="34959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Parts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</a:p>
        </p:txBody>
      </p:sp>
      <p:sp>
        <p:nvSpPr>
          <p:cNvPr id="175" name="フローチャート: 磁気ディスク 174"/>
          <p:cNvSpPr/>
          <p:nvPr/>
        </p:nvSpPr>
        <p:spPr>
          <a:xfrm>
            <a:off x="5308758" y="5387708"/>
            <a:ext cx="810675" cy="312330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WMS</a:t>
            </a:r>
            <a:endParaRPr lang="ja-JP" altLang="en-US" sz="105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76" name="正方形/長方形 175"/>
          <p:cNvSpPr/>
          <p:nvPr/>
        </p:nvSpPr>
        <p:spPr>
          <a:xfrm>
            <a:off x="7382383" y="4637481"/>
            <a:ext cx="743684" cy="34959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Check</a:t>
            </a:r>
          </a:p>
          <a:p>
            <a:pPr algn="ctr" defTabSz="914126">
              <a:defRPr/>
            </a:pP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(Inventory</a:t>
            </a:r>
            <a:r>
              <a:rPr lang="ja-JP" altLang="en-US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Management)</a:t>
            </a:r>
          </a:p>
        </p:txBody>
      </p:sp>
      <p:sp>
        <p:nvSpPr>
          <p:cNvPr id="178" name="正方形/長方形 177"/>
          <p:cNvSpPr/>
          <p:nvPr/>
        </p:nvSpPr>
        <p:spPr>
          <a:xfrm>
            <a:off x="8420491" y="4637481"/>
            <a:ext cx="743684" cy="34959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Parts</a:t>
            </a:r>
            <a:r>
              <a:rPr lang="ja-JP" altLang="en-US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S/N</a:t>
            </a:r>
          </a:p>
          <a:p>
            <a:pPr algn="ctr" defTabSz="914126">
              <a:defRPr/>
            </a:pPr>
            <a:r>
              <a:rPr lang="en-US" altLang="ja-JP" sz="7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(Spare</a:t>
            </a:r>
            <a:r>
              <a:rPr lang="ja-JP" altLang="en-US" sz="7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7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Parts</a:t>
            </a:r>
            <a:r>
              <a:rPr lang="ja-JP" altLang="en-US" sz="7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7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Shipment</a:t>
            </a:r>
            <a:r>
              <a:rPr lang="ja-JP" altLang="en-US" sz="7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7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Record)</a:t>
            </a:r>
            <a:endParaRPr lang="ja-JP" altLang="en-US" sz="7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79" name="正方形/長方形 178"/>
          <p:cNvSpPr/>
          <p:nvPr/>
        </p:nvSpPr>
        <p:spPr>
          <a:xfrm>
            <a:off x="9822594" y="4637481"/>
            <a:ext cx="743684" cy="34959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Parts</a:t>
            </a:r>
            <a:r>
              <a:rPr lang="ja-JP" altLang="en-US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S/N</a:t>
            </a:r>
          </a:p>
          <a:p>
            <a:pPr algn="ctr" defTabSz="914126">
              <a:defRPr/>
            </a:pP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(SU</a:t>
            </a:r>
            <a:r>
              <a:rPr lang="ja-JP" altLang="en-US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Work</a:t>
            </a:r>
            <a:r>
              <a:rPr lang="ja-JP" altLang="en-US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Record)</a:t>
            </a:r>
            <a:endParaRPr lang="ja-JP" altLang="en-US" sz="8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80" name="正方形/長方形 179"/>
          <p:cNvSpPr/>
          <p:nvPr/>
        </p:nvSpPr>
        <p:spPr>
          <a:xfrm>
            <a:off x="10865707" y="4637481"/>
            <a:ext cx="743684" cy="34959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Parts</a:t>
            </a:r>
            <a:r>
              <a:rPr lang="ja-JP" altLang="en-US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S/N</a:t>
            </a:r>
          </a:p>
          <a:p>
            <a:pPr algn="ctr" defTabSz="914126">
              <a:defRPr/>
            </a:pP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(Exchange</a:t>
            </a:r>
            <a:r>
              <a:rPr lang="ja-JP" altLang="en-US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Record)</a:t>
            </a:r>
            <a:endParaRPr lang="ja-JP" altLang="en-US" sz="9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81" name="正方形/長方形 180"/>
          <p:cNvSpPr/>
          <p:nvPr/>
        </p:nvSpPr>
        <p:spPr>
          <a:xfrm>
            <a:off x="868392" y="3899611"/>
            <a:ext cx="743684" cy="349594"/>
          </a:xfrm>
          <a:prstGeom prst="rect">
            <a:avLst/>
          </a:prstGeom>
          <a:solidFill>
            <a:srgbClr val="E7F6FF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Engineering Dept.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82" name="正方形/長方形 181"/>
          <p:cNvSpPr/>
          <p:nvPr/>
        </p:nvSpPr>
        <p:spPr>
          <a:xfrm>
            <a:off x="2031072" y="3899611"/>
            <a:ext cx="743684" cy="349594"/>
          </a:xfrm>
          <a:prstGeom prst="rect">
            <a:avLst/>
          </a:prstGeom>
          <a:solidFill>
            <a:srgbClr val="E7F6FF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QA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Dept.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83" name="正方形/長方形 182"/>
          <p:cNvSpPr/>
          <p:nvPr/>
        </p:nvSpPr>
        <p:spPr>
          <a:xfrm>
            <a:off x="4080752" y="3899611"/>
            <a:ext cx="743684" cy="349594"/>
          </a:xfrm>
          <a:prstGeom prst="rect">
            <a:avLst/>
          </a:prstGeom>
          <a:solidFill>
            <a:srgbClr val="E7F6FF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Supplier</a:t>
            </a:r>
            <a:endParaRPr lang="ja-JP" altLang="en-US" sz="9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85" name="正方形/長方形 184"/>
          <p:cNvSpPr/>
          <p:nvPr/>
        </p:nvSpPr>
        <p:spPr>
          <a:xfrm>
            <a:off x="6335894" y="3899611"/>
            <a:ext cx="743684" cy="349594"/>
          </a:xfrm>
          <a:prstGeom prst="rect">
            <a:avLst/>
          </a:prstGeom>
          <a:solidFill>
            <a:srgbClr val="E7F6FF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Production</a:t>
            </a:r>
            <a:endParaRPr lang="ja-JP" altLang="en-US" sz="9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86" name="正方形/長方形 185"/>
          <p:cNvSpPr/>
          <p:nvPr/>
        </p:nvSpPr>
        <p:spPr>
          <a:xfrm>
            <a:off x="7382383" y="3899611"/>
            <a:ext cx="743684" cy="349594"/>
          </a:xfrm>
          <a:prstGeom prst="rect">
            <a:avLst/>
          </a:prstGeom>
          <a:solidFill>
            <a:srgbClr val="E7F6FF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126">
              <a:defRPr/>
            </a:pP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Warehouse</a:t>
            </a:r>
          </a:p>
          <a:p>
            <a:pPr algn="ctr" defTabSz="914126">
              <a:defRPr/>
            </a:pP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(Factory/Narita/</a:t>
            </a:r>
          </a:p>
          <a:p>
            <a:pPr algn="ctr" defTabSz="914126">
              <a:defRPr/>
            </a:pPr>
            <a:r>
              <a:rPr lang="en-US" altLang="ja-JP" sz="800" b="1" err="1">
                <a:solidFill>
                  <a:srgbClr val="DA1884"/>
                </a:solidFill>
                <a:latin typeface="Arial"/>
                <a:ea typeface="Meiryo" panose="020B0604030504040204" pitchFamily="50" charset="-128"/>
                <a:cs typeface="Arial"/>
              </a:rPr>
              <a:t>Genpo</a:t>
            </a:r>
            <a:r>
              <a:rPr lang="en-US" altLang="ja-JP" sz="800" b="1">
                <a:solidFill>
                  <a:srgbClr val="DA1884"/>
                </a:solidFill>
                <a:latin typeface="Arial"/>
                <a:ea typeface="Meiryo" panose="020B0604030504040204" pitchFamily="50" charset="-128"/>
                <a:cs typeface="Arial"/>
              </a:rPr>
              <a:t>/3PL</a:t>
            </a: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)</a:t>
            </a:r>
            <a:endParaRPr lang="ja-JP" altLang="en-US" sz="8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87" name="正方形/長方形 186"/>
          <p:cNvSpPr/>
          <p:nvPr/>
        </p:nvSpPr>
        <p:spPr>
          <a:xfrm>
            <a:off x="8420491" y="3899611"/>
            <a:ext cx="743684" cy="349594"/>
          </a:xfrm>
          <a:prstGeom prst="rect">
            <a:avLst/>
          </a:prstGeom>
          <a:solidFill>
            <a:srgbClr val="E7F6FF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126">
              <a:defRPr/>
            </a:pP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Logistics</a:t>
            </a:r>
          </a:p>
          <a:p>
            <a:pPr algn="ctr" defTabSz="914126">
              <a:defRPr/>
            </a:pP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(TELBP</a:t>
            </a:r>
          </a:p>
          <a:p>
            <a:pPr algn="ctr" defTabSz="914126">
              <a:defRPr/>
            </a:pPr>
            <a:r>
              <a:rPr lang="en-US" altLang="ja-JP" sz="800" b="1" err="1">
                <a:solidFill>
                  <a:srgbClr val="DA1884"/>
                </a:solidFill>
                <a:latin typeface="Arial"/>
                <a:ea typeface="Meiryo" panose="020B0604030504040204" pitchFamily="50" charset="-128"/>
                <a:cs typeface="Arial"/>
              </a:rPr>
              <a:t>Genpo</a:t>
            </a:r>
            <a:r>
              <a:rPr lang="en-US" altLang="ja-JP" sz="800" b="1">
                <a:solidFill>
                  <a:srgbClr val="DA1884"/>
                </a:solidFill>
                <a:latin typeface="Arial"/>
                <a:ea typeface="Meiryo" panose="020B0604030504040204" pitchFamily="50" charset="-128"/>
                <a:cs typeface="Arial"/>
              </a:rPr>
              <a:t>/3PL</a:t>
            </a: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)</a:t>
            </a:r>
            <a:endParaRPr lang="ja-JP" altLang="en-US" sz="8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88" name="正方形/長方形 187"/>
          <p:cNvSpPr/>
          <p:nvPr/>
        </p:nvSpPr>
        <p:spPr>
          <a:xfrm>
            <a:off x="9822594" y="3899611"/>
            <a:ext cx="743684" cy="349594"/>
          </a:xfrm>
          <a:prstGeom prst="rect">
            <a:avLst/>
          </a:prstGeom>
          <a:solidFill>
            <a:srgbClr val="E7F6FF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SUE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89" name="正方形/長方形 188"/>
          <p:cNvSpPr/>
          <p:nvPr/>
        </p:nvSpPr>
        <p:spPr>
          <a:xfrm>
            <a:off x="10865707" y="3899611"/>
            <a:ext cx="743684" cy="349594"/>
          </a:xfrm>
          <a:prstGeom prst="rect">
            <a:avLst/>
          </a:prstGeom>
          <a:solidFill>
            <a:srgbClr val="E7F6FF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FSE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92" name="直線矢印コネクタ 191"/>
          <p:cNvCxnSpPr>
            <a:cxnSpLocks/>
            <a:stCxn id="162" idx="2"/>
            <a:endCxn id="181" idx="0"/>
          </p:cNvCxnSpPr>
          <p:nvPr/>
        </p:nvCxnSpPr>
        <p:spPr>
          <a:xfrm>
            <a:off x="1057816" y="2544097"/>
            <a:ext cx="182418" cy="1355514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線矢印コネクタ 195"/>
          <p:cNvCxnSpPr>
            <a:stCxn id="181" idx="2"/>
            <a:endCxn id="38" idx="0"/>
          </p:cNvCxnSpPr>
          <p:nvPr/>
        </p:nvCxnSpPr>
        <p:spPr>
          <a:xfrm>
            <a:off x="1240234" y="4249205"/>
            <a:ext cx="0" cy="388276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線矢印コネクタ 196"/>
          <p:cNvCxnSpPr>
            <a:stCxn id="38" idx="2"/>
            <a:endCxn id="159" idx="1"/>
          </p:cNvCxnSpPr>
          <p:nvPr/>
        </p:nvCxnSpPr>
        <p:spPr>
          <a:xfrm>
            <a:off x="1240236" y="4987075"/>
            <a:ext cx="1" cy="400635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線矢印コネクタ 197"/>
          <p:cNvCxnSpPr>
            <a:stCxn id="182" idx="2"/>
            <a:endCxn id="171" idx="0"/>
          </p:cNvCxnSpPr>
          <p:nvPr/>
        </p:nvCxnSpPr>
        <p:spPr>
          <a:xfrm>
            <a:off x="2402914" y="4249205"/>
            <a:ext cx="0" cy="388276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線矢印コネクタ 198"/>
          <p:cNvCxnSpPr>
            <a:stCxn id="171" idx="2"/>
            <a:endCxn id="8" idx="1"/>
          </p:cNvCxnSpPr>
          <p:nvPr/>
        </p:nvCxnSpPr>
        <p:spPr>
          <a:xfrm>
            <a:off x="2402916" y="4987075"/>
            <a:ext cx="1" cy="400635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線矢印コネクタ 204"/>
          <p:cNvCxnSpPr>
            <a:stCxn id="183" idx="2"/>
            <a:endCxn id="172" idx="0"/>
          </p:cNvCxnSpPr>
          <p:nvPr/>
        </p:nvCxnSpPr>
        <p:spPr>
          <a:xfrm>
            <a:off x="4452594" y="4249205"/>
            <a:ext cx="0" cy="388276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線矢印コネクタ 205"/>
          <p:cNvCxnSpPr>
            <a:stCxn id="172" idx="2"/>
            <a:endCxn id="129" idx="1"/>
          </p:cNvCxnSpPr>
          <p:nvPr/>
        </p:nvCxnSpPr>
        <p:spPr>
          <a:xfrm>
            <a:off x="4452597" y="4987075"/>
            <a:ext cx="1" cy="400635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線矢印コネクタ 206"/>
          <p:cNvCxnSpPr>
            <a:stCxn id="185" idx="2"/>
            <a:endCxn id="173" idx="0"/>
          </p:cNvCxnSpPr>
          <p:nvPr/>
        </p:nvCxnSpPr>
        <p:spPr>
          <a:xfrm>
            <a:off x="6707736" y="4249205"/>
            <a:ext cx="0" cy="388276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線矢印コネクタ 207"/>
          <p:cNvCxnSpPr>
            <a:stCxn id="32" idx="2"/>
            <a:endCxn id="142" idx="0"/>
          </p:cNvCxnSpPr>
          <p:nvPr/>
        </p:nvCxnSpPr>
        <p:spPr>
          <a:xfrm>
            <a:off x="5620854" y="2526819"/>
            <a:ext cx="90154" cy="1372792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線矢印コネクタ 208"/>
          <p:cNvCxnSpPr>
            <a:stCxn id="33" idx="2"/>
            <a:endCxn id="185" idx="0"/>
          </p:cNvCxnSpPr>
          <p:nvPr/>
        </p:nvCxnSpPr>
        <p:spPr>
          <a:xfrm>
            <a:off x="6168946" y="2526819"/>
            <a:ext cx="538790" cy="1372792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線矢印コネクタ 209"/>
          <p:cNvCxnSpPr>
            <a:stCxn id="174" idx="2"/>
            <a:endCxn id="175" idx="1"/>
          </p:cNvCxnSpPr>
          <p:nvPr/>
        </p:nvCxnSpPr>
        <p:spPr>
          <a:xfrm>
            <a:off x="5714096" y="4987075"/>
            <a:ext cx="1" cy="400635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線矢印コネクタ 210"/>
          <p:cNvCxnSpPr>
            <a:stCxn id="173" idx="2"/>
            <a:endCxn id="132" idx="1"/>
          </p:cNvCxnSpPr>
          <p:nvPr/>
        </p:nvCxnSpPr>
        <p:spPr>
          <a:xfrm>
            <a:off x="6707738" y="4987075"/>
            <a:ext cx="1" cy="400635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線矢印コネクタ 211"/>
          <p:cNvCxnSpPr>
            <a:stCxn id="186" idx="2"/>
            <a:endCxn id="176" idx="0"/>
          </p:cNvCxnSpPr>
          <p:nvPr/>
        </p:nvCxnSpPr>
        <p:spPr>
          <a:xfrm>
            <a:off x="7754225" y="4249205"/>
            <a:ext cx="0" cy="388276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線矢印コネクタ 212"/>
          <p:cNvCxnSpPr>
            <a:stCxn id="176" idx="2"/>
            <a:endCxn id="145" idx="1"/>
          </p:cNvCxnSpPr>
          <p:nvPr/>
        </p:nvCxnSpPr>
        <p:spPr>
          <a:xfrm>
            <a:off x="7754229" y="4987075"/>
            <a:ext cx="1" cy="400635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線矢印コネクタ 214"/>
          <p:cNvCxnSpPr>
            <a:stCxn id="187" idx="2"/>
            <a:endCxn id="178" idx="0"/>
          </p:cNvCxnSpPr>
          <p:nvPr/>
        </p:nvCxnSpPr>
        <p:spPr>
          <a:xfrm>
            <a:off x="8792333" y="4249205"/>
            <a:ext cx="0" cy="388276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線矢印コネクタ 217"/>
          <p:cNvCxnSpPr>
            <a:stCxn id="178" idx="2"/>
            <a:endCxn id="146" idx="1"/>
          </p:cNvCxnSpPr>
          <p:nvPr/>
        </p:nvCxnSpPr>
        <p:spPr>
          <a:xfrm>
            <a:off x="8792335" y="4987075"/>
            <a:ext cx="1" cy="400635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線矢印コネクタ 220"/>
          <p:cNvCxnSpPr>
            <a:stCxn id="35" idx="2"/>
            <a:endCxn id="187" idx="0"/>
          </p:cNvCxnSpPr>
          <p:nvPr/>
        </p:nvCxnSpPr>
        <p:spPr>
          <a:xfrm>
            <a:off x="7265133" y="2526819"/>
            <a:ext cx="1527200" cy="1372792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線矢印コネクタ 222"/>
          <p:cNvCxnSpPr>
            <a:endCxn id="186" idx="0"/>
          </p:cNvCxnSpPr>
          <p:nvPr/>
        </p:nvCxnSpPr>
        <p:spPr>
          <a:xfrm>
            <a:off x="7532140" y="2971437"/>
            <a:ext cx="222089" cy="928172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線矢印コネクタ 227"/>
          <p:cNvCxnSpPr>
            <a:stCxn id="76" idx="2"/>
            <a:endCxn id="183" idx="0"/>
          </p:cNvCxnSpPr>
          <p:nvPr/>
        </p:nvCxnSpPr>
        <p:spPr>
          <a:xfrm>
            <a:off x="3152784" y="2985131"/>
            <a:ext cx="1299810" cy="91448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線矢印コネクタ 230"/>
          <p:cNvCxnSpPr>
            <a:stCxn id="195" idx="2"/>
            <a:endCxn id="183" idx="0"/>
          </p:cNvCxnSpPr>
          <p:nvPr/>
        </p:nvCxnSpPr>
        <p:spPr>
          <a:xfrm flipH="1">
            <a:off x="4452595" y="3465963"/>
            <a:ext cx="177995" cy="433649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線矢印コネクタ 233"/>
          <p:cNvCxnSpPr>
            <a:stCxn id="42" idx="2"/>
            <a:endCxn id="188" idx="0"/>
          </p:cNvCxnSpPr>
          <p:nvPr/>
        </p:nvCxnSpPr>
        <p:spPr>
          <a:xfrm>
            <a:off x="8645266" y="2521195"/>
            <a:ext cx="1549170" cy="1378417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線矢印コネクタ 236"/>
          <p:cNvCxnSpPr>
            <a:stCxn id="188" idx="2"/>
            <a:endCxn id="179" idx="0"/>
          </p:cNvCxnSpPr>
          <p:nvPr/>
        </p:nvCxnSpPr>
        <p:spPr>
          <a:xfrm>
            <a:off x="10194436" y="4249205"/>
            <a:ext cx="0" cy="388276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線矢印コネクタ 239"/>
          <p:cNvCxnSpPr>
            <a:stCxn id="179" idx="2"/>
            <a:endCxn id="149" idx="1"/>
          </p:cNvCxnSpPr>
          <p:nvPr/>
        </p:nvCxnSpPr>
        <p:spPr>
          <a:xfrm>
            <a:off x="10194439" y="4987075"/>
            <a:ext cx="1" cy="400635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線矢印コネクタ 242"/>
          <p:cNvCxnSpPr>
            <a:endCxn id="189" idx="0"/>
          </p:cNvCxnSpPr>
          <p:nvPr/>
        </p:nvCxnSpPr>
        <p:spPr>
          <a:xfrm>
            <a:off x="11224699" y="2983370"/>
            <a:ext cx="12852" cy="916241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線矢印コネクタ 244"/>
          <p:cNvCxnSpPr>
            <a:stCxn id="189" idx="2"/>
            <a:endCxn id="180" idx="0"/>
          </p:cNvCxnSpPr>
          <p:nvPr/>
        </p:nvCxnSpPr>
        <p:spPr>
          <a:xfrm>
            <a:off x="11237549" y="4249205"/>
            <a:ext cx="0" cy="388276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線矢印コネクタ 247"/>
          <p:cNvCxnSpPr>
            <a:stCxn id="180" idx="2"/>
            <a:endCxn id="147" idx="1"/>
          </p:cNvCxnSpPr>
          <p:nvPr/>
        </p:nvCxnSpPr>
        <p:spPr>
          <a:xfrm>
            <a:off x="11237552" y="4987075"/>
            <a:ext cx="1" cy="400635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カギ線コネクタ 271"/>
          <p:cNvCxnSpPr>
            <a:stCxn id="273" idx="3"/>
            <a:endCxn id="182" idx="1"/>
          </p:cNvCxnSpPr>
          <p:nvPr/>
        </p:nvCxnSpPr>
        <p:spPr>
          <a:xfrm rot="5400000" flipH="1" flipV="1">
            <a:off x="854243" y="4688987"/>
            <a:ext cx="1791408" cy="562253"/>
          </a:xfrm>
          <a:prstGeom prst="bentConnector4">
            <a:avLst>
              <a:gd name="adj1" fmla="val -6987"/>
              <a:gd name="adj2" fmla="val 73338"/>
            </a:avLst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フローチャート: 磁気ディスク 272"/>
          <p:cNvSpPr/>
          <p:nvPr/>
        </p:nvSpPr>
        <p:spPr>
          <a:xfrm>
            <a:off x="1206383" y="5632179"/>
            <a:ext cx="524876" cy="233638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GMX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77" name="フローチャート: 磁気ディスク 276"/>
          <p:cNvSpPr/>
          <p:nvPr/>
        </p:nvSpPr>
        <p:spPr>
          <a:xfrm>
            <a:off x="3856619" y="6370048"/>
            <a:ext cx="4958550" cy="312330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Data</a:t>
            </a:r>
            <a:r>
              <a:rPr lang="ja-JP" altLang="en-US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Containers</a:t>
            </a:r>
            <a:endParaRPr lang="ja-JP" altLang="en-US" sz="105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78" name="左中かっこ 277"/>
          <p:cNvSpPr/>
          <p:nvPr/>
        </p:nvSpPr>
        <p:spPr>
          <a:xfrm rot="16200000">
            <a:off x="6287521" y="869676"/>
            <a:ext cx="305155" cy="10670539"/>
          </a:xfrm>
          <a:prstGeom prst="leftBrace">
            <a:avLst>
              <a:gd name="adj1" fmla="val 8333"/>
              <a:gd name="adj2" fmla="val 50253"/>
            </a:avLst>
          </a:prstGeom>
          <a:ln w="28575">
            <a:solidFill>
              <a:srgbClr val="8ED01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ja-JP" altLang="en-US" sz="1798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79" name="右矢印 278"/>
          <p:cNvSpPr/>
          <p:nvPr/>
        </p:nvSpPr>
        <p:spPr>
          <a:xfrm rot="5400000">
            <a:off x="6353054" y="5880409"/>
            <a:ext cx="205235" cy="887635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ja-JP" altLang="en-US" sz="1798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80" name="二等辺三角形 279"/>
          <p:cNvSpPr/>
          <p:nvPr/>
        </p:nvSpPr>
        <p:spPr>
          <a:xfrm rot="5400000">
            <a:off x="8858681" y="6441204"/>
            <a:ext cx="446606" cy="170014"/>
          </a:xfrm>
          <a:prstGeom prst="triangle">
            <a:avLst>
              <a:gd name="adj" fmla="val 53659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ja-JP" altLang="en-US" sz="1798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86" name="テキスト ボックス 285"/>
          <p:cNvSpPr txBox="1"/>
          <p:nvPr/>
        </p:nvSpPr>
        <p:spPr>
          <a:xfrm>
            <a:off x="10198744" y="6349373"/>
            <a:ext cx="130035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Traceability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System</a:t>
            </a:r>
          </a:p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(Data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tracing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app)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grpSp>
        <p:nvGrpSpPr>
          <p:cNvPr id="288" name="グループ化 287"/>
          <p:cNvGrpSpPr/>
          <p:nvPr/>
        </p:nvGrpSpPr>
        <p:grpSpPr>
          <a:xfrm>
            <a:off x="9322396" y="6206824"/>
            <a:ext cx="933409" cy="605207"/>
            <a:chOff x="9251055" y="6195152"/>
            <a:chExt cx="933895" cy="605523"/>
          </a:xfrm>
        </p:grpSpPr>
        <p:pic>
          <p:nvPicPr>
            <p:cNvPr id="283" name="図 282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29046" y="6195152"/>
              <a:ext cx="563211" cy="563211"/>
            </a:xfrm>
            <a:prstGeom prst="rect">
              <a:avLst/>
            </a:prstGeom>
          </p:spPr>
        </p:pic>
        <p:pic>
          <p:nvPicPr>
            <p:cNvPr id="284" name="図 283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251055" y="6397808"/>
              <a:ext cx="304743" cy="304743"/>
            </a:xfrm>
            <a:prstGeom prst="rect">
              <a:avLst/>
            </a:prstGeom>
          </p:spPr>
        </p:pic>
        <p:pic>
          <p:nvPicPr>
            <p:cNvPr id="287" name="図 286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99563" y="6415288"/>
              <a:ext cx="385387" cy="385387"/>
            </a:xfrm>
            <a:prstGeom prst="rect">
              <a:avLst/>
            </a:prstGeom>
          </p:spPr>
        </p:pic>
      </p:grpSp>
      <p:sp>
        <p:nvSpPr>
          <p:cNvPr id="298" name="フローチャート: 磁気ディスク 297"/>
          <p:cNvSpPr/>
          <p:nvPr/>
        </p:nvSpPr>
        <p:spPr>
          <a:xfrm>
            <a:off x="11428687" y="5607220"/>
            <a:ext cx="524876" cy="233638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Merit</a:t>
            </a:r>
            <a:endParaRPr lang="ja-JP" altLang="en-US" sz="9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99" name="フローチャート: 磁気ディスク 298"/>
          <p:cNvSpPr/>
          <p:nvPr/>
        </p:nvSpPr>
        <p:spPr>
          <a:xfrm>
            <a:off x="10391335" y="5607220"/>
            <a:ext cx="524876" cy="233638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Merit</a:t>
            </a:r>
            <a:endParaRPr lang="ja-JP" altLang="en-US" sz="9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300" name="フローチャート: 磁気ディスク 299"/>
          <p:cNvSpPr/>
          <p:nvPr/>
        </p:nvSpPr>
        <p:spPr>
          <a:xfrm>
            <a:off x="6797924" y="5626165"/>
            <a:ext cx="524876" cy="233638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9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Merit</a:t>
            </a:r>
            <a:endParaRPr lang="ja-JP" altLang="en-US" sz="9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42" name="正方形/長方形 141"/>
          <p:cNvSpPr/>
          <p:nvPr/>
        </p:nvSpPr>
        <p:spPr>
          <a:xfrm>
            <a:off x="5339166" y="3899611"/>
            <a:ext cx="743684" cy="349594"/>
          </a:xfrm>
          <a:prstGeom prst="rect">
            <a:avLst/>
          </a:prstGeom>
          <a:solidFill>
            <a:srgbClr val="E7F6FF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8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Warehouse</a:t>
            </a:r>
          </a:p>
          <a:p>
            <a:pPr algn="ctr" defTabSz="914126">
              <a:defRPr/>
            </a:pPr>
            <a:r>
              <a:rPr lang="en-US" altLang="ja-JP" sz="7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(TELBP)</a:t>
            </a:r>
            <a:endParaRPr lang="ja-JP" altLang="en-US" sz="7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48" name="直線矢印コネクタ 147"/>
          <p:cNvCxnSpPr>
            <a:stCxn id="142" idx="2"/>
            <a:endCxn id="174" idx="0"/>
          </p:cNvCxnSpPr>
          <p:nvPr/>
        </p:nvCxnSpPr>
        <p:spPr>
          <a:xfrm>
            <a:off x="5711009" y="4249205"/>
            <a:ext cx="3086" cy="388276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テキスト ボックス 253"/>
          <p:cNvSpPr txBox="1"/>
          <p:nvPr/>
        </p:nvSpPr>
        <p:spPr>
          <a:xfrm>
            <a:off x="5753891" y="4367912"/>
            <a:ext cx="585628" cy="138499"/>
          </a:xfrm>
          <a:prstGeom prst="rect">
            <a:avLst/>
          </a:prstGeom>
          <a:noFill/>
        </p:spPr>
        <p:txBody>
          <a:bodyPr wrap="none" lIns="35982" tIns="0" rIns="35982" bIns="0" rtlCol="0" anchor="ctr">
            <a:spAutoFit/>
          </a:bodyPr>
          <a:lstStyle/>
          <a:p>
            <a:pPr defTabSz="914126">
              <a:defRPr/>
            </a:pPr>
            <a:r>
              <a:rPr lang="en-US" altLang="ja-JP" sz="900">
                <a:solidFill>
                  <a:srgbClr val="2D2D2D">
                    <a:lumMod val="75000"/>
                    <a:lumOff val="2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Automatic</a:t>
            </a:r>
            <a:endParaRPr lang="ja-JP" altLang="en-US" sz="900">
              <a:solidFill>
                <a:srgbClr val="2D2D2D">
                  <a:lumMod val="75000"/>
                  <a:lumOff val="25000"/>
                </a:srgbClr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53" name="フローチャート: 磁気ディスク 152"/>
          <p:cNvSpPr/>
          <p:nvPr/>
        </p:nvSpPr>
        <p:spPr>
          <a:xfrm>
            <a:off x="5458154" y="5632178"/>
            <a:ext cx="810675" cy="312330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SAP</a:t>
            </a:r>
            <a:endParaRPr lang="ja-JP" altLang="en-US" sz="105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51" name="角丸四角形 150"/>
          <p:cNvSpPr/>
          <p:nvPr/>
        </p:nvSpPr>
        <p:spPr>
          <a:xfrm>
            <a:off x="794104" y="3803853"/>
            <a:ext cx="928543" cy="1583854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ja-JP" altLang="en-US" sz="1799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52" name="角丸四角形 151"/>
          <p:cNvSpPr/>
          <p:nvPr/>
        </p:nvSpPr>
        <p:spPr>
          <a:xfrm>
            <a:off x="5309782" y="3772462"/>
            <a:ext cx="928543" cy="1702395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ja-JP" altLang="en-US" sz="1799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116202" y="3404059"/>
            <a:ext cx="686469" cy="2581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rtlCol="0" anchor="ctr" anchorCtr="0">
            <a:noAutofit/>
          </a:bodyPr>
          <a:lstStyle/>
          <a:p>
            <a:pPr algn="ctr" defTabSz="914126">
              <a:defRPr/>
            </a:pPr>
            <a:r>
              <a:rPr lang="en-US" altLang="ja-JP" sz="105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Current</a:t>
            </a:r>
            <a:r>
              <a:rPr lang="ja-JP" altLang="en-US" sz="105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5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Op.</a:t>
            </a:r>
            <a:endParaRPr lang="ja-JP" altLang="en-US" sz="1050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" name="下矢印 10"/>
          <p:cNvSpPr/>
          <p:nvPr/>
        </p:nvSpPr>
        <p:spPr>
          <a:xfrm>
            <a:off x="1320801" y="3666798"/>
            <a:ext cx="252483" cy="135167"/>
          </a:xfrm>
          <a:prstGeom prst="downArrow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26">
              <a:defRPr/>
            </a:pPr>
            <a:endParaRPr lang="ja-JP" altLang="en-US" sz="1799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54" name="テキスト ボックス 153"/>
          <p:cNvSpPr txBox="1"/>
          <p:nvPr/>
        </p:nvSpPr>
        <p:spPr>
          <a:xfrm>
            <a:off x="2082930" y="3412757"/>
            <a:ext cx="686469" cy="25813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none" rtlCol="0" anchor="ctr" anchorCtr="0">
            <a:noAutofit/>
          </a:bodyPr>
          <a:lstStyle/>
          <a:p>
            <a:pPr algn="ctr" defTabSz="914126">
              <a:defRPr/>
            </a:pPr>
            <a:r>
              <a:rPr lang="en-US" altLang="ja-JP" sz="105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New</a:t>
            </a:r>
            <a:r>
              <a:rPr lang="ja-JP" altLang="en-US" sz="105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5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Op.</a:t>
            </a:r>
            <a:endParaRPr lang="ja-JP" altLang="en-US" sz="1050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55" name="下矢印 154"/>
          <p:cNvSpPr/>
          <p:nvPr/>
        </p:nvSpPr>
        <p:spPr>
          <a:xfrm>
            <a:off x="2287529" y="3675496"/>
            <a:ext cx="252483" cy="135167"/>
          </a:xfrm>
          <a:prstGeom prst="downArrow">
            <a:avLst/>
          </a:prstGeom>
          <a:solidFill>
            <a:schemeClr val="accent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26">
              <a:defRPr/>
            </a:pPr>
            <a:endParaRPr lang="ja-JP" altLang="en-US" sz="1799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58" name="テキスト ボックス 157"/>
          <p:cNvSpPr txBox="1"/>
          <p:nvPr/>
        </p:nvSpPr>
        <p:spPr>
          <a:xfrm>
            <a:off x="5666602" y="3365152"/>
            <a:ext cx="686469" cy="2581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rtlCol="0" anchor="ctr" anchorCtr="0">
            <a:noAutofit/>
          </a:bodyPr>
          <a:lstStyle/>
          <a:p>
            <a:pPr algn="ctr" defTabSz="914126">
              <a:defRPr/>
            </a:pPr>
            <a:r>
              <a:rPr lang="en-US" altLang="ja-JP" sz="8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Current</a:t>
            </a:r>
            <a:r>
              <a:rPr lang="ja-JP" altLang="en-US" sz="8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8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Op.</a:t>
            </a:r>
          </a:p>
          <a:p>
            <a:pPr algn="ctr" defTabSz="914126">
              <a:defRPr/>
            </a:pPr>
            <a:r>
              <a:rPr lang="en-US" altLang="ja-JP" sz="8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&amp;Automation</a:t>
            </a:r>
            <a:endParaRPr lang="ja-JP" altLang="en-US" sz="800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3" name="下矢印 162"/>
          <p:cNvSpPr/>
          <p:nvPr/>
        </p:nvSpPr>
        <p:spPr>
          <a:xfrm>
            <a:off x="5871201" y="3627891"/>
            <a:ext cx="252483" cy="135167"/>
          </a:xfrm>
          <a:prstGeom prst="downArrow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26">
              <a:defRPr/>
            </a:pPr>
            <a:endParaRPr lang="ja-JP" altLang="en-US" sz="1799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77" name="角丸四角形 176"/>
          <p:cNvSpPr/>
          <p:nvPr/>
        </p:nvSpPr>
        <p:spPr>
          <a:xfrm>
            <a:off x="7281437" y="3736623"/>
            <a:ext cx="2129664" cy="1716608"/>
          </a:xfrm>
          <a:prstGeom prst="roundRect">
            <a:avLst>
              <a:gd name="adj" fmla="val 674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ja-JP" altLang="en-US" sz="1799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14" name="下矢印 213"/>
          <p:cNvSpPr/>
          <p:nvPr/>
        </p:nvSpPr>
        <p:spPr>
          <a:xfrm>
            <a:off x="7781789" y="3603762"/>
            <a:ext cx="252483" cy="135167"/>
          </a:xfrm>
          <a:prstGeom prst="downArrow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26">
              <a:defRPr/>
            </a:pPr>
            <a:endParaRPr lang="ja-JP" altLang="en-US" sz="1799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16" name="テキスト ボックス 215"/>
          <p:cNvSpPr txBox="1"/>
          <p:nvPr/>
        </p:nvSpPr>
        <p:spPr>
          <a:xfrm>
            <a:off x="7360001" y="3342485"/>
            <a:ext cx="950439" cy="258132"/>
          </a:xfrm>
          <a:prstGeom prst="rect">
            <a:avLst/>
          </a:prstGeom>
          <a:gradFill flip="none" rotWithShape="1">
            <a:gsLst>
              <a:gs pos="0">
                <a:srgbClr val="147BD1"/>
              </a:gs>
              <a:gs pos="70000">
                <a:srgbClr val="147BD1"/>
              </a:gs>
              <a:gs pos="74000">
                <a:schemeClr val="accent6"/>
              </a:gs>
              <a:gs pos="100000">
                <a:schemeClr val="accent6"/>
              </a:gs>
            </a:gsLst>
            <a:lin ang="18600000" scaled="0"/>
            <a:tileRect/>
          </a:gradFill>
          <a:ln>
            <a:noFill/>
          </a:ln>
        </p:spPr>
        <p:txBody>
          <a:bodyPr wrap="none" rtlCol="0" anchor="ctr" anchorCtr="0">
            <a:noAutofit/>
          </a:bodyPr>
          <a:lstStyle/>
          <a:p>
            <a:pPr algn="ctr" defTabSz="914126">
              <a:defRPr/>
            </a:pPr>
            <a:r>
              <a:rPr lang="en-US" altLang="ja-JP" sz="105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Current</a:t>
            </a:r>
            <a:r>
              <a:rPr lang="ja-JP" altLang="en-US" sz="105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5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Op.(※)</a:t>
            </a:r>
            <a:endParaRPr lang="ja-JP" altLang="en-US" sz="1050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8510420" y="2786532"/>
            <a:ext cx="1996404" cy="56336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 defTabSz="914126">
              <a:defRPr kumimoji="1" sz="1799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/>
              <a:t>※Workload may increase or decrease depending on the number of serialized or shelf-life managed parts</a:t>
            </a:r>
          </a:p>
        </p:txBody>
      </p:sp>
      <p:cxnSp>
        <p:nvCxnSpPr>
          <p:cNvPr id="15" name="直線コネクタ 14"/>
          <p:cNvCxnSpPr>
            <a:cxnSpLocks/>
            <a:stCxn id="216" idx="3"/>
            <a:endCxn id="10" idx="1"/>
          </p:cNvCxnSpPr>
          <p:nvPr/>
        </p:nvCxnSpPr>
        <p:spPr>
          <a:xfrm flipV="1">
            <a:off x="8310440" y="3068213"/>
            <a:ext cx="199981" cy="403339"/>
          </a:xfrm>
          <a:prstGeom prst="line">
            <a:avLst/>
          </a:prstGeom>
          <a:ln w="38100">
            <a:solidFill>
              <a:srgbClr val="CE00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フローチャート: 磁気ディスク 221">
            <a:extLst>
              <a:ext uri="{FF2B5EF4-FFF2-40B4-BE49-F238E27FC236}">
                <a16:creationId xmlns:a16="http://schemas.microsoft.com/office/drawing/2014/main" id="{D4B60E87-85AD-4F89-AB3E-4CA37DF83A25}"/>
              </a:ext>
            </a:extLst>
          </p:cNvPr>
          <p:cNvSpPr/>
          <p:nvPr/>
        </p:nvSpPr>
        <p:spPr>
          <a:xfrm>
            <a:off x="2997558" y="5387708"/>
            <a:ext cx="810675" cy="312330"/>
          </a:xfrm>
          <a:prstGeom prst="flowChartMagneticDisk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SAP</a:t>
            </a:r>
            <a:endParaRPr lang="ja-JP" altLang="en-US" sz="105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24" name="正方形/長方形 223">
            <a:extLst>
              <a:ext uri="{FF2B5EF4-FFF2-40B4-BE49-F238E27FC236}">
                <a16:creationId xmlns:a16="http://schemas.microsoft.com/office/drawing/2014/main" id="{E5BF5AE3-4FBC-47BE-A58B-7D3153501BA7}"/>
              </a:ext>
            </a:extLst>
          </p:cNvPr>
          <p:cNvSpPr/>
          <p:nvPr/>
        </p:nvSpPr>
        <p:spPr>
          <a:xfrm>
            <a:off x="3031052" y="4637481"/>
            <a:ext cx="743684" cy="34959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Order</a:t>
            </a:r>
          </a:p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Parts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CE510C6A-0777-412D-987C-FF355287700D}"/>
              </a:ext>
            </a:extLst>
          </p:cNvPr>
          <p:cNvSpPr/>
          <p:nvPr/>
        </p:nvSpPr>
        <p:spPr>
          <a:xfrm>
            <a:off x="3031052" y="3899611"/>
            <a:ext cx="743684" cy="349594"/>
          </a:xfrm>
          <a:prstGeom prst="rect">
            <a:avLst/>
          </a:prstGeom>
          <a:solidFill>
            <a:srgbClr val="E7F6FF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Procurement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Dept.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226" name="直線矢印コネクタ 225">
            <a:extLst>
              <a:ext uri="{FF2B5EF4-FFF2-40B4-BE49-F238E27FC236}">
                <a16:creationId xmlns:a16="http://schemas.microsoft.com/office/drawing/2014/main" id="{887B3E64-1B39-448D-8C75-C708F44F4EBB}"/>
              </a:ext>
            </a:extLst>
          </p:cNvPr>
          <p:cNvCxnSpPr>
            <a:stCxn id="225" idx="2"/>
            <a:endCxn id="224" idx="0"/>
          </p:cNvCxnSpPr>
          <p:nvPr/>
        </p:nvCxnSpPr>
        <p:spPr>
          <a:xfrm>
            <a:off x="3402894" y="4249205"/>
            <a:ext cx="0" cy="388276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線矢印コネクタ 226">
            <a:extLst>
              <a:ext uri="{FF2B5EF4-FFF2-40B4-BE49-F238E27FC236}">
                <a16:creationId xmlns:a16="http://schemas.microsoft.com/office/drawing/2014/main" id="{7C8CFA91-2F2B-4AEF-A22E-612C490CFA4F}"/>
              </a:ext>
            </a:extLst>
          </p:cNvPr>
          <p:cNvCxnSpPr>
            <a:stCxn id="224" idx="2"/>
            <a:endCxn id="222" idx="1"/>
          </p:cNvCxnSpPr>
          <p:nvPr/>
        </p:nvCxnSpPr>
        <p:spPr>
          <a:xfrm>
            <a:off x="3402896" y="4987075"/>
            <a:ext cx="1" cy="400635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B6E4B675-CA91-4E35-82CE-7D9B1D3D7377}"/>
              </a:ext>
            </a:extLst>
          </p:cNvPr>
          <p:cNvCxnSpPr>
            <a:cxnSpLocks/>
            <a:stCxn id="8" idx="4"/>
            <a:endCxn id="224" idx="1"/>
          </p:cNvCxnSpPr>
          <p:nvPr/>
        </p:nvCxnSpPr>
        <p:spPr>
          <a:xfrm flipV="1">
            <a:off x="2808252" y="4812279"/>
            <a:ext cx="222800" cy="731595"/>
          </a:xfrm>
          <a:prstGeom prst="bentConnector3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線矢印コネクタ 228">
            <a:extLst>
              <a:ext uri="{FF2B5EF4-FFF2-40B4-BE49-F238E27FC236}">
                <a16:creationId xmlns:a16="http://schemas.microsoft.com/office/drawing/2014/main" id="{A9ABF6FE-E6CD-4086-B1DB-9C07B5C9259E}"/>
              </a:ext>
            </a:extLst>
          </p:cNvPr>
          <p:cNvCxnSpPr>
            <a:cxnSpLocks/>
            <a:stCxn id="168" idx="2"/>
            <a:endCxn id="225" idx="0"/>
          </p:cNvCxnSpPr>
          <p:nvPr/>
        </p:nvCxnSpPr>
        <p:spPr>
          <a:xfrm>
            <a:off x="1655996" y="2534405"/>
            <a:ext cx="1746899" cy="1365206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角丸四角形 150">
            <a:extLst>
              <a:ext uri="{FF2B5EF4-FFF2-40B4-BE49-F238E27FC236}">
                <a16:creationId xmlns:a16="http://schemas.microsoft.com/office/drawing/2014/main" id="{250BF3CE-38FA-4B32-B9E8-CAAE3DC2D4C8}"/>
              </a:ext>
            </a:extLst>
          </p:cNvPr>
          <p:cNvSpPr/>
          <p:nvPr/>
        </p:nvSpPr>
        <p:spPr>
          <a:xfrm>
            <a:off x="3014311" y="3803853"/>
            <a:ext cx="833718" cy="1583854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ja-JP" altLang="en-US" sz="1799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32" name="テキスト ボックス 231">
            <a:extLst>
              <a:ext uri="{FF2B5EF4-FFF2-40B4-BE49-F238E27FC236}">
                <a16:creationId xmlns:a16="http://schemas.microsoft.com/office/drawing/2014/main" id="{6BC7BDF6-ADFD-4070-97B4-D7695C0651A3}"/>
              </a:ext>
            </a:extLst>
          </p:cNvPr>
          <p:cNvSpPr txBox="1"/>
          <p:nvPr/>
        </p:nvSpPr>
        <p:spPr>
          <a:xfrm>
            <a:off x="3258042" y="3404059"/>
            <a:ext cx="686469" cy="2581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rtlCol="0" anchor="ctr" anchorCtr="0">
            <a:noAutofit/>
          </a:bodyPr>
          <a:lstStyle/>
          <a:p>
            <a:pPr algn="ctr" defTabSz="914126">
              <a:defRPr/>
            </a:pPr>
            <a:r>
              <a:rPr lang="en-US" altLang="ja-JP" sz="105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Current</a:t>
            </a:r>
            <a:r>
              <a:rPr lang="ja-JP" altLang="en-US" sz="105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5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Op.</a:t>
            </a:r>
            <a:endParaRPr lang="ja-JP" altLang="en-US" sz="1050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33" name="下矢印 10">
            <a:extLst>
              <a:ext uri="{FF2B5EF4-FFF2-40B4-BE49-F238E27FC236}">
                <a16:creationId xmlns:a16="http://schemas.microsoft.com/office/drawing/2014/main" id="{CF95A12F-7110-40D0-ADF9-0D8F0AA3BFF4}"/>
              </a:ext>
            </a:extLst>
          </p:cNvPr>
          <p:cNvSpPr/>
          <p:nvPr/>
        </p:nvSpPr>
        <p:spPr>
          <a:xfrm>
            <a:off x="3462641" y="3666798"/>
            <a:ext cx="252483" cy="135167"/>
          </a:xfrm>
          <a:prstGeom prst="downArrow">
            <a:avLst/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26">
              <a:defRPr/>
            </a:pPr>
            <a:endParaRPr lang="ja-JP" altLang="en-US" sz="1799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50" name="角丸四角形 149"/>
          <p:cNvSpPr/>
          <p:nvPr/>
        </p:nvSpPr>
        <p:spPr>
          <a:xfrm>
            <a:off x="1958692" y="3816890"/>
            <a:ext cx="1032367" cy="157081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ja-JP" altLang="en-US" sz="1799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20" name="楕円 219">
            <a:extLst>
              <a:ext uri="{FF2B5EF4-FFF2-40B4-BE49-F238E27FC236}">
                <a16:creationId xmlns:a16="http://schemas.microsoft.com/office/drawing/2014/main" id="{7BBB7E26-B2CD-47D1-8774-2C0F2A36EEA7}"/>
              </a:ext>
            </a:extLst>
          </p:cNvPr>
          <p:cNvSpPr/>
          <p:nvPr/>
        </p:nvSpPr>
        <p:spPr>
          <a:xfrm>
            <a:off x="9079295" y="4489117"/>
            <a:ext cx="265567" cy="2655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A</a:t>
            </a:r>
            <a:endParaRPr lang="ja-JP" altLang="en-US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91212C7A-40D9-46A8-BCB2-BA82A1B3EB44}"/>
              </a:ext>
            </a:extLst>
          </p:cNvPr>
          <p:cNvSpPr/>
          <p:nvPr/>
        </p:nvSpPr>
        <p:spPr>
          <a:xfrm>
            <a:off x="8026781" y="4492308"/>
            <a:ext cx="265567" cy="2655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B</a:t>
            </a:r>
            <a:endParaRPr lang="ja-JP" altLang="en-US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A3B55A12-1E38-420B-BEB5-36DA82911271}"/>
              </a:ext>
            </a:extLst>
          </p:cNvPr>
          <p:cNvSpPr/>
          <p:nvPr/>
        </p:nvSpPr>
        <p:spPr>
          <a:xfrm>
            <a:off x="8040660" y="4767379"/>
            <a:ext cx="265567" cy="2655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C</a:t>
            </a:r>
            <a:endParaRPr lang="ja-JP" altLang="en-US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57BCE0A4-AFE6-D707-42B7-8FA9C7DBF37B}"/>
              </a:ext>
            </a:extLst>
          </p:cNvPr>
          <p:cNvSpPr/>
          <p:nvPr/>
        </p:nvSpPr>
        <p:spPr>
          <a:xfrm>
            <a:off x="2675469" y="4520800"/>
            <a:ext cx="265567" cy="2655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C</a:t>
            </a:r>
            <a:endParaRPr lang="ja-JP" altLang="en-US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04660E46-04FE-7801-8721-A91AF214161C}"/>
              </a:ext>
            </a:extLst>
          </p:cNvPr>
          <p:cNvSpPr/>
          <p:nvPr/>
        </p:nvSpPr>
        <p:spPr>
          <a:xfrm>
            <a:off x="9082752" y="4746785"/>
            <a:ext cx="265567" cy="2655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C</a:t>
            </a:r>
            <a:endParaRPr lang="ja-JP" altLang="en-US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9943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6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5" imgW="353" imgH="318" progId="TCLayout.ActiveDocument.1">
                  <p:embed/>
                </p:oleObj>
              </mc:Choice>
              <mc:Fallback>
                <p:oleObj name="think-cell スライド" r:id="rId5" imgW="353" imgH="318" progId="TCLayout.ActiveDocument.1">
                  <p:embed/>
                  <p:pic>
                    <p:nvPicPr>
                      <p:cNvPr id="8" name="オブジェクト 7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6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>
            <p:custDataLst>
              <p:tags r:id="rId2"/>
            </p:custDataLst>
          </p:nvPr>
        </p:nvSpPr>
        <p:spPr>
          <a:xfrm>
            <a:off x="1588" y="0"/>
            <a:ext cx="158750" cy="1587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ja-JP" altLang="en-US" sz="3000">
              <a:solidFill>
                <a:srgbClr val="2D2D2D"/>
              </a:solidFill>
              <a:latin typeface="Arial" panose="020B0604020202020204" pitchFamily="34" charset="0"/>
              <a:ea typeface="Meiryo" panose="020B0604030504040204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>
          <a:xfrm>
            <a:off x="742141" y="1045034"/>
            <a:ext cx="10905835" cy="685800"/>
          </a:xfrm>
        </p:spPr>
        <p:txBody>
          <a:bodyPr/>
          <a:lstStyle/>
          <a:p>
            <a:r>
              <a:rPr lang="en-US" altLang="ja-JP" sz="2000"/>
              <a:t>Traceability implementation will cause changes in S/N &amp; parts shelf-life management operations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Overview</a:t>
            </a:r>
            <a:r>
              <a:rPr lang="ja-JP" altLang="en-US"/>
              <a:t> </a:t>
            </a:r>
            <a:r>
              <a:rPr lang="en-US" altLang="ja-JP"/>
              <a:t>of</a:t>
            </a:r>
            <a:r>
              <a:rPr lang="ja-JP" altLang="en-US"/>
              <a:t> </a:t>
            </a:r>
            <a:r>
              <a:rPr lang="en-US" altLang="ja-JP"/>
              <a:t>Operational</a:t>
            </a:r>
            <a:r>
              <a:rPr lang="ja-JP" altLang="en-US"/>
              <a:t> </a:t>
            </a:r>
            <a:r>
              <a:rPr lang="en-US" altLang="ja-JP"/>
              <a:t>Changes</a:t>
            </a:r>
            <a:endParaRPr lang="ja-JP" altLang="en-US"/>
          </a:p>
        </p:txBody>
      </p:sp>
      <p:graphicFrame>
        <p:nvGraphicFramePr>
          <p:cNvPr id="11" name="表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616584"/>
              </p:ext>
            </p:extLst>
          </p:nvPr>
        </p:nvGraphicFramePr>
        <p:xfrm>
          <a:off x="494127" y="1791076"/>
          <a:ext cx="11229608" cy="3277365"/>
        </p:xfrm>
        <a:graphic>
          <a:graphicData uri="http://schemas.openxmlformats.org/drawingml/2006/table">
            <a:tbl>
              <a:tblPr/>
              <a:tblGrid>
                <a:gridCol w="291622">
                  <a:extLst>
                    <a:ext uri="{9D8B030D-6E8A-4147-A177-3AD203B41FA5}">
                      <a16:colId xmlns:a16="http://schemas.microsoft.com/office/drawing/2014/main" val="1015613978"/>
                    </a:ext>
                  </a:extLst>
                </a:gridCol>
                <a:gridCol w="1235985">
                  <a:extLst>
                    <a:ext uri="{9D8B030D-6E8A-4147-A177-3AD203B41FA5}">
                      <a16:colId xmlns:a16="http://schemas.microsoft.com/office/drawing/2014/main" val="1907575840"/>
                    </a:ext>
                  </a:extLst>
                </a:gridCol>
                <a:gridCol w="9702001">
                  <a:extLst>
                    <a:ext uri="{9D8B030D-6E8A-4147-A177-3AD203B41FA5}">
                      <a16:colId xmlns:a16="http://schemas.microsoft.com/office/drawing/2014/main" val="41004436"/>
                    </a:ext>
                  </a:extLst>
                </a:gridCol>
              </a:tblGrid>
              <a:tr h="683484"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＃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Operation</a:t>
                      </a:r>
                      <a:endParaRPr lang="ja-JP" altLang="en-US" sz="1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eiryo UI" panose="020B0604030504040204" pitchFamily="50" charset="-128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Changes</a:t>
                      </a:r>
                      <a:r>
                        <a:rPr lang="ja-JP" alt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ja-JP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in</a:t>
                      </a:r>
                      <a:r>
                        <a:rPr lang="ja-JP" alt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ja-JP" sz="1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Operation</a:t>
                      </a:r>
                      <a:endParaRPr lang="ja-JP" altLang="en-US" sz="1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eiryo UI" panose="020B0604030504040204" pitchFamily="50" charset="-128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77788"/>
                  </a:ext>
                </a:extLst>
              </a:tr>
              <a:tr h="86462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kumimoji="1" lang="en-US" altLang="ja-JP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A</a:t>
                      </a:r>
                      <a:endParaRPr kumimoji="1" lang="ja-JP" altLang="en-US" sz="16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eiryo UI" panose="020B0604030504040204" pitchFamily="50" charset="-128"/>
                        <a:cs typeface="Arial" panose="020B0604020202020204" pitchFamily="34" charset="0"/>
                      </a:endParaRPr>
                    </a:p>
                  </a:txBody>
                  <a:tcPr marL="72000" marR="72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kumimoji="1" lang="en-US" altLang="ja-JP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Logistics</a:t>
                      </a:r>
                      <a:endParaRPr kumimoji="1" lang="ja-JP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eiryo UI" panose="020B0604030504040204" pitchFamily="50" charset="-128"/>
                        <a:cs typeface="Arial" panose="020B0604020202020204" pitchFamily="34" charset="0"/>
                      </a:endParaRPr>
                    </a:p>
                  </a:txBody>
                  <a:tcPr marL="72000" marR="72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Record the S/N for the spare parts specified by QA (serialized parts),</a:t>
                      </a:r>
                      <a:r>
                        <a:rPr kumimoji="1" lang="en-US" altLang="ja-JP" sz="16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which has</a:t>
                      </a:r>
                      <a:r>
                        <a:rPr kumimoji="1" lang="en-US" altLang="ja-JP" sz="16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the indicator in the system</a:t>
                      </a:r>
                      <a:endParaRPr kumimoji="1" lang="en-US" altLang="ja-JP" sz="16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72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84815"/>
                  </a:ext>
                </a:extLst>
              </a:tr>
              <a:tr h="86462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kumimoji="1" lang="en-US" altLang="ja-JP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B</a:t>
                      </a:r>
                      <a:endParaRPr kumimoji="1" lang="ja-JP" altLang="en-US" sz="16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eiryo UI" panose="020B0604030504040204" pitchFamily="50" charset="-128"/>
                        <a:cs typeface="Arial" panose="020B0604020202020204" pitchFamily="34" charset="0"/>
                      </a:endParaRPr>
                    </a:p>
                  </a:txBody>
                  <a:tcPr marL="72000" marR="72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kumimoji="1" lang="en-US" altLang="ja-JP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Warehouse</a:t>
                      </a:r>
                      <a:r>
                        <a:rPr kumimoji="1" lang="ja-JP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ja-JP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Management</a:t>
                      </a:r>
                    </a:p>
                  </a:txBody>
                  <a:tcPr marL="72000" marR="72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 the</a:t>
                      </a:r>
                      <a:r>
                        <a:rPr kumimoji="1" lang="en-US" altLang="ja-JP" sz="16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</a:t>
                      </a:r>
                      <a:r>
                        <a:rPr kumimoji="1" lang="en-US" altLang="ja-JP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helf-life/best-before life for inventory in accordance with the indicator set by QA factory </a:t>
                      </a:r>
                      <a:br>
                        <a:rPr kumimoji="1" lang="en-US" altLang="ja-JP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kumimoji="1" lang="en-US" altLang="ja-JP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(based on One-TEL guideline)</a:t>
                      </a:r>
                    </a:p>
                  </a:txBody>
                  <a:tcPr marL="72000" marR="72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290021"/>
                  </a:ext>
                </a:extLst>
              </a:tr>
              <a:tr h="86462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kumimoji="1" lang="en-US" altLang="ja-JP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C</a:t>
                      </a:r>
                      <a:endParaRPr kumimoji="1" lang="ja-JP" altLang="en-US" sz="16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eiryo UI" panose="020B0604030504040204" pitchFamily="50" charset="-128"/>
                        <a:cs typeface="Arial" panose="020B0604020202020204" pitchFamily="34" charset="0"/>
                      </a:endParaRPr>
                    </a:p>
                  </a:txBody>
                  <a:tcPr marL="72000" marR="72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kumimoji="1" lang="en-US" altLang="ja-JP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Material Master Management</a:t>
                      </a:r>
                    </a:p>
                  </a:txBody>
                  <a:tcPr marL="72000" marR="72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Transfer S/N Management Indicator (SN Profile) and shelf-life months in the SAP material master to the 3PL system </a:t>
                      </a:r>
                    </a:p>
                  </a:txBody>
                  <a:tcPr marL="72000" marR="72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936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423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Object 5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6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5" imgW="353" imgH="353" progId="TCLayout.ActiveDocument.1">
                  <p:embed/>
                </p:oleObj>
              </mc:Choice>
              <mc:Fallback>
                <p:oleObj name="think-cell スライド" r:id="rId5" imgW="353" imgH="353" progId="TCLayout.ActiveDocument.1">
                  <p:embed/>
                  <p:pic>
                    <p:nvPicPr>
                      <p:cNvPr id="54" name="Object 5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6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正方形/長方形 4" hidden="1">
            <a:extLst>
              <a:ext uri="{FF2B5EF4-FFF2-40B4-BE49-F238E27FC236}">
                <a16:creationId xmlns:a16="http://schemas.microsoft.com/office/drawing/2014/main" id="{B306F94E-CC33-4151-BDF2-ED5F21BB13E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88" y="0"/>
            <a:ext cx="158750" cy="1587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altLang="ja-JP" sz="2800">
              <a:solidFill>
                <a:srgbClr val="2D2D2D"/>
              </a:solidFill>
              <a:latin typeface="Meiryo" panose="020B0604030504040204" pitchFamily="50" charset="-128"/>
              <a:ea typeface="Meiryo" panose="020B0604030504040204" pitchFamily="50" charset="-128"/>
              <a:cs typeface="Arial" panose="020B0604020202020204" pitchFamily="34" charset="0"/>
              <a:sym typeface="Meiryo" panose="020B0604030504040204" pitchFamily="50" charset="-128"/>
            </a:endParaRPr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ja-JP" sz="2800"/>
              <a:t>(Recap) How</a:t>
            </a:r>
            <a:r>
              <a:rPr lang="ja-JP" altLang="en-US" sz="2800"/>
              <a:t> </a:t>
            </a:r>
            <a:r>
              <a:rPr lang="en-US" altLang="ja-JP" sz="2800"/>
              <a:t>to</a:t>
            </a:r>
            <a:r>
              <a:rPr lang="ja-JP" altLang="en-US" sz="2800"/>
              <a:t> </a:t>
            </a:r>
            <a:r>
              <a:rPr lang="en-US" altLang="ja-JP" sz="2800"/>
              <a:t>Manage</a:t>
            </a:r>
            <a:r>
              <a:rPr lang="ja-JP" altLang="en-US" sz="2800"/>
              <a:t> </a:t>
            </a:r>
            <a:r>
              <a:rPr lang="en-US" altLang="ja-JP" sz="2800"/>
              <a:t>Tracing</a:t>
            </a:r>
            <a:r>
              <a:rPr lang="ja-JP" altLang="en-US" sz="2800"/>
              <a:t> </a:t>
            </a:r>
            <a:r>
              <a:rPr lang="en-US" altLang="ja-JP" sz="2800"/>
              <a:t>Parts</a:t>
            </a:r>
            <a:endParaRPr lang="ja-JP" altLang="en-US" sz="2800"/>
          </a:p>
        </p:txBody>
      </p:sp>
      <p:sp>
        <p:nvSpPr>
          <p:cNvPr id="87" name="Text Placeholder 6"/>
          <p:cNvSpPr txBox="1">
            <a:spLocks/>
          </p:cNvSpPr>
          <p:nvPr/>
        </p:nvSpPr>
        <p:spPr>
          <a:xfrm>
            <a:off x="611188" y="1019831"/>
            <a:ext cx="11355754" cy="4746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spcBef>
                <a:spcPts val="12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kumimoji="1" sz="24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1pPr>
            <a:lvl2pPr marL="466344" indent="-237744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–"/>
              <a:defRPr kumimoji="1" sz="20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2pPr>
            <a:lvl3pPr marL="676656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6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4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5pPr>
            <a:lvl6pPr marL="13716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78BE20"/>
              </a:buClr>
            </a:pPr>
            <a:r>
              <a:rPr lang="en-US" altLang="ja-JP" sz="2000">
                <a:solidFill>
                  <a:srgbClr val="2D2D2D"/>
                </a:solidFill>
                <a:cs typeface="Arial"/>
              </a:rPr>
              <a:t>Indicators for the traceability target parts are set per part number.</a:t>
            </a:r>
          </a:p>
        </p:txBody>
      </p:sp>
      <p:sp>
        <p:nvSpPr>
          <p:cNvPr id="13" name="正方形/長方形 12"/>
          <p:cNvSpPr/>
          <p:nvPr/>
        </p:nvSpPr>
        <p:spPr>
          <a:xfrm>
            <a:off x="611189" y="4976653"/>
            <a:ext cx="5029200" cy="14045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en-US" altLang="ja-JP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【Current</a:t>
            </a:r>
            <a:r>
              <a:rPr lang="ja-JP" altLang="en-US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Issues】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Serialization of parts based on ambiguous rules set at each BU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No communication present for setting shelf-life or best-before life</a:t>
            </a:r>
          </a:p>
        </p:txBody>
      </p:sp>
      <p:sp>
        <p:nvSpPr>
          <p:cNvPr id="65" name="正方形/長方形 64"/>
          <p:cNvSpPr/>
          <p:nvPr/>
        </p:nvSpPr>
        <p:spPr>
          <a:xfrm>
            <a:off x="623952" y="1453664"/>
            <a:ext cx="5029200" cy="28090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US" altLang="ja-JP" sz="16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As-Is</a:t>
            </a:r>
            <a:endParaRPr lang="ja-JP" altLang="en-US" sz="1600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67" name="正方形/長方形 66"/>
          <p:cNvSpPr/>
          <p:nvPr/>
        </p:nvSpPr>
        <p:spPr>
          <a:xfrm>
            <a:off x="623888" y="1803145"/>
            <a:ext cx="5029200" cy="3511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US" altLang="ja-JP" sz="16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Discretionary Tracing of Parts</a:t>
            </a:r>
            <a:endParaRPr lang="ja-JP" altLang="en-US" sz="16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59" name="Straight Connector 158"/>
          <p:cNvCxnSpPr>
            <a:stCxn id="175" idx="2"/>
            <a:endCxn id="163" idx="3"/>
          </p:cNvCxnSpPr>
          <p:nvPr/>
        </p:nvCxnSpPr>
        <p:spPr>
          <a:xfrm flipH="1">
            <a:off x="2393299" y="2840318"/>
            <a:ext cx="2221228" cy="59176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>
            <a:stCxn id="175" idx="2"/>
            <a:endCxn id="165" idx="0"/>
          </p:cNvCxnSpPr>
          <p:nvPr/>
        </p:nvCxnSpPr>
        <p:spPr>
          <a:xfrm flipH="1">
            <a:off x="1652779" y="2840318"/>
            <a:ext cx="2961748" cy="124365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>
            <a:stCxn id="175" idx="2"/>
            <a:endCxn id="164" idx="0"/>
          </p:cNvCxnSpPr>
          <p:nvPr/>
        </p:nvCxnSpPr>
        <p:spPr>
          <a:xfrm flipH="1">
            <a:off x="3277227" y="2840318"/>
            <a:ext cx="1337300" cy="715806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>
            <a:stCxn id="175" idx="2"/>
            <a:endCxn id="166" idx="0"/>
          </p:cNvCxnSpPr>
          <p:nvPr/>
        </p:nvCxnSpPr>
        <p:spPr>
          <a:xfrm>
            <a:off x="4614527" y="2840318"/>
            <a:ext cx="228708" cy="715806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正方形/長方形 1"/>
          <p:cNvSpPr/>
          <p:nvPr/>
        </p:nvSpPr>
        <p:spPr>
          <a:xfrm>
            <a:off x="912259" y="3028280"/>
            <a:ext cx="1481040" cy="8075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Factory</a:t>
            </a:r>
            <a:r>
              <a:rPr lang="ja-JP" altLang="en-US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A</a:t>
            </a:r>
          </a:p>
          <a:p>
            <a:endParaRPr lang="en-US" altLang="ja-JP" sz="1000">
              <a:solidFill>
                <a:srgbClr val="00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  <a:r>
              <a:rPr lang="ja-JP" altLang="en-US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4" name="正方形/長方形 99"/>
          <p:cNvSpPr/>
          <p:nvPr/>
        </p:nvSpPr>
        <p:spPr>
          <a:xfrm>
            <a:off x="2536707" y="3556125"/>
            <a:ext cx="1481040" cy="8075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Narita</a:t>
            </a:r>
            <a:r>
              <a:rPr lang="ja-JP" altLang="en-US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Warehouse</a:t>
            </a:r>
          </a:p>
          <a:p>
            <a:endParaRPr lang="en-US" altLang="ja-JP" sz="1000">
              <a:solidFill>
                <a:srgbClr val="00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12</a:t>
            </a:r>
            <a:r>
              <a:rPr lang="ja-JP" altLang="en-US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Doesn’t manage S/N</a:t>
            </a:r>
            <a:endParaRPr lang="ja-JP" altLang="en-US" sz="1000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5" name="正方形/長方形 101"/>
          <p:cNvSpPr/>
          <p:nvPr/>
        </p:nvSpPr>
        <p:spPr>
          <a:xfrm>
            <a:off x="912259" y="4083969"/>
            <a:ext cx="1481040" cy="8075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Factory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B</a:t>
            </a:r>
          </a:p>
          <a:p>
            <a:endParaRPr lang="en-US" altLang="ja-JP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60</a:t>
            </a:r>
            <a:r>
              <a:rPr lang="ja-JP" altLang="en-US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Doesn’t manage S/N</a:t>
            </a:r>
            <a:endParaRPr lang="ja-JP" altLang="en-US" sz="1000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6" name="正方形/長方形 102"/>
          <p:cNvSpPr/>
          <p:nvPr/>
        </p:nvSpPr>
        <p:spPr>
          <a:xfrm>
            <a:off x="4102715" y="3556125"/>
            <a:ext cx="1481040" cy="8075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FS</a:t>
            </a:r>
          </a:p>
          <a:p>
            <a:endParaRPr lang="en-US" altLang="ja-JP" sz="1000">
              <a:solidFill>
                <a:srgbClr val="00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FF0000"/>
                </a:solidFill>
                <a:latin typeface="Arial"/>
                <a:ea typeface="Meiryo" panose="020B0604030504040204" pitchFamily="50" charset="-128"/>
                <a:cs typeface="Arial"/>
              </a:rPr>
              <a:t>Doesn’t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manage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endParaRPr lang="ja-JP" altLang="en-US" sz="1000">
              <a:solidFill>
                <a:srgbClr val="FF0000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grpSp>
        <p:nvGrpSpPr>
          <p:cNvPr id="167" name="Group 166"/>
          <p:cNvGrpSpPr/>
          <p:nvPr/>
        </p:nvGrpSpPr>
        <p:grpSpPr>
          <a:xfrm>
            <a:off x="699684" y="2416108"/>
            <a:ext cx="2880474" cy="374534"/>
            <a:chOff x="2360802" y="2443757"/>
            <a:chExt cx="2880474" cy="374534"/>
          </a:xfrm>
        </p:grpSpPr>
        <p:pic>
          <p:nvPicPr>
            <p:cNvPr id="176" name="図 10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0802" y="2443757"/>
              <a:ext cx="362726" cy="370635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177" name="テキスト ボックス 144"/>
            <p:cNvSpPr txBox="1"/>
            <p:nvPr/>
          </p:nvSpPr>
          <p:spPr>
            <a:xfrm>
              <a:off x="2753287" y="2448959"/>
              <a:ext cx="248798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ja-JP" sz="12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Parts#</a:t>
              </a:r>
              <a:r>
                <a:rPr lang="ja-JP" altLang="en-US" sz="12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：</a:t>
              </a:r>
              <a:r>
                <a:rPr lang="en-US" altLang="ja-JP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2L10-123456-11</a:t>
              </a:r>
            </a:p>
            <a:p>
              <a:r>
                <a:rPr lang="en-US" altLang="ja-JP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Spare</a:t>
              </a:r>
              <a:r>
                <a:rPr lang="ja-JP" altLang="en-US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 </a:t>
              </a:r>
              <a:r>
                <a:rPr lang="en-US" altLang="ja-JP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Parts</a:t>
              </a:r>
              <a:r>
                <a:rPr lang="ja-JP" altLang="en-US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：</a:t>
              </a:r>
              <a:r>
                <a:rPr lang="en-US" altLang="ja-JP" sz="1200">
                  <a:solidFill>
                    <a:srgbClr val="2D2D2D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ES2L10-123456-11</a:t>
              </a:r>
            </a:p>
          </p:txBody>
        </p:sp>
      </p:grpSp>
      <p:pic>
        <p:nvPicPr>
          <p:cNvPr id="168" name="Picture 20" descr="j043262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834910" y="3944368"/>
            <a:ext cx="451482" cy="47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" name="Picture 17" descr="j043262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699049" y="3413616"/>
            <a:ext cx="443079" cy="477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0" name="Picture 17" descr="j043262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156531" y="3413616"/>
            <a:ext cx="443079" cy="477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1" name="Picture 20" descr="j043262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834910" y="2895235"/>
            <a:ext cx="451482" cy="47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2" name="Elbow Connector 171"/>
          <p:cNvCxnSpPr>
            <a:stCxn id="163" idx="3"/>
            <a:endCxn id="164" idx="1"/>
          </p:cNvCxnSpPr>
          <p:nvPr/>
        </p:nvCxnSpPr>
        <p:spPr>
          <a:xfrm>
            <a:off x="2393299" y="3432079"/>
            <a:ext cx="143408" cy="527845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Elbow Connector 172"/>
          <p:cNvCxnSpPr>
            <a:stCxn id="165" idx="3"/>
            <a:endCxn id="164" idx="1"/>
          </p:cNvCxnSpPr>
          <p:nvPr/>
        </p:nvCxnSpPr>
        <p:spPr>
          <a:xfrm flipV="1">
            <a:off x="2393299" y="3959923"/>
            <a:ext cx="143408" cy="527844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>
            <a:stCxn id="164" idx="3"/>
            <a:endCxn id="166" idx="1"/>
          </p:cNvCxnSpPr>
          <p:nvPr/>
        </p:nvCxnSpPr>
        <p:spPr>
          <a:xfrm>
            <a:off x="4017747" y="3959923"/>
            <a:ext cx="84968" cy="0"/>
          </a:xfrm>
          <a:prstGeom prst="straightConnector1">
            <a:avLst/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ctangle 174"/>
          <p:cNvSpPr/>
          <p:nvPr/>
        </p:nvSpPr>
        <p:spPr>
          <a:xfrm>
            <a:off x="3470559" y="2416000"/>
            <a:ext cx="2287936" cy="4243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Shelf-life/best-before date &amp;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S/N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management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policies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may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differ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depending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on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the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location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6612664" y="4976545"/>
            <a:ext cx="5029200" cy="14045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en-US" altLang="ja-JP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【Expected</a:t>
            </a:r>
            <a:r>
              <a:rPr lang="ja-JP" altLang="en-US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4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Results】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One-TEL list declares serialization and shelf-life for each material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Consistent serialization across operations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ja-JP" sz="14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Tracing of parts reflect QA requirements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ja-JP" sz="1400">
              <a:solidFill>
                <a:srgbClr val="2D2D2D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66" name="正方形/長方形 65"/>
          <p:cNvSpPr/>
          <p:nvPr/>
        </p:nvSpPr>
        <p:spPr>
          <a:xfrm>
            <a:off x="6612664" y="1453771"/>
            <a:ext cx="5029200" cy="29202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US" altLang="ja-JP" sz="16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To-Be</a:t>
            </a:r>
            <a:endParaRPr lang="ja-JP" altLang="en-US" sz="1600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68" name="正方形/長方形 67"/>
          <p:cNvSpPr/>
          <p:nvPr/>
        </p:nvSpPr>
        <p:spPr>
          <a:xfrm>
            <a:off x="6612664" y="1803037"/>
            <a:ext cx="5029200" cy="3511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en-US" altLang="ja-JP" sz="16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One-TEL Standardized Policy</a:t>
            </a:r>
            <a:endParaRPr lang="ja-JP" altLang="en-US" sz="16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" name="正方形/長方形 1"/>
          <p:cNvSpPr/>
          <p:nvPr/>
        </p:nvSpPr>
        <p:spPr>
          <a:xfrm>
            <a:off x="6484144" y="3214040"/>
            <a:ext cx="148104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Factory</a:t>
            </a:r>
            <a:r>
              <a:rPr lang="ja-JP" altLang="en-US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A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2" name="正方形/長方形 101"/>
          <p:cNvSpPr/>
          <p:nvPr/>
        </p:nvSpPr>
        <p:spPr>
          <a:xfrm>
            <a:off x="6484144" y="4164185"/>
            <a:ext cx="148104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Factory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B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86" name="Straight Connector 185"/>
          <p:cNvCxnSpPr>
            <a:stCxn id="181" idx="2"/>
          </p:cNvCxnSpPr>
          <p:nvPr/>
        </p:nvCxnSpPr>
        <p:spPr>
          <a:xfrm flipH="1">
            <a:off x="7973966" y="3056080"/>
            <a:ext cx="2705358" cy="331276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>
            <a:stCxn id="181" idx="2"/>
          </p:cNvCxnSpPr>
          <p:nvPr/>
        </p:nvCxnSpPr>
        <p:spPr>
          <a:xfrm flipH="1">
            <a:off x="7973966" y="3056081"/>
            <a:ext cx="2705358" cy="1273113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>
            <a:stCxn id="181" idx="2"/>
            <a:endCxn id="103" idx="0"/>
          </p:cNvCxnSpPr>
          <p:nvPr/>
        </p:nvCxnSpPr>
        <p:spPr>
          <a:xfrm>
            <a:off x="10679325" y="3056081"/>
            <a:ext cx="279801" cy="633033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/>
          <p:cNvCxnSpPr>
            <a:stCxn id="181" idx="2"/>
          </p:cNvCxnSpPr>
          <p:nvPr/>
        </p:nvCxnSpPr>
        <p:spPr>
          <a:xfrm flipH="1">
            <a:off x="9860492" y="3056080"/>
            <a:ext cx="818832" cy="79804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正方形/長方形 99"/>
          <p:cNvSpPr/>
          <p:nvPr/>
        </p:nvSpPr>
        <p:spPr>
          <a:xfrm>
            <a:off x="8342035" y="3689113"/>
            <a:ext cx="148104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Narita</a:t>
            </a:r>
            <a:r>
              <a:rPr lang="ja-JP" altLang="en-US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Warehouse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3" name="正方形/長方形 102"/>
          <p:cNvSpPr/>
          <p:nvPr/>
        </p:nvSpPr>
        <p:spPr>
          <a:xfrm>
            <a:off x="10218605" y="3689113"/>
            <a:ext cx="1481040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000000"/>
                </a:solidFill>
                <a:latin typeface="Arial"/>
                <a:ea typeface="Meiryo" panose="020B0604030504040204" pitchFamily="50" charset="-128"/>
                <a:cs typeface="Arial"/>
              </a:rPr>
              <a:t>FS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Shelf-life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is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  <a:r>
              <a:rPr lang="ja-JP" altLang="en-US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 b="1" err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mths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Manages S/N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pic>
        <p:nvPicPr>
          <p:cNvPr id="154" name="Picture 20" descr="j043262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7388115" y="3869543"/>
            <a:ext cx="451482" cy="47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" name="Picture 17" descr="j043262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39367" y="3433403"/>
            <a:ext cx="443079" cy="477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Picture 17" descr="j043262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49743" y="3433403"/>
            <a:ext cx="443079" cy="477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" name="Picture 20" descr="j043262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7396261" y="2916645"/>
            <a:ext cx="451482" cy="47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1" name="Elbow Connector 30"/>
          <p:cNvCxnSpPr>
            <a:stCxn id="2" idx="3"/>
            <a:endCxn id="100" idx="1"/>
          </p:cNvCxnSpPr>
          <p:nvPr/>
        </p:nvCxnSpPr>
        <p:spPr>
          <a:xfrm>
            <a:off x="7965185" y="3534081"/>
            <a:ext cx="376851" cy="475073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114"/>
          <p:cNvCxnSpPr>
            <a:stCxn id="102" idx="3"/>
            <a:endCxn id="100" idx="1"/>
          </p:cNvCxnSpPr>
          <p:nvPr/>
        </p:nvCxnSpPr>
        <p:spPr>
          <a:xfrm flipV="1">
            <a:off x="7965185" y="4009153"/>
            <a:ext cx="376851" cy="475072"/>
          </a:xfrm>
          <a:prstGeom prst="bentConnector3">
            <a:avLst>
              <a:gd name="adj1" fmla="val 50000"/>
            </a:avLst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00" idx="3"/>
            <a:endCxn id="103" idx="1"/>
          </p:cNvCxnSpPr>
          <p:nvPr/>
        </p:nvCxnSpPr>
        <p:spPr>
          <a:xfrm>
            <a:off x="9823075" y="4009153"/>
            <a:ext cx="395530" cy="0"/>
          </a:xfrm>
          <a:prstGeom prst="straightConnector1">
            <a:avLst/>
          </a:prstGeom>
          <a:ln w="127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正方形/長方形 1"/>
          <p:cNvSpPr/>
          <p:nvPr/>
        </p:nvSpPr>
        <p:spPr>
          <a:xfrm>
            <a:off x="9675455" y="2416000"/>
            <a:ext cx="2007738" cy="6400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QA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Dept.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ja-JP" sz="1000" b="1">
                <a:solidFill>
                  <a:srgbClr val="0000CC"/>
                </a:solidFill>
                <a:latin typeface="Arial"/>
                <a:ea typeface="Meiryo" panose="020B0604030504040204" pitchFamily="50" charset="-128"/>
                <a:cs typeface="Arial"/>
              </a:rPr>
              <a:t>Sets the same shelf-life and S/N management policy for each part</a:t>
            </a:r>
            <a:endParaRPr lang="ja-JP" altLang="en-US" sz="1000" b="1">
              <a:solidFill>
                <a:srgbClr val="0000CC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pic>
        <p:nvPicPr>
          <p:cNvPr id="185" name="Picture 20" descr="j043262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11255194" y="2144562"/>
            <a:ext cx="451482" cy="47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4" name="Isosceles Triangle 213"/>
          <p:cNvSpPr/>
          <p:nvPr/>
        </p:nvSpPr>
        <p:spPr>
          <a:xfrm rot="5400000">
            <a:off x="4463073" y="3704081"/>
            <a:ext cx="3339670" cy="426673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40E3B6C4-35C3-4633-8220-74BD95DF8C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628" y="2441125"/>
            <a:ext cx="362726" cy="37063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29EA5EC-62C7-4AAE-8733-CC1BC2FA4364}"/>
              </a:ext>
            </a:extLst>
          </p:cNvPr>
          <p:cNvSpPr txBox="1"/>
          <p:nvPr/>
        </p:nvSpPr>
        <p:spPr>
          <a:xfrm>
            <a:off x="7090241" y="2446326"/>
            <a:ext cx="2487989" cy="3693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Parts#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：</a:t>
            </a:r>
            <a:r>
              <a:rPr lang="en-US" altLang="ja-JP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2L10-123456-11</a:t>
            </a:r>
          </a:p>
          <a:p>
            <a:r>
              <a:rPr lang="en-US" altLang="ja-JP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Spare</a:t>
            </a:r>
            <a:r>
              <a:rPr lang="ja-JP" altLang="en-US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Parts</a:t>
            </a:r>
            <a:r>
              <a:rPr lang="ja-JP" altLang="en-US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：</a:t>
            </a:r>
            <a:r>
              <a:rPr lang="en-US" altLang="ja-JP" sz="1200">
                <a:solidFill>
                  <a:srgbClr val="2D2D2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ES2L10-123456-11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58E0D637-65A1-402F-90A6-57500548298E}"/>
              </a:ext>
            </a:extLst>
          </p:cNvPr>
          <p:cNvSpPr/>
          <p:nvPr/>
        </p:nvSpPr>
        <p:spPr>
          <a:xfrm>
            <a:off x="6611493" y="2180920"/>
            <a:ext cx="5101083" cy="914559"/>
          </a:xfrm>
          <a:prstGeom prst="rect">
            <a:avLst/>
          </a:prstGeom>
          <a:noFill/>
          <a:ln w="38100">
            <a:solidFill>
              <a:srgbClr val="F2C1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BF50C8BD-B075-4203-8621-A99978EF64AA}"/>
              </a:ext>
            </a:extLst>
          </p:cNvPr>
          <p:cNvSpPr/>
          <p:nvPr/>
        </p:nvSpPr>
        <p:spPr>
          <a:xfrm>
            <a:off x="597346" y="1453663"/>
            <a:ext cx="5894392" cy="4891574"/>
          </a:xfrm>
          <a:prstGeom prst="rect">
            <a:avLst/>
          </a:prstGeom>
          <a:solidFill>
            <a:schemeClr val="tx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53" name="吹き出し: 四角形 52">
            <a:extLst>
              <a:ext uri="{FF2B5EF4-FFF2-40B4-BE49-F238E27FC236}">
                <a16:creationId xmlns:a16="http://schemas.microsoft.com/office/drawing/2014/main" id="{B8EA69F8-C453-4849-985E-150F47491940}"/>
              </a:ext>
            </a:extLst>
          </p:cNvPr>
          <p:cNvSpPr/>
          <p:nvPr/>
        </p:nvSpPr>
        <p:spPr>
          <a:xfrm>
            <a:off x="875486" y="2101884"/>
            <a:ext cx="4962639" cy="3423930"/>
          </a:xfrm>
          <a:prstGeom prst="wedgeRectCallout">
            <a:avLst>
              <a:gd name="adj1" fmla="val 64889"/>
              <a:gd name="adj2" fmla="val -34338"/>
            </a:avLst>
          </a:prstGeom>
          <a:solidFill>
            <a:schemeClr val="bg1"/>
          </a:solidFill>
          <a:ln w="38100">
            <a:solidFill>
              <a:srgbClr val="F2C1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algn="ctr"/>
            <a:r>
              <a:rPr lang="en-US" altLang="ja-JP" sz="14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TEL Parts Traceability Management Using Traceability Flags</a:t>
            </a:r>
          </a:p>
          <a:p>
            <a:pPr algn="ctr"/>
            <a:endParaRPr lang="en-US" altLang="ja-JP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After the factory QA dept. decides the management policy for each part, that policy will be registered to SAP’s master data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We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would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like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to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ask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for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your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cooperation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to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manage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S/N and shelf-life/best-before life of parts based on SAP’s master data</a:t>
            </a:r>
          </a:p>
        </p:txBody>
      </p:sp>
      <p:sp>
        <p:nvSpPr>
          <p:cNvPr id="57" name="フローチャート: 磁気ディスク 56">
            <a:extLst>
              <a:ext uri="{FF2B5EF4-FFF2-40B4-BE49-F238E27FC236}">
                <a16:creationId xmlns:a16="http://schemas.microsoft.com/office/drawing/2014/main" id="{17AABE45-ED3B-408B-B429-F94EDFCED6C3}"/>
              </a:ext>
            </a:extLst>
          </p:cNvPr>
          <p:cNvSpPr/>
          <p:nvPr/>
        </p:nvSpPr>
        <p:spPr>
          <a:xfrm>
            <a:off x="3718224" y="4974059"/>
            <a:ext cx="881191" cy="454290"/>
          </a:xfrm>
          <a:prstGeom prst="flowChartMagneticDisk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Factory</a:t>
            </a:r>
            <a:r>
              <a:rPr lang="ja-JP" altLang="en-US" sz="12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SAP</a:t>
            </a:r>
            <a:endParaRPr lang="ja-JP" altLang="en-US" sz="1200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58" name="思考の吹き出し: 雲形 57">
            <a:extLst>
              <a:ext uri="{FF2B5EF4-FFF2-40B4-BE49-F238E27FC236}">
                <a16:creationId xmlns:a16="http://schemas.microsoft.com/office/drawing/2014/main" id="{91B54A31-B0D7-438F-8030-9F254627CDF6}"/>
              </a:ext>
            </a:extLst>
          </p:cNvPr>
          <p:cNvSpPr/>
          <p:nvPr/>
        </p:nvSpPr>
        <p:spPr>
          <a:xfrm>
            <a:off x="1009858" y="3374637"/>
            <a:ext cx="4729399" cy="1434032"/>
          </a:xfrm>
          <a:prstGeom prst="cloudCallout">
            <a:avLst>
              <a:gd name="adj1" fmla="val 15032"/>
              <a:gd name="adj2" fmla="val 64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fontAlgn="b"/>
            <a:endParaRPr kumimoji="0" lang="ja-JP" altLang="en-US" sz="140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59" name="フローチャート: 磁気ディスク 58">
            <a:extLst>
              <a:ext uri="{FF2B5EF4-FFF2-40B4-BE49-F238E27FC236}">
                <a16:creationId xmlns:a16="http://schemas.microsoft.com/office/drawing/2014/main" id="{89BF4F81-03B0-4AE4-898D-28D66F9E2B65}"/>
              </a:ext>
            </a:extLst>
          </p:cNvPr>
          <p:cNvSpPr/>
          <p:nvPr/>
        </p:nvSpPr>
        <p:spPr>
          <a:xfrm>
            <a:off x="4880700" y="4974059"/>
            <a:ext cx="881191" cy="454290"/>
          </a:xfrm>
          <a:prstGeom prst="flowChartMagneticDisk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TEL/GENPO</a:t>
            </a:r>
          </a:p>
          <a:p>
            <a:pPr algn="ctr"/>
            <a:r>
              <a:rPr lang="en-US" altLang="ja-JP" sz="1200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SAP</a:t>
            </a:r>
            <a:endParaRPr lang="ja-JP" altLang="en-US" sz="1200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15DE6DA0-54EF-42ED-AFEC-CD5ED99986E6}"/>
              </a:ext>
            </a:extLst>
          </p:cNvPr>
          <p:cNvSpPr/>
          <p:nvPr/>
        </p:nvSpPr>
        <p:spPr>
          <a:xfrm>
            <a:off x="4596648" y="5076522"/>
            <a:ext cx="300637" cy="24936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fontAlgn="b"/>
            <a:r>
              <a:rPr kumimoji="0" lang="ja-JP" altLang="en-US" sz="14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⇒</a:t>
            </a:r>
            <a:endParaRPr kumimoji="0" lang="en-US" altLang="ja-JP" sz="140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</p:txBody>
      </p: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7047DEF0-61E6-4E18-8162-39908B64CEF9}"/>
              </a:ext>
            </a:extLst>
          </p:cNvPr>
          <p:cNvSpPr/>
          <p:nvPr/>
        </p:nvSpPr>
        <p:spPr>
          <a:xfrm>
            <a:off x="1270953" y="4287749"/>
            <a:ext cx="2447271" cy="2493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fontAlgn="b"/>
            <a:r>
              <a:rPr kumimoji="0" lang="en-US" altLang="ja-JP" sz="14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Material</a:t>
            </a:r>
            <a:r>
              <a:rPr kumimoji="0" lang="ja-JP" altLang="en-US" sz="14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 </a:t>
            </a:r>
            <a:r>
              <a:rPr kumimoji="0" lang="en-US" altLang="ja-JP" sz="14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Code</a:t>
            </a:r>
            <a:r>
              <a:rPr kumimoji="0" lang="ja-JP" altLang="en-US" sz="14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：</a:t>
            </a:r>
            <a:endParaRPr kumimoji="0" lang="en-US" altLang="ja-JP" sz="140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/>
            </a:endParaRPr>
          </a:p>
          <a:p>
            <a:pPr algn="ctr" fontAlgn="b"/>
            <a:r>
              <a:rPr kumimoji="0" lang="en-US" altLang="ja-JP" sz="14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rPr>
              <a:t>2L10-123456-11</a:t>
            </a:r>
          </a:p>
        </p:txBody>
      </p:sp>
      <p:pic>
        <p:nvPicPr>
          <p:cNvPr id="62" name="図 61">
            <a:extLst>
              <a:ext uri="{FF2B5EF4-FFF2-40B4-BE49-F238E27FC236}">
                <a16:creationId xmlns:a16="http://schemas.microsoft.com/office/drawing/2014/main" id="{7783AA19-47D7-46BC-99AF-63132D3CB9B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342" y="3797504"/>
            <a:ext cx="362726" cy="37063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3CF15A72-3455-4E14-A930-7A2F9D711AB0}"/>
              </a:ext>
            </a:extLst>
          </p:cNvPr>
          <p:cNvSpPr/>
          <p:nvPr/>
        </p:nvSpPr>
        <p:spPr>
          <a:xfrm>
            <a:off x="3505820" y="3514079"/>
            <a:ext cx="1685619" cy="8198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S/N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Mgmt. Indicator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：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1</a:t>
            </a:r>
          </a:p>
          <a:p>
            <a:endParaRPr lang="en-US" altLang="ja-JP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SLED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：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36</a:t>
            </a:r>
          </a:p>
          <a:p>
            <a:endParaRPr lang="en-US" altLang="ja-JP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  <a:p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BBD</a:t>
            </a:r>
            <a:r>
              <a: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：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0</a:t>
            </a:r>
          </a:p>
        </p:txBody>
      </p: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8429DD95-D657-4092-BFAA-10921706FF50}"/>
              </a:ext>
            </a:extLst>
          </p:cNvPr>
          <p:cNvCxnSpPr>
            <a:cxnSpLocks/>
          </p:cNvCxnSpPr>
          <p:nvPr/>
        </p:nvCxnSpPr>
        <p:spPr>
          <a:xfrm>
            <a:off x="3576434" y="4343416"/>
            <a:ext cx="1538727" cy="0"/>
          </a:xfrm>
          <a:prstGeom prst="straightConnector1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AF91D7F4-87F9-4375-9DB3-12AC95826A87}"/>
              </a:ext>
            </a:extLst>
          </p:cNvPr>
          <p:cNvCxnSpPr>
            <a:cxnSpLocks/>
          </p:cNvCxnSpPr>
          <p:nvPr/>
        </p:nvCxnSpPr>
        <p:spPr>
          <a:xfrm>
            <a:off x="3576434" y="4009153"/>
            <a:ext cx="1538727" cy="0"/>
          </a:xfrm>
          <a:prstGeom prst="straightConnector1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10771C91-EBF9-4E73-8329-F5D950136C34}"/>
              </a:ext>
            </a:extLst>
          </p:cNvPr>
          <p:cNvCxnSpPr>
            <a:cxnSpLocks/>
          </p:cNvCxnSpPr>
          <p:nvPr/>
        </p:nvCxnSpPr>
        <p:spPr>
          <a:xfrm>
            <a:off x="3576434" y="3696000"/>
            <a:ext cx="1538727" cy="0"/>
          </a:xfrm>
          <a:prstGeom prst="straightConnector1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B07E6E26-00E3-48B0-A3D4-F6C462474982}"/>
              </a:ext>
            </a:extLst>
          </p:cNvPr>
          <p:cNvCxnSpPr>
            <a:cxnSpLocks/>
          </p:cNvCxnSpPr>
          <p:nvPr/>
        </p:nvCxnSpPr>
        <p:spPr>
          <a:xfrm flipV="1">
            <a:off x="3360327" y="3696000"/>
            <a:ext cx="218869" cy="846144"/>
          </a:xfrm>
          <a:prstGeom prst="straightConnector1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B3B153C0-1F56-48C8-BB3E-A36842E7B159}"/>
              </a:ext>
            </a:extLst>
          </p:cNvPr>
          <p:cNvCxnSpPr>
            <a:cxnSpLocks/>
          </p:cNvCxnSpPr>
          <p:nvPr/>
        </p:nvCxnSpPr>
        <p:spPr>
          <a:xfrm flipV="1">
            <a:off x="3356805" y="4346012"/>
            <a:ext cx="230369" cy="191103"/>
          </a:xfrm>
          <a:prstGeom prst="straightConnector1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CCD1439A-8AC3-49A1-B0D5-AF7352080030}"/>
              </a:ext>
            </a:extLst>
          </p:cNvPr>
          <p:cNvCxnSpPr>
            <a:cxnSpLocks/>
          </p:cNvCxnSpPr>
          <p:nvPr/>
        </p:nvCxnSpPr>
        <p:spPr>
          <a:xfrm flipV="1">
            <a:off x="3356804" y="4014186"/>
            <a:ext cx="216696" cy="535041"/>
          </a:xfrm>
          <a:prstGeom prst="straightConnector1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569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562EDB59-AB7A-4A4E-A25B-652402466B4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6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353" imgH="318" progId="TCLayout.ActiveDocument.1">
                  <p:embed/>
                </p:oleObj>
              </mc:Choice>
              <mc:Fallback>
                <p:oleObj name="think-cell スライド" r:id="rId4" imgW="353" imgH="318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562EDB59-AB7A-4A4E-A25B-652402466B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76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67677E05-2771-4655-BFF5-ED58C48329B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88" y="0"/>
            <a:ext cx="158750" cy="1587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altLang="ja-JP" sz="3000">
              <a:solidFill>
                <a:srgbClr val="2D2D2D"/>
              </a:solidFill>
              <a:latin typeface="Arial" panose="020B0604020202020204" pitchFamily="34" charset="0"/>
              <a:ea typeface="Meiryo" panose="020B0604030504040204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3A7700A0-1D2B-4ECA-85E7-8FCC2E474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A: Keeping Track of Spare Parts Subject to S/N Mgmt. (3PL)</a:t>
            </a:r>
            <a:endParaRPr lang="ja-JP" altLang="en-US"/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E73531CA-C7C2-4ECF-A6EA-AF6B444E9D61}"/>
              </a:ext>
            </a:extLst>
          </p:cNvPr>
          <p:cNvSpPr txBox="1">
            <a:spLocks/>
          </p:cNvSpPr>
          <p:nvPr/>
        </p:nvSpPr>
        <p:spPr>
          <a:xfrm>
            <a:off x="611190" y="1058904"/>
            <a:ext cx="11085513" cy="4746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spcBef>
                <a:spcPts val="12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kumimoji="1" sz="24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1pPr>
            <a:lvl2pPr marL="466344" indent="-237744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–"/>
              <a:defRPr kumimoji="1" sz="20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2pPr>
            <a:lvl3pPr marL="676656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6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4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5pPr>
            <a:lvl6pPr marL="13716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">
              <a:buClr>
                <a:srgbClr val="78BE20"/>
              </a:buClr>
            </a:pPr>
            <a:r>
              <a:rPr lang="en-US" altLang="ja-JP" sz="2000">
                <a:solidFill>
                  <a:srgbClr val="000000"/>
                </a:solidFill>
                <a:ea typeface="Meiryo UI" panose="020B0604030504040204" pitchFamily="50" charset="-128"/>
                <a:cs typeface="Arial" panose="020B0604020202020204" pitchFamily="34" charset="0"/>
              </a:rPr>
              <a:t>Register the S/N information for the serialized parts</a:t>
            </a:r>
          </a:p>
        </p:txBody>
      </p:sp>
      <p:graphicFrame>
        <p:nvGraphicFramePr>
          <p:cNvPr id="36" name="Table 4">
            <a:extLst>
              <a:ext uri="{FF2B5EF4-FFF2-40B4-BE49-F238E27FC236}">
                <a16:creationId xmlns:a16="http://schemas.microsoft.com/office/drawing/2014/main" id="{450E209D-D393-423D-85AC-783AE13B6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283572"/>
              </p:ext>
            </p:extLst>
          </p:nvPr>
        </p:nvGraphicFramePr>
        <p:xfrm>
          <a:off x="495301" y="1974278"/>
          <a:ext cx="11201400" cy="4239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723">
                  <a:extLst>
                    <a:ext uri="{9D8B030D-6E8A-4147-A177-3AD203B41FA5}">
                      <a16:colId xmlns:a16="http://schemas.microsoft.com/office/drawing/2014/main" val="3440430401"/>
                    </a:ext>
                  </a:extLst>
                </a:gridCol>
                <a:gridCol w="10041677">
                  <a:extLst>
                    <a:ext uri="{9D8B030D-6E8A-4147-A177-3AD203B41FA5}">
                      <a16:colId xmlns:a16="http://schemas.microsoft.com/office/drawing/2014/main" val="1128689574"/>
                    </a:ext>
                  </a:extLst>
                </a:gridCol>
              </a:tblGrid>
              <a:tr h="141242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1">
                          <a:solidFill>
                            <a:schemeClr val="bg1"/>
                          </a:solidFill>
                        </a:rPr>
                        <a:t>Factory</a:t>
                      </a:r>
                    </a:p>
                    <a:p>
                      <a:pPr algn="ctr"/>
                      <a:r>
                        <a:rPr kumimoji="1" lang="en-US" altLang="ja-JP" sz="1600" b="1">
                          <a:solidFill>
                            <a:schemeClr val="bg1"/>
                          </a:solidFill>
                        </a:rPr>
                        <a:t>QA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850093"/>
                  </a:ext>
                </a:extLst>
              </a:tr>
              <a:tr h="82843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1">
                          <a:solidFill>
                            <a:schemeClr val="bg1"/>
                          </a:solidFill>
                        </a:rPr>
                        <a:t>GENPO</a:t>
                      </a:r>
                    </a:p>
                    <a:p>
                      <a:pPr algn="ctr"/>
                      <a:r>
                        <a:rPr kumimoji="1" lang="en-US" altLang="ja-JP" sz="1600" b="1">
                          <a:solidFill>
                            <a:schemeClr val="bg1"/>
                          </a:solidFill>
                        </a:rPr>
                        <a:t>Logistics</a:t>
                      </a:r>
                      <a:endParaRPr kumimoji="1" lang="ja-JP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316382"/>
                  </a:ext>
                </a:extLst>
              </a:tr>
              <a:tr h="114064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1">
                          <a:solidFill>
                            <a:schemeClr val="bg1"/>
                          </a:solidFill>
                        </a:rPr>
                        <a:t>3PL</a:t>
                      </a:r>
                      <a:endParaRPr kumimoji="1" lang="ja-JP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432395"/>
                  </a:ext>
                </a:extLst>
              </a:tr>
              <a:tr h="857839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1">
                          <a:solidFill>
                            <a:schemeClr val="bg1"/>
                          </a:solidFill>
                        </a:rPr>
                        <a:t>System</a:t>
                      </a:r>
                      <a:endParaRPr kumimoji="1" lang="ja-JP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761645"/>
                  </a:ext>
                </a:extLst>
              </a:tr>
            </a:tbl>
          </a:graphicData>
        </a:graphic>
      </p:graphicFrame>
      <p:sp>
        <p:nvSpPr>
          <p:cNvPr id="42" name="Rectangle 115">
            <a:extLst>
              <a:ext uri="{FF2B5EF4-FFF2-40B4-BE49-F238E27FC236}">
                <a16:creationId xmlns:a16="http://schemas.microsoft.com/office/drawing/2014/main" id="{A2EA3A68-733D-4D8E-A924-FAF12C74A408}"/>
              </a:ext>
            </a:extLst>
          </p:cNvPr>
          <p:cNvSpPr/>
          <p:nvPr/>
        </p:nvSpPr>
        <p:spPr>
          <a:xfrm>
            <a:off x="495301" y="1635963"/>
            <a:ext cx="8552679" cy="3100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■</a:t>
            </a:r>
            <a:r>
              <a:rPr lang="en-US" altLang="ja-JP" sz="14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Flow from Setting Traceability Indicators to Registering Spare Parts S/N to GENPO SAP/EWM</a:t>
            </a:r>
          </a:p>
        </p:txBody>
      </p:sp>
      <p:sp>
        <p:nvSpPr>
          <p:cNvPr id="43" name="Rectangle 5">
            <a:extLst>
              <a:ext uri="{FF2B5EF4-FFF2-40B4-BE49-F238E27FC236}">
                <a16:creationId xmlns:a16="http://schemas.microsoft.com/office/drawing/2014/main" id="{F1B9845F-DE03-40D0-AA9B-C4C269C615F4}"/>
              </a:ext>
            </a:extLst>
          </p:cNvPr>
          <p:cNvSpPr/>
          <p:nvPr/>
        </p:nvSpPr>
        <p:spPr>
          <a:xfrm>
            <a:off x="1723198" y="2268391"/>
            <a:ext cx="1097280" cy="7453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Set traceability indicators</a:t>
            </a: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4" name="Rectangle 18">
            <a:extLst>
              <a:ext uri="{FF2B5EF4-FFF2-40B4-BE49-F238E27FC236}">
                <a16:creationId xmlns:a16="http://schemas.microsoft.com/office/drawing/2014/main" id="{BD813646-D10B-4A06-9C1E-AB13AA7CFB0F}"/>
              </a:ext>
            </a:extLst>
          </p:cNvPr>
          <p:cNvSpPr/>
          <p:nvPr/>
        </p:nvSpPr>
        <p:spPr>
          <a:xfrm>
            <a:off x="4743319" y="4442266"/>
            <a:ext cx="1097280" cy="7453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Request to Input Parts S/N</a:t>
            </a: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5" name="Can 9">
            <a:extLst>
              <a:ext uri="{FF2B5EF4-FFF2-40B4-BE49-F238E27FC236}">
                <a16:creationId xmlns:a16="http://schemas.microsoft.com/office/drawing/2014/main" id="{361D019C-0FD2-4E05-9D73-6E6F22688955}"/>
              </a:ext>
            </a:extLst>
          </p:cNvPr>
          <p:cNvSpPr/>
          <p:nvPr/>
        </p:nvSpPr>
        <p:spPr>
          <a:xfrm>
            <a:off x="2926625" y="5517074"/>
            <a:ext cx="1097280" cy="562093"/>
          </a:xfrm>
          <a:prstGeom prst="can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Factory SAP</a:t>
            </a: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6" name="Rectangle 32">
            <a:extLst>
              <a:ext uri="{FF2B5EF4-FFF2-40B4-BE49-F238E27FC236}">
                <a16:creationId xmlns:a16="http://schemas.microsoft.com/office/drawing/2014/main" id="{2D52AE5D-4306-4288-A951-1CEEB89C2AEA}"/>
              </a:ext>
            </a:extLst>
          </p:cNvPr>
          <p:cNvSpPr/>
          <p:nvPr/>
        </p:nvSpPr>
        <p:spPr>
          <a:xfrm>
            <a:off x="6536870" y="4433066"/>
            <a:ext cx="1097280" cy="7637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Record Parts S/N</a:t>
            </a:r>
          </a:p>
        </p:txBody>
      </p:sp>
      <p:sp>
        <p:nvSpPr>
          <p:cNvPr id="47" name="Rectangle 33">
            <a:extLst>
              <a:ext uri="{FF2B5EF4-FFF2-40B4-BE49-F238E27FC236}">
                <a16:creationId xmlns:a16="http://schemas.microsoft.com/office/drawing/2014/main" id="{127A4C51-BAC7-4E1A-88C2-886BFDA01CB6}"/>
              </a:ext>
            </a:extLst>
          </p:cNvPr>
          <p:cNvSpPr/>
          <p:nvPr/>
        </p:nvSpPr>
        <p:spPr>
          <a:xfrm>
            <a:off x="10511895" y="2268391"/>
            <a:ext cx="1097280" cy="7453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Confirm Goods Received Record</a:t>
            </a: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8" name="Can 42">
            <a:extLst>
              <a:ext uri="{FF2B5EF4-FFF2-40B4-BE49-F238E27FC236}">
                <a16:creationId xmlns:a16="http://schemas.microsoft.com/office/drawing/2014/main" id="{B53C0153-7A23-4044-8359-B936A09A9A79}"/>
              </a:ext>
            </a:extLst>
          </p:cNvPr>
          <p:cNvSpPr/>
          <p:nvPr/>
        </p:nvSpPr>
        <p:spPr>
          <a:xfrm>
            <a:off x="9206169" y="5517074"/>
            <a:ext cx="1097280" cy="562093"/>
          </a:xfrm>
          <a:prstGeom prst="can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Traceability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System</a:t>
            </a:r>
          </a:p>
        </p:txBody>
      </p:sp>
      <p:cxnSp>
        <p:nvCxnSpPr>
          <p:cNvPr id="49" name="Elbow Connector 13">
            <a:extLst>
              <a:ext uri="{FF2B5EF4-FFF2-40B4-BE49-F238E27FC236}">
                <a16:creationId xmlns:a16="http://schemas.microsoft.com/office/drawing/2014/main" id="{9A6B91C6-1805-457A-BBC6-8C90AC7AE4A6}"/>
              </a:ext>
            </a:extLst>
          </p:cNvPr>
          <p:cNvCxnSpPr>
            <a:stCxn id="43" idx="3"/>
            <a:endCxn id="45" idx="2"/>
          </p:cNvCxnSpPr>
          <p:nvPr/>
        </p:nvCxnSpPr>
        <p:spPr>
          <a:xfrm>
            <a:off x="2820479" y="2641066"/>
            <a:ext cx="106147" cy="315705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16">
            <a:extLst>
              <a:ext uri="{FF2B5EF4-FFF2-40B4-BE49-F238E27FC236}">
                <a16:creationId xmlns:a16="http://schemas.microsoft.com/office/drawing/2014/main" id="{24E27280-924E-4B87-BCBF-D6CB3E064A58}"/>
              </a:ext>
            </a:extLst>
          </p:cNvPr>
          <p:cNvCxnSpPr>
            <a:cxnSpLocks/>
          </p:cNvCxnSpPr>
          <p:nvPr/>
        </p:nvCxnSpPr>
        <p:spPr>
          <a:xfrm>
            <a:off x="4023906" y="5940510"/>
            <a:ext cx="8100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n 19">
            <a:extLst>
              <a:ext uri="{FF2B5EF4-FFF2-40B4-BE49-F238E27FC236}">
                <a16:creationId xmlns:a16="http://schemas.microsoft.com/office/drawing/2014/main" id="{6081DA21-A3F3-4A7C-A306-74DB6F7064C9}"/>
              </a:ext>
            </a:extLst>
          </p:cNvPr>
          <p:cNvSpPr/>
          <p:nvPr/>
        </p:nvSpPr>
        <p:spPr>
          <a:xfrm>
            <a:off x="4833993" y="5802135"/>
            <a:ext cx="4036793" cy="352166"/>
          </a:xfrm>
          <a:prstGeom prst="can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GENPO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SAP</a:t>
            </a: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56" name="Elbow Connector 58">
            <a:extLst>
              <a:ext uri="{FF2B5EF4-FFF2-40B4-BE49-F238E27FC236}">
                <a16:creationId xmlns:a16="http://schemas.microsoft.com/office/drawing/2014/main" id="{E9867C3F-52BD-4BFF-80F9-19083B82152A}"/>
              </a:ext>
            </a:extLst>
          </p:cNvPr>
          <p:cNvCxnSpPr>
            <a:cxnSpLocks/>
            <a:stCxn id="48" idx="4"/>
            <a:endCxn id="47" idx="1"/>
          </p:cNvCxnSpPr>
          <p:nvPr/>
        </p:nvCxnSpPr>
        <p:spPr>
          <a:xfrm flipV="1">
            <a:off x="10303449" y="2641066"/>
            <a:ext cx="208446" cy="315705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65">
            <a:extLst>
              <a:ext uri="{FF2B5EF4-FFF2-40B4-BE49-F238E27FC236}">
                <a16:creationId xmlns:a16="http://schemas.microsoft.com/office/drawing/2014/main" id="{10B06DA2-3278-4B90-88BE-EE99C5395AF9}"/>
              </a:ext>
            </a:extLst>
          </p:cNvPr>
          <p:cNvCxnSpPr>
            <a:cxnSpLocks/>
          </p:cNvCxnSpPr>
          <p:nvPr/>
        </p:nvCxnSpPr>
        <p:spPr>
          <a:xfrm>
            <a:off x="2734977" y="5279247"/>
            <a:ext cx="2556983" cy="8642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F09656C4-7257-4FE0-90C1-64C112E6F084}"/>
              </a:ext>
            </a:extLst>
          </p:cNvPr>
          <p:cNvSpPr/>
          <p:nvPr/>
        </p:nvSpPr>
        <p:spPr>
          <a:xfrm>
            <a:off x="4596910" y="3966672"/>
            <a:ext cx="1724176" cy="222733"/>
          </a:xfrm>
          <a:prstGeom prst="roundRect">
            <a:avLst/>
          </a:prstGeom>
          <a:solidFill>
            <a:srgbClr val="F283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Request</a:t>
            </a:r>
            <a:endParaRPr lang="ja-JP" altLang="en-US" sz="1200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68" name="Rectangle 32">
            <a:extLst>
              <a:ext uri="{FF2B5EF4-FFF2-40B4-BE49-F238E27FC236}">
                <a16:creationId xmlns:a16="http://schemas.microsoft.com/office/drawing/2014/main" id="{47B66617-57CD-4FBD-ADD8-40582B2D7AED}"/>
              </a:ext>
            </a:extLst>
          </p:cNvPr>
          <p:cNvSpPr/>
          <p:nvPr/>
        </p:nvSpPr>
        <p:spPr>
          <a:xfrm>
            <a:off x="7791162" y="4423866"/>
            <a:ext cx="1097280" cy="7637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Set Dummy S/N (Unique #)</a:t>
            </a:r>
          </a:p>
        </p:txBody>
      </p:sp>
      <p:sp>
        <p:nvSpPr>
          <p:cNvPr id="69" name="Rectangle 5">
            <a:extLst>
              <a:ext uri="{FF2B5EF4-FFF2-40B4-BE49-F238E27FC236}">
                <a16:creationId xmlns:a16="http://schemas.microsoft.com/office/drawing/2014/main" id="{8AC9C6C2-62B6-4888-9FFC-C03A5AE6A86D}"/>
              </a:ext>
            </a:extLst>
          </p:cNvPr>
          <p:cNvSpPr/>
          <p:nvPr/>
        </p:nvSpPr>
        <p:spPr>
          <a:xfrm>
            <a:off x="9150159" y="2268391"/>
            <a:ext cx="1097280" cy="7453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Check Parts Without S/N</a:t>
            </a:r>
          </a:p>
        </p:txBody>
      </p:sp>
      <p:sp>
        <p:nvSpPr>
          <p:cNvPr id="72" name="Rectangle 32">
            <a:extLst>
              <a:ext uri="{FF2B5EF4-FFF2-40B4-BE49-F238E27FC236}">
                <a16:creationId xmlns:a16="http://schemas.microsoft.com/office/drawing/2014/main" id="{3DE7E482-0EBF-4008-BDB9-1671DA319648}"/>
              </a:ext>
            </a:extLst>
          </p:cNvPr>
          <p:cNvSpPr/>
          <p:nvPr/>
        </p:nvSpPr>
        <p:spPr>
          <a:xfrm>
            <a:off x="9150159" y="3413297"/>
            <a:ext cx="1097280" cy="7637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Inform QA About Parts Without S/N</a:t>
            </a: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847D91B1-C277-4FE7-9C1F-5380629D9808}"/>
              </a:ext>
            </a:extLst>
          </p:cNvPr>
          <p:cNvCxnSpPr>
            <a:cxnSpLocks/>
            <a:stCxn id="68" idx="3"/>
            <a:endCxn id="80" idx="1"/>
          </p:cNvCxnSpPr>
          <p:nvPr/>
        </p:nvCxnSpPr>
        <p:spPr>
          <a:xfrm>
            <a:off x="8888443" y="4805741"/>
            <a:ext cx="261717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E0492619-EBA0-411A-A444-25B2529519D3}"/>
              </a:ext>
            </a:extLst>
          </p:cNvPr>
          <p:cNvCxnSpPr>
            <a:cxnSpLocks/>
            <a:stCxn id="72" idx="0"/>
            <a:endCxn id="69" idx="2"/>
          </p:cNvCxnSpPr>
          <p:nvPr/>
        </p:nvCxnSpPr>
        <p:spPr>
          <a:xfrm flipV="1">
            <a:off x="9698799" y="3013741"/>
            <a:ext cx="0" cy="3995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フローチャート: 判断 32">
            <a:extLst>
              <a:ext uri="{FF2B5EF4-FFF2-40B4-BE49-F238E27FC236}">
                <a16:creationId xmlns:a16="http://schemas.microsoft.com/office/drawing/2014/main" id="{1D4883A1-261D-48FD-B269-48CEFE094BC7}"/>
              </a:ext>
            </a:extLst>
          </p:cNvPr>
          <p:cNvSpPr/>
          <p:nvPr/>
        </p:nvSpPr>
        <p:spPr>
          <a:xfrm>
            <a:off x="5894177" y="4687515"/>
            <a:ext cx="471546" cy="254852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Has</a:t>
            </a:r>
          </a:p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SN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？</a:t>
            </a: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6C38002F-1DDA-4514-8A78-2FF1BF2EFB93}"/>
              </a:ext>
            </a:extLst>
          </p:cNvPr>
          <p:cNvCxnSpPr>
            <a:cxnSpLocks/>
            <a:stCxn id="33" idx="3"/>
            <a:endCxn id="46" idx="1"/>
          </p:cNvCxnSpPr>
          <p:nvPr/>
        </p:nvCxnSpPr>
        <p:spPr>
          <a:xfrm>
            <a:off x="6365724" y="4814941"/>
            <a:ext cx="17114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コネクタ: カギ線 75">
            <a:extLst>
              <a:ext uri="{FF2B5EF4-FFF2-40B4-BE49-F238E27FC236}">
                <a16:creationId xmlns:a16="http://schemas.microsoft.com/office/drawing/2014/main" id="{80562532-33C0-48CC-AECC-9A895FA7031D}"/>
              </a:ext>
            </a:extLst>
          </p:cNvPr>
          <p:cNvCxnSpPr>
            <a:cxnSpLocks/>
            <a:stCxn id="33" idx="0"/>
            <a:endCxn id="68" idx="0"/>
          </p:cNvCxnSpPr>
          <p:nvPr/>
        </p:nvCxnSpPr>
        <p:spPr>
          <a:xfrm rot="5400000" flipH="1" flipV="1">
            <a:off x="7103053" y="3450765"/>
            <a:ext cx="263649" cy="2209852"/>
          </a:xfrm>
          <a:prstGeom prst="bentConnector3">
            <a:avLst>
              <a:gd name="adj1" fmla="val 14379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CA9BBC9A-3ECE-4F5B-AB56-EE265F038743}"/>
              </a:ext>
            </a:extLst>
          </p:cNvPr>
          <p:cNvCxnSpPr>
            <a:cxnSpLocks/>
            <a:stCxn id="44" idx="3"/>
            <a:endCxn id="33" idx="1"/>
          </p:cNvCxnSpPr>
          <p:nvPr/>
        </p:nvCxnSpPr>
        <p:spPr>
          <a:xfrm>
            <a:off x="5840599" y="4814941"/>
            <a:ext cx="53578" cy="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083CBF74-01D8-4758-A9D3-36D627779C19}"/>
              </a:ext>
            </a:extLst>
          </p:cNvPr>
          <p:cNvSpPr/>
          <p:nvPr/>
        </p:nvSpPr>
        <p:spPr>
          <a:xfrm>
            <a:off x="6122086" y="4387540"/>
            <a:ext cx="199000" cy="199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N</a:t>
            </a: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5570B0E4-C9E8-4A8E-87AE-C570313745E8}"/>
              </a:ext>
            </a:extLst>
          </p:cNvPr>
          <p:cNvSpPr/>
          <p:nvPr/>
        </p:nvSpPr>
        <p:spPr>
          <a:xfrm>
            <a:off x="6334952" y="4829196"/>
            <a:ext cx="199000" cy="199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Y</a:t>
            </a: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01" name="Straight Connector 65">
            <a:extLst>
              <a:ext uri="{FF2B5EF4-FFF2-40B4-BE49-F238E27FC236}">
                <a16:creationId xmlns:a16="http://schemas.microsoft.com/office/drawing/2014/main" id="{13348993-9409-4242-B4A6-C6FC2944AA30}"/>
              </a:ext>
            </a:extLst>
          </p:cNvPr>
          <p:cNvCxnSpPr>
            <a:cxnSpLocks/>
          </p:cNvCxnSpPr>
          <p:nvPr/>
        </p:nvCxnSpPr>
        <p:spPr>
          <a:xfrm>
            <a:off x="2734977" y="5279247"/>
            <a:ext cx="167457" cy="23673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an 19">
            <a:extLst>
              <a:ext uri="{FF2B5EF4-FFF2-40B4-BE49-F238E27FC236}">
                <a16:creationId xmlns:a16="http://schemas.microsoft.com/office/drawing/2014/main" id="{FC807038-4BFA-44A4-93EA-D8355262C3F2}"/>
              </a:ext>
            </a:extLst>
          </p:cNvPr>
          <p:cNvSpPr/>
          <p:nvPr/>
        </p:nvSpPr>
        <p:spPr>
          <a:xfrm>
            <a:off x="4833993" y="5416170"/>
            <a:ext cx="4036793" cy="352166"/>
          </a:xfrm>
          <a:prstGeom prst="can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3PL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System</a:t>
            </a: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53" name="Straight Arrow Connector 50">
            <a:extLst>
              <a:ext uri="{FF2B5EF4-FFF2-40B4-BE49-F238E27FC236}">
                <a16:creationId xmlns:a16="http://schemas.microsoft.com/office/drawing/2014/main" id="{40EDDE84-11B6-4D5F-BB59-510C77593549}"/>
              </a:ext>
            </a:extLst>
          </p:cNvPr>
          <p:cNvCxnSpPr>
            <a:cxnSpLocks/>
            <a:stCxn id="68" idx="2"/>
          </p:cNvCxnSpPr>
          <p:nvPr/>
        </p:nvCxnSpPr>
        <p:spPr>
          <a:xfrm>
            <a:off x="8339802" y="5187617"/>
            <a:ext cx="0" cy="1780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8B4A34F2-44C2-4CEF-9832-951464A66B0A}"/>
              </a:ext>
            </a:extLst>
          </p:cNvPr>
          <p:cNvGrpSpPr/>
          <p:nvPr/>
        </p:nvGrpSpPr>
        <p:grpSpPr>
          <a:xfrm>
            <a:off x="5291960" y="5111024"/>
            <a:ext cx="1793551" cy="293755"/>
            <a:chOff x="5290371" y="5347256"/>
            <a:chExt cx="1793551" cy="241054"/>
          </a:xfrm>
        </p:grpSpPr>
        <p:cxnSp>
          <p:nvCxnSpPr>
            <p:cNvPr id="51" name="Straight Arrow Connector 45">
              <a:extLst>
                <a:ext uri="{FF2B5EF4-FFF2-40B4-BE49-F238E27FC236}">
                  <a16:creationId xmlns:a16="http://schemas.microsoft.com/office/drawing/2014/main" id="{A7A00863-72F6-4DF1-B994-8CC7172ACC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0371" y="5347256"/>
              <a:ext cx="0" cy="2410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45">
              <a:extLst>
                <a:ext uri="{FF2B5EF4-FFF2-40B4-BE49-F238E27FC236}">
                  <a16:creationId xmlns:a16="http://schemas.microsoft.com/office/drawing/2014/main" id="{09012A60-C085-4344-B295-F5C95BA5F6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3922" y="5347257"/>
              <a:ext cx="0" cy="208959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Straight Arrow Connector 45">
            <a:extLst>
              <a:ext uri="{FF2B5EF4-FFF2-40B4-BE49-F238E27FC236}">
                <a16:creationId xmlns:a16="http://schemas.microsoft.com/office/drawing/2014/main" id="{0E81B24B-0E33-4FDC-8CF4-B32BBD8EEF80}"/>
              </a:ext>
            </a:extLst>
          </p:cNvPr>
          <p:cNvCxnSpPr>
            <a:cxnSpLocks/>
          </p:cNvCxnSpPr>
          <p:nvPr/>
        </p:nvCxnSpPr>
        <p:spPr>
          <a:xfrm flipV="1">
            <a:off x="5291959" y="5727214"/>
            <a:ext cx="0" cy="1696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45">
            <a:extLst>
              <a:ext uri="{FF2B5EF4-FFF2-40B4-BE49-F238E27FC236}">
                <a16:creationId xmlns:a16="http://schemas.microsoft.com/office/drawing/2014/main" id="{68D45AE0-038C-4D43-8E69-86FC0BC45D7A}"/>
              </a:ext>
            </a:extLst>
          </p:cNvPr>
          <p:cNvCxnSpPr>
            <a:cxnSpLocks/>
          </p:cNvCxnSpPr>
          <p:nvPr/>
        </p:nvCxnSpPr>
        <p:spPr>
          <a:xfrm flipV="1">
            <a:off x="7080392" y="5727214"/>
            <a:ext cx="0" cy="169639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45">
            <a:extLst>
              <a:ext uri="{FF2B5EF4-FFF2-40B4-BE49-F238E27FC236}">
                <a16:creationId xmlns:a16="http://schemas.microsoft.com/office/drawing/2014/main" id="{40F19DD9-5AA4-4230-B7EA-F25D2E4A1898}"/>
              </a:ext>
            </a:extLst>
          </p:cNvPr>
          <p:cNvCxnSpPr>
            <a:cxnSpLocks/>
          </p:cNvCxnSpPr>
          <p:nvPr/>
        </p:nvCxnSpPr>
        <p:spPr>
          <a:xfrm flipV="1">
            <a:off x="8344168" y="5727214"/>
            <a:ext cx="0" cy="169639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16">
            <a:extLst>
              <a:ext uri="{FF2B5EF4-FFF2-40B4-BE49-F238E27FC236}">
                <a16:creationId xmlns:a16="http://schemas.microsoft.com/office/drawing/2014/main" id="{0554B0BD-5DD0-4B59-BFD0-1A8A22171B35}"/>
              </a:ext>
            </a:extLst>
          </p:cNvPr>
          <p:cNvCxnSpPr>
            <a:cxnSpLocks/>
          </p:cNvCxnSpPr>
          <p:nvPr/>
        </p:nvCxnSpPr>
        <p:spPr>
          <a:xfrm>
            <a:off x="8894977" y="5940510"/>
            <a:ext cx="31119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18">
            <a:extLst>
              <a:ext uri="{FF2B5EF4-FFF2-40B4-BE49-F238E27FC236}">
                <a16:creationId xmlns:a16="http://schemas.microsoft.com/office/drawing/2014/main" id="{549BA52C-11B3-401A-91C0-73395C57A776}"/>
              </a:ext>
            </a:extLst>
          </p:cNvPr>
          <p:cNvSpPr/>
          <p:nvPr/>
        </p:nvSpPr>
        <p:spPr>
          <a:xfrm>
            <a:off x="3386912" y="4442266"/>
            <a:ext cx="1097280" cy="745350"/>
          </a:xfrm>
          <a:prstGeom prst="homePlate">
            <a:avLst>
              <a:gd name="adj" fmla="val 2217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Goods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Received</a:t>
            </a:r>
            <a:endParaRPr lang="ja-JP" altLang="en-US" sz="12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3F931EC-A83E-464C-BEDC-D18F17C2E8DB}"/>
              </a:ext>
            </a:extLst>
          </p:cNvPr>
          <p:cNvCxnSpPr>
            <a:cxnSpLocks/>
            <a:stCxn id="78" idx="3"/>
            <a:endCxn id="44" idx="1"/>
          </p:cNvCxnSpPr>
          <p:nvPr/>
        </p:nvCxnSpPr>
        <p:spPr>
          <a:xfrm>
            <a:off x="4484193" y="4814941"/>
            <a:ext cx="25912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115">
            <a:extLst>
              <a:ext uri="{FF2B5EF4-FFF2-40B4-BE49-F238E27FC236}">
                <a16:creationId xmlns:a16="http://schemas.microsoft.com/office/drawing/2014/main" id="{307DAA0E-DA19-4ABB-9D8F-6EBC757A7403}"/>
              </a:ext>
            </a:extLst>
          </p:cNvPr>
          <p:cNvSpPr/>
          <p:nvPr/>
        </p:nvSpPr>
        <p:spPr>
          <a:xfrm>
            <a:off x="4611654" y="4181793"/>
            <a:ext cx="4348710" cy="1051114"/>
          </a:xfrm>
          <a:prstGeom prst="rect">
            <a:avLst/>
          </a:prstGeom>
          <a:noFill/>
          <a:ln>
            <a:solidFill>
              <a:srgbClr val="F28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ja-JP" altLang="en-US" sz="14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0" name="Rectangle 32">
            <a:extLst>
              <a:ext uri="{FF2B5EF4-FFF2-40B4-BE49-F238E27FC236}">
                <a16:creationId xmlns:a16="http://schemas.microsoft.com/office/drawing/2014/main" id="{AFBEB406-DF60-48B6-AAF7-7D8A3D6B6766}"/>
              </a:ext>
            </a:extLst>
          </p:cNvPr>
          <p:cNvSpPr/>
          <p:nvPr/>
        </p:nvSpPr>
        <p:spPr>
          <a:xfrm>
            <a:off x="9150159" y="4423866"/>
            <a:ext cx="1097280" cy="76375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Inform GENPO About Parts Without S/N</a:t>
            </a:r>
          </a:p>
        </p:txBody>
      </p:sp>
      <p:sp>
        <p:nvSpPr>
          <p:cNvPr id="84" name="フローチャート: 書類 123">
            <a:extLst>
              <a:ext uri="{FF2B5EF4-FFF2-40B4-BE49-F238E27FC236}">
                <a16:creationId xmlns:a16="http://schemas.microsoft.com/office/drawing/2014/main" id="{CBF8E2BE-40D1-44D3-9D5C-CECBD3750A97}"/>
              </a:ext>
            </a:extLst>
          </p:cNvPr>
          <p:cNvSpPr/>
          <p:nvPr/>
        </p:nvSpPr>
        <p:spPr>
          <a:xfrm>
            <a:off x="7812917" y="6038962"/>
            <a:ext cx="1118922" cy="510372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r>
              <a:rPr lang="ja-JP" altLang="en-US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・</a:t>
            </a: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</a:t>
            </a:r>
            <a:r>
              <a:rPr lang="ja-JP" altLang="en-US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Number</a:t>
            </a:r>
          </a:p>
          <a:p>
            <a:r>
              <a:rPr lang="ja-JP" altLang="en-US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・</a:t>
            </a: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Parts</a:t>
            </a:r>
            <a:r>
              <a:rPr lang="ja-JP" altLang="en-US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S/N</a:t>
            </a:r>
          </a:p>
        </p:txBody>
      </p:sp>
      <p:cxnSp>
        <p:nvCxnSpPr>
          <p:cNvPr id="85" name="Straight Connector 62">
            <a:extLst>
              <a:ext uri="{FF2B5EF4-FFF2-40B4-BE49-F238E27FC236}">
                <a16:creationId xmlns:a16="http://schemas.microsoft.com/office/drawing/2014/main" id="{E852113C-C702-4650-95DE-750D5B790A35}"/>
              </a:ext>
            </a:extLst>
          </p:cNvPr>
          <p:cNvCxnSpPr>
            <a:cxnSpLocks/>
          </p:cNvCxnSpPr>
          <p:nvPr/>
        </p:nvCxnSpPr>
        <p:spPr>
          <a:xfrm flipH="1" flipV="1">
            <a:off x="7080392" y="5798122"/>
            <a:ext cx="887020" cy="240841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62">
            <a:extLst>
              <a:ext uri="{FF2B5EF4-FFF2-40B4-BE49-F238E27FC236}">
                <a16:creationId xmlns:a16="http://schemas.microsoft.com/office/drawing/2014/main" id="{0DCB8BA7-9715-4A8E-967C-D210FAF84BC5}"/>
              </a:ext>
            </a:extLst>
          </p:cNvPr>
          <p:cNvCxnSpPr>
            <a:cxnSpLocks/>
          </p:cNvCxnSpPr>
          <p:nvPr/>
        </p:nvCxnSpPr>
        <p:spPr>
          <a:xfrm flipH="1">
            <a:off x="7902096" y="5796580"/>
            <a:ext cx="437707" cy="24238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矢印コネクタ 89">
            <a:extLst>
              <a:ext uri="{FF2B5EF4-FFF2-40B4-BE49-F238E27FC236}">
                <a16:creationId xmlns:a16="http://schemas.microsoft.com/office/drawing/2014/main" id="{10DB5605-D2A3-45B9-8E50-16B5DC7511F3}"/>
              </a:ext>
            </a:extLst>
          </p:cNvPr>
          <p:cNvCxnSpPr>
            <a:cxnSpLocks/>
            <a:stCxn id="80" idx="0"/>
            <a:endCxn id="72" idx="2"/>
          </p:cNvCxnSpPr>
          <p:nvPr/>
        </p:nvCxnSpPr>
        <p:spPr>
          <a:xfrm flipV="1">
            <a:off x="9698799" y="4177048"/>
            <a:ext cx="0" cy="2468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フローチャート: 書類 123">
            <a:extLst>
              <a:ext uri="{FF2B5EF4-FFF2-40B4-BE49-F238E27FC236}">
                <a16:creationId xmlns:a16="http://schemas.microsoft.com/office/drawing/2014/main" id="{926CC957-F34A-49B3-B53D-7B1002E6D118}"/>
              </a:ext>
            </a:extLst>
          </p:cNvPr>
          <p:cNvSpPr/>
          <p:nvPr/>
        </p:nvSpPr>
        <p:spPr>
          <a:xfrm>
            <a:off x="1828754" y="4000432"/>
            <a:ext cx="1812444" cy="1369344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・</a:t>
            </a: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 Number</a:t>
            </a:r>
          </a:p>
          <a:p>
            <a:r>
              <a:rPr lang="ja-JP" altLang="en-US" sz="1200">
                <a:solidFill>
                  <a:srgbClr val="FFFFFF">
                    <a:lumMod val="7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・</a:t>
            </a:r>
            <a:r>
              <a:rPr lang="en-US" altLang="ja-JP" sz="1200">
                <a:solidFill>
                  <a:srgbClr val="FFFFFF">
                    <a:lumMod val="7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BBD</a:t>
            </a:r>
          </a:p>
          <a:p>
            <a:r>
              <a:rPr lang="ja-JP" altLang="en-US" sz="1200">
                <a:solidFill>
                  <a:srgbClr val="FFFFFF">
                    <a:lumMod val="7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・</a:t>
            </a:r>
            <a:r>
              <a:rPr lang="en-US" altLang="ja-JP" sz="1200">
                <a:solidFill>
                  <a:srgbClr val="FFFFFF">
                    <a:lumMod val="7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SLED</a:t>
            </a:r>
          </a:p>
          <a:p>
            <a:r>
              <a:rPr lang="ja-JP" altLang="en-US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・</a:t>
            </a: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S/N</a:t>
            </a:r>
            <a:r>
              <a:rPr lang="ja-JP" altLang="en-US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mgmt.</a:t>
            </a:r>
            <a:r>
              <a:rPr lang="ja-JP" altLang="en-US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indicator</a:t>
            </a:r>
          </a:p>
          <a:p>
            <a:r>
              <a:rPr lang="ja-JP" altLang="en-US" sz="1200">
                <a:solidFill>
                  <a:srgbClr val="FFFFFF">
                    <a:lumMod val="7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・</a:t>
            </a:r>
            <a:r>
              <a:rPr lang="en-US" altLang="ja-JP" sz="1200">
                <a:solidFill>
                  <a:srgbClr val="FFFFFF">
                    <a:lumMod val="7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PCS</a:t>
            </a:r>
            <a:r>
              <a:rPr lang="ja-JP" altLang="en-US" sz="1200">
                <a:solidFill>
                  <a:srgbClr val="FFFFFF">
                    <a:lumMod val="7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FFFFFF">
                    <a:lumMod val="7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mgmt.</a:t>
            </a:r>
            <a:r>
              <a:rPr lang="ja-JP" altLang="en-US" sz="1200">
                <a:solidFill>
                  <a:srgbClr val="FFFFFF">
                    <a:lumMod val="7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FFFFFF">
                    <a:lumMod val="7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indicator</a:t>
            </a:r>
          </a:p>
          <a:p>
            <a:r>
              <a:rPr lang="ja-JP" altLang="en-US" sz="1200">
                <a:solidFill>
                  <a:srgbClr val="FFFFFF">
                    <a:lumMod val="7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・</a:t>
            </a:r>
            <a:r>
              <a:rPr lang="en-US" altLang="ja-JP" sz="1200">
                <a:solidFill>
                  <a:srgbClr val="FFFFFF">
                    <a:lumMod val="7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Trouble</a:t>
            </a:r>
            <a:r>
              <a:rPr lang="ja-JP" altLang="en-US" sz="1200">
                <a:solidFill>
                  <a:srgbClr val="FFFFFF">
                    <a:lumMod val="7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FFFFFF">
                    <a:lumMod val="7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mgmt.</a:t>
            </a:r>
            <a:r>
              <a:rPr lang="ja-JP" altLang="en-US" sz="1200">
                <a:solidFill>
                  <a:srgbClr val="FFFFFF">
                    <a:lumMod val="7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>
                <a:solidFill>
                  <a:srgbClr val="FFFFFF">
                    <a:lumMod val="75000"/>
                  </a:srgbClr>
                </a:solidFill>
                <a:latin typeface="Arial"/>
                <a:ea typeface="Meiryo" panose="020B0604030504040204" pitchFamily="50" charset="-128"/>
                <a:cs typeface="Arial"/>
              </a:rPr>
              <a:t>indicator</a:t>
            </a:r>
          </a:p>
        </p:txBody>
      </p:sp>
      <p:grpSp>
        <p:nvGrpSpPr>
          <p:cNvPr id="88" name="Group 40">
            <a:extLst>
              <a:ext uri="{FF2B5EF4-FFF2-40B4-BE49-F238E27FC236}">
                <a16:creationId xmlns:a16="http://schemas.microsoft.com/office/drawing/2014/main" id="{4D238651-CEFD-49EC-BE12-DEAFABF9C1A2}"/>
              </a:ext>
            </a:extLst>
          </p:cNvPr>
          <p:cNvGrpSpPr/>
          <p:nvPr/>
        </p:nvGrpSpPr>
        <p:grpSpPr>
          <a:xfrm>
            <a:off x="8870786" y="1625993"/>
            <a:ext cx="2637943" cy="320040"/>
            <a:chOff x="8941282" y="1164388"/>
            <a:chExt cx="2637943" cy="320040"/>
          </a:xfrm>
        </p:grpSpPr>
        <p:sp>
          <p:nvSpPr>
            <p:cNvPr id="89" name="正方形/長方形 56">
              <a:extLst>
                <a:ext uri="{FF2B5EF4-FFF2-40B4-BE49-F238E27FC236}">
                  <a16:creationId xmlns:a16="http://schemas.microsoft.com/office/drawing/2014/main" id="{49A372B8-3E2A-48F7-B943-6B37F3A7B58C}"/>
                </a:ext>
              </a:extLst>
            </p:cNvPr>
            <p:cNvSpPr/>
            <p:nvPr/>
          </p:nvSpPr>
          <p:spPr>
            <a:xfrm>
              <a:off x="9751045" y="1164388"/>
              <a:ext cx="496604" cy="320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Process</a:t>
              </a:r>
            </a:p>
          </p:txBody>
        </p:sp>
        <p:sp>
          <p:nvSpPr>
            <p:cNvPr id="91" name="正方形/長方形 56">
              <a:extLst>
                <a:ext uri="{FF2B5EF4-FFF2-40B4-BE49-F238E27FC236}">
                  <a16:creationId xmlns:a16="http://schemas.microsoft.com/office/drawing/2014/main" id="{F8416E22-6DA6-4641-83F8-12D45673FCAA}"/>
                </a:ext>
              </a:extLst>
            </p:cNvPr>
            <p:cNvSpPr/>
            <p:nvPr/>
          </p:nvSpPr>
          <p:spPr>
            <a:xfrm>
              <a:off x="8941282" y="1164388"/>
              <a:ext cx="702159" cy="32004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4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Legend</a:t>
              </a:r>
            </a:p>
          </p:txBody>
        </p:sp>
        <p:sp>
          <p:nvSpPr>
            <p:cNvPr id="92" name="フローチャート: 磁気ディスク 242">
              <a:extLst>
                <a:ext uri="{FF2B5EF4-FFF2-40B4-BE49-F238E27FC236}">
                  <a16:creationId xmlns:a16="http://schemas.microsoft.com/office/drawing/2014/main" id="{988B72E7-A3E1-4B02-968A-36AEF7FC61A8}"/>
                </a:ext>
              </a:extLst>
            </p:cNvPr>
            <p:cNvSpPr/>
            <p:nvPr/>
          </p:nvSpPr>
          <p:spPr>
            <a:xfrm>
              <a:off x="10355253" y="1164388"/>
              <a:ext cx="602153" cy="320040"/>
            </a:xfrm>
            <a:prstGeom prst="flowChartMagneticDisk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System</a:t>
              </a:r>
              <a:endPara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97" name="フローチャート: 書類 123">
              <a:extLst>
                <a:ext uri="{FF2B5EF4-FFF2-40B4-BE49-F238E27FC236}">
                  <a16:creationId xmlns:a16="http://schemas.microsoft.com/office/drawing/2014/main" id="{FB57835D-7846-4217-BF25-7E37D80B6096}"/>
                </a:ext>
              </a:extLst>
            </p:cNvPr>
            <p:cNvSpPr/>
            <p:nvPr/>
          </p:nvSpPr>
          <p:spPr>
            <a:xfrm>
              <a:off x="11065010" y="1164388"/>
              <a:ext cx="514215" cy="32004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269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6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5" imgW="353" imgH="318" progId="TCLayout.ActiveDocument.1">
                  <p:embed/>
                </p:oleObj>
              </mc:Choice>
              <mc:Fallback>
                <p:oleObj name="think-cell スライド" r:id="rId5" imgW="353" imgH="318" progId="TCLayout.ActiveDocument.1">
                  <p:embed/>
                  <p:pic>
                    <p:nvPicPr>
                      <p:cNvPr id="8" name="オブジェクト 7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6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/>
          <p:cNvSpPr/>
          <p:nvPr>
            <p:custDataLst>
              <p:tags r:id="rId2"/>
            </p:custDataLst>
          </p:nvPr>
        </p:nvSpPr>
        <p:spPr>
          <a:xfrm>
            <a:off x="1588" y="0"/>
            <a:ext cx="158750" cy="15875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altLang="ja-JP" sz="3000">
              <a:solidFill>
                <a:srgbClr val="2D2D2D"/>
              </a:solidFill>
              <a:latin typeface="Arial" panose="020B0604020202020204" pitchFamily="34" charset="0"/>
              <a:ea typeface="Meiryo" panose="020B0604030504040204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984359"/>
              </p:ext>
            </p:extLst>
          </p:nvPr>
        </p:nvGraphicFramePr>
        <p:xfrm>
          <a:off x="495301" y="2066445"/>
          <a:ext cx="11201400" cy="4112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723">
                  <a:extLst>
                    <a:ext uri="{9D8B030D-6E8A-4147-A177-3AD203B41FA5}">
                      <a16:colId xmlns:a16="http://schemas.microsoft.com/office/drawing/2014/main" val="3440430401"/>
                    </a:ext>
                  </a:extLst>
                </a:gridCol>
                <a:gridCol w="10041677">
                  <a:extLst>
                    <a:ext uri="{9D8B030D-6E8A-4147-A177-3AD203B41FA5}">
                      <a16:colId xmlns:a16="http://schemas.microsoft.com/office/drawing/2014/main" val="1128689574"/>
                    </a:ext>
                  </a:extLst>
                </a:gridCol>
              </a:tblGrid>
              <a:tr h="13707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b="1">
                          <a:solidFill>
                            <a:schemeClr val="bg1"/>
                          </a:solidFill>
                        </a:rPr>
                        <a:t>Factory</a:t>
                      </a:r>
                    </a:p>
                    <a:p>
                      <a:pPr algn="ctr"/>
                      <a:r>
                        <a:rPr kumimoji="1" lang="en-US" altLang="ja-JP" sz="1600" b="1">
                          <a:solidFill>
                            <a:schemeClr val="bg1"/>
                          </a:solidFill>
                        </a:rPr>
                        <a:t>QA</a:t>
                      </a:r>
                      <a:endParaRPr kumimoji="1" lang="ja-JP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850093"/>
                  </a:ext>
                </a:extLst>
              </a:tr>
              <a:tr h="137071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1">
                          <a:solidFill>
                            <a:schemeClr val="bg1"/>
                          </a:solidFill>
                        </a:rPr>
                        <a:t>3PL</a:t>
                      </a:r>
                      <a:endParaRPr kumimoji="1" lang="ja-JP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316382"/>
                  </a:ext>
                </a:extLst>
              </a:tr>
              <a:tr h="137071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1">
                          <a:solidFill>
                            <a:schemeClr val="bg1"/>
                          </a:solidFill>
                        </a:rPr>
                        <a:t>System</a:t>
                      </a:r>
                      <a:endParaRPr kumimoji="1" lang="ja-JP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761645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079596" y="3671582"/>
            <a:ext cx="1371600" cy="90187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4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Export</a:t>
            </a:r>
            <a:r>
              <a:rPr lang="ja-JP" altLang="en-US" sz="14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4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Inventory</a:t>
            </a:r>
            <a:r>
              <a:rPr lang="ja-JP" altLang="en-US" sz="14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4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Report</a:t>
            </a:r>
            <a:endParaRPr lang="ja-JP" altLang="en-US" sz="14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5" name="Can 14"/>
          <p:cNvSpPr/>
          <p:nvPr/>
        </p:nvSpPr>
        <p:spPr>
          <a:xfrm>
            <a:off x="5963776" y="5100466"/>
            <a:ext cx="1371600" cy="826717"/>
          </a:xfrm>
          <a:prstGeom prst="can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4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GENPO</a:t>
            </a:r>
            <a:r>
              <a:rPr lang="ja-JP" altLang="en-US" sz="14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4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SAP</a:t>
            </a:r>
            <a:endParaRPr lang="ja-JP" altLang="en-US" sz="14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195414" y="3671582"/>
            <a:ext cx="1371600" cy="90187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4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Inventory Check (Check BBD &amp; SLED)</a:t>
            </a:r>
            <a:endParaRPr lang="ja-JP" altLang="en-US" sz="14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4" name="Can 23"/>
          <p:cNvSpPr/>
          <p:nvPr/>
        </p:nvSpPr>
        <p:spPr>
          <a:xfrm>
            <a:off x="3847956" y="5100465"/>
            <a:ext cx="1371600" cy="826717"/>
          </a:xfrm>
          <a:prstGeom prst="can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4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Factory SAP</a:t>
            </a:r>
            <a:endParaRPr lang="ja-JP" altLang="en-US" sz="14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2136" y="2336704"/>
            <a:ext cx="1371600" cy="90187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4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Set traceability indicators</a:t>
            </a:r>
            <a:endParaRPr lang="ja-JP" altLang="en-US" sz="14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6" name="Elbow Connector 5"/>
          <p:cNvCxnSpPr>
            <a:stCxn id="25" idx="3"/>
            <a:endCxn id="24" idx="2"/>
          </p:cNvCxnSpPr>
          <p:nvPr/>
        </p:nvCxnSpPr>
        <p:spPr>
          <a:xfrm>
            <a:off x="3103736" y="2787641"/>
            <a:ext cx="744220" cy="272618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15" idx="4"/>
            <a:endCxn id="14" idx="1"/>
          </p:cNvCxnSpPr>
          <p:nvPr/>
        </p:nvCxnSpPr>
        <p:spPr>
          <a:xfrm flipV="1">
            <a:off x="7335376" y="4122520"/>
            <a:ext cx="744220" cy="139130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4" idx="4"/>
            <a:endCxn id="15" idx="2"/>
          </p:cNvCxnSpPr>
          <p:nvPr/>
        </p:nvCxnSpPr>
        <p:spPr>
          <a:xfrm>
            <a:off x="5219556" y="5513824"/>
            <a:ext cx="74422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4" idx="3"/>
            <a:endCxn id="23" idx="1"/>
          </p:cNvCxnSpPr>
          <p:nvPr/>
        </p:nvCxnSpPr>
        <p:spPr>
          <a:xfrm>
            <a:off x="9451196" y="4122519"/>
            <a:ext cx="74421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cxnSpLocks/>
          </p:cNvCxnSpPr>
          <p:nvPr/>
        </p:nvCxnSpPr>
        <p:spPr>
          <a:xfrm>
            <a:off x="7127875" y="3973069"/>
            <a:ext cx="531842" cy="93211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6B3AA098-D061-49C6-B641-818A57FE7221}"/>
              </a:ext>
            </a:extLst>
          </p:cNvPr>
          <p:cNvSpPr/>
          <p:nvPr/>
        </p:nvSpPr>
        <p:spPr>
          <a:xfrm>
            <a:off x="7956373" y="3334747"/>
            <a:ext cx="1724176" cy="222733"/>
          </a:xfrm>
          <a:prstGeom prst="roundRect">
            <a:avLst/>
          </a:prstGeom>
          <a:solidFill>
            <a:srgbClr val="F283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Request</a:t>
            </a:r>
            <a:endParaRPr lang="ja-JP" altLang="en-US" sz="1200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64" name="Rectangle 115">
            <a:extLst>
              <a:ext uri="{FF2B5EF4-FFF2-40B4-BE49-F238E27FC236}">
                <a16:creationId xmlns:a16="http://schemas.microsoft.com/office/drawing/2014/main" id="{8413196D-BB50-477A-8832-162F1A9BF2BD}"/>
              </a:ext>
            </a:extLst>
          </p:cNvPr>
          <p:cNvSpPr/>
          <p:nvPr/>
        </p:nvSpPr>
        <p:spPr>
          <a:xfrm>
            <a:off x="7983479" y="3565655"/>
            <a:ext cx="3632170" cy="1070446"/>
          </a:xfrm>
          <a:prstGeom prst="rect">
            <a:avLst/>
          </a:prstGeom>
          <a:noFill/>
          <a:ln>
            <a:solidFill>
              <a:srgbClr val="F28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ja-JP" altLang="en-US" sz="14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grpSp>
        <p:nvGrpSpPr>
          <p:cNvPr id="52" name="Group 40">
            <a:extLst>
              <a:ext uri="{FF2B5EF4-FFF2-40B4-BE49-F238E27FC236}">
                <a16:creationId xmlns:a16="http://schemas.microsoft.com/office/drawing/2014/main" id="{E1403340-0056-484B-A4FD-32F11C1B2A45}"/>
              </a:ext>
            </a:extLst>
          </p:cNvPr>
          <p:cNvGrpSpPr/>
          <p:nvPr/>
        </p:nvGrpSpPr>
        <p:grpSpPr>
          <a:xfrm>
            <a:off x="8870786" y="1593046"/>
            <a:ext cx="2637943" cy="320040"/>
            <a:chOff x="8941282" y="1164388"/>
            <a:chExt cx="2637943" cy="320040"/>
          </a:xfrm>
        </p:grpSpPr>
        <p:sp>
          <p:nvSpPr>
            <p:cNvPr id="53" name="正方形/長方形 56">
              <a:extLst>
                <a:ext uri="{FF2B5EF4-FFF2-40B4-BE49-F238E27FC236}">
                  <a16:creationId xmlns:a16="http://schemas.microsoft.com/office/drawing/2014/main" id="{B251B918-4BDE-4FB7-9B8E-74306A1D5E7A}"/>
                </a:ext>
              </a:extLst>
            </p:cNvPr>
            <p:cNvSpPr/>
            <p:nvPr/>
          </p:nvSpPr>
          <p:spPr>
            <a:xfrm>
              <a:off x="9751045" y="1164388"/>
              <a:ext cx="496604" cy="320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Process</a:t>
              </a:r>
            </a:p>
          </p:txBody>
        </p:sp>
        <p:sp>
          <p:nvSpPr>
            <p:cNvPr id="54" name="正方形/長方形 56">
              <a:extLst>
                <a:ext uri="{FF2B5EF4-FFF2-40B4-BE49-F238E27FC236}">
                  <a16:creationId xmlns:a16="http://schemas.microsoft.com/office/drawing/2014/main" id="{79B0F078-3616-4558-B918-EF0A85B2A5FB}"/>
                </a:ext>
              </a:extLst>
            </p:cNvPr>
            <p:cNvSpPr/>
            <p:nvPr/>
          </p:nvSpPr>
          <p:spPr>
            <a:xfrm>
              <a:off x="8941282" y="1164388"/>
              <a:ext cx="702159" cy="32004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4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Legend</a:t>
              </a:r>
            </a:p>
          </p:txBody>
        </p:sp>
        <p:sp>
          <p:nvSpPr>
            <p:cNvPr id="55" name="フローチャート: 磁気ディスク 242">
              <a:extLst>
                <a:ext uri="{FF2B5EF4-FFF2-40B4-BE49-F238E27FC236}">
                  <a16:creationId xmlns:a16="http://schemas.microsoft.com/office/drawing/2014/main" id="{ACB88CCA-7801-4337-8493-F3411D3B2A96}"/>
                </a:ext>
              </a:extLst>
            </p:cNvPr>
            <p:cNvSpPr/>
            <p:nvPr/>
          </p:nvSpPr>
          <p:spPr>
            <a:xfrm>
              <a:off x="10355253" y="1164388"/>
              <a:ext cx="602153" cy="320040"/>
            </a:xfrm>
            <a:prstGeom prst="flowChartMagneticDisk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System</a:t>
              </a:r>
              <a:endPara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56" name="フローチャート: 書類 123">
              <a:extLst>
                <a:ext uri="{FF2B5EF4-FFF2-40B4-BE49-F238E27FC236}">
                  <a16:creationId xmlns:a16="http://schemas.microsoft.com/office/drawing/2014/main" id="{A3A15FD5-E168-418A-B36F-AE11998A97C6}"/>
                </a:ext>
              </a:extLst>
            </p:cNvPr>
            <p:cNvSpPr/>
            <p:nvPr/>
          </p:nvSpPr>
          <p:spPr>
            <a:xfrm>
              <a:off x="11065010" y="1164388"/>
              <a:ext cx="514215" cy="32004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Data</a:t>
              </a:r>
            </a:p>
          </p:txBody>
        </p:sp>
      </p:grpSp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650851" y="461570"/>
            <a:ext cx="11392921" cy="5232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ja-JP"/>
              <a:t>B: Shelf-life Parts Mgmt. (3PL)</a:t>
            </a:r>
            <a:endParaRPr lang="ja-JP" altLang="en-US"/>
          </a:p>
        </p:txBody>
      </p:sp>
      <p:sp>
        <p:nvSpPr>
          <p:cNvPr id="88" name="フローチャート: 書類 123">
            <a:extLst>
              <a:ext uri="{FF2B5EF4-FFF2-40B4-BE49-F238E27FC236}">
                <a16:creationId xmlns:a16="http://schemas.microsoft.com/office/drawing/2014/main" id="{EEDE4FE9-BED2-42F2-A406-D2C19B72BD1B}"/>
              </a:ext>
            </a:extLst>
          </p:cNvPr>
          <p:cNvSpPr/>
          <p:nvPr/>
        </p:nvSpPr>
        <p:spPr>
          <a:xfrm>
            <a:off x="5830917" y="3491894"/>
            <a:ext cx="1296959" cy="962351"/>
          </a:xfrm>
          <a:prstGeom prst="flowChartDocumen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t"/>
          <a:lstStyle/>
          <a:p>
            <a:r>
              <a:rPr lang="ja-JP" altLang="en-US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・</a:t>
            </a: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Part</a:t>
            </a:r>
            <a:r>
              <a:rPr lang="ja-JP" altLang="en-US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Number</a:t>
            </a:r>
          </a:p>
          <a:p>
            <a:r>
              <a:rPr lang="ja-JP" altLang="en-US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・</a:t>
            </a: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#</a:t>
            </a:r>
            <a:r>
              <a:rPr lang="ja-JP" altLang="en-US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of</a:t>
            </a:r>
            <a:r>
              <a:rPr lang="ja-JP" altLang="en-US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Inventory</a:t>
            </a:r>
          </a:p>
          <a:p>
            <a:r>
              <a:rPr lang="ja-JP" altLang="en-US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・</a:t>
            </a: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BBD</a:t>
            </a:r>
          </a:p>
          <a:p>
            <a:r>
              <a:rPr lang="ja-JP" altLang="en-US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・</a:t>
            </a:r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SLED</a:t>
            </a:r>
          </a:p>
          <a:p>
            <a:r>
              <a:rPr lang="en-US" altLang="ja-JP" sz="12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 etc.</a:t>
            </a:r>
          </a:p>
        </p:txBody>
      </p:sp>
      <p:sp>
        <p:nvSpPr>
          <p:cNvPr id="89" name="Rectangle 115">
            <a:extLst>
              <a:ext uri="{FF2B5EF4-FFF2-40B4-BE49-F238E27FC236}">
                <a16:creationId xmlns:a16="http://schemas.microsoft.com/office/drawing/2014/main" id="{36B42549-F2D7-4D51-A52C-465F64246623}"/>
              </a:ext>
            </a:extLst>
          </p:cNvPr>
          <p:cNvSpPr/>
          <p:nvPr/>
        </p:nvSpPr>
        <p:spPr>
          <a:xfrm>
            <a:off x="495301" y="1696535"/>
            <a:ext cx="7581378" cy="3100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■</a:t>
            </a:r>
            <a:r>
              <a:rPr lang="en-US" altLang="ja-JP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Flow from Setting Traceability Indicators to Checking Inventory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2D828D-097F-28F6-8615-EB8A4D635B28}"/>
              </a:ext>
            </a:extLst>
          </p:cNvPr>
          <p:cNvSpPr txBox="1">
            <a:spLocks/>
          </p:cNvSpPr>
          <p:nvPr/>
        </p:nvSpPr>
        <p:spPr>
          <a:xfrm>
            <a:off x="498412" y="925491"/>
            <a:ext cx="11221038" cy="9438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spcBef>
                <a:spcPts val="12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kumimoji="1" sz="24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1pPr>
            <a:lvl2pPr marL="466344" indent="-237744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–"/>
              <a:defRPr kumimoji="1" sz="20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2pPr>
            <a:lvl3pPr marL="676656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6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4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5pPr>
            <a:lvl6pPr marL="13716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fontAlgn="b">
              <a:spcBef>
                <a:spcPts val="600"/>
              </a:spcBef>
              <a:buClr>
                <a:srgbClr val="78BE20"/>
              </a:buClr>
            </a:pPr>
            <a:r>
              <a:rPr lang="en-US" altLang="ja-JP" sz="1800">
                <a:solidFill>
                  <a:srgbClr val="2D2D2D"/>
                </a:solidFill>
                <a:ea typeface="Meiryo UI" panose="020B0604030504040204" pitchFamily="50" charset="-128"/>
                <a:cs typeface="Arial" panose="020B0604020202020204" pitchFamily="34" charset="0"/>
              </a:rPr>
              <a:t>Check the shelf-life (SLED/BBD) of the inventory parts and take appropriate action for the parts that have expired.</a:t>
            </a:r>
          </a:p>
        </p:txBody>
      </p:sp>
    </p:spTree>
    <p:extLst>
      <p:ext uri="{BB962C8B-B14F-4D97-AF65-F5344CB8AC3E}">
        <p14:creationId xmlns:p14="http://schemas.microsoft.com/office/powerpoint/2010/main" val="410087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6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353" imgH="318" progId="TCLayout.ActiveDocument.1">
                  <p:embed/>
                </p:oleObj>
              </mc:Choice>
              <mc:Fallback>
                <p:oleObj name="think-cell スライド" r:id="rId4" imgW="353" imgH="318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76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正方形/長方形 10" hidden="1"/>
          <p:cNvSpPr/>
          <p:nvPr>
            <p:custDataLst>
              <p:tags r:id="rId2"/>
            </p:custDataLst>
          </p:nvPr>
        </p:nvSpPr>
        <p:spPr>
          <a:xfrm>
            <a:off x="1588" y="0"/>
            <a:ext cx="158750" cy="158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endParaRPr lang="en-US" altLang="ja-JP" sz="2800">
              <a:solidFill>
                <a:srgbClr val="2D2D2D"/>
              </a:solidFill>
              <a:latin typeface="Arial" panose="020B0604020202020204" pitchFamily="34" charset="0"/>
              <a:ea typeface="Meiryo" panose="020B0604030504040204" pitchFamily="50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aphicFrame>
        <p:nvGraphicFramePr>
          <p:cNvPr id="45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675638"/>
              </p:ext>
            </p:extLst>
          </p:nvPr>
        </p:nvGraphicFramePr>
        <p:xfrm>
          <a:off x="102595" y="1544835"/>
          <a:ext cx="11989912" cy="49013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645213358"/>
                    </a:ext>
                  </a:extLst>
                </a:gridCol>
                <a:gridCol w="758654">
                  <a:extLst>
                    <a:ext uri="{9D8B030D-6E8A-4147-A177-3AD203B41FA5}">
                      <a16:colId xmlns:a16="http://schemas.microsoft.com/office/drawing/2014/main" val="1896112246"/>
                    </a:ext>
                  </a:extLst>
                </a:gridCol>
                <a:gridCol w="531628">
                  <a:extLst>
                    <a:ext uri="{9D8B030D-6E8A-4147-A177-3AD203B41FA5}">
                      <a16:colId xmlns:a16="http://schemas.microsoft.com/office/drawing/2014/main" val="1297762816"/>
                    </a:ext>
                  </a:extLst>
                </a:gridCol>
                <a:gridCol w="10195574">
                  <a:extLst>
                    <a:ext uri="{9D8B030D-6E8A-4147-A177-3AD203B41FA5}">
                      <a16:colId xmlns:a16="http://schemas.microsoft.com/office/drawing/2014/main" val="1611470072"/>
                    </a:ext>
                  </a:extLst>
                </a:gridCol>
              </a:tblGrid>
              <a:tr h="357565">
                <a:tc gridSpan="3"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/>
                        <a:t>Org./Dept.</a:t>
                      </a:r>
                    </a:p>
                  </a:txBody>
                  <a:tcPr marL="0" marR="0" marT="45708" marB="45708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600" b="1"/>
                    </a:p>
                  </a:txBody>
                  <a:tcPr marL="0" marR="0" marT="45708" marB="45708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 b="1"/>
                    </a:p>
                  </a:txBody>
                  <a:tcPr marL="0" marR="0" marT="45708" marB="45708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53645"/>
                  </a:ext>
                </a:extLst>
              </a:tr>
              <a:tr h="2304985">
                <a:tc rowSpan="3"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/>
                        <a:t>TEL</a:t>
                      </a:r>
                    </a:p>
                  </a:txBody>
                  <a:tcPr marL="0" marR="0" marT="45708" marB="45708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/>
                        <a:t>TEL</a:t>
                      </a:r>
                      <a:endParaRPr kumimoji="1" lang="ja-JP" altLang="en-US" sz="1400" b="1"/>
                    </a:p>
                    <a:p>
                      <a:pPr algn="ctr"/>
                      <a:r>
                        <a:rPr kumimoji="1" lang="en-US" altLang="ja-JP" sz="1400" b="1"/>
                        <a:t>Factory</a:t>
                      </a:r>
                      <a:endParaRPr kumimoji="1" lang="ja-JP" altLang="en-US" sz="1400" b="1"/>
                    </a:p>
                  </a:txBody>
                  <a:tcPr marL="0" marR="0" marT="45708" marB="45708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/>
                        <a:t>QA</a:t>
                      </a:r>
                    </a:p>
                    <a:p>
                      <a:pPr algn="ctr"/>
                      <a:endParaRPr kumimoji="1" lang="ja-JP" altLang="en-US" sz="1400" b="1"/>
                    </a:p>
                  </a:txBody>
                  <a:tcPr marL="0" marR="0" marT="45708" marB="45708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984879"/>
                  </a:ext>
                </a:extLst>
              </a:tr>
              <a:tr h="722603">
                <a:tc vMerge="1">
                  <a:txBody>
                    <a:bodyPr/>
                    <a:lstStyle/>
                    <a:p>
                      <a:pPr algn="ctr"/>
                      <a:endParaRPr kumimoji="1" lang="en-US" altLang="ja-JP" sz="1050" b="1"/>
                    </a:p>
                  </a:txBody>
                  <a:tcPr marL="0" marR="0" marT="45708" marB="45708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/>
                        <a:t>Inventory</a:t>
                      </a:r>
                      <a:r>
                        <a:rPr kumimoji="1" lang="ja-JP" altLang="en-US" sz="1400" b="1"/>
                        <a:t> </a:t>
                      </a:r>
                      <a:r>
                        <a:rPr kumimoji="1" lang="en-US" altLang="ja-JP" sz="1400" b="1"/>
                        <a:t>Mgmt.</a:t>
                      </a:r>
                      <a:r>
                        <a:rPr kumimoji="1" lang="ja-JP" altLang="en-US" sz="1400" b="1"/>
                        <a:t> </a:t>
                      </a:r>
                      <a:r>
                        <a:rPr kumimoji="1" lang="en-US" altLang="ja-JP" sz="1400" b="1"/>
                        <a:t>Locations</a:t>
                      </a:r>
                    </a:p>
                    <a:p>
                      <a:pPr algn="ctr"/>
                      <a:r>
                        <a:rPr kumimoji="1" lang="en-US" altLang="ja-JP" sz="1050" b="1"/>
                        <a:t>(GENPO, 3PL)</a:t>
                      </a:r>
                    </a:p>
                  </a:txBody>
                  <a:tcPr marL="0" marR="0" marT="45708" marB="45708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600" b="1"/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710533"/>
                  </a:ext>
                </a:extLst>
              </a:tr>
              <a:tr h="133913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2D2D2D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45708" marB="45708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/>
                        <a:t>System</a:t>
                      </a:r>
                    </a:p>
                    <a:p>
                      <a:pPr algn="ctr"/>
                      <a:endParaRPr kumimoji="1" lang="ja-JP" altLang="en-US" b="1"/>
                    </a:p>
                  </a:txBody>
                  <a:tcPr marL="0" marR="0" marT="45708" marB="45708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800"/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170026"/>
                  </a:ext>
                </a:extLst>
              </a:tr>
            </a:tbl>
          </a:graphicData>
        </a:graphic>
      </p:graphicFrame>
      <p:sp>
        <p:nvSpPr>
          <p:cNvPr id="21" name="ホームベース 20"/>
          <p:cNvSpPr/>
          <p:nvPr/>
        </p:nvSpPr>
        <p:spPr>
          <a:xfrm>
            <a:off x="1904392" y="1584158"/>
            <a:ext cx="10199495" cy="266547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　　</a:t>
            </a:r>
            <a:r>
              <a:rPr lang="en-US" altLang="ja-JP" sz="14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SAP Master Update – after notifying related departments</a:t>
            </a:r>
            <a:endParaRPr lang="ja-JP" altLang="en-US" sz="1400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8152183" y="1567157"/>
            <a:ext cx="3860100" cy="320040"/>
            <a:chOff x="4868341" y="1103844"/>
            <a:chExt cx="3860100" cy="320040"/>
          </a:xfrm>
        </p:grpSpPr>
        <p:sp>
          <p:nvSpPr>
            <p:cNvPr id="38" name="Pentagon 15"/>
            <p:cNvSpPr/>
            <p:nvPr/>
          </p:nvSpPr>
          <p:spPr>
            <a:xfrm>
              <a:off x="5644774" y="1103844"/>
              <a:ext cx="731520" cy="320040"/>
            </a:xfrm>
            <a:prstGeom prst="homePlate">
              <a:avLst>
                <a:gd name="adj" fmla="val 19374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WF</a:t>
              </a:r>
            </a:p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Start/End</a:t>
              </a:r>
            </a:p>
          </p:txBody>
        </p:sp>
        <p:sp>
          <p:nvSpPr>
            <p:cNvPr id="40" name="正方形/長方形 56"/>
            <p:cNvSpPr/>
            <p:nvPr/>
          </p:nvSpPr>
          <p:spPr>
            <a:xfrm>
              <a:off x="6421207" y="1103844"/>
              <a:ext cx="496604" cy="320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Process</a:t>
              </a:r>
            </a:p>
          </p:txBody>
        </p:sp>
        <p:sp>
          <p:nvSpPr>
            <p:cNvPr id="41" name="フローチャート: 判断 78"/>
            <p:cNvSpPr/>
            <p:nvPr/>
          </p:nvSpPr>
          <p:spPr>
            <a:xfrm>
              <a:off x="6962724" y="1103844"/>
              <a:ext cx="559523" cy="320040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ja-JP" sz="7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Judgment</a:t>
              </a:r>
            </a:p>
          </p:txBody>
        </p:sp>
        <p:sp>
          <p:nvSpPr>
            <p:cNvPr id="42" name="正方形/長方形 56"/>
            <p:cNvSpPr/>
            <p:nvPr/>
          </p:nvSpPr>
          <p:spPr>
            <a:xfrm>
              <a:off x="4868341" y="1103844"/>
              <a:ext cx="731520" cy="32004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/>
            <a:lstStyle/>
            <a:p>
              <a:pPr algn="ctr"/>
              <a:r>
                <a:rPr lang="en-US" altLang="ja-JP" sz="14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Legend</a:t>
              </a:r>
            </a:p>
          </p:txBody>
        </p:sp>
        <p:sp>
          <p:nvSpPr>
            <p:cNvPr id="43" name="フローチャート: 磁気ディスク 242"/>
            <p:cNvSpPr/>
            <p:nvPr/>
          </p:nvSpPr>
          <p:spPr>
            <a:xfrm>
              <a:off x="7567160" y="1103844"/>
              <a:ext cx="602153" cy="320040"/>
            </a:xfrm>
            <a:prstGeom prst="flowChartMagneticDisk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System</a:t>
              </a:r>
              <a:endPara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44" name="フローチャート: 書類 123"/>
            <p:cNvSpPr/>
            <p:nvPr/>
          </p:nvSpPr>
          <p:spPr>
            <a:xfrm>
              <a:off x="8214226" y="1103844"/>
              <a:ext cx="514215" cy="32004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Data</a:t>
              </a:r>
            </a:p>
          </p:txBody>
        </p:sp>
      </p:grpSp>
      <p:sp>
        <p:nvSpPr>
          <p:cNvPr id="178" name="タイトル 2"/>
          <p:cNvSpPr>
            <a:spLocks noGrp="1"/>
          </p:cNvSpPr>
          <p:nvPr>
            <p:ph type="title"/>
          </p:nvPr>
        </p:nvSpPr>
        <p:spPr>
          <a:xfrm>
            <a:off x="650850" y="461572"/>
            <a:ext cx="10916165" cy="523220"/>
          </a:xfrm>
        </p:spPr>
        <p:txBody>
          <a:bodyPr/>
          <a:lstStyle/>
          <a:p>
            <a:r>
              <a:rPr lang="en-US" altLang="ja-JP" sz="2400"/>
              <a:t>C: Traceability Indicators (SN Profile &amp; Shelf-life) Linkage to 3PL system</a:t>
            </a:r>
            <a:endParaRPr lang="ja-JP" altLang="en-US" sz="2400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638251B7-465F-4D73-BB82-391BADC35BC6}"/>
              </a:ext>
            </a:extLst>
          </p:cNvPr>
          <p:cNvGrpSpPr/>
          <p:nvPr/>
        </p:nvGrpSpPr>
        <p:grpSpPr>
          <a:xfrm>
            <a:off x="56401" y="2166729"/>
            <a:ext cx="12006061" cy="4164563"/>
            <a:chOff x="54812" y="2572432"/>
            <a:chExt cx="12006061" cy="4164563"/>
          </a:xfrm>
        </p:grpSpPr>
        <p:sp>
          <p:nvSpPr>
            <p:cNvPr id="36" name="正方形/長方形 35"/>
            <p:cNvSpPr/>
            <p:nvPr/>
          </p:nvSpPr>
          <p:spPr>
            <a:xfrm>
              <a:off x="3791415" y="2592254"/>
              <a:ext cx="731520" cy="5615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Update SAP Material Master (MALSY)</a:t>
              </a:r>
            </a:p>
          </p:txBody>
        </p:sp>
        <p:sp>
          <p:nvSpPr>
            <p:cNvPr id="37" name="フローチャート: 磁気ディスク 36"/>
            <p:cNvSpPr/>
            <p:nvPr/>
          </p:nvSpPr>
          <p:spPr>
            <a:xfrm>
              <a:off x="3791415" y="5439082"/>
              <a:ext cx="731520" cy="561545"/>
            </a:xfrm>
            <a:prstGeom prst="flowChartMagneticDisk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Factory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SAP</a:t>
              </a:r>
              <a:endPara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cxnSp>
          <p:nvCxnSpPr>
            <p:cNvPr id="39" name="直線矢印コネクタ 38"/>
            <p:cNvCxnSpPr>
              <a:stCxn id="36" idx="2"/>
              <a:endCxn id="37" idx="1"/>
            </p:cNvCxnSpPr>
            <p:nvPr/>
          </p:nvCxnSpPr>
          <p:spPr>
            <a:xfrm>
              <a:off x="4157175" y="3153799"/>
              <a:ext cx="0" cy="228528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フローチャート: 書類 123"/>
            <p:cNvSpPr/>
            <p:nvPr/>
          </p:nvSpPr>
          <p:spPr>
            <a:xfrm>
              <a:off x="2128825" y="4914610"/>
              <a:ext cx="1571013" cy="964958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t"/>
            <a:lstStyle/>
            <a:p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・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SAP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Part Number</a:t>
              </a:r>
            </a:p>
            <a:p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・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Plant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Code</a:t>
              </a:r>
            </a:p>
            <a:p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・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S/N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Mgmt.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Indicator</a:t>
              </a:r>
            </a:p>
            <a:p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・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PCS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Mgmt.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Indicator</a:t>
              </a:r>
            </a:p>
            <a:p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・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Trouble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Mgmt.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Indicator</a:t>
              </a:r>
            </a:p>
          </p:txBody>
        </p:sp>
        <p:sp>
          <p:nvSpPr>
            <p:cNvPr id="47" name="Pentagon 15"/>
            <p:cNvSpPr/>
            <p:nvPr/>
          </p:nvSpPr>
          <p:spPr>
            <a:xfrm>
              <a:off x="1951215" y="2592254"/>
              <a:ext cx="731520" cy="561545"/>
            </a:xfrm>
            <a:prstGeom prst="homePlate">
              <a:avLst>
                <a:gd name="adj" fmla="val 19374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Identify parts</a:t>
              </a:r>
            </a:p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That require</a:t>
              </a:r>
            </a:p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Master update</a:t>
              </a:r>
            </a:p>
          </p:txBody>
        </p:sp>
        <p:cxnSp>
          <p:nvCxnSpPr>
            <p:cNvPr id="5" name="直線矢印コネクタ 4"/>
            <p:cNvCxnSpPr>
              <a:stCxn id="47" idx="3"/>
              <a:endCxn id="17" idx="1"/>
            </p:cNvCxnSpPr>
            <p:nvPr/>
          </p:nvCxnSpPr>
          <p:spPr>
            <a:xfrm>
              <a:off x="2682735" y="2873027"/>
              <a:ext cx="18858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磁気ディスク 51"/>
            <p:cNvSpPr/>
            <p:nvPr/>
          </p:nvSpPr>
          <p:spPr>
            <a:xfrm>
              <a:off x="3791415" y="6160273"/>
              <a:ext cx="731520" cy="464086"/>
            </a:xfrm>
            <a:prstGeom prst="flowChartMagneticDisk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Related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Systems</a:t>
              </a:r>
            </a:p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(WMS, MES etc..)</a:t>
              </a:r>
              <a:endPara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56" name="Pentagon 15"/>
            <p:cNvSpPr/>
            <p:nvPr/>
          </p:nvSpPr>
          <p:spPr>
            <a:xfrm>
              <a:off x="11329353" y="2592254"/>
              <a:ext cx="731520" cy="561545"/>
            </a:xfrm>
            <a:prstGeom prst="homePlate">
              <a:avLst>
                <a:gd name="adj" fmla="val 19374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16" tIns="45708" rIns="91416" bIns="4570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END</a:t>
              </a:r>
            </a:p>
          </p:txBody>
        </p:sp>
        <p:sp>
          <p:nvSpPr>
            <p:cNvPr id="17" name="正方形/長方形 16"/>
            <p:cNvSpPr/>
            <p:nvPr/>
          </p:nvSpPr>
          <p:spPr>
            <a:xfrm>
              <a:off x="2871315" y="2592254"/>
              <a:ext cx="731520" cy="5615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Fill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out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info.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For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master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update</a:t>
              </a:r>
              <a:endPara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cxnSp>
          <p:nvCxnSpPr>
            <p:cNvPr id="9" name="直線矢印コネクタ 8"/>
            <p:cNvCxnSpPr>
              <a:stCxn id="17" idx="3"/>
              <a:endCxn id="36" idx="1"/>
            </p:cNvCxnSpPr>
            <p:nvPr/>
          </p:nvCxnSpPr>
          <p:spPr>
            <a:xfrm>
              <a:off x="3602835" y="2873027"/>
              <a:ext cx="18858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正方形/長方形 35"/>
            <p:cNvSpPr/>
            <p:nvPr/>
          </p:nvSpPr>
          <p:spPr>
            <a:xfrm>
              <a:off x="7100335" y="2572432"/>
              <a:ext cx="731520" cy="5615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Activate batch processing</a:t>
              </a:r>
              <a:endPara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1" name="フローチャート: 磁気ディスク 36"/>
            <p:cNvSpPr/>
            <p:nvPr/>
          </p:nvSpPr>
          <p:spPr>
            <a:xfrm>
              <a:off x="7878372" y="6160276"/>
              <a:ext cx="1773535" cy="464086"/>
            </a:xfrm>
            <a:prstGeom prst="flowChartMagneticDisk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TEL /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GENPOSAP</a:t>
              </a:r>
              <a:endPara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72" name="正方形/長方形 35"/>
            <p:cNvSpPr/>
            <p:nvPr/>
          </p:nvSpPr>
          <p:spPr>
            <a:xfrm>
              <a:off x="10409255" y="2592254"/>
              <a:ext cx="731520" cy="5615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Request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to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restart movement of goods</a:t>
              </a:r>
            </a:p>
          </p:txBody>
        </p:sp>
        <p:cxnSp>
          <p:nvCxnSpPr>
            <p:cNvPr id="122" name="Straight Connector 121"/>
            <p:cNvCxnSpPr>
              <a:cxnSpLocks/>
              <a:endCxn id="124" idx="3"/>
            </p:cNvCxnSpPr>
            <p:nvPr/>
          </p:nvCxnSpPr>
          <p:spPr>
            <a:xfrm flipH="1">
              <a:off x="3699838" y="5110171"/>
              <a:ext cx="463058" cy="28691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>
              <a:cxnSpLocks/>
              <a:endCxn id="124" idx="3"/>
            </p:cNvCxnSpPr>
            <p:nvPr/>
          </p:nvCxnSpPr>
          <p:spPr>
            <a:xfrm flipH="1" flipV="1">
              <a:off x="3699838" y="5397089"/>
              <a:ext cx="422308" cy="688034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正方形/長方形 35"/>
            <p:cNvSpPr/>
            <p:nvPr/>
          </p:nvSpPr>
          <p:spPr>
            <a:xfrm>
              <a:off x="6180235" y="4725220"/>
              <a:ext cx="731520" cy="5615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Close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all</a:t>
              </a:r>
            </a:p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open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orders</a:t>
              </a:r>
            </a:p>
          </p:txBody>
        </p:sp>
        <p:cxnSp>
          <p:nvCxnSpPr>
            <p:cNvPr id="81" name="Elbow Connector 80"/>
            <p:cNvCxnSpPr>
              <a:cxnSpLocks/>
              <a:stCxn id="78" idx="3"/>
              <a:endCxn id="55" idx="1"/>
            </p:cNvCxnSpPr>
            <p:nvPr/>
          </p:nvCxnSpPr>
          <p:spPr>
            <a:xfrm flipV="1">
              <a:off x="6911755" y="2853205"/>
              <a:ext cx="188580" cy="215278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正方形/長方形 35"/>
            <p:cNvSpPr/>
            <p:nvPr/>
          </p:nvSpPr>
          <p:spPr>
            <a:xfrm>
              <a:off x="10409255" y="4671479"/>
              <a:ext cx="731520" cy="5615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Restart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movement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of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goods</a:t>
              </a:r>
            </a:p>
          </p:txBody>
        </p:sp>
        <p:cxnSp>
          <p:nvCxnSpPr>
            <p:cNvPr id="92" name="Elbow Connector 91"/>
            <p:cNvCxnSpPr>
              <a:cxnSpLocks/>
              <a:stCxn id="91" idx="3"/>
              <a:endCxn id="56" idx="1"/>
            </p:cNvCxnSpPr>
            <p:nvPr/>
          </p:nvCxnSpPr>
          <p:spPr>
            <a:xfrm flipV="1">
              <a:off x="11140775" y="2873027"/>
              <a:ext cx="188578" cy="207922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正方形/長方形 35">
              <a:extLst>
                <a:ext uri="{FF2B5EF4-FFF2-40B4-BE49-F238E27FC236}">
                  <a16:creationId xmlns:a16="http://schemas.microsoft.com/office/drawing/2014/main" id="{AC51CCA4-E53C-4428-B295-B645C953A272}"/>
                </a:ext>
              </a:extLst>
            </p:cNvPr>
            <p:cNvSpPr/>
            <p:nvPr/>
          </p:nvSpPr>
          <p:spPr>
            <a:xfrm>
              <a:off x="6180235" y="2592252"/>
              <a:ext cx="731520" cy="5615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Request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to</a:t>
              </a:r>
            </a:p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Close all</a:t>
              </a:r>
            </a:p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Open orders</a:t>
              </a:r>
            </a:p>
          </p:txBody>
        </p: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F2A83794-A828-403C-95F0-081A909397AD}"/>
                </a:ext>
              </a:extLst>
            </p:cNvPr>
            <p:cNvCxnSpPr>
              <a:cxnSpLocks/>
              <a:stCxn id="72" idx="2"/>
              <a:endCxn id="91" idx="0"/>
            </p:cNvCxnSpPr>
            <p:nvPr/>
          </p:nvCxnSpPr>
          <p:spPr>
            <a:xfrm>
              <a:off x="10775015" y="3153799"/>
              <a:ext cx="0" cy="15176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矢印コネクタ 92">
              <a:extLst>
                <a:ext uri="{FF2B5EF4-FFF2-40B4-BE49-F238E27FC236}">
                  <a16:creationId xmlns:a16="http://schemas.microsoft.com/office/drawing/2014/main" id="{12EDE4A5-2C72-4C78-B95A-A3F0C214FDE3}"/>
                </a:ext>
              </a:extLst>
            </p:cNvPr>
            <p:cNvCxnSpPr>
              <a:cxnSpLocks/>
              <a:stCxn id="82" idx="2"/>
              <a:endCxn id="78" idx="0"/>
            </p:cNvCxnSpPr>
            <p:nvPr/>
          </p:nvCxnSpPr>
          <p:spPr>
            <a:xfrm>
              <a:off x="6545995" y="3153797"/>
              <a:ext cx="0" cy="15714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矢印コネクタ 94">
              <a:extLst>
                <a:ext uri="{FF2B5EF4-FFF2-40B4-BE49-F238E27FC236}">
                  <a16:creationId xmlns:a16="http://schemas.microsoft.com/office/drawing/2014/main" id="{2337AF56-4D79-4550-999B-DAAF118EDECD}"/>
                </a:ext>
              </a:extLst>
            </p:cNvPr>
            <p:cNvCxnSpPr>
              <a:cxnSpLocks/>
              <a:stCxn id="36" idx="3"/>
              <a:endCxn id="77" idx="1"/>
            </p:cNvCxnSpPr>
            <p:nvPr/>
          </p:nvCxnSpPr>
          <p:spPr>
            <a:xfrm>
              <a:off x="4522935" y="2873027"/>
              <a:ext cx="18858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132B54FA-B2B8-49A1-9719-D771B0F0883A}"/>
                </a:ext>
              </a:extLst>
            </p:cNvPr>
            <p:cNvSpPr/>
            <p:nvPr/>
          </p:nvSpPr>
          <p:spPr>
            <a:xfrm>
              <a:off x="54812" y="6183783"/>
              <a:ext cx="3581356" cy="553212"/>
            </a:xfrm>
            <a:prstGeom prst="rect">
              <a:avLst/>
            </a:prstGeom>
            <a:solidFill>
              <a:srgbClr val="E7F1F9"/>
            </a:solidFill>
            <a:ln w="6350">
              <a:solidFill>
                <a:srgbClr val="147B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Even if the parts do not require S/N or PCS mgmt., the traceability indicator must be updated (indicator=0) in order to leave history of consideration</a:t>
              </a:r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E49B66EA-0C79-4EEC-827A-56AC7485258E}"/>
                </a:ext>
              </a:extLst>
            </p:cNvPr>
            <p:cNvSpPr/>
            <p:nvPr/>
          </p:nvSpPr>
          <p:spPr>
            <a:xfrm>
              <a:off x="4711515" y="2592254"/>
              <a:ext cx="731520" cy="5615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Check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for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any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open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IBD/OBD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orders</a:t>
              </a:r>
            </a:p>
          </p:txBody>
        </p:sp>
        <p:sp>
          <p:nvSpPr>
            <p:cNvPr id="85" name="フローチャート: 判断 84">
              <a:extLst>
                <a:ext uri="{FF2B5EF4-FFF2-40B4-BE49-F238E27FC236}">
                  <a16:creationId xmlns:a16="http://schemas.microsoft.com/office/drawing/2014/main" id="{40ABF742-2CC6-4E93-84EC-4686736F3617}"/>
                </a:ext>
              </a:extLst>
            </p:cNvPr>
            <p:cNvSpPr/>
            <p:nvPr/>
          </p:nvSpPr>
          <p:spPr>
            <a:xfrm>
              <a:off x="5631615" y="2765013"/>
              <a:ext cx="360040" cy="216024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Any</a:t>
              </a:r>
            </a:p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Open</a:t>
              </a:r>
            </a:p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orders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？</a:t>
              </a:r>
            </a:p>
          </p:txBody>
        </p:sp>
        <p:sp>
          <p:nvSpPr>
            <p:cNvPr id="96" name="正方形/長方形 35">
              <a:extLst>
                <a:ext uri="{FF2B5EF4-FFF2-40B4-BE49-F238E27FC236}">
                  <a16:creationId xmlns:a16="http://schemas.microsoft.com/office/drawing/2014/main" id="{63084286-6878-46C4-8A7D-13C3F5782802}"/>
                </a:ext>
              </a:extLst>
            </p:cNvPr>
            <p:cNvSpPr/>
            <p:nvPr/>
          </p:nvSpPr>
          <p:spPr>
            <a:xfrm>
              <a:off x="7100335" y="5426173"/>
              <a:ext cx="731520" cy="5615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Clear</a:t>
              </a:r>
              <a:r>
                <a:rPr lang="ja-JP" altLang="en-US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Inventory</a:t>
              </a:r>
            </a:p>
          </p:txBody>
        </p:sp>
        <p:sp>
          <p:nvSpPr>
            <p:cNvPr id="98" name="正方形/長方形 35">
              <a:extLst>
                <a:ext uri="{FF2B5EF4-FFF2-40B4-BE49-F238E27FC236}">
                  <a16:creationId xmlns:a16="http://schemas.microsoft.com/office/drawing/2014/main" id="{1E2497E2-6611-406F-B927-0DD69617CE1A}"/>
                </a:ext>
              </a:extLst>
            </p:cNvPr>
            <p:cNvSpPr/>
            <p:nvPr/>
          </p:nvSpPr>
          <p:spPr>
            <a:xfrm>
              <a:off x="8020435" y="5426173"/>
              <a:ext cx="731520" cy="5615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Update S/N Profile</a:t>
              </a:r>
              <a:endPara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00" name="正方形/長方形 35">
              <a:extLst>
                <a:ext uri="{FF2B5EF4-FFF2-40B4-BE49-F238E27FC236}">
                  <a16:creationId xmlns:a16="http://schemas.microsoft.com/office/drawing/2014/main" id="{33EEA5B0-9A17-40B3-A433-5E8B26015725}"/>
                </a:ext>
              </a:extLst>
            </p:cNvPr>
            <p:cNvSpPr/>
            <p:nvPr/>
          </p:nvSpPr>
          <p:spPr>
            <a:xfrm>
              <a:off x="8940535" y="5426173"/>
              <a:ext cx="731520" cy="5615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Upload dummy S/N inventory file</a:t>
              </a:r>
              <a:endParaRPr lang="ja-JP" altLang="en-US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cxnSp>
          <p:nvCxnSpPr>
            <p:cNvPr id="50" name="直線矢印コネクタ 49">
              <a:extLst>
                <a:ext uri="{FF2B5EF4-FFF2-40B4-BE49-F238E27FC236}">
                  <a16:creationId xmlns:a16="http://schemas.microsoft.com/office/drawing/2014/main" id="{A2181CFE-5D43-4FCD-A4E4-4F999B80245D}"/>
                </a:ext>
              </a:extLst>
            </p:cNvPr>
            <p:cNvCxnSpPr>
              <a:cxnSpLocks/>
              <a:stCxn id="55" idx="2"/>
              <a:endCxn id="96" idx="0"/>
            </p:cNvCxnSpPr>
            <p:nvPr/>
          </p:nvCxnSpPr>
          <p:spPr>
            <a:xfrm>
              <a:off x="7466095" y="3133977"/>
              <a:ext cx="0" cy="22921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矢印コネクタ 100">
              <a:extLst>
                <a:ext uri="{FF2B5EF4-FFF2-40B4-BE49-F238E27FC236}">
                  <a16:creationId xmlns:a16="http://schemas.microsoft.com/office/drawing/2014/main" id="{B06AE855-2BB0-4A2B-92F8-C86C3C89E04E}"/>
                </a:ext>
              </a:extLst>
            </p:cNvPr>
            <p:cNvCxnSpPr>
              <a:cxnSpLocks/>
              <a:stCxn id="96" idx="3"/>
              <a:endCxn id="98" idx="1"/>
            </p:cNvCxnSpPr>
            <p:nvPr/>
          </p:nvCxnSpPr>
          <p:spPr>
            <a:xfrm>
              <a:off x="7831855" y="5706946"/>
              <a:ext cx="18858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矢印コネクタ 102">
              <a:extLst>
                <a:ext uri="{FF2B5EF4-FFF2-40B4-BE49-F238E27FC236}">
                  <a16:creationId xmlns:a16="http://schemas.microsoft.com/office/drawing/2014/main" id="{BAE0146A-59E5-4857-8751-BD0E07FEE074}"/>
                </a:ext>
              </a:extLst>
            </p:cNvPr>
            <p:cNvCxnSpPr>
              <a:cxnSpLocks/>
              <a:stCxn id="98" idx="3"/>
              <a:endCxn id="100" idx="1"/>
            </p:cNvCxnSpPr>
            <p:nvPr/>
          </p:nvCxnSpPr>
          <p:spPr>
            <a:xfrm>
              <a:off x="8751955" y="5706946"/>
              <a:ext cx="18858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矢印コネクタ 109">
              <a:extLst>
                <a:ext uri="{FF2B5EF4-FFF2-40B4-BE49-F238E27FC236}">
                  <a16:creationId xmlns:a16="http://schemas.microsoft.com/office/drawing/2014/main" id="{5AAEDC52-DF0A-46CA-8F01-D071B1F7D84F}"/>
                </a:ext>
              </a:extLst>
            </p:cNvPr>
            <p:cNvCxnSpPr>
              <a:cxnSpLocks/>
              <a:stCxn id="85" idx="3"/>
              <a:endCxn id="82" idx="1"/>
            </p:cNvCxnSpPr>
            <p:nvPr/>
          </p:nvCxnSpPr>
          <p:spPr>
            <a:xfrm>
              <a:off x="5991655" y="2873025"/>
              <a:ext cx="18858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矢印コネクタ 73">
              <a:extLst>
                <a:ext uri="{FF2B5EF4-FFF2-40B4-BE49-F238E27FC236}">
                  <a16:creationId xmlns:a16="http://schemas.microsoft.com/office/drawing/2014/main" id="{97A4811B-E2AA-4BB2-9254-86C5F989E95E}"/>
                </a:ext>
              </a:extLst>
            </p:cNvPr>
            <p:cNvCxnSpPr>
              <a:cxnSpLocks/>
              <a:stCxn id="77" idx="3"/>
              <a:endCxn id="85" idx="1"/>
            </p:cNvCxnSpPr>
            <p:nvPr/>
          </p:nvCxnSpPr>
          <p:spPr>
            <a:xfrm flipV="1">
              <a:off x="5443035" y="2873025"/>
              <a:ext cx="188580" cy="2"/>
            </a:xfrm>
            <a:prstGeom prst="straightConnector1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コネクタ: カギ線 89">
              <a:extLst>
                <a:ext uri="{FF2B5EF4-FFF2-40B4-BE49-F238E27FC236}">
                  <a16:creationId xmlns:a16="http://schemas.microsoft.com/office/drawing/2014/main" id="{FAEBEE6C-3516-426C-946A-5C3CF6011BEE}"/>
                </a:ext>
              </a:extLst>
            </p:cNvPr>
            <p:cNvCxnSpPr>
              <a:cxnSpLocks/>
              <a:stCxn id="85" idx="0"/>
              <a:endCxn id="55" idx="0"/>
            </p:cNvCxnSpPr>
            <p:nvPr/>
          </p:nvCxnSpPr>
          <p:spPr>
            <a:xfrm rot="5400000" flipH="1" flipV="1">
              <a:off x="6542575" y="1841493"/>
              <a:ext cx="192581" cy="1654460"/>
            </a:xfrm>
            <a:prstGeom prst="bentConnector3">
              <a:avLst>
                <a:gd name="adj1" fmla="val 218703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コネクタ: カギ線 107">
              <a:extLst>
                <a:ext uri="{FF2B5EF4-FFF2-40B4-BE49-F238E27FC236}">
                  <a16:creationId xmlns:a16="http://schemas.microsoft.com/office/drawing/2014/main" id="{7389913A-81D8-4373-9E2E-2FEC25D4A045}"/>
                </a:ext>
              </a:extLst>
            </p:cNvPr>
            <p:cNvCxnSpPr>
              <a:cxnSpLocks/>
              <a:stCxn id="96" idx="2"/>
              <a:endCxn id="61" idx="1"/>
            </p:cNvCxnSpPr>
            <p:nvPr/>
          </p:nvCxnSpPr>
          <p:spPr>
            <a:xfrm rot="16200000" flipH="1">
              <a:off x="8029338" y="5424474"/>
              <a:ext cx="172558" cy="129904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コネクタ: カギ線 124">
              <a:extLst>
                <a:ext uri="{FF2B5EF4-FFF2-40B4-BE49-F238E27FC236}">
                  <a16:creationId xmlns:a16="http://schemas.microsoft.com/office/drawing/2014/main" id="{F51FAD05-191C-49F4-AA99-AD4470412B22}"/>
                </a:ext>
              </a:extLst>
            </p:cNvPr>
            <p:cNvCxnSpPr>
              <a:cxnSpLocks/>
              <a:stCxn id="98" idx="2"/>
              <a:endCxn id="61" idx="1"/>
            </p:cNvCxnSpPr>
            <p:nvPr/>
          </p:nvCxnSpPr>
          <p:spPr>
            <a:xfrm rot="16200000" flipH="1">
              <a:off x="8489388" y="5884524"/>
              <a:ext cx="172558" cy="37894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コネクタ: カギ線 127">
              <a:extLst>
                <a:ext uri="{FF2B5EF4-FFF2-40B4-BE49-F238E27FC236}">
                  <a16:creationId xmlns:a16="http://schemas.microsoft.com/office/drawing/2014/main" id="{028E776B-277A-4A9B-A99B-23E435B2AC58}"/>
                </a:ext>
              </a:extLst>
            </p:cNvPr>
            <p:cNvCxnSpPr>
              <a:cxnSpLocks/>
              <a:stCxn id="100" idx="2"/>
              <a:endCxn id="61" idx="1"/>
            </p:cNvCxnSpPr>
            <p:nvPr/>
          </p:nvCxnSpPr>
          <p:spPr>
            <a:xfrm rot="5400000">
              <a:off x="8949439" y="5803420"/>
              <a:ext cx="172558" cy="54115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フローチャート: 判断 146">
              <a:extLst>
                <a:ext uri="{FF2B5EF4-FFF2-40B4-BE49-F238E27FC236}">
                  <a16:creationId xmlns:a16="http://schemas.microsoft.com/office/drawing/2014/main" id="{97BF0A15-6694-46FC-AB16-20AC2D3C1DD8}"/>
                </a:ext>
              </a:extLst>
            </p:cNvPr>
            <p:cNvSpPr/>
            <p:nvPr/>
          </p:nvSpPr>
          <p:spPr>
            <a:xfrm>
              <a:off x="9860635" y="2765013"/>
              <a:ext cx="360040" cy="216024"/>
            </a:xfrm>
            <a:prstGeom prst="flowChartDecision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Movement</a:t>
              </a:r>
            </a:p>
            <a:p>
              <a:pPr algn="ctr"/>
              <a:r>
                <a:rPr lang="en-US" altLang="ja-JP" sz="10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Stopped?</a:t>
              </a:r>
            </a:p>
          </p:txBody>
        </p:sp>
        <p:cxnSp>
          <p:nvCxnSpPr>
            <p:cNvPr id="160" name="直線矢印コネクタ 159">
              <a:extLst>
                <a:ext uri="{FF2B5EF4-FFF2-40B4-BE49-F238E27FC236}">
                  <a16:creationId xmlns:a16="http://schemas.microsoft.com/office/drawing/2014/main" id="{4C1933D1-DFF1-462D-976B-9FB263AEC36E}"/>
                </a:ext>
              </a:extLst>
            </p:cNvPr>
            <p:cNvCxnSpPr>
              <a:cxnSpLocks/>
              <a:stCxn id="37" idx="3"/>
              <a:endCxn id="52" idx="1"/>
            </p:cNvCxnSpPr>
            <p:nvPr/>
          </p:nvCxnSpPr>
          <p:spPr>
            <a:xfrm>
              <a:off x="4157175" y="6000627"/>
              <a:ext cx="0" cy="1596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FD5AEF28-F595-40EC-9421-695A4A01E42C}"/>
                </a:ext>
              </a:extLst>
            </p:cNvPr>
            <p:cNvSpPr/>
            <p:nvPr/>
          </p:nvSpPr>
          <p:spPr>
            <a:xfrm>
              <a:off x="6498252" y="5358936"/>
              <a:ext cx="3702538" cy="755703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5000"/>
              </a:schemeClr>
            </a:solidFill>
            <a:ln>
              <a:solidFill>
                <a:schemeClr val="accent3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b"/>
            <a:lstStyle/>
            <a:p>
              <a:r>
                <a:rPr lang="en-US" altLang="ja-JP" sz="12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SAP</a:t>
              </a:r>
              <a:r>
                <a:rPr lang="ja-JP" altLang="en-US" sz="12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2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Add-on</a:t>
              </a:r>
              <a:r>
                <a:rPr lang="ja-JP" altLang="en-US" sz="12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2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Program</a:t>
              </a:r>
              <a:r>
                <a:rPr lang="ja-JP" altLang="en-US" sz="12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lang="en-US" altLang="ja-JP" sz="1200" b="1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(WM1730)</a:t>
              </a:r>
            </a:p>
          </p:txBody>
        </p:sp>
        <p:cxnSp>
          <p:nvCxnSpPr>
            <p:cNvPr id="155" name="コネクタ: カギ線 154">
              <a:extLst>
                <a:ext uri="{FF2B5EF4-FFF2-40B4-BE49-F238E27FC236}">
                  <a16:creationId xmlns:a16="http://schemas.microsoft.com/office/drawing/2014/main" id="{DE7A1700-F810-4FEB-8366-1BCAE28525F1}"/>
                </a:ext>
              </a:extLst>
            </p:cNvPr>
            <p:cNvCxnSpPr>
              <a:cxnSpLocks/>
              <a:stCxn id="100" idx="3"/>
              <a:endCxn id="147" idx="1"/>
            </p:cNvCxnSpPr>
            <p:nvPr/>
          </p:nvCxnSpPr>
          <p:spPr>
            <a:xfrm flipV="1">
              <a:off x="9672055" y="2873025"/>
              <a:ext cx="188580" cy="2833921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線矢印コネクタ 157">
              <a:extLst>
                <a:ext uri="{FF2B5EF4-FFF2-40B4-BE49-F238E27FC236}">
                  <a16:creationId xmlns:a16="http://schemas.microsoft.com/office/drawing/2014/main" id="{6697E6A4-5F1C-49ED-BD6A-55FDD959B089}"/>
                </a:ext>
              </a:extLst>
            </p:cNvPr>
            <p:cNvCxnSpPr>
              <a:cxnSpLocks/>
              <a:stCxn id="147" idx="3"/>
              <a:endCxn id="72" idx="1"/>
            </p:cNvCxnSpPr>
            <p:nvPr/>
          </p:nvCxnSpPr>
          <p:spPr>
            <a:xfrm>
              <a:off x="10220675" y="2873025"/>
              <a:ext cx="188580" cy="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コネクタ: カギ線 162">
              <a:extLst>
                <a:ext uri="{FF2B5EF4-FFF2-40B4-BE49-F238E27FC236}">
                  <a16:creationId xmlns:a16="http://schemas.microsoft.com/office/drawing/2014/main" id="{6224B9C4-5AE1-4E6F-95DD-BC4BCCF4B858}"/>
                </a:ext>
              </a:extLst>
            </p:cNvPr>
            <p:cNvCxnSpPr>
              <a:cxnSpLocks/>
              <a:stCxn id="147" idx="0"/>
            </p:cNvCxnSpPr>
            <p:nvPr/>
          </p:nvCxnSpPr>
          <p:spPr>
            <a:xfrm rot="16200000" flipH="1">
              <a:off x="10630998" y="2174670"/>
              <a:ext cx="108012" cy="1288698"/>
            </a:xfrm>
            <a:prstGeom prst="bentConnector4">
              <a:avLst>
                <a:gd name="adj1" fmla="val -300331"/>
                <a:gd name="adj2" fmla="val 92125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コネクタ 34"/>
            <p:cNvCxnSpPr>
              <a:cxnSpLocks/>
              <a:stCxn id="124" idx="2"/>
              <a:endCxn id="102" idx="0"/>
            </p:cNvCxnSpPr>
            <p:nvPr/>
          </p:nvCxnSpPr>
          <p:spPr>
            <a:xfrm flipH="1">
              <a:off x="1845490" y="5815774"/>
              <a:ext cx="1068842" cy="368009"/>
            </a:xfrm>
            <a:prstGeom prst="line">
              <a:avLst/>
            </a:prstGeom>
            <a:ln w="12700">
              <a:solidFill>
                <a:srgbClr val="147BD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コネクタ: カギ線 9">
              <a:extLst>
                <a:ext uri="{FF2B5EF4-FFF2-40B4-BE49-F238E27FC236}">
                  <a16:creationId xmlns:a16="http://schemas.microsoft.com/office/drawing/2014/main" id="{51264AB4-5F9B-4161-97B4-159534ABD1B0}"/>
                </a:ext>
              </a:extLst>
            </p:cNvPr>
            <p:cNvCxnSpPr>
              <a:cxnSpLocks/>
              <a:stCxn id="61" idx="2"/>
              <a:endCxn id="77" idx="2"/>
            </p:cNvCxnSpPr>
            <p:nvPr/>
          </p:nvCxnSpPr>
          <p:spPr>
            <a:xfrm rot="10800000">
              <a:off x="5077276" y="3153799"/>
              <a:ext cx="2801097" cy="323852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Text Placeholder 6">
            <a:extLst>
              <a:ext uri="{FF2B5EF4-FFF2-40B4-BE49-F238E27FC236}">
                <a16:creationId xmlns:a16="http://schemas.microsoft.com/office/drawing/2014/main" id="{AFBEB33E-6905-4D92-816E-88A2170700CD}"/>
              </a:ext>
            </a:extLst>
          </p:cNvPr>
          <p:cNvSpPr txBox="1">
            <a:spLocks/>
          </p:cNvSpPr>
          <p:nvPr/>
        </p:nvSpPr>
        <p:spPr>
          <a:xfrm>
            <a:off x="498412" y="925491"/>
            <a:ext cx="11221038" cy="9438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spcBef>
                <a:spcPts val="12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kumimoji="1" sz="24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1pPr>
            <a:lvl2pPr marL="466344" indent="-237744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–"/>
              <a:defRPr kumimoji="1" sz="20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2pPr>
            <a:lvl3pPr marL="676656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3pPr>
            <a:lvl4pPr marL="914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6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4pPr>
            <a:lvl5pPr marL="11430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400" kern="1200" baseline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+mn-cs"/>
              </a:defRPr>
            </a:lvl5pPr>
            <a:lvl6pPr marL="13716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fontAlgn="b">
              <a:spcBef>
                <a:spcPts val="600"/>
              </a:spcBef>
              <a:buClr>
                <a:srgbClr val="78BE20"/>
              </a:buClr>
            </a:pPr>
            <a:r>
              <a:rPr lang="en-US" altLang="ja-JP" sz="1600">
                <a:solidFill>
                  <a:srgbClr val="2D2D2D"/>
                </a:solidFill>
                <a:ea typeface="Meiryo UI" panose="020B0604030504040204" pitchFamily="50" charset="-128"/>
                <a:cs typeface="Arial" panose="020B0604020202020204" pitchFamily="34" charset="0"/>
              </a:rPr>
              <a:t>Transfer S/N Management Indicator (SN Profile) in the SAP material master to the 3PL system.  This also applies to the shelf-life months.</a:t>
            </a:r>
          </a:p>
        </p:txBody>
      </p:sp>
      <p:sp>
        <p:nvSpPr>
          <p:cNvPr id="133" name="吹き出し: 四角形 132">
            <a:extLst>
              <a:ext uri="{FF2B5EF4-FFF2-40B4-BE49-F238E27FC236}">
                <a16:creationId xmlns:a16="http://schemas.microsoft.com/office/drawing/2014/main" id="{05F729FC-97DB-4A9F-8A66-3AA43A7010A7}"/>
              </a:ext>
            </a:extLst>
          </p:cNvPr>
          <p:cNvSpPr/>
          <p:nvPr/>
        </p:nvSpPr>
        <p:spPr>
          <a:xfrm>
            <a:off x="1976634" y="2996356"/>
            <a:ext cx="3762375" cy="1344814"/>
          </a:xfrm>
          <a:prstGeom prst="wedgeRectCallout">
            <a:avLst>
              <a:gd name="adj1" fmla="val 26454"/>
              <a:gd name="adj2" fmla="val -61617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Open</a:t>
            </a:r>
            <a:r>
              <a:rPr lang="ja-JP" altLang="en-US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IBD/OBD</a:t>
            </a:r>
            <a:r>
              <a:rPr lang="ja-JP" altLang="en-US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Orders</a:t>
            </a:r>
            <a:r>
              <a:rPr lang="ja-JP" altLang="en-US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1100" b="1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(Image) @ TEL/GENPO SAP</a:t>
            </a:r>
            <a:endParaRPr lang="ja-JP" altLang="en-US" sz="1100" b="1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graphicFrame>
        <p:nvGraphicFramePr>
          <p:cNvPr id="134" name="表 133">
            <a:extLst>
              <a:ext uri="{FF2B5EF4-FFF2-40B4-BE49-F238E27FC236}">
                <a16:creationId xmlns:a16="http://schemas.microsoft.com/office/drawing/2014/main" id="{06A0DE43-493F-4500-88D9-548F072BC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14768"/>
              </p:ext>
            </p:extLst>
          </p:nvPr>
        </p:nvGraphicFramePr>
        <p:xfrm>
          <a:off x="2038781" y="3278937"/>
          <a:ext cx="3633786" cy="1000125"/>
        </p:xfrm>
        <a:graphic>
          <a:graphicData uri="http://schemas.openxmlformats.org/drawingml/2006/table">
            <a:tbl>
              <a:tblPr/>
              <a:tblGrid>
                <a:gridCol w="587375">
                  <a:extLst>
                    <a:ext uri="{9D8B030D-6E8A-4147-A177-3AD203B41FA5}">
                      <a16:colId xmlns:a16="http://schemas.microsoft.com/office/drawing/2014/main" val="368342868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62102766"/>
                    </a:ext>
                  </a:extLst>
                </a:gridCol>
                <a:gridCol w="871537">
                  <a:extLst>
                    <a:ext uri="{9D8B030D-6E8A-4147-A177-3AD203B41FA5}">
                      <a16:colId xmlns:a16="http://schemas.microsoft.com/office/drawing/2014/main" val="3677386221"/>
                    </a:ext>
                  </a:extLst>
                </a:gridCol>
                <a:gridCol w="496887">
                  <a:extLst>
                    <a:ext uri="{9D8B030D-6E8A-4147-A177-3AD203B41FA5}">
                      <a16:colId xmlns:a16="http://schemas.microsoft.com/office/drawing/2014/main" val="1173791811"/>
                    </a:ext>
                  </a:extLst>
                </a:gridCol>
                <a:gridCol w="534987">
                  <a:extLst>
                    <a:ext uri="{9D8B030D-6E8A-4147-A177-3AD203B41FA5}">
                      <a16:colId xmlns:a16="http://schemas.microsoft.com/office/drawing/2014/main" val="51471729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74511783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WH_Code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Product Code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Lot 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Parts SN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Quantity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45416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2021/4/7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PO-0001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2L10-0001-V1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Lot-001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SN001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01994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2021/4/7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PO-0001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2L10-0001-V1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Lot-001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SN002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5192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2021/4/7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PO-0001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2L10-0001-V1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Lot-001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SN003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158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2021/4/7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PO-0001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2L10-0001-V1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Lot-001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SN004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958188"/>
                  </a:ext>
                </a:extLst>
              </a:tr>
            </a:tbl>
          </a:graphicData>
        </a:graphic>
      </p:graphicFrame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4EECF733-A5FF-446B-BE2E-933514FCFA1F}"/>
              </a:ext>
            </a:extLst>
          </p:cNvPr>
          <p:cNvSpPr/>
          <p:nvPr/>
        </p:nvSpPr>
        <p:spPr>
          <a:xfrm>
            <a:off x="5991794" y="2568053"/>
            <a:ext cx="138191" cy="1729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Y</a:t>
            </a:r>
            <a:endParaRPr lang="ja-JP" altLang="en-US" sz="105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1B036CD6-5061-4DCB-BEF0-83DAC73D10CB}"/>
              </a:ext>
            </a:extLst>
          </p:cNvPr>
          <p:cNvSpPr/>
          <p:nvPr/>
        </p:nvSpPr>
        <p:spPr>
          <a:xfrm>
            <a:off x="5647228" y="1992636"/>
            <a:ext cx="138191" cy="1729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N</a:t>
            </a:r>
            <a:endParaRPr lang="ja-JP" altLang="en-US" sz="105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22C34D3F-5128-4CB9-9BAA-E7E57B772BD3}"/>
              </a:ext>
            </a:extLst>
          </p:cNvPr>
          <p:cNvSpPr/>
          <p:nvPr/>
        </p:nvSpPr>
        <p:spPr>
          <a:xfrm>
            <a:off x="10196983" y="2568053"/>
            <a:ext cx="138191" cy="1729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Y</a:t>
            </a:r>
            <a:endParaRPr lang="ja-JP" altLang="en-US" sz="105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FBBCA0D0-5BD4-4821-9886-9F65E8F8E7A4}"/>
              </a:ext>
            </a:extLst>
          </p:cNvPr>
          <p:cNvSpPr/>
          <p:nvPr/>
        </p:nvSpPr>
        <p:spPr>
          <a:xfrm>
            <a:off x="9863797" y="1992636"/>
            <a:ext cx="138191" cy="1729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N</a:t>
            </a:r>
            <a:endParaRPr lang="ja-JP" altLang="en-US" sz="105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3" name="フローチャート: 磁気ディスク 36">
            <a:extLst>
              <a:ext uri="{FF2B5EF4-FFF2-40B4-BE49-F238E27FC236}">
                <a16:creationId xmlns:a16="http://schemas.microsoft.com/office/drawing/2014/main" id="{356F02C5-821A-9650-EDAB-8A08F54DB9CD}"/>
              </a:ext>
            </a:extLst>
          </p:cNvPr>
          <p:cNvSpPr/>
          <p:nvPr/>
        </p:nvSpPr>
        <p:spPr>
          <a:xfrm>
            <a:off x="10722266" y="5754570"/>
            <a:ext cx="1026266" cy="464086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3PL System</a:t>
            </a:r>
            <a:endParaRPr lang="ja-JP" altLang="en-US" sz="1000">
              <a:solidFill>
                <a:srgbClr val="2D2D2D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6CE76701-5225-6293-8FF6-6BC7EFA9A53E}"/>
              </a:ext>
            </a:extLst>
          </p:cNvPr>
          <p:cNvCxnSpPr>
            <a:cxnSpLocks/>
            <a:stCxn id="61" idx="4"/>
            <a:endCxn id="3" idx="2"/>
          </p:cNvCxnSpPr>
          <p:nvPr/>
        </p:nvCxnSpPr>
        <p:spPr>
          <a:xfrm flipV="1">
            <a:off x="9653496" y="5986613"/>
            <a:ext cx="1068770" cy="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C1039B8-B054-9973-887F-7EB9EABCF379}"/>
              </a:ext>
            </a:extLst>
          </p:cNvPr>
          <p:cNvSpPr txBox="1"/>
          <p:nvPr/>
        </p:nvSpPr>
        <p:spPr>
          <a:xfrm>
            <a:off x="9594016" y="5997660"/>
            <a:ext cx="11400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/>
              <a:t>SN </a:t>
            </a:r>
            <a:r>
              <a:rPr kumimoji="1" lang="en-US" altLang="ja-JP" sz="900" err="1"/>
              <a:t>Mgmt</a:t>
            </a:r>
            <a:r>
              <a:rPr kumimoji="1" lang="en-US" altLang="ja-JP" sz="900"/>
              <a:t> Indicator</a:t>
            </a:r>
            <a:endParaRPr kumimoji="1" lang="ja-JP" altLang="en-US" sz="90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4F74C23-983A-5049-4E79-264D48BDCF44}"/>
              </a:ext>
            </a:extLst>
          </p:cNvPr>
          <p:cNvSpPr/>
          <p:nvPr/>
        </p:nvSpPr>
        <p:spPr>
          <a:xfrm>
            <a:off x="7718854" y="5708936"/>
            <a:ext cx="4176584" cy="630624"/>
          </a:xfrm>
          <a:prstGeom prst="rect">
            <a:avLst/>
          </a:prstGeom>
          <a:noFill/>
          <a:ln w="38100">
            <a:solidFill>
              <a:srgbClr val="F28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D43454BF-3D1E-CB48-2DBB-317B07913651}"/>
              </a:ext>
            </a:extLst>
          </p:cNvPr>
          <p:cNvSpPr/>
          <p:nvPr/>
        </p:nvSpPr>
        <p:spPr>
          <a:xfrm>
            <a:off x="10194652" y="5485756"/>
            <a:ext cx="1724176" cy="222733"/>
          </a:xfrm>
          <a:prstGeom prst="roundRect">
            <a:avLst/>
          </a:prstGeom>
          <a:solidFill>
            <a:srgbClr val="F283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rgbClr val="FFFFFF"/>
                </a:solidFill>
                <a:latin typeface="Arial"/>
                <a:ea typeface="Meiryo" panose="020B0604030504040204" pitchFamily="50" charset="-128"/>
                <a:cs typeface="Arial"/>
              </a:rPr>
              <a:t>Request</a:t>
            </a:r>
            <a:endParaRPr lang="ja-JP" altLang="en-US" sz="1200" b="1">
              <a:solidFill>
                <a:srgbClr val="FFFFFF"/>
              </a:solidFill>
              <a:latin typeface="Arial"/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265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41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26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6731B94-6911-CE89-7003-4C32A893D92F}"/>
              </a:ext>
            </a:extLst>
          </p:cNvPr>
          <p:cNvSpPr/>
          <p:nvPr/>
        </p:nvSpPr>
        <p:spPr>
          <a:xfrm>
            <a:off x="427047" y="4301238"/>
            <a:ext cx="2045399" cy="15033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Factory Manufacturing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F547CFF-96C8-AA57-6947-2028358EA500}"/>
              </a:ext>
            </a:extLst>
          </p:cNvPr>
          <p:cNvSpPr/>
          <p:nvPr/>
        </p:nvSpPr>
        <p:spPr>
          <a:xfrm>
            <a:off x="427047" y="986232"/>
            <a:ext cx="2045399" cy="31754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G1P Project</a:t>
            </a: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226FA0FA-9923-0601-AEA6-6B61E84AC87D}"/>
              </a:ext>
            </a:extLst>
          </p:cNvPr>
          <p:cNvSpPr/>
          <p:nvPr/>
        </p:nvSpPr>
        <p:spPr>
          <a:xfrm>
            <a:off x="9657417" y="891860"/>
            <a:ext cx="2045399" cy="44227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BIP</a:t>
            </a:r>
            <a:r>
              <a:rPr lang="ja-JP" altLang="en-US" sz="12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1" lang="ja-JP" altLang="en-US" sz="12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DX Project</a:t>
            </a: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Product Governance Operations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53687" y="297029"/>
            <a:ext cx="10910480" cy="522948"/>
          </a:xfrm>
        </p:spPr>
        <p:txBody>
          <a:bodyPr/>
          <a:lstStyle/>
          <a:p>
            <a:r>
              <a:rPr lang="ja-JP" altLang="en-US" sz="2398"/>
              <a:t>Traceability Construction Project Structure (April 1, 2025)</a:t>
            </a:r>
          </a:p>
        </p:txBody>
      </p:sp>
      <p:sp>
        <p:nvSpPr>
          <p:cNvPr id="83" name="テキスト ボックス 82"/>
          <p:cNvSpPr txBox="1"/>
          <p:nvPr/>
        </p:nvSpPr>
        <p:spPr>
          <a:xfrm>
            <a:off x="59058" y="35136"/>
            <a:ext cx="1477381" cy="24615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As of </a:t>
            </a:r>
            <a:r>
              <a:rPr lang="en-US" altLang="ja-JP" sz="1000">
                <a:solidFill>
                  <a:srgbClr val="2D2D2D"/>
                </a:solidFill>
                <a:latin typeface="Arial"/>
                <a:ea typeface="Meiryo" panose="020B0604030504040204" pitchFamily="50" charset="-128"/>
                <a:cs typeface="Arial"/>
              </a:rPr>
              <a:t>April</a:t>
            </a:r>
            <a:r>
              <a:rPr kumimoji="1" lang="en-US" altLang="ja-JP" sz="1000" b="0" i="0" u="none" strike="noStrike" kern="1200" cap="none" spc="0" normalizeH="0" baseline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2025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E4B257B4-7EEF-6925-7C20-CEFA951DF814}"/>
              </a:ext>
            </a:extLst>
          </p:cNvPr>
          <p:cNvGrpSpPr/>
          <p:nvPr/>
        </p:nvGrpSpPr>
        <p:grpSpPr>
          <a:xfrm>
            <a:off x="3366635" y="4116547"/>
            <a:ext cx="906088" cy="1294016"/>
            <a:chOff x="3474719" y="3161606"/>
            <a:chExt cx="906088" cy="1294016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45DB225-5C9B-172A-F236-EF6DF6D13747}"/>
                </a:ext>
              </a:extLst>
            </p:cNvPr>
            <p:cNvSpPr/>
            <p:nvPr/>
          </p:nvSpPr>
          <p:spPr>
            <a:xfrm>
              <a:off x="3474720" y="3428999"/>
              <a:ext cx="906087" cy="10266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QA2 Ito</a:t>
              </a:r>
              <a:endPara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QA2 Ishigo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955D1E9B-F7E2-B3A7-CC37-94A6EBCFA5B7}"/>
                </a:ext>
              </a:extLst>
            </p:cNvPr>
            <p:cNvSpPr/>
            <p:nvPr/>
          </p:nvSpPr>
          <p:spPr>
            <a:xfrm>
              <a:off x="3474719" y="3161606"/>
              <a:ext cx="906087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TTST</a:t>
              </a:r>
              <a:endParaRPr kumimoji="1" lang="ja-JP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6ADDFDA8-9BFA-DBE1-B643-2220E7D2121F}"/>
              </a:ext>
            </a:extLst>
          </p:cNvPr>
          <p:cNvGrpSpPr/>
          <p:nvPr/>
        </p:nvGrpSpPr>
        <p:grpSpPr>
          <a:xfrm>
            <a:off x="4350307" y="4116547"/>
            <a:ext cx="906088" cy="1294016"/>
            <a:chOff x="3474719" y="3161606"/>
            <a:chExt cx="906088" cy="1294016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9AEDC9F-42F0-AE4B-BD85-F8ADB1164397}"/>
                </a:ext>
              </a:extLst>
            </p:cNvPr>
            <p:cNvSpPr/>
            <p:nvPr/>
          </p:nvSpPr>
          <p:spPr>
            <a:xfrm>
              <a:off x="3474720" y="3428999"/>
              <a:ext cx="906087" cy="10266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 Shoji</a:t>
              </a:r>
              <a:endPara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 Igarashi</a:t>
              </a:r>
              <a:endPara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(QA Tokiwa)</a:t>
              </a:r>
              <a:endParaRPr kumimoji="1" lang="ja-JP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BB079E4F-E93D-DA7B-2252-0AF05CF29727}"/>
                </a:ext>
              </a:extLst>
            </p:cNvPr>
            <p:cNvSpPr/>
            <p:nvPr/>
          </p:nvSpPr>
          <p:spPr>
            <a:xfrm>
              <a:off x="3474719" y="3161606"/>
              <a:ext cx="906087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TML</a:t>
              </a:r>
              <a:endParaRPr kumimoji="1" lang="ja-JP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E8564A4C-DDE6-70BC-F0C0-F98C35C04C6A}"/>
              </a:ext>
            </a:extLst>
          </p:cNvPr>
          <p:cNvGrpSpPr/>
          <p:nvPr/>
        </p:nvGrpSpPr>
        <p:grpSpPr>
          <a:xfrm>
            <a:off x="5333978" y="4116547"/>
            <a:ext cx="906088" cy="1294016"/>
            <a:chOff x="3474719" y="3161606"/>
            <a:chExt cx="906088" cy="1294016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E9E4F0F5-8553-5277-7CCA-B34418399923}"/>
                </a:ext>
              </a:extLst>
            </p:cNvPr>
            <p:cNvSpPr/>
            <p:nvPr/>
          </p:nvSpPr>
          <p:spPr>
            <a:xfrm>
              <a:off x="3474720" y="3428999"/>
              <a:ext cx="906087" cy="10266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QA1 Hayakawa</a:t>
              </a:r>
              <a:endPara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QA1 Yoshida</a:t>
              </a:r>
              <a:endPara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QA2 Sakamoto</a:t>
              </a: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836F635C-8DCA-74A8-1014-F1E5DEB854B5}"/>
                </a:ext>
              </a:extLst>
            </p:cNvPr>
            <p:cNvSpPr/>
            <p:nvPr/>
          </p:nvSpPr>
          <p:spPr>
            <a:xfrm>
              <a:off x="3474719" y="3161606"/>
              <a:ext cx="906087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TTSY</a:t>
              </a:r>
              <a:endParaRPr kumimoji="1" lang="ja-JP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493D466D-0013-CDBC-6F1D-4CEEC4968873}"/>
              </a:ext>
            </a:extLst>
          </p:cNvPr>
          <p:cNvGrpSpPr/>
          <p:nvPr/>
        </p:nvGrpSpPr>
        <p:grpSpPr>
          <a:xfrm>
            <a:off x="6308651" y="4116547"/>
            <a:ext cx="906088" cy="1294016"/>
            <a:chOff x="3474719" y="3161606"/>
            <a:chExt cx="906088" cy="1294016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E6C15EB6-4BF6-5223-1A2E-465C4CFA1176}"/>
                </a:ext>
              </a:extLst>
            </p:cNvPr>
            <p:cNvSpPr/>
            <p:nvPr/>
          </p:nvSpPr>
          <p:spPr>
            <a:xfrm>
              <a:off x="3474720" y="3428999"/>
              <a:ext cx="906087" cy="10266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 Kudo</a:t>
              </a:r>
              <a:endPara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 Terakawa</a:t>
              </a: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17CCBB3D-CDE4-3718-410D-AE560CCA875E}"/>
                </a:ext>
              </a:extLst>
            </p:cNvPr>
            <p:cNvSpPr/>
            <p:nvPr/>
          </p:nvSpPr>
          <p:spPr>
            <a:xfrm>
              <a:off x="3474719" y="3161606"/>
              <a:ext cx="906087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TKL</a:t>
              </a:r>
              <a:endParaRPr kumimoji="1" lang="ja-JP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C5DC31A0-C839-1182-E778-71D7886121FF}"/>
              </a:ext>
            </a:extLst>
          </p:cNvPr>
          <p:cNvGrpSpPr/>
          <p:nvPr/>
        </p:nvGrpSpPr>
        <p:grpSpPr>
          <a:xfrm>
            <a:off x="7292320" y="4116547"/>
            <a:ext cx="906088" cy="1294016"/>
            <a:chOff x="3474719" y="3161606"/>
            <a:chExt cx="906088" cy="1294016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4722075-CD6C-04B3-F561-F469725A2294}"/>
                </a:ext>
              </a:extLst>
            </p:cNvPr>
            <p:cNvSpPr/>
            <p:nvPr/>
          </p:nvSpPr>
          <p:spPr>
            <a:xfrm>
              <a:off x="3474720" y="3428999"/>
              <a:ext cx="906087" cy="10266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IS </a:t>
              </a:r>
              <a:r>
                <a:rPr kumimoji="1" lang="en-US" altLang="ja-JP" sz="1050" b="0" i="0" u="none" strike="noStrike" kern="1200" cap="none" spc="0" normalizeH="0" baseline="0" err="1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Iimura</a:t>
              </a:r>
              <a:endPara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IS Yoshimoto</a:t>
              </a:r>
              <a:endPara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861D10EE-8CFF-C928-3442-ABB00CB3A173}"/>
                </a:ext>
              </a:extLst>
            </p:cNvPr>
            <p:cNvSpPr/>
            <p:nvPr/>
          </p:nvSpPr>
          <p:spPr>
            <a:xfrm>
              <a:off x="3474719" y="3161606"/>
              <a:ext cx="906087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TEL</a:t>
              </a:r>
              <a:endParaRPr kumimoji="1" lang="ja-JP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00489E5F-9BF2-CFA3-5168-BBF1FACE3C68}"/>
              </a:ext>
            </a:extLst>
          </p:cNvPr>
          <p:cNvGrpSpPr/>
          <p:nvPr/>
        </p:nvGrpSpPr>
        <p:grpSpPr>
          <a:xfrm>
            <a:off x="7119843" y="2725014"/>
            <a:ext cx="1755372" cy="633154"/>
            <a:chOff x="7380998" y="2337262"/>
            <a:chExt cx="1755372" cy="633154"/>
          </a:xfrm>
        </p:grpSpPr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896478AE-EBF8-A247-1342-86C45A2FFC6C}"/>
                </a:ext>
              </a:extLst>
            </p:cNvPr>
            <p:cNvSpPr/>
            <p:nvPr/>
          </p:nvSpPr>
          <p:spPr>
            <a:xfrm>
              <a:off x="7381000" y="2604655"/>
              <a:ext cx="1755370" cy="36576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SQP Ueda</a:t>
              </a: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DB28A04B-0D09-228A-E766-044ABD79924E}"/>
                </a:ext>
              </a:extLst>
            </p:cNvPr>
            <p:cNvSpPr/>
            <p:nvPr/>
          </p:nvSpPr>
          <p:spPr>
            <a:xfrm>
              <a:off x="7380998" y="2337262"/>
              <a:ext cx="1755370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PMO</a:t>
              </a: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7B80770B-BDB3-FB7B-F24C-A9C92124E96E}"/>
              </a:ext>
            </a:extLst>
          </p:cNvPr>
          <p:cNvGrpSpPr/>
          <p:nvPr/>
        </p:nvGrpSpPr>
        <p:grpSpPr>
          <a:xfrm>
            <a:off x="4911429" y="1092289"/>
            <a:ext cx="1755372" cy="633154"/>
            <a:chOff x="7380998" y="2337262"/>
            <a:chExt cx="1755372" cy="633154"/>
          </a:xfrm>
        </p:grpSpPr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16A4FEB8-44CB-6413-0111-292F705337FE}"/>
                </a:ext>
              </a:extLst>
            </p:cNvPr>
            <p:cNvSpPr/>
            <p:nvPr/>
          </p:nvSpPr>
          <p:spPr>
            <a:xfrm>
              <a:off x="7381000" y="2604655"/>
              <a:ext cx="1755370" cy="36576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GM Higuchi, SD Shida</a:t>
              </a: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999FB79B-B1FF-C526-AB27-31670FB26C64}"/>
                </a:ext>
              </a:extLst>
            </p:cNvPr>
            <p:cNvSpPr/>
            <p:nvPr/>
          </p:nvSpPr>
          <p:spPr>
            <a:xfrm>
              <a:off x="7380998" y="2337262"/>
              <a:ext cx="1755370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Owner</a:t>
              </a: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1F29A175-EB22-6E13-F37F-FCABE68D670C}"/>
              </a:ext>
            </a:extLst>
          </p:cNvPr>
          <p:cNvGrpSpPr/>
          <p:nvPr/>
        </p:nvGrpSpPr>
        <p:grpSpPr>
          <a:xfrm>
            <a:off x="4911427" y="1921482"/>
            <a:ext cx="1755372" cy="633154"/>
            <a:chOff x="7380998" y="2337262"/>
            <a:chExt cx="1755372" cy="633154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961D331A-17FA-FE62-0D0A-FEBF4293D6EC}"/>
                </a:ext>
              </a:extLst>
            </p:cNvPr>
            <p:cNvSpPr/>
            <p:nvPr/>
          </p:nvSpPr>
          <p:spPr>
            <a:xfrm>
              <a:off x="7381000" y="2604655"/>
              <a:ext cx="1755370" cy="36576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BIP Kusakabe</a:t>
              </a:r>
              <a:endPara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SQP Nakamura</a:t>
              </a:r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15FB8144-512E-792B-ECB5-A1A0082FCB82}"/>
                </a:ext>
              </a:extLst>
            </p:cNvPr>
            <p:cNvSpPr/>
            <p:nvPr/>
          </p:nvSpPr>
          <p:spPr>
            <a:xfrm>
              <a:off x="7380998" y="2337262"/>
              <a:ext cx="1755370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Lead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681350FF-65A1-0357-4BA3-DB803451CA43}"/>
              </a:ext>
            </a:extLst>
          </p:cNvPr>
          <p:cNvGrpSpPr/>
          <p:nvPr/>
        </p:nvGrpSpPr>
        <p:grpSpPr>
          <a:xfrm>
            <a:off x="9857045" y="2122255"/>
            <a:ext cx="1646141" cy="530467"/>
            <a:chOff x="10124678" y="955162"/>
            <a:chExt cx="1646141" cy="530467"/>
          </a:xfrm>
        </p:grpSpPr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5404D1B3-85DB-C5A2-3A09-34E390608015}"/>
                </a:ext>
              </a:extLst>
            </p:cNvPr>
            <p:cNvSpPr/>
            <p:nvPr/>
          </p:nvSpPr>
          <p:spPr>
            <a:xfrm>
              <a:off x="10124678" y="955162"/>
              <a:ext cx="1646141" cy="261851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5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Product Compliance DX</a:t>
              </a:r>
              <a:endParaRPr kumimoji="1" lang="ja-JP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FED2CEB0-8F11-DD04-B1E5-7B5F716646C1}"/>
                </a:ext>
              </a:extLst>
            </p:cNvPr>
            <p:cNvSpPr/>
            <p:nvPr/>
          </p:nvSpPr>
          <p:spPr>
            <a:xfrm>
              <a:off x="10124678" y="1223778"/>
              <a:ext cx="1646141" cy="261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CMP Ishihara</a:t>
              </a:r>
            </a:p>
          </p:txBody>
        </p:sp>
      </p:grp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AFC18CF8-09D8-8E2B-432A-3ECDC9DFD832}"/>
              </a:ext>
            </a:extLst>
          </p:cNvPr>
          <p:cNvGrpSpPr/>
          <p:nvPr/>
        </p:nvGrpSpPr>
        <p:grpSpPr>
          <a:xfrm>
            <a:off x="9857043" y="1203470"/>
            <a:ext cx="1646141" cy="530467"/>
            <a:chOff x="10124678" y="955162"/>
            <a:chExt cx="1646141" cy="530467"/>
          </a:xfrm>
        </p:grpSpPr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D92A88E5-1030-7D6A-08B7-8CF149D4C63F}"/>
                </a:ext>
              </a:extLst>
            </p:cNvPr>
            <p:cNvSpPr/>
            <p:nvPr/>
          </p:nvSpPr>
          <p:spPr>
            <a:xfrm>
              <a:off x="10124678" y="955162"/>
              <a:ext cx="1646141" cy="261851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Data Governance Project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CE47C7E7-AF69-7A08-B180-7F3C363253F5}"/>
                </a:ext>
              </a:extLst>
            </p:cNvPr>
            <p:cNvSpPr/>
            <p:nvPr/>
          </p:nvSpPr>
          <p:spPr>
            <a:xfrm>
              <a:off x="10124678" y="1223778"/>
              <a:ext cx="1646141" cy="261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IS Toi/TML Omori</a:t>
              </a:r>
            </a:p>
          </p:txBody>
        </p:sp>
      </p:grpSp>
      <p:grpSp>
        <p:nvGrpSpPr>
          <p:cNvPr id="91" name="グループ化 90">
            <a:extLst>
              <a:ext uri="{FF2B5EF4-FFF2-40B4-BE49-F238E27FC236}">
                <a16:creationId xmlns:a16="http://schemas.microsoft.com/office/drawing/2014/main" id="{1C14BBD8-6001-BCB4-1145-55B46ACB2246}"/>
              </a:ext>
            </a:extLst>
          </p:cNvPr>
          <p:cNvGrpSpPr/>
          <p:nvPr/>
        </p:nvGrpSpPr>
        <p:grpSpPr>
          <a:xfrm>
            <a:off x="9857047" y="2762090"/>
            <a:ext cx="1646141" cy="530467"/>
            <a:chOff x="10124678" y="955162"/>
            <a:chExt cx="1646141" cy="530467"/>
          </a:xfrm>
        </p:grpSpPr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B0D3A841-76C3-F44A-67D9-B34F162744F8}"/>
                </a:ext>
              </a:extLst>
            </p:cNvPr>
            <p:cNvSpPr/>
            <p:nvPr/>
          </p:nvSpPr>
          <p:spPr>
            <a:xfrm>
              <a:off x="10124678" y="955162"/>
              <a:ext cx="1646141" cy="261851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Parts Management DX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B049258C-CFAB-28D2-8A48-4A7397F8C35A}"/>
                </a:ext>
              </a:extLst>
            </p:cNvPr>
            <p:cNvSpPr/>
            <p:nvPr/>
          </p:nvSpPr>
          <p:spPr>
            <a:xfrm>
              <a:off x="10124678" y="1223778"/>
              <a:ext cx="1646141" cy="261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IEE Kobayashi</a:t>
              </a:r>
            </a:p>
          </p:txBody>
        </p:sp>
      </p:grp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12185B5C-7EAA-4F3A-15AA-685A822EC35E}"/>
              </a:ext>
            </a:extLst>
          </p:cNvPr>
          <p:cNvGrpSpPr/>
          <p:nvPr/>
        </p:nvGrpSpPr>
        <p:grpSpPr>
          <a:xfrm>
            <a:off x="9857047" y="5414748"/>
            <a:ext cx="1646141" cy="530467"/>
            <a:chOff x="10124678" y="955162"/>
            <a:chExt cx="1646141" cy="530467"/>
          </a:xfrm>
        </p:grpSpPr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E7BF23C3-4C56-2607-A59D-AE19496B5179}"/>
                </a:ext>
              </a:extLst>
            </p:cNvPr>
            <p:cNvSpPr/>
            <p:nvPr/>
          </p:nvSpPr>
          <p:spPr>
            <a:xfrm>
              <a:off x="10124678" y="955162"/>
              <a:ext cx="1646141" cy="261851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Service Data Platform Dev. Project</a:t>
              </a:r>
              <a:endParaRPr kumimoji="1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2D056034-5F24-6233-4FA2-90C020A4FBE1}"/>
                </a:ext>
              </a:extLst>
            </p:cNvPr>
            <p:cNvSpPr/>
            <p:nvPr/>
          </p:nvSpPr>
          <p:spPr>
            <a:xfrm>
              <a:off x="10124678" y="1223778"/>
              <a:ext cx="1646141" cy="261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D2C Yamamoto (E)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0C24CA43-525C-A830-2F0D-2DF9F8F68994}"/>
              </a:ext>
            </a:extLst>
          </p:cNvPr>
          <p:cNvGrpSpPr/>
          <p:nvPr/>
        </p:nvGrpSpPr>
        <p:grpSpPr>
          <a:xfrm>
            <a:off x="9857047" y="3401938"/>
            <a:ext cx="1646141" cy="530467"/>
            <a:chOff x="10124678" y="955162"/>
            <a:chExt cx="1646141" cy="530467"/>
          </a:xfrm>
        </p:grpSpPr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F5BE8FFC-F086-0ACA-1045-A981628A9FB0}"/>
                </a:ext>
              </a:extLst>
            </p:cNvPr>
            <p:cNvSpPr/>
            <p:nvPr/>
          </p:nvSpPr>
          <p:spPr>
            <a:xfrm>
              <a:off x="10124678" y="955162"/>
              <a:ext cx="1646141" cy="261851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Tool </a:t>
              </a:r>
              <a:r>
                <a:rPr kumimoji="1" lang="ja-JP" altLang="en-US" sz="10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configuration history management </a:t>
              </a:r>
              <a:r>
                <a:rPr kumimoji="1" lang="ja-JP" altLang="en-US" sz="11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project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BE05086B-2AD1-9782-6B8C-B8E13843A8FA}"/>
                </a:ext>
              </a:extLst>
            </p:cNvPr>
            <p:cNvSpPr/>
            <p:nvPr/>
          </p:nvSpPr>
          <p:spPr>
            <a:xfrm>
              <a:off x="10124678" y="1223778"/>
              <a:ext cx="1646141" cy="261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SQP Nakamura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/SQP Ueda</a:t>
              </a:r>
            </a:p>
          </p:txBody>
        </p:sp>
      </p:grpSp>
      <p:grpSp>
        <p:nvGrpSpPr>
          <p:cNvPr id="100" name="グループ化 99">
            <a:extLst>
              <a:ext uri="{FF2B5EF4-FFF2-40B4-BE49-F238E27FC236}">
                <a16:creationId xmlns:a16="http://schemas.microsoft.com/office/drawing/2014/main" id="{5F31B116-46E6-0478-B89D-CCD777E2DE8A}"/>
              </a:ext>
            </a:extLst>
          </p:cNvPr>
          <p:cNvGrpSpPr/>
          <p:nvPr/>
        </p:nvGrpSpPr>
        <p:grpSpPr>
          <a:xfrm>
            <a:off x="9857047" y="4032596"/>
            <a:ext cx="1646141" cy="530467"/>
            <a:chOff x="10124678" y="955162"/>
            <a:chExt cx="1646141" cy="530467"/>
          </a:xfrm>
        </p:grpSpPr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488923B5-7E24-06B5-5C08-C5875E74A452}"/>
                </a:ext>
              </a:extLst>
            </p:cNvPr>
            <p:cNvSpPr/>
            <p:nvPr/>
          </p:nvSpPr>
          <p:spPr>
            <a:xfrm>
              <a:off x="10124678" y="955162"/>
              <a:ext cx="1646141" cy="261851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One-TEL Change Management Project</a:t>
              </a:r>
              <a:endParaRPr kumimoji="1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1E112A81-2C1A-6E23-C4DF-2FB43E0B955C}"/>
                </a:ext>
              </a:extLst>
            </p:cNvPr>
            <p:cNvSpPr/>
            <p:nvPr/>
          </p:nvSpPr>
          <p:spPr>
            <a:xfrm>
              <a:off x="10124678" y="1223778"/>
              <a:ext cx="1646141" cy="261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BIP Kusakabe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/SQP Nakamura</a:t>
              </a:r>
            </a:p>
          </p:txBody>
        </p:sp>
      </p:grpSp>
      <p:grpSp>
        <p:nvGrpSpPr>
          <p:cNvPr id="103" name="グループ化 102">
            <a:extLst>
              <a:ext uri="{FF2B5EF4-FFF2-40B4-BE49-F238E27FC236}">
                <a16:creationId xmlns:a16="http://schemas.microsoft.com/office/drawing/2014/main" id="{C3DFDDD7-2E8E-E113-F262-7E3170FCE478}"/>
              </a:ext>
            </a:extLst>
          </p:cNvPr>
          <p:cNvGrpSpPr/>
          <p:nvPr/>
        </p:nvGrpSpPr>
        <p:grpSpPr>
          <a:xfrm>
            <a:off x="9857047" y="6045402"/>
            <a:ext cx="1646141" cy="530467"/>
            <a:chOff x="10124678" y="955162"/>
            <a:chExt cx="1646141" cy="530467"/>
          </a:xfrm>
        </p:grpSpPr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480FB001-94E7-504F-40C1-3F02ABD8F72C}"/>
                </a:ext>
              </a:extLst>
            </p:cNvPr>
            <p:cNvSpPr/>
            <p:nvPr/>
          </p:nvSpPr>
          <p:spPr>
            <a:xfrm>
              <a:off x="10124678" y="955162"/>
              <a:ext cx="1646141" cy="261851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SEMI Traceability</a:t>
              </a:r>
              <a:br>
                <a:rPr kumimoji="1" lang="en-US" altLang="ja-JP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</a:br>
              <a:r>
                <a:rPr kumimoji="1" lang="en-US" altLang="ja-JP" sz="8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Label Standards Subcommittee</a:t>
              </a:r>
            </a:p>
          </p:txBody>
        </p: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B956B84C-BADF-AA16-709C-BC1D3A1B99B1}"/>
                </a:ext>
              </a:extLst>
            </p:cNvPr>
            <p:cNvSpPr/>
            <p:nvPr/>
          </p:nvSpPr>
          <p:spPr>
            <a:xfrm>
              <a:off x="10124678" y="1223778"/>
              <a:ext cx="1646141" cy="261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TVES Forest</a:t>
              </a:r>
            </a:p>
          </p:txBody>
        </p:sp>
      </p:grp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3352150B-1F71-10B0-A77C-CB030CBA7374}"/>
              </a:ext>
            </a:extLst>
          </p:cNvPr>
          <p:cNvSpPr/>
          <p:nvPr/>
        </p:nvSpPr>
        <p:spPr>
          <a:xfrm>
            <a:off x="634720" y="1273081"/>
            <a:ext cx="1646141" cy="26185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EWM</a:t>
            </a:r>
            <a:r>
              <a:rPr kumimoji="1" lang="ja-JP" altLang="en-US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1" lang="en-US" altLang="ja-JP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(R2)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0587E95D-A51D-B301-5A4F-4F567A356A6C}"/>
              </a:ext>
            </a:extLst>
          </p:cNvPr>
          <p:cNvSpPr/>
          <p:nvPr/>
        </p:nvSpPr>
        <p:spPr>
          <a:xfrm>
            <a:off x="634720" y="1648089"/>
            <a:ext cx="1646141" cy="26185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TEA (R2)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23874A9F-19CA-125A-23B7-E74591B4A14F}"/>
              </a:ext>
            </a:extLst>
          </p:cNvPr>
          <p:cNvSpPr/>
          <p:nvPr/>
        </p:nvSpPr>
        <p:spPr>
          <a:xfrm>
            <a:off x="634720" y="2006579"/>
            <a:ext cx="1646141" cy="26185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TML (R3)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198BE3EF-DE6C-AD09-1C7D-8A7F3C049773}"/>
              </a:ext>
            </a:extLst>
          </p:cNvPr>
          <p:cNvSpPr/>
          <p:nvPr/>
        </p:nvSpPr>
        <p:spPr>
          <a:xfrm>
            <a:off x="634720" y="2351415"/>
            <a:ext cx="1646141" cy="26185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TKL (R5)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9AEA22D4-05B1-45BD-2793-557567A2DDAC}"/>
              </a:ext>
            </a:extLst>
          </p:cNvPr>
          <p:cNvSpPr/>
          <p:nvPr/>
        </p:nvSpPr>
        <p:spPr>
          <a:xfrm>
            <a:off x="634720" y="3043590"/>
            <a:ext cx="1646141" cy="500954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Genpo (R4)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TEE/TET/TSI/TMY/TEK</a:t>
            </a:r>
            <a:b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</a:br>
            <a:r>
              <a:rPr kumimoji="1" lang="en-US" altLang="ja-JP" sz="9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/TES/TSL</a:t>
            </a:r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A9F35BBB-2B7F-CA7D-E117-839CCBDDCE0E}"/>
              </a:ext>
            </a:extLst>
          </p:cNvPr>
          <p:cNvSpPr/>
          <p:nvPr/>
        </p:nvSpPr>
        <p:spPr>
          <a:xfrm>
            <a:off x="634720" y="3612209"/>
            <a:ext cx="1646141" cy="385378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Overseas Factory (R4)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TEK</a:t>
            </a:r>
            <a:r>
              <a:rPr kumimoji="1" lang="ja-JP" altLang="en-US" sz="9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1" lang="en-US" altLang="ja-JP" sz="9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Balan/TKS/TMEA</a:t>
            </a: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73360CB5-D288-C617-E59D-71345128F2E9}"/>
              </a:ext>
            </a:extLst>
          </p:cNvPr>
          <p:cNvSpPr/>
          <p:nvPr/>
        </p:nvSpPr>
        <p:spPr>
          <a:xfrm>
            <a:off x="634719" y="4597744"/>
            <a:ext cx="1646141" cy="26185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TTS</a:t>
            </a:r>
            <a:r>
              <a:rPr kumimoji="1" lang="ja-JP" altLang="en-US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1" lang="en-US" altLang="ja-JP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MES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9B3E7D77-C62F-7A26-2E50-A6CC68262DD4}"/>
              </a:ext>
            </a:extLst>
          </p:cNvPr>
          <p:cNvSpPr/>
          <p:nvPr/>
        </p:nvSpPr>
        <p:spPr>
          <a:xfrm>
            <a:off x="634719" y="4981967"/>
            <a:ext cx="1646141" cy="26185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TML</a:t>
            </a:r>
            <a:r>
              <a:rPr kumimoji="1" lang="ja-JP" altLang="en-US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1" lang="en-US" altLang="ja-JP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MES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174F243D-161A-D2D8-31B5-6275945F7A00}"/>
              </a:ext>
            </a:extLst>
          </p:cNvPr>
          <p:cNvSpPr/>
          <p:nvPr/>
        </p:nvSpPr>
        <p:spPr>
          <a:xfrm>
            <a:off x="632330" y="5366190"/>
            <a:ext cx="1646141" cy="26185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TKL</a:t>
            </a:r>
            <a:r>
              <a:rPr kumimoji="1" lang="ja-JP" altLang="en-US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1" lang="en-US" altLang="ja-JP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MES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31" name="コネクタ: カギ線 130">
            <a:extLst>
              <a:ext uri="{FF2B5EF4-FFF2-40B4-BE49-F238E27FC236}">
                <a16:creationId xmlns:a16="http://schemas.microsoft.com/office/drawing/2014/main" id="{0D192AAE-2778-BC54-180D-597609D70ED8}"/>
              </a:ext>
            </a:extLst>
          </p:cNvPr>
          <p:cNvCxnSpPr>
            <a:cxnSpLocks/>
            <a:stCxn id="78" idx="3"/>
            <a:endCxn id="108" idx="1"/>
          </p:cNvCxnSpPr>
          <p:nvPr/>
        </p:nvCxnSpPr>
        <p:spPr>
          <a:xfrm>
            <a:off x="6666799" y="2371756"/>
            <a:ext cx="2990618" cy="731455"/>
          </a:xfrm>
          <a:prstGeom prst="bentConnector3">
            <a:avLst>
              <a:gd name="adj1" fmla="val 89963"/>
            </a:avLst>
          </a:prstGeom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コネクタ: カギ線 136">
            <a:extLst>
              <a:ext uri="{FF2B5EF4-FFF2-40B4-BE49-F238E27FC236}">
                <a16:creationId xmlns:a16="http://schemas.microsoft.com/office/drawing/2014/main" id="{D9878B32-88FB-A182-3790-53A3C2946790}"/>
              </a:ext>
            </a:extLst>
          </p:cNvPr>
          <p:cNvCxnSpPr>
            <a:cxnSpLocks/>
            <a:stCxn id="78" idx="3"/>
            <a:endCxn id="106" idx="1"/>
          </p:cNvCxnSpPr>
          <p:nvPr/>
        </p:nvCxnSpPr>
        <p:spPr>
          <a:xfrm>
            <a:off x="6666799" y="2371756"/>
            <a:ext cx="3190248" cy="4073188"/>
          </a:xfrm>
          <a:prstGeom prst="bentConnector3">
            <a:avLst>
              <a:gd name="adj1" fmla="val 84194"/>
            </a:avLst>
          </a:prstGeom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コネクタ 144">
            <a:extLst>
              <a:ext uri="{FF2B5EF4-FFF2-40B4-BE49-F238E27FC236}">
                <a16:creationId xmlns:a16="http://schemas.microsoft.com/office/drawing/2014/main" id="{CE38E5E8-7F07-A0B9-9AAC-FC96DFF0CE56}"/>
              </a:ext>
            </a:extLst>
          </p:cNvPr>
          <p:cNvCxnSpPr>
            <a:cxnSpLocks/>
            <a:stCxn id="74" idx="2"/>
            <a:endCxn id="81" idx="0"/>
          </p:cNvCxnSpPr>
          <p:nvPr/>
        </p:nvCxnSpPr>
        <p:spPr>
          <a:xfrm flipH="1">
            <a:off x="5789112" y="1725443"/>
            <a:ext cx="4" cy="19603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コネクタ: カギ線 148">
            <a:extLst>
              <a:ext uri="{FF2B5EF4-FFF2-40B4-BE49-F238E27FC236}">
                <a16:creationId xmlns:a16="http://schemas.microsoft.com/office/drawing/2014/main" id="{B5B421BB-11BD-DDA9-E059-EA1C7AEC4162}"/>
              </a:ext>
            </a:extLst>
          </p:cNvPr>
          <p:cNvCxnSpPr>
            <a:stCxn id="78" idx="2"/>
            <a:endCxn id="7" idx="0"/>
          </p:cNvCxnSpPr>
          <p:nvPr/>
        </p:nvCxnSpPr>
        <p:spPr>
          <a:xfrm rot="5400000">
            <a:off x="4023442" y="2350874"/>
            <a:ext cx="1561911" cy="1969435"/>
          </a:xfrm>
          <a:prstGeom prst="bentConnector3">
            <a:avLst>
              <a:gd name="adj1" fmla="val 71055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コネクタ: カギ線 150">
            <a:extLst>
              <a:ext uri="{FF2B5EF4-FFF2-40B4-BE49-F238E27FC236}">
                <a16:creationId xmlns:a16="http://schemas.microsoft.com/office/drawing/2014/main" id="{25E8A676-8FAB-445A-24C6-750B88C0BF13}"/>
              </a:ext>
            </a:extLst>
          </p:cNvPr>
          <p:cNvCxnSpPr>
            <a:stCxn id="78" idx="2"/>
            <a:endCxn id="14" idx="0"/>
          </p:cNvCxnSpPr>
          <p:nvPr/>
        </p:nvCxnSpPr>
        <p:spPr>
          <a:xfrm rot="5400000">
            <a:off x="4515278" y="2842710"/>
            <a:ext cx="1561911" cy="985763"/>
          </a:xfrm>
          <a:prstGeom prst="bentConnector3">
            <a:avLst>
              <a:gd name="adj1" fmla="val 71055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コネクタ: カギ線 152">
            <a:extLst>
              <a:ext uri="{FF2B5EF4-FFF2-40B4-BE49-F238E27FC236}">
                <a16:creationId xmlns:a16="http://schemas.microsoft.com/office/drawing/2014/main" id="{F1151BBC-0DBE-3B17-63B7-CF8D1AE0C07C}"/>
              </a:ext>
            </a:extLst>
          </p:cNvPr>
          <p:cNvCxnSpPr>
            <a:stCxn id="78" idx="2"/>
            <a:endCxn id="19" idx="0"/>
          </p:cNvCxnSpPr>
          <p:nvPr/>
        </p:nvCxnSpPr>
        <p:spPr>
          <a:xfrm rot="5400000">
            <a:off x="5007113" y="3334545"/>
            <a:ext cx="1561911" cy="20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コネクタ: カギ線 154">
            <a:extLst>
              <a:ext uri="{FF2B5EF4-FFF2-40B4-BE49-F238E27FC236}">
                <a16:creationId xmlns:a16="http://schemas.microsoft.com/office/drawing/2014/main" id="{BBEB8A1C-B210-71AF-69E1-6AC828521F23}"/>
              </a:ext>
            </a:extLst>
          </p:cNvPr>
          <p:cNvCxnSpPr>
            <a:stCxn id="78" idx="2"/>
            <a:endCxn id="22" idx="0"/>
          </p:cNvCxnSpPr>
          <p:nvPr/>
        </p:nvCxnSpPr>
        <p:spPr>
          <a:xfrm rot="16200000" flipH="1">
            <a:off x="5494449" y="2849300"/>
            <a:ext cx="1561911" cy="972581"/>
          </a:xfrm>
          <a:prstGeom prst="bentConnector3">
            <a:avLst>
              <a:gd name="adj1" fmla="val 71055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コネクタ: カギ線 156">
            <a:extLst>
              <a:ext uri="{FF2B5EF4-FFF2-40B4-BE49-F238E27FC236}">
                <a16:creationId xmlns:a16="http://schemas.microsoft.com/office/drawing/2014/main" id="{7C30E6E3-E255-F260-62AD-4DAC20BD0AAB}"/>
              </a:ext>
            </a:extLst>
          </p:cNvPr>
          <p:cNvCxnSpPr>
            <a:stCxn id="78" idx="2"/>
            <a:endCxn id="25" idx="0"/>
          </p:cNvCxnSpPr>
          <p:nvPr/>
        </p:nvCxnSpPr>
        <p:spPr>
          <a:xfrm rot="16200000" flipH="1">
            <a:off x="5986284" y="2357466"/>
            <a:ext cx="1561911" cy="1956250"/>
          </a:xfrm>
          <a:prstGeom prst="bentConnector3">
            <a:avLst>
              <a:gd name="adj1" fmla="val 70917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コネクタ: カギ線 158">
            <a:extLst>
              <a:ext uri="{FF2B5EF4-FFF2-40B4-BE49-F238E27FC236}">
                <a16:creationId xmlns:a16="http://schemas.microsoft.com/office/drawing/2014/main" id="{64650D27-0A81-99D2-DA7C-155D145EABEE}"/>
              </a:ext>
            </a:extLst>
          </p:cNvPr>
          <p:cNvCxnSpPr>
            <a:cxnSpLocks/>
            <a:stCxn id="78" idx="2"/>
            <a:endCxn id="31" idx="1"/>
          </p:cNvCxnSpPr>
          <p:nvPr/>
        </p:nvCxnSpPr>
        <p:spPr>
          <a:xfrm rot="16200000" flipH="1">
            <a:off x="6144153" y="2199596"/>
            <a:ext cx="620652" cy="1330731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コネクタ: カギ線 4">
            <a:extLst>
              <a:ext uri="{FF2B5EF4-FFF2-40B4-BE49-F238E27FC236}">
                <a16:creationId xmlns:a16="http://schemas.microsoft.com/office/drawing/2014/main" id="{9A11694F-8A36-3140-6D91-170067BC6646}"/>
              </a:ext>
            </a:extLst>
          </p:cNvPr>
          <p:cNvCxnSpPr>
            <a:cxnSpLocks/>
            <a:stCxn id="3" idx="3"/>
            <a:endCxn id="78" idx="1"/>
          </p:cNvCxnSpPr>
          <p:nvPr/>
        </p:nvCxnSpPr>
        <p:spPr>
          <a:xfrm flipV="1">
            <a:off x="2472446" y="2371756"/>
            <a:ext cx="2438983" cy="202192"/>
          </a:xfrm>
          <a:prstGeom prst="bentConnector3">
            <a:avLst>
              <a:gd name="adj1" fmla="val 30597"/>
            </a:avLst>
          </a:prstGeom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6C5E42BB-190B-EE98-E6FD-A2D5BAE55B90}"/>
              </a:ext>
            </a:extLst>
          </p:cNvPr>
          <p:cNvCxnSpPr>
            <a:cxnSpLocks/>
            <a:stCxn id="78" idx="3"/>
            <a:endCxn id="96" idx="1"/>
          </p:cNvCxnSpPr>
          <p:nvPr/>
        </p:nvCxnSpPr>
        <p:spPr>
          <a:xfrm>
            <a:off x="6666799" y="2371756"/>
            <a:ext cx="3190248" cy="3442534"/>
          </a:xfrm>
          <a:prstGeom prst="bentConnector3">
            <a:avLst>
              <a:gd name="adj1" fmla="val 84194"/>
            </a:avLst>
          </a:prstGeom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コネクタ: カギ線 71">
            <a:extLst>
              <a:ext uri="{FF2B5EF4-FFF2-40B4-BE49-F238E27FC236}">
                <a16:creationId xmlns:a16="http://schemas.microsoft.com/office/drawing/2014/main" id="{4A53C592-D647-1D33-516F-C7A3168A8985}"/>
              </a:ext>
            </a:extLst>
          </p:cNvPr>
          <p:cNvCxnSpPr>
            <a:cxnSpLocks/>
            <a:stCxn id="4" idx="3"/>
            <a:endCxn id="78" idx="1"/>
          </p:cNvCxnSpPr>
          <p:nvPr/>
        </p:nvCxnSpPr>
        <p:spPr>
          <a:xfrm flipV="1">
            <a:off x="2472446" y="2371756"/>
            <a:ext cx="2438983" cy="2681158"/>
          </a:xfrm>
          <a:prstGeom prst="bentConnector3">
            <a:avLst>
              <a:gd name="adj1" fmla="val 30268"/>
            </a:avLst>
          </a:prstGeom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63EC3822-DB3A-D851-5B0A-D5721622BDD0}"/>
              </a:ext>
            </a:extLst>
          </p:cNvPr>
          <p:cNvSpPr/>
          <p:nvPr/>
        </p:nvSpPr>
        <p:spPr>
          <a:xfrm>
            <a:off x="626676" y="2696251"/>
            <a:ext cx="1646141" cy="26185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TTS (R7)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1E3B3A9-92FB-F818-A7C5-16D311BE9979}"/>
              </a:ext>
            </a:extLst>
          </p:cNvPr>
          <p:cNvGrpSpPr/>
          <p:nvPr/>
        </p:nvGrpSpPr>
        <p:grpSpPr>
          <a:xfrm>
            <a:off x="9857044" y="4680543"/>
            <a:ext cx="1646141" cy="530467"/>
            <a:chOff x="10124678" y="955162"/>
            <a:chExt cx="1646141" cy="530467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B25354D5-E7FA-661A-D17E-9C72C0B2D9AB}"/>
                </a:ext>
              </a:extLst>
            </p:cNvPr>
            <p:cNvSpPr/>
            <p:nvPr/>
          </p:nvSpPr>
          <p:spPr>
            <a:xfrm>
              <a:off x="10124678" y="955162"/>
              <a:ext cx="1646141" cy="261851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Supp</a:t>
              </a:r>
              <a:r>
                <a:rPr kumimoji="1" lang="en-US" altLang="ja-JP" sz="1100" b="0" i="0" u="none" strike="noStrike" kern="1200" cap="none" spc="0" normalizeH="0" baseline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ly</a:t>
              </a:r>
              <a:r>
                <a:rPr kumimoji="1" lang="en-US" altLang="ja-JP" sz="110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 Chain DX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B321D244-0FB0-7F89-6852-697184728FD3}"/>
                </a:ext>
              </a:extLst>
            </p:cNvPr>
            <p:cNvSpPr/>
            <p:nvPr/>
          </p:nvSpPr>
          <p:spPr>
            <a:xfrm>
              <a:off x="10124678" y="1223778"/>
              <a:ext cx="1646141" cy="261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CP3 Sakaguchi</a:t>
              </a: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EE508D93-2DCD-ADF4-158D-700E561743F0}"/>
              </a:ext>
            </a:extLst>
          </p:cNvPr>
          <p:cNvGrpSpPr/>
          <p:nvPr/>
        </p:nvGrpSpPr>
        <p:grpSpPr>
          <a:xfrm>
            <a:off x="8312486" y="4123130"/>
            <a:ext cx="906088" cy="1294016"/>
            <a:chOff x="3474719" y="3161606"/>
            <a:chExt cx="906088" cy="1294016"/>
          </a:xfrm>
        </p:grpSpPr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EC345DE2-CCD3-1948-3D73-71A75081FF20}"/>
                </a:ext>
              </a:extLst>
            </p:cNvPr>
            <p:cNvSpPr/>
            <p:nvPr/>
          </p:nvSpPr>
          <p:spPr>
            <a:xfrm>
              <a:off x="3474720" y="3428999"/>
              <a:ext cx="906087" cy="10266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BSD Hino</a:t>
              </a:r>
              <a:endPara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76B717EA-46A4-E9AE-9607-BD83A345DAAF}"/>
                </a:ext>
              </a:extLst>
            </p:cNvPr>
            <p:cNvSpPr/>
            <p:nvPr/>
          </p:nvSpPr>
          <p:spPr>
            <a:xfrm>
              <a:off x="3474719" y="3161606"/>
              <a:ext cx="906087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TFE</a:t>
              </a:r>
              <a:endParaRPr kumimoji="1" lang="ja-JP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BF50A4EC-4356-4713-3D0C-0DC2F1495EFF}"/>
              </a:ext>
            </a:extLst>
          </p:cNvPr>
          <p:cNvCxnSpPr>
            <a:cxnSpLocks/>
            <a:stCxn id="78" idx="2"/>
            <a:endCxn id="66" idx="0"/>
          </p:cNvCxnSpPr>
          <p:nvPr/>
        </p:nvCxnSpPr>
        <p:spPr>
          <a:xfrm rot="16200000" flipH="1">
            <a:off x="6493075" y="1850675"/>
            <a:ext cx="1568494" cy="2976416"/>
          </a:xfrm>
          <a:prstGeom prst="bentConnector3">
            <a:avLst>
              <a:gd name="adj1" fmla="val 70455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58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6731B94-6911-CE89-7003-4C32A893D92F}"/>
              </a:ext>
            </a:extLst>
          </p:cNvPr>
          <p:cNvSpPr/>
          <p:nvPr/>
        </p:nvSpPr>
        <p:spPr>
          <a:xfrm>
            <a:off x="427047" y="4301238"/>
            <a:ext cx="2045399" cy="15033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工場製造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F547CFF-96C8-AA57-6947-2028358EA500}"/>
              </a:ext>
            </a:extLst>
          </p:cNvPr>
          <p:cNvSpPr/>
          <p:nvPr/>
        </p:nvSpPr>
        <p:spPr>
          <a:xfrm>
            <a:off x="427047" y="986232"/>
            <a:ext cx="2045399" cy="31754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G1P</a:t>
            </a: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プロジェクト</a:t>
            </a: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226FA0FA-9923-0601-AEA6-6B61E84AC87D}"/>
              </a:ext>
            </a:extLst>
          </p:cNvPr>
          <p:cNvSpPr/>
          <p:nvPr/>
        </p:nvSpPr>
        <p:spPr>
          <a:xfrm>
            <a:off x="9657417" y="891860"/>
            <a:ext cx="2045399" cy="44227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業務改革</a:t>
            </a: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DX</a:t>
            </a: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プロジェクト</a:t>
            </a: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製品ガバナンス業務</a:t>
            </a: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DX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53687" y="297029"/>
            <a:ext cx="10910480" cy="522948"/>
          </a:xfrm>
        </p:spPr>
        <p:txBody>
          <a:bodyPr/>
          <a:lstStyle/>
          <a:p>
            <a:r>
              <a:rPr lang="ja-JP" altLang="en-US" sz="2398"/>
              <a:t>トレーサビリティ構築プロジェクト体制</a:t>
            </a:r>
            <a:r>
              <a:rPr lang="en-US" altLang="ja-JP" sz="2398"/>
              <a:t>(2025/4/1)</a:t>
            </a:r>
            <a:endParaRPr lang="ja-JP" altLang="en-US" sz="2398"/>
          </a:p>
        </p:txBody>
      </p:sp>
      <p:sp>
        <p:nvSpPr>
          <p:cNvPr id="83" name="テキスト ボックス 82"/>
          <p:cNvSpPr txBox="1"/>
          <p:nvPr/>
        </p:nvSpPr>
        <p:spPr>
          <a:xfrm>
            <a:off x="59058" y="35136"/>
            <a:ext cx="1477381" cy="24615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As of March 2025</a:t>
            </a:r>
            <a:endParaRPr kumimoji="1" lang="ja-JP" altLang="en-US" sz="10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E4B257B4-7EEF-6925-7C20-CEFA951DF814}"/>
              </a:ext>
            </a:extLst>
          </p:cNvPr>
          <p:cNvGrpSpPr/>
          <p:nvPr/>
        </p:nvGrpSpPr>
        <p:grpSpPr>
          <a:xfrm>
            <a:off x="3366635" y="4116547"/>
            <a:ext cx="906088" cy="1294016"/>
            <a:chOff x="3474719" y="3161606"/>
            <a:chExt cx="906088" cy="1294016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45DB225-5C9B-172A-F236-EF6DF6D13747}"/>
                </a:ext>
              </a:extLst>
            </p:cNvPr>
            <p:cNvSpPr/>
            <p:nvPr/>
          </p:nvSpPr>
          <p:spPr>
            <a:xfrm>
              <a:off x="3474720" y="3428999"/>
              <a:ext cx="906087" cy="10266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QA2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伊藤</a:t>
              </a:r>
              <a:endPara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ja-JP" sz="1200">
                  <a:solidFill>
                    <a:schemeClr val="tx1"/>
                  </a:solidFill>
                  <a:latin typeface="Arial"/>
                  <a:ea typeface="Meiryo" panose="020B0604030504040204" pitchFamily="50" charset="-128"/>
                  <a:cs typeface="Arial"/>
                </a:rPr>
                <a:t>QA2</a:t>
              </a:r>
              <a:r>
                <a:rPr lang="ja-JP" altLang="en-US" sz="1200">
                  <a:solidFill>
                    <a:schemeClr val="tx1"/>
                  </a:solidFill>
                  <a:latin typeface="Arial"/>
                  <a:ea typeface="Meiryo" panose="020B0604030504040204" pitchFamily="50" charset="-128"/>
                  <a:cs typeface="Arial"/>
                </a:rPr>
                <a:t>石郷</a:t>
              </a: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955D1E9B-F7E2-B3A7-CC37-94A6EBCFA5B7}"/>
                </a:ext>
              </a:extLst>
            </p:cNvPr>
            <p:cNvSpPr/>
            <p:nvPr/>
          </p:nvSpPr>
          <p:spPr>
            <a:xfrm>
              <a:off x="3474719" y="3161606"/>
              <a:ext cx="906087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TTST</a:t>
              </a: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6ADDFDA8-9BFA-DBE1-B643-2220E7D2121F}"/>
              </a:ext>
            </a:extLst>
          </p:cNvPr>
          <p:cNvGrpSpPr/>
          <p:nvPr/>
        </p:nvGrpSpPr>
        <p:grpSpPr>
          <a:xfrm>
            <a:off x="4350307" y="4116547"/>
            <a:ext cx="906088" cy="1294016"/>
            <a:chOff x="3474719" y="3161606"/>
            <a:chExt cx="906088" cy="1294016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79AEDC9F-42F0-AE4B-BD85-F8ADB1164397}"/>
                </a:ext>
              </a:extLst>
            </p:cNvPr>
            <p:cNvSpPr/>
            <p:nvPr/>
          </p:nvSpPr>
          <p:spPr>
            <a:xfrm>
              <a:off x="3474720" y="3428999"/>
              <a:ext cx="906087" cy="10266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庄司</a:t>
              </a:r>
              <a:endPara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五十嵐</a:t>
              </a:r>
              <a:endPara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ja-JP" sz="12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(QA </a:t>
              </a:r>
              <a:r>
                <a:rPr lang="ja-JP" altLang="en-US" sz="12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常盤</a:t>
              </a:r>
              <a:r>
                <a:rPr lang="en-US" altLang="ja-JP" sz="1200">
                  <a:solidFill>
                    <a:srgbClr val="2D2D2D"/>
                  </a:solidFill>
                  <a:latin typeface="Arial"/>
                  <a:ea typeface="Meiryo" panose="020B0604030504040204" pitchFamily="50" charset="-128"/>
                  <a:cs typeface="Arial"/>
                </a:rPr>
                <a:t>)</a:t>
              </a: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BB079E4F-E93D-DA7B-2252-0AF05CF29727}"/>
                </a:ext>
              </a:extLst>
            </p:cNvPr>
            <p:cNvSpPr/>
            <p:nvPr/>
          </p:nvSpPr>
          <p:spPr>
            <a:xfrm>
              <a:off x="3474719" y="3161606"/>
              <a:ext cx="906087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TML</a:t>
              </a: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E8564A4C-DDE6-70BC-F0C0-F98C35C04C6A}"/>
              </a:ext>
            </a:extLst>
          </p:cNvPr>
          <p:cNvGrpSpPr/>
          <p:nvPr/>
        </p:nvGrpSpPr>
        <p:grpSpPr>
          <a:xfrm>
            <a:off x="5333978" y="4116547"/>
            <a:ext cx="906088" cy="1294016"/>
            <a:chOff x="3474719" y="3161606"/>
            <a:chExt cx="906088" cy="1294016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E9E4F0F5-8553-5277-7CCA-B34418399923}"/>
                </a:ext>
              </a:extLst>
            </p:cNvPr>
            <p:cNvSpPr/>
            <p:nvPr/>
          </p:nvSpPr>
          <p:spPr>
            <a:xfrm>
              <a:off x="3474720" y="3428999"/>
              <a:ext cx="906087" cy="10266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QA1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早川</a:t>
              </a:r>
              <a:endPara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QA1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吉田</a:t>
              </a:r>
              <a:endPara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QA2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坂本</a:t>
              </a: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836F635C-8DCA-74A8-1014-F1E5DEB854B5}"/>
                </a:ext>
              </a:extLst>
            </p:cNvPr>
            <p:cNvSpPr/>
            <p:nvPr/>
          </p:nvSpPr>
          <p:spPr>
            <a:xfrm>
              <a:off x="3474719" y="3161606"/>
              <a:ext cx="906087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TTSY</a:t>
              </a: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493D466D-0013-CDBC-6F1D-4CEEC4968873}"/>
              </a:ext>
            </a:extLst>
          </p:cNvPr>
          <p:cNvGrpSpPr/>
          <p:nvPr/>
        </p:nvGrpSpPr>
        <p:grpSpPr>
          <a:xfrm>
            <a:off x="6308651" y="4116547"/>
            <a:ext cx="906088" cy="1294016"/>
            <a:chOff x="3474719" y="3161606"/>
            <a:chExt cx="906088" cy="1294016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E6C15EB6-4BF6-5223-1A2E-465C4CFA1176}"/>
                </a:ext>
              </a:extLst>
            </p:cNvPr>
            <p:cNvSpPr/>
            <p:nvPr/>
          </p:nvSpPr>
          <p:spPr>
            <a:xfrm>
              <a:off x="3474720" y="3428999"/>
              <a:ext cx="906087" cy="10266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工藤</a:t>
              </a:r>
              <a:endPara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QA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寺川</a:t>
              </a: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17CCBB3D-CDE4-3718-410D-AE560CCA875E}"/>
                </a:ext>
              </a:extLst>
            </p:cNvPr>
            <p:cNvSpPr/>
            <p:nvPr/>
          </p:nvSpPr>
          <p:spPr>
            <a:xfrm>
              <a:off x="3474719" y="3161606"/>
              <a:ext cx="906087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TKL</a:t>
              </a: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C5DC31A0-C839-1182-E778-71D7886121FF}"/>
              </a:ext>
            </a:extLst>
          </p:cNvPr>
          <p:cNvGrpSpPr/>
          <p:nvPr/>
        </p:nvGrpSpPr>
        <p:grpSpPr>
          <a:xfrm>
            <a:off x="7292320" y="4116547"/>
            <a:ext cx="906088" cy="1294016"/>
            <a:chOff x="3474719" y="3161606"/>
            <a:chExt cx="906088" cy="1294016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4722075-CD6C-04B3-F561-F469725A2294}"/>
                </a:ext>
              </a:extLst>
            </p:cNvPr>
            <p:cNvSpPr/>
            <p:nvPr/>
          </p:nvSpPr>
          <p:spPr>
            <a:xfrm>
              <a:off x="3474720" y="3428999"/>
              <a:ext cx="906087" cy="10266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IS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飯室</a:t>
              </a:r>
              <a:endPara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IS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善元</a:t>
              </a:r>
              <a:endPara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861D10EE-8CFF-C928-3442-ABB00CB3A173}"/>
                </a:ext>
              </a:extLst>
            </p:cNvPr>
            <p:cNvSpPr/>
            <p:nvPr/>
          </p:nvSpPr>
          <p:spPr>
            <a:xfrm>
              <a:off x="3474719" y="3161606"/>
              <a:ext cx="906087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TEL</a:t>
              </a: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00489E5F-9BF2-CFA3-5168-BBF1FACE3C68}"/>
              </a:ext>
            </a:extLst>
          </p:cNvPr>
          <p:cNvGrpSpPr/>
          <p:nvPr/>
        </p:nvGrpSpPr>
        <p:grpSpPr>
          <a:xfrm>
            <a:off x="7119843" y="2725014"/>
            <a:ext cx="1755372" cy="633154"/>
            <a:chOff x="7380998" y="2337262"/>
            <a:chExt cx="1755372" cy="633154"/>
          </a:xfrm>
        </p:grpSpPr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896478AE-EBF8-A247-1342-86C45A2FFC6C}"/>
                </a:ext>
              </a:extLst>
            </p:cNvPr>
            <p:cNvSpPr/>
            <p:nvPr/>
          </p:nvSpPr>
          <p:spPr>
            <a:xfrm>
              <a:off x="7381000" y="2604655"/>
              <a:ext cx="1755370" cy="36576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SQP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上田</a:t>
              </a: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DB28A04B-0D09-228A-E766-044ABD79924E}"/>
                </a:ext>
              </a:extLst>
            </p:cNvPr>
            <p:cNvSpPr/>
            <p:nvPr/>
          </p:nvSpPr>
          <p:spPr>
            <a:xfrm>
              <a:off x="7380998" y="2337262"/>
              <a:ext cx="1755370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PMO</a:t>
              </a: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7B80770B-BDB3-FB7B-F24C-A9C92124E96E}"/>
              </a:ext>
            </a:extLst>
          </p:cNvPr>
          <p:cNvGrpSpPr/>
          <p:nvPr/>
        </p:nvGrpSpPr>
        <p:grpSpPr>
          <a:xfrm>
            <a:off x="4911429" y="1092289"/>
            <a:ext cx="1755372" cy="633154"/>
            <a:chOff x="7380998" y="2337262"/>
            <a:chExt cx="1755372" cy="633154"/>
          </a:xfrm>
        </p:grpSpPr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16A4FEB8-44CB-6413-0111-292F705337FE}"/>
                </a:ext>
              </a:extLst>
            </p:cNvPr>
            <p:cNvSpPr/>
            <p:nvPr/>
          </p:nvSpPr>
          <p:spPr>
            <a:xfrm>
              <a:off x="7381000" y="2604655"/>
              <a:ext cx="1755370" cy="36576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樋口</a:t>
              </a: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GM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、志田</a:t>
              </a: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SD</a:t>
              </a: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999FB79B-B1FF-C526-AB27-31670FB26C64}"/>
                </a:ext>
              </a:extLst>
            </p:cNvPr>
            <p:cNvSpPr/>
            <p:nvPr/>
          </p:nvSpPr>
          <p:spPr>
            <a:xfrm>
              <a:off x="7380998" y="2337262"/>
              <a:ext cx="1755370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オーナー</a:t>
              </a: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1F29A175-EB22-6E13-F37F-FCABE68D670C}"/>
              </a:ext>
            </a:extLst>
          </p:cNvPr>
          <p:cNvGrpSpPr/>
          <p:nvPr/>
        </p:nvGrpSpPr>
        <p:grpSpPr>
          <a:xfrm>
            <a:off x="4911427" y="1921482"/>
            <a:ext cx="1755372" cy="633154"/>
            <a:chOff x="7380998" y="2337262"/>
            <a:chExt cx="1755372" cy="633154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961D331A-17FA-FE62-0D0A-FEBF4293D6EC}"/>
                </a:ext>
              </a:extLst>
            </p:cNvPr>
            <p:cNvSpPr/>
            <p:nvPr/>
          </p:nvSpPr>
          <p:spPr>
            <a:xfrm>
              <a:off x="7381000" y="2604655"/>
              <a:ext cx="1755370" cy="36576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BIP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日下部</a:t>
              </a:r>
              <a:endPara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SQP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中村</a:t>
              </a:r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15FB8144-512E-792B-ECB5-A1A0082FCB82}"/>
                </a:ext>
              </a:extLst>
            </p:cNvPr>
            <p:cNvSpPr/>
            <p:nvPr/>
          </p:nvSpPr>
          <p:spPr>
            <a:xfrm>
              <a:off x="7380998" y="2337262"/>
              <a:ext cx="1755370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リード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681350FF-65A1-0357-4BA3-DB803451CA43}"/>
              </a:ext>
            </a:extLst>
          </p:cNvPr>
          <p:cNvGrpSpPr/>
          <p:nvPr/>
        </p:nvGrpSpPr>
        <p:grpSpPr>
          <a:xfrm>
            <a:off x="9857045" y="2122255"/>
            <a:ext cx="1646141" cy="530467"/>
            <a:chOff x="10124678" y="955162"/>
            <a:chExt cx="1646141" cy="530467"/>
          </a:xfrm>
        </p:grpSpPr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5404D1B3-85DB-C5A2-3A09-34E390608015}"/>
                </a:ext>
              </a:extLst>
            </p:cNvPr>
            <p:cNvSpPr/>
            <p:nvPr/>
          </p:nvSpPr>
          <p:spPr>
            <a:xfrm>
              <a:off x="10124678" y="955162"/>
              <a:ext cx="1646141" cy="261851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製品コンプラ</a:t>
              </a: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DX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FED2CEB0-8F11-DD04-B1E5-7B5F716646C1}"/>
                </a:ext>
              </a:extLst>
            </p:cNvPr>
            <p:cNvSpPr/>
            <p:nvPr/>
          </p:nvSpPr>
          <p:spPr>
            <a:xfrm>
              <a:off x="10124678" y="1223778"/>
              <a:ext cx="1646141" cy="261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CMP</a:t>
              </a: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石原</a:t>
              </a:r>
            </a:p>
          </p:txBody>
        </p:sp>
      </p:grp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AFC18CF8-09D8-8E2B-432A-3ECDC9DFD832}"/>
              </a:ext>
            </a:extLst>
          </p:cNvPr>
          <p:cNvGrpSpPr/>
          <p:nvPr/>
        </p:nvGrpSpPr>
        <p:grpSpPr>
          <a:xfrm>
            <a:off x="9857043" y="1203470"/>
            <a:ext cx="1646141" cy="530467"/>
            <a:chOff x="10124678" y="955162"/>
            <a:chExt cx="1646141" cy="530467"/>
          </a:xfrm>
        </p:grpSpPr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D92A88E5-1030-7D6A-08B7-8CF149D4C63F}"/>
                </a:ext>
              </a:extLst>
            </p:cNvPr>
            <p:cNvSpPr/>
            <p:nvPr/>
          </p:nvSpPr>
          <p:spPr>
            <a:xfrm>
              <a:off x="10124678" y="955162"/>
              <a:ext cx="1646141" cy="261851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データガバナンス</a:t>
              </a: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PJ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CE47C7E7-AF69-7A08-B180-7F3C363253F5}"/>
                </a:ext>
              </a:extLst>
            </p:cNvPr>
            <p:cNvSpPr/>
            <p:nvPr/>
          </p:nvSpPr>
          <p:spPr>
            <a:xfrm>
              <a:off x="10124678" y="1223778"/>
              <a:ext cx="1646141" cy="261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IS</a:t>
              </a: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樋</a:t>
              </a: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/TML</a:t>
              </a: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大森</a:t>
              </a:r>
            </a:p>
          </p:txBody>
        </p:sp>
      </p:grpSp>
      <p:grpSp>
        <p:nvGrpSpPr>
          <p:cNvPr id="91" name="グループ化 90">
            <a:extLst>
              <a:ext uri="{FF2B5EF4-FFF2-40B4-BE49-F238E27FC236}">
                <a16:creationId xmlns:a16="http://schemas.microsoft.com/office/drawing/2014/main" id="{1C14BBD8-6001-BCB4-1145-55B46ACB2246}"/>
              </a:ext>
            </a:extLst>
          </p:cNvPr>
          <p:cNvGrpSpPr/>
          <p:nvPr/>
        </p:nvGrpSpPr>
        <p:grpSpPr>
          <a:xfrm>
            <a:off x="9857047" y="2762090"/>
            <a:ext cx="1646141" cy="530467"/>
            <a:chOff x="10124678" y="955162"/>
            <a:chExt cx="1646141" cy="530467"/>
          </a:xfrm>
        </p:grpSpPr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B0D3A841-76C3-F44A-67D9-B34F162744F8}"/>
                </a:ext>
              </a:extLst>
            </p:cNvPr>
            <p:cNvSpPr/>
            <p:nvPr/>
          </p:nvSpPr>
          <p:spPr>
            <a:xfrm>
              <a:off x="10124678" y="955162"/>
              <a:ext cx="1646141" cy="261851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部品管理</a:t>
              </a: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DX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B049258C-CFAB-28D2-8A48-4A7397F8C35A}"/>
                </a:ext>
              </a:extLst>
            </p:cNvPr>
            <p:cNvSpPr/>
            <p:nvPr/>
          </p:nvSpPr>
          <p:spPr>
            <a:xfrm>
              <a:off x="10124678" y="1223778"/>
              <a:ext cx="1646141" cy="261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IEE</a:t>
              </a: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小林</a:t>
              </a:r>
            </a:p>
          </p:txBody>
        </p:sp>
      </p:grp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12185B5C-7EAA-4F3A-15AA-685A822EC35E}"/>
              </a:ext>
            </a:extLst>
          </p:cNvPr>
          <p:cNvGrpSpPr/>
          <p:nvPr/>
        </p:nvGrpSpPr>
        <p:grpSpPr>
          <a:xfrm>
            <a:off x="9857047" y="5414748"/>
            <a:ext cx="1646141" cy="530467"/>
            <a:chOff x="10124678" y="955162"/>
            <a:chExt cx="1646141" cy="530467"/>
          </a:xfrm>
        </p:grpSpPr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E7BF23C3-4C56-2607-A59D-AE19496B5179}"/>
                </a:ext>
              </a:extLst>
            </p:cNvPr>
            <p:cNvSpPr/>
            <p:nvPr/>
          </p:nvSpPr>
          <p:spPr>
            <a:xfrm>
              <a:off x="10124678" y="955162"/>
              <a:ext cx="1646141" cy="261851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次世代サービス基盤</a:t>
              </a: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PJ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2D056034-5F24-6233-4FA2-90C020A4FBE1}"/>
                </a:ext>
              </a:extLst>
            </p:cNvPr>
            <p:cNvSpPr/>
            <p:nvPr/>
          </p:nvSpPr>
          <p:spPr>
            <a:xfrm>
              <a:off x="10124678" y="1223778"/>
              <a:ext cx="1646141" cy="261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D2C</a:t>
              </a: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山本</a:t>
              </a: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(</a:t>
              </a: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江</a:t>
              </a: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)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0C24CA43-525C-A830-2F0D-2DF9F8F68994}"/>
              </a:ext>
            </a:extLst>
          </p:cNvPr>
          <p:cNvGrpSpPr/>
          <p:nvPr/>
        </p:nvGrpSpPr>
        <p:grpSpPr>
          <a:xfrm>
            <a:off x="9857047" y="3401938"/>
            <a:ext cx="1646141" cy="530467"/>
            <a:chOff x="10124678" y="955162"/>
            <a:chExt cx="1646141" cy="530467"/>
          </a:xfrm>
        </p:grpSpPr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F5BE8FFC-F086-0ACA-1045-A981628A9FB0}"/>
                </a:ext>
              </a:extLst>
            </p:cNvPr>
            <p:cNvSpPr/>
            <p:nvPr/>
          </p:nvSpPr>
          <p:spPr>
            <a:xfrm>
              <a:off x="10124678" y="955162"/>
              <a:ext cx="1646141" cy="261851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装置構成履歴管理</a:t>
              </a: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PJ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BE05086B-2AD1-9782-6B8C-B8E13843A8FA}"/>
                </a:ext>
              </a:extLst>
            </p:cNvPr>
            <p:cNvSpPr/>
            <p:nvPr/>
          </p:nvSpPr>
          <p:spPr>
            <a:xfrm>
              <a:off x="10124678" y="1223778"/>
              <a:ext cx="1646141" cy="261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SQP</a:t>
              </a: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中村</a:t>
              </a: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/SQP</a:t>
              </a: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上田</a:t>
              </a:r>
            </a:p>
          </p:txBody>
        </p:sp>
      </p:grpSp>
      <p:grpSp>
        <p:nvGrpSpPr>
          <p:cNvPr id="100" name="グループ化 99">
            <a:extLst>
              <a:ext uri="{FF2B5EF4-FFF2-40B4-BE49-F238E27FC236}">
                <a16:creationId xmlns:a16="http://schemas.microsoft.com/office/drawing/2014/main" id="{5F31B116-46E6-0478-B89D-CCD777E2DE8A}"/>
              </a:ext>
            </a:extLst>
          </p:cNvPr>
          <p:cNvGrpSpPr/>
          <p:nvPr/>
        </p:nvGrpSpPr>
        <p:grpSpPr>
          <a:xfrm>
            <a:off x="9857047" y="4032596"/>
            <a:ext cx="1646141" cy="530467"/>
            <a:chOff x="10124678" y="955162"/>
            <a:chExt cx="1646141" cy="530467"/>
          </a:xfrm>
        </p:grpSpPr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488923B5-7E24-06B5-5C08-C5875E74A452}"/>
                </a:ext>
              </a:extLst>
            </p:cNvPr>
            <p:cNvSpPr/>
            <p:nvPr/>
          </p:nvSpPr>
          <p:spPr>
            <a:xfrm>
              <a:off x="10124678" y="955162"/>
              <a:ext cx="1646141" cy="261851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One-TEL</a:t>
              </a: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変更管理</a:t>
              </a: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PJ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1E112A81-2C1A-6E23-C4DF-2FB43E0B955C}"/>
                </a:ext>
              </a:extLst>
            </p:cNvPr>
            <p:cNvSpPr/>
            <p:nvPr/>
          </p:nvSpPr>
          <p:spPr>
            <a:xfrm>
              <a:off x="10124678" y="1223778"/>
              <a:ext cx="1646141" cy="261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BIP</a:t>
              </a: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日下部</a:t>
              </a: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/SQP</a:t>
              </a: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中村</a:t>
              </a:r>
            </a:p>
          </p:txBody>
        </p:sp>
      </p:grpSp>
      <p:grpSp>
        <p:nvGrpSpPr>
          <p:cNvPr id="103" name="グループ化 102">
            <a:extLst>
              <a:ext uri="{FF2B5EF4-FFF2-40B4-BE49-F238E27FC236}">
                <a16:creationId xmlns:a16="http://schemas.microsoft.com/office/drawing/2014/main" id="{C3DFDDD7-2E8E-E113-F262-7E3170FCE478}"/>
              </a:ext>
            </a:extLst>
          </p:cNvPr>
          <p:cNvGrpSpPr/>
          <p:nvPr/>
        </p:nvGrpSpPr>
        <p:grpSpPr>
          <a:xfrm>
            <a:off x="9857047" y="6045402"/>
            <a:ext cx="1646141" cy="530467"/>
            <a:chOff x="10124678" y="955162"/>
            <a:chExt cx="1646141" cy="530467"/>
          </a:xfrm>
        </p:grpSpPr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480FB001-94E7-504F-40C1-3F02ABD8F72C}"/>
                </a:ext>
              </a:extLst>
            </p:cNvPr>
            <p:cNvSpPr/>
            <p:nvPr/>
          </p:nvSpPr>
          <p:spPr>
            <a:xfrm>
              <a:off x="10124678" y="955162"/>
              <a:ext cx="1646141" cy="261851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SEMI</a:t>
              </a:r>
              <a:r>
                <a:rPr kumimoji="1" lang="ja-JP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トレーサビリティ</a:t>
              </a:r>
              <a:b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</a:br>
              <a:r>
                <a:rPr kumimoji="1" lang="ja-JP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ラベルスタンダード分科会</a:t>
              </a:r>
            </a:p>
          </p:txBody>
        </p: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B956B84C-BADF-AA16-709C-BC1D3A1B99B1}"/>
                </a:ext>
              </a:extLst>
            </p:cNvPr>
            <p:cNvSpPr/>
            <p:nvPr/>
          </p:nvSpPr>
          <p:spPr>
            <a:xfrm>
              <a:off x="10124678" y="1223778"/>
              <a:ext cx="1646141" cy="261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TVES</a:t>
              </a: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林</a:t>
              </a:r>
            </a:p>
          </p:txBody>
        </p:sp>
      </p:grp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3352150B-1F71-10B0-A77C-CB030CBA7374}"/>
              </a:ext>
            </a:extLst>
          </p:cNvPr>
          <p:cNvSpPr/>
          <p:nvPr/>
        </p:nvSpPr>
        <p:spPr>
          <a:xfrm>
            <a:off x="634720" y="1273081"/>
            <a:ext cx="1646141" cy="26185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EWM</a:t>
            </a:r>
            <a:r>
              <a: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(R2)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0587E95D-A51D-B301-5A4F-4F567A356A6C}"/>
              </a:ext>
            </a:extLst>
          </p:cNvPr>
          <p:cNvSpPr/>
          <p:nvPr/>
        </p:nvSpPr>
        <p:spPr>
          <a:xfrm>
            <a:off x="634720" y="1648089"/>
            <a:ext cx="1646141" cy="26185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TEA (R2)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23874A9F-19CA-125A-23B7-E74591B4A14F}"/>
              </a:ext>
            </a:extLst>
          </p:cNvPr>
          <p:cNvSpPr/>
          <p:nvPr/>
        </p:nvSpPr>
        <p:spPr>
          <a:xfrm>
            <a:off x="634720" y="2006579"/>
            <a:ext cx="1646141" cy="26185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TML (R3)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198BE3EF-DE6C-AD09-1C7D-8A7F3C049773}"/>
              </a:ext>
            </a:extLst>
          </p:cNvPr>
          <p:cNvSpPr/>
          <p:nvPr/>
        </p:nvSpPr>
        <p:spPr>
          <a:xfrm>
            <a:off x="634720" y="2351415"/>
            <a:ext cx="1646141" cy="26185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TKL (R5)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9AEA22D4-05B1-45BD-2793-557567A2DDAC}"/>
              </a:ext>
            </a:extLst>
          </p:cNvPr>
          <p:cNvSpPr/>
          <p:nvPr/>
        </p:nvSpPr>
        <p:spPr>
          <a:xfrm>
            <a:off x="634720" y="3043590"/>
            <a:ext cx="1646141" cy="500954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サービス現法</a:t>
            </a: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(R4)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TEE/TET/TSI/TMY/TEK</a:t>
            </a:r>
            <a:b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</a:br>
            <a: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/TES/TSL</a:t>
            </a:r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A9F35BBB-2B7F-CA7D-E117-839CCBDDCE0E}"/>
              </a:ext>
            </a:extLst>
          </p:cNvPr>
          <p:cNvSpPr/>
          <p:nvPr/>
        </p:nvSpPr>
        <p:spPr>
          <a:xfrm>
            <a:off x="634720" y="3612209"/>
            <a:ext cx="1646141" cy="385378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海外工場</a:t>
            </a: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(R4)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TEK</a:t>
            </a: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Balan/TKS/TMEA</a:t>
            </a: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73360CB5-D288-C617-E59D-71345128F2E9}"/>
              </a:ext>
            </a:extLst>
          </p:cNvPr>
          <p:cNvSpPr/>
          <p:nvPr/>
        </p:nvSpPr>
        <p:spPr>
          <a:xfrm>
            <a:off x="634719" y="4597744"/>
            <a:ext cx="1646141" cy="26185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TTS</a:t>
            </a:r>
            <a:r>
              <a: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MES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9B3E7D77-C62F-7A26-2E50-A6CC68262DD4}"/>
              </a:ext>
            </a:extLst>
          </p:cNvPr>
          <p:cNvSpPr/>
          <p:nvPr/>
        </p:nvSpPr>
        <p:spPr>
          <a:xfrm>
            <a:off x="634719" y="4981967"/>
            <a:ext cx="1646141" cy="26185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TML</a:t>
            </a:r>
            <a:r>
              <a: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MES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174F243D-161A-D2D8-31B5-6275945F7A00}"/>
              </a:ext>
            </a:extLst>
          </p:cNvPr>
          <p:cNvSpPr/>
          <p:nvPr/>
        </p:nvSpPr>
        <p:spPr>
          <a:xfrm>
            <a:off x="632330" y="5366190"/>
            <a:ext cx="1646141" cy="26185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TKL</a:t>
            </a:r>
            <a:r>
              <a: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MES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31" name="コネクタ: カギ線 130">
            <a:extLst>
              <a:ext uri="{FF2B5EF4-FFF2-40B4-BE49-F238E27FC236}">
                <a16:creationId xmlns:a16="http://schemas.microsoft.com/office/drawing/2014/main" id="{0D192AAE-2778-BC54-180D-597609D70ED8}"/>
              </a:ext>
            </a:extLst>
          </p:cNvPr>
          <p:cNvCxnSpPr>
            <a:cxnSpLocks/>
            <a:stCxn id="78" idx="3"/>
            <a:endCxn id="108" idx="1"/>
          </p:cNvCxnSpPr>
          <p:nvPr/>
        </p:nvCxnSpPr>
        <p:spPr>
          <a:xfrm>
            <a:off x="6666799" y="2371756"/>
            <a:ext cx="2990618" cy="731455"/>
          </a:xfrm>
          <a:prstGeom prst="bentConnector3">
            <a:avLst>
              <a:gd name="adj1" fmla="val 89963"/>
            </a:avLst>
          </a:prstGeom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コネクタ: カギ線 136">
            <a:extLst>
              <a:ext uri="{FF2B5EF4-FFF2-40B4-BE49-F238E27FC236}">
                <a16:creationId xmlns:a16="http://schemas.microsoft.com/office/drawing/2014/main" id="{D9878B32-88FB-A182-3790-53A3C2946790}"/>
              </a:ext>
            </a:extLst>
          </p:cNvPr>
          <p:cNvCxnSpPr>
            <a:cxnSpLocks/>
            <a:stCxn id="78" idx="3"/>
            <a:endCxn id="106" idx="1"/>
          </p:cNvCxnSpPr>
          <p:nvPr/>
        </p:nvCxnSpPr>
        <p:spPr>
          <a:xfrm>
            <a:off x="6666799" y="2371756"/>
            <a:ext cx="3190248" cy="4073188"/>
          </a:xfrm>
          <a:prstGeom prst="bentConnector3">
            <a:avLst>
              <a:gd name="adj1" fmla="val 84194"/>
            </a:avLst>
          </a:prstGeom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コネクタ 144">
            <a:extLst>
              <a:ext uri="{FF2B5EF4-FFF2-40B4-BE49-F238E27FC236}">
                <a16:creationId xmlns:a16="http://schemas.microsoft.com/office/drawing/2014/main" id="{CE38E5E8-7F07-A0B9-9AAC-FC96DFF0CE56}"/>
              </a:ext>
            </a:extLst>
          </p:cNvPr>
          <p:cNvCxnSpPr>
            <a:cxnSpLocks/>
            <a:stCxn id="74" idx="2"/>
            <a:endCxn id="81" idx="0"/>
          </p:cNvCxnSpPr>
          <p:nvPr/>
        </p:nvCxnSpPr>
        <p:spPr>
          <a:xfrm flipH="1">
            <a:off x="5789112" y="1725443"/>
            <a:ext cx="4" cy="19603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コネクタ: カギ線 148">
            <a:extLst>
              <a:ext uri="{FF2B5EF4-FFF2-40B4-BE49-F238E27FC236}">
                <a16:creationId xmlns:a16="http://schemas.microsoft.com/office/drawing/2014/main" id="{B5B421BB-11BD-DDA9-E059-EA1C7AEC4162}"/>
              </a:ext>
            </a:extLst>
          </p:cNvPr>
          <p:cNvCxnSpPr>
            <a:stCxn id="78" idx="2"/>
            <a:endCxn id="7" idx="0"/>
          </p:cNvCxnSpPr>
          <p:nvPr/>
        </p:nvCxnSpPr>
        <p:spPr>
          <a:xfrm rot="5400000">
            <a:off x="4023442" y="2350874"/>
            <a:ext cx="1561911" cy="1969435"/>
          </a:xfrm>
          <a:prstGeom prst="bentConnector3">
            <a:avLst>
              <a:gd name="adj1" fmla="val 71055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コネクタ: カギ線 150">
            <a:extLst>
              <a:ext uri="{FF2B5EF4-FFF2-40B4-BE49-F238E27FC236}">
                <a16:creationId xmlns:a16="http://schemas.microsoft.com/office/drawing/2014/main" id="{25E8A676-8FAB-445A-24C6-750B88C0BF13}"/>
              </a:ext>
            </a:extLst>
          </p:cNvPr>
          <p:cNvCxnSpPr>
            <a:stCxn id="78" idx="2"/>
            <a:endCxn id="14" idx="0"/>
          </p:cNvCxnSpPr>
          <p:nvPr/>
        </p:nvCxnSpPr>
        <p:spPr>
          <a:xfrm rot="5400000">
            <a:off x="4515278" y="2842710"/>
            <a:ext cx="1561911" cy="985763"/>
          </a:xfrm>
          <a:prstGeom prst="bentConnector3">
            <a:avLst>
              <a:gd name="adj1" fmla="val 71055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コネクタ: カギ線 152">
            <a:extLst>
              <a:ext uri="{FF2B5EF4-FFF2-40B4-BE49-F238E27FC236}">
                <a16:creationId xmlns:a16="http://schemas.microsoft.com/office/drawing/2014/main" id="{F1151BBC-0DBE-3B17-63B7-CF8D1AE0C07C}"/>
              </a:ext>
            </a:extLst>
          </p:cNvPr>
          <p:cNvCxnSpPr>
            <a:stCxn id="78" idx="2"/>
            <a:endCxn id="19" idx="0"/>
          </p:cNvCxnSpPr>
          <p:nvPr/>
        </p:nvCxnSpPr>
        <p:spPr>
          <a:xfrm rot="5400000">
            <a:off x="5007113" y="3334545"/>
            <a:ext cx="1561911" cy="20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コネクタ: カギ線 154">
            <a:extLst>
              <a:ext uri="{FF2B5EF4-FFF2-40B4-BE49-F238E27FC236}">
                <a16:creationId xmlns:a16="http://schemas.microsoft.com/office/drawing/2014/main" id="{BBEB8A1C-B210-71AF-69E1-6AC828521F23}"/>
              </a:ext>
            </a:extLst>
          </p:cNvPr>
          <p:cNvCxnSpPr>
            <a:stCxn id="78" idx="2"/>
            <a:endCxn id="22" idx="0"/>
          </p:cNvCxnSpPr>
          <p:nvPr/>
        </p:nvCxnSpPr>
        <p:spPr>
          <a:xfrm rot="16200000" flipH="1">
            <a:off x="5494449" y="2849300"/>
            <a:ext cx="1561911" cy="972581"/>
          </a:xfrm>
          <a:prstGeom prst="bentConnector3">
            <a:avLst>
              <a:gd name="adj1" fmla="val 71055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コネクタ: カギ線 156">
            <a:extLst>
              <a:ext uri="{FF2B5EF4-FFF2-40B4-BE49-F238E27FC236}">
                <a16:creationId xmlns:a16="http://schemas.microsoft.com/office/drawing/2014/main" id="{7C30E6E3-E255-F260-62AD-4DAC20BD0AAB}"/>
              </a:ext>
            </a:extLst>
          </p:cNvPr>
          <p:cNvCxnSpPr>
            <a:stCxn id="78" idx="2"/>
            <a:endCxn id="25" idx="0"/>
          </p:cNvCxnSpPr>
          <p:nvPr/>
        </p:nvCxnSpPr>
        <p:spPr>
          <a:xfrm rot="16200000" flipH="1">
            <a:off x="5986284" y="2357466"/>
            <a:ext cx="1561911" cy="1956250"/>
          </a:xfrm>
          <a:prstGeom prst="bentConnector3">
            <a:avLst>
              <a:gd name="adj1" fmla="val 70917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コネクタ: カギ線 158">
            <a:extLst>
              <a:ext uri="{FF2B5EF4-FFF2-40B4-BE49-F238E27FC236}">
                <a16:creationId xmlns:a16="http://schemas.microsoft.com/office/drawing/2014/main" id="{64650D27-0A81-99D2-DA7C-155D145EABEE}"/>
              </a:ext>
            </a:extLst>
          </p:cNvPr>
          <p:cNvCxnSpPr>
            <a:cxnSpLocks/>
            <a:stCxn id="78" idx="2"/>
            <a:endCxn id="31" idx="1"/>
          </p:cNvCxnSpPr>
          <p:nvPr/>
        </p:nvCxnSpPr>
        <p:spPr>
          <a:xfrm rot="16200000" flipH="1">
            <a:off x="6144153" y="2199596"/>
            <a:ext cx="620652" cy="1330731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コネクタ: カギ線 4">
            <a:extLst>
              <a:ext uri="{FF2B5EF4-FFF2-40B4-BE49-F238E27FC236}">
                <a16:creationId xmlns:a16="http://schemas.microsoft.com/office/drawing/2014/main" id="{9A11694F-8A36-3140-6D91-170067BC6646}"/>
              </a:ext>
            </a:extLst>
          </p:cNvPr>
          <p:cNvCxnSpPr>
            <a:cxnSpLocks/>
            <a:stCxn id="3" idx="3"/>
            <a:endCxn id="78" idx="1"/>
          </p:cNvCxnSpPr>
          <p:nvPr/>
        </p:nvCxnSpPr>
        <p:spPr>
          <a:xfrm flipV="1">
            <a:off x="2472446" y="2371756"/>
            <a:ext cx="2438983" cy="202192"/>
          </a:xfrm>
          <a:prstGeom prst="bentConnector3">
            <a:avLst>
              <a:gd name="adj1" fmla="val 30597"/>
            </a:avLst>
          </a:prstGeom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6C5E42BB-190B-EE98-E6FD-A2D5BAE55B90}"/>
              </a:ext>
            </a:extLst>
          </p:cNvPr>
          <p:cNvCxnSpPr>
            <a:cxnSpLocks/>
            <a:stCxn id="78" idx="3"/>
            <a:endCxn id="96" idx="1"/>
          </p:cNvCxnSpPr>
          <p:nvPr/>
        </p:nvCxnSpPr>
        <p:spPr>
          <a:xfrm>
            <a:off x="6666799" y="2371756"/>
            <a:ext cx="3190248" cy="3442534"/>
          </a:xfrm>
          <a:prstGeom prst="bentConnector3">
            <a:avLst>
              <a:gd name="adj1" fmla="val 84194"/>
            </a:avLst>
          </a:prstGeom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コネクタ: カギ線 71">
            <a:extLst>
              <a:ext uri="{FF2B5EF4-FFF2-40B4-BE49-F238E27FC236}">
                <a16:creationId xmlns:a16="http://schemas.microsoft.com/office/drawing/2014/main" id="{4A53C592-D647-1D33-516F-C7A3168A8985}"/>
              </a:ext>
            </a:extLst>
          </p:cNvPr>
          <p:cNvCxnSpPr>
            <a:cxnSpLocks/>
            <a:stCxn id="4" idx="3"/>
            <a:endCxn id="78" idx="1"/>
          </p:cNvCxnSpPr>
          <p:nvPr/>
        </p:nvCxnSpPr>
        <p:spPr>
          <a:xfrm flipV="1">
            <a:off x="2472446" y="2371756"/>
            <a:ext cx="2438983" cy="2681158"/>
          </a:xfrm>
          <a:prstGeom prst="bentConnector3">
            <a:avLst>
              <a:gd name="adj1" fmla="val 30268"/>
            </a:avLst>
          </a:prstGeom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63EC3822-DB3A-D851-5B0A-D5721622BDD0}"/>
              </a:ext>
            </a:extLst>
          </p:cNvPr>
          <p:cNvSpPr/>
          <p:nvPr/>
        </p:nvSpPr>
        <p:spPr>
          <a:xfrm>
            <a:off x="626676" y="2696251"/>
            <a:ext cx="1646141" cy="26185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TTS (R7)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1E3B3A9-92FB-F818-A7C5-16D311BE9979}"/>
              </a:ext>
            </a:extLst>
          </p:cNvPr>
          <p:cNvGrpSpPr/>
          <p:nvPr/>
        </p:nvGrpSpPr>
        <p:grpSpPr>
          <a:xfrm>
            <a:off x="9857044" y="4680543"/>
            <a:ext cx="1646141" cy="530467"/>
            <a:chOff x="10124678" y="955162"/>
            <a:chExt cx="1646141" cy="530467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B25354D5-E7FA-661A-D17E-9C72C0B2D9AB}"/>
                </a:ext>
              </a:extLst>
            </p:cNvPr>
            <p:cNvSpPr/>
            <p:nvPr/>
          </p:nvSpPr>
          <p:spPr>
            <a:xfrm>
              <a:off x="10124678" y="955162"/>
              <a:ext cx="1646141" cy="261851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サプライヤ管理</a:t>
              </a: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DX</a:t>
              </a:r>
              <a:endPara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B321D244-0FB0-7F89-6852-697184728FD3}"/>
                </a:ext>
              </a:extLst>
            </p:cNvPr>
            <p:cNvSpPr/>
            <p:nvPr/>
          </p:nvSpPr>
          <p:spPr>
            <a:xfrm>
              <a:off x="10124678" y="1223778"/>
              <a:ext cx="1646141" cy="2618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CP3</a:t>
              </a:r>
              <a:r>
                <a:rPr kumimoji="1" lang="ja-JP" altLang="en-US" sz="11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坂口</a:t>
              </a: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EE508D93-2DCD-ADF4-158D-700E561743F0}"/>
              </a:ext>
            </a:extLst>
          </p:cNvPr>
          <p:cNvGrpSpPr/>
          <p:nvPr/>
        </p:nvGrpSpPr>
        <p:grpSpPr>
          <a:xfrm>
            <a:off x="8312486" y="4123130"/>
            <a:ext cx="906088" cy="1294016"/>
            <a:chOff x="3474719" y="3161606"/>
            <a:chExt cx="906088" cy="1294016"/>
          </a:xfrm>
        </p:grpSpPr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EC345DE2-CCD3-1948-3D73-71A75081FF20}"/>
                </a:ext>
              </a:extLst>
            </p:cNvPr>
            <p:cNvSpPr/>
            <p:nvPr/>
          </p:nvSpPr>
          <p:spPr>
            <a:xfrm>
              <a:off x="3474720" y="3428999"/>
              <a:ext cx="906087" cy="10266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BSD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日野</a:t>
              </a:r>
              <a:endPara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76B717EA-46A4-E9AE-9607-BD83A345DAAF}"/>
                </a:ext>
              </a:extLst>
            </p:cNvPr>
            <p:cNvSpPr/>
            <p:nvPr/>
          </p:nvSpPr>
          <p:spPr>
            <a:xfrm>
              <a:off x="3474719" y="3161606"/>
              <a:ext cx="906087" cy="26185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TFE</a:t>
              </a: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BF50A4EC-4356-4713-3D0C-0DC2F1495EFF}"/>
              </a:ext>
            </a:extLst>
          </p:cNvPr>
          <p:cNvCxnSpPr>
            <a:cxnSpLocks/>
            <a:stCxn id="78" idx="2"/>
            <a:endCxn id="66" idx="0"/>
          </p:cNvCxnSpPr>
          <p:nvPr/>
        </p:nvCxnSpPr>
        <p:spPr>
          <a:xfrm rot="16200000" flipH="1">
            <a:off x="6493075" y="1850675"/>
            <a:ext cx="1568494" cy="2976416"/>
          </a:xfrm>
          <a:prstGeom prst="bentConnector3">
            <a:avLst>
              <a:gd name="adj1" fmla="val 70455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15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966BC6-C322-F766-B3A0-0A61AAA3F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ea typeface="メイリオ" panose="020B0604030504040204" pitchFamily="50" charset="-128"/>
                <a:cs typeface="Arial" panose="020B0604020202020204" pitchFamily="34" charset="0"/>
              </a:rPr>
              <a:t>トレーサビリティで実現したいこと</a:t>
            </a:r>
          </a:p>
        </p:txBody>
      </p: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4832E11F-BC2B-8F56-3D11-3793337AE26A}"/>
              </a:ext>
            </a:extLst>
          </p:cNvPr>
          <p:cNvGrpSpPr/>
          <p:nvPr/>
        </p:nvGrpSpPr>
        <p:grpSpPr>
          <a:xfrm>
            <a:off x="918100" y="1120354"/>
            <a:ext cx="10686468" cy="448466"/>
            <a:chOff x="1110604" y="1120354"/>
            <a:chExt cx="10925096" cy="448466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49E9DB3F-B1C5-4E8F-C6EA-7BF6BC88EF5F}"/>
                </a:ext>
              </a:extLst>
            </p:cNvPr>
            <p:cNvSpPr/>
            <p:nvPr/>
          </p:nvSpPr>
          <p:spPr>
            <a:xfrm>
              <a:off x="1110604" y="1120354"/>
              <a:ext cx="2711398" cy="44846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ISO</a:t>
              </a:r>
              <a:r>
                <a:rPr kumimoji="1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要求事項への対応</a:t>
              </a: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ACA4C27F-5F2F-3827-9C2D-A79C51D23E24}"/>
                </a:ext>
              </a:extLst>
            </p:cNvPr>
            <p:cNvSpPr/>
            <p:nvPr/>
          </p:nvSpPr>
          <p:spPr>
            <a:xfrm>
              <a:off x="3925369" y="1120354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“</a:t>
              </a:r>
              <a:r>
                <a:rPr kumimoji="1" lang="en-US" altLang="ja-JP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ISO9001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：</a:t>
              </a:r>
              <a:r>
                <a:rPr kumimoji="1" lang="en-US" altLang="ja-JP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8.5.2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項の識別及びトレーサビリティ”に則り、</a:t>
              </a:r>
              <a:r>
                <a:rPr kumimoji="1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自社販売装置の成り立ち・識別・状態をより正確に迅速に把握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する</a:t>
              </a:r>
            </a:p>
          </p:txBody>
        </p:sp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8A2984DE-1191-9259-CDC9-A3F476024C22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1568820"/>
              <a:ext cx="8110331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16AEA4E8-F07D-F5DC-E72B-01C7C665D55F}"/>
              </a:ext>
            </a:extLst>
          </p:cNvPr>
          <p:cNvGrpSpPr/>
          <p:nvPr/>
        </p:nvGrpSpPr>
        <p:grpSpPr>
          <a:xfrm>
            <a:off x="918100" y="1686121"/>
            <a:ext cx="10686468" cy="472529"/>
            <a:chOff x="1110604" y="1680319"/>
            <a:chExt cx="10925096" cy="472529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56C9E474-0CB5-9EA9-7047-F55D0EB58E1E}"/>
                </a:ext>
              </a:extLst>
            </p:cNvPr>
            <p:cNvSpPr/>
            <p:nvPr/>
          </p:nvSpPr>
          <p:spPr>
            <a:xfrm>
              <a:off x="1110604" y="1704382"/>
              <a:ext cx="2711398" cy="44846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法令遵守への対応</a:t>
              </a:r>
              <a:endPara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82954527-4BAB-E044-7DEB-9EF404B00696}"/>
                </a:ext>
              </a:extLst>
            </p:cNvPr>
            <p:cNvSpPr/>
            <p:nvPr/>
          </p:nvSpPr>
          <p:spPr>
            <a:xfrm>
              <a:off x="3925369" y="1680319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パーツ</a:t>
              </a:r>
              <a:r>
                <a:rPr kumimoji="1" lang="en-US" altLang="ja-JP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SN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もしくは入庫ロット番号で</a:t>
              </a:r>
              <a:r>
                <a:rPr kumimoji="1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法規制対応済み品</a:t>
              </a:r>
              <a:r>
                <a:rPr kumimoji="1" lang="en-US" altLang="ja-JP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(or</a:t>
              </a:r>
              <a:r>
                <a:rPr kumimoji="1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非対応品</a:t>
              </a:r>
              <a:r>
                <a:rPr kumimoji="1" lang="en-US" altLang="ja-JP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)</a:t>
              </a:r>
              <a:r>
                <a:rPr kumimoji="1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を正確に迅速に把握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する　</a:t>
              </a:r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BD0C4EB1-D335-6B9C-FCA1-A8E922AC44E3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2152848"/>
              <a:ext cx="8110331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158B96BC-8FC5-6DE3-E2CB-17D79BA0253F}"/>
              </a:ext>
            </a:extLst>
          </p:cNvPr>
          <p:cNvGrpSpPr/>
          <p:nvPr/>
        </p:nvGrpSpPr>
        <p:grpSpPr>
          <a:xfrm>
            <a:off x="918100" y="2841718"/>
            <a:ext cx="10686468" cy="448466"/>
            <a:chOff x="1110604" y="2753627"/>
            <a:chExt cx="10925096" cy="448466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11B2BDF3-D9C8-937C-FB32-91F15604534C}"/>
                </a:ext>
              </a:extLst>
            </p:cNvPr>
            <p:cNvSpPr/>
            <p:nvPr/>
          </p:nvSpPr>
          <p:spPr>
            <a:xfrm>
              <a:off x="1110604" y="2753627"/>
              <a:ext cx="2711398" cy="4484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トラブル品の所在確認</a:t>
              </a: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0AA40DEC-3865-614F-E66F-E07B378F92A9}"/>
                </a:ext>
              </a:extLst>
            </p:cNvPr>
            <p:cNvSpPr/>
            <p:nvPr/>
          </p:nvSpPr>
          <p:spPr>
            <a:xfrm>
              <a:off x="3925369" y="2753627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パーツ</a:t>
              </a:r>
              <a:r>
                <a:rPr kumimoji="1" lang="en-US" altLang="ja-JP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SN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もしくは入庫ロット番号で</a:t>
              </a:r>
              <a:r>
                <a:rPr kumimoji="1" lang="en-US" altLang="ja-JP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FCN/SI</a:t>
              </a:r>
              <a:r>
                <a:rPr kumimoji="1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品・リコール品の所在をより迅速に把握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する</a:t>
              </a:r>
            </a:p>
          </p:txBody>
        </p: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FC3B1B9A-8EFC-6857-E6D0-373B013FA4F9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3202093"/>
              <a:ext cx="811033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772B3823-CE98-94AF-ABAF-1E938FECCE77}"/>
              </a:ext>
            </a:extLst>
          </p:cNvPr>
          <p:cNvGrpSpPr/>
          <p:nvPr/>
        </p:nvGrpSpPr>
        <p:grpSpPr>
          <a:xfrm>
            <a:off x="918100" y="3407485"/>
            <a:ext cx="10686468" cy="448466"/>
            <a:chOff x="1110604" y="3326523"/>
            <a:chExt cx="10925096" cy="448466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365E3191-0DC5-9D70-5FD9-D88DD69C7383}"/>
                </a:ext>
              </a:extLst>
            </p:cNvPr>
            <p:cNvSpPr/>
            <p:nvPr/>
          </p:nvSpPr>
          <p:spPr>
            <a:xfrm>
              <a:off x="1110604" y="3326523"/>
              <a:ext cx="2711398" cy="4484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トラブル分析 </a:t>
              </a:r>
              <a:r>
                <a:rPr kumimoji="1" lang="en-US" altLang="ja-JP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(</a:t>
              </a:r>
              <a:r>
                <a:rPr kumimoji="1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検査データ</a:t>
              </a:r>
              <a:r>
                <a:rPr kumimoji="1" lang="en-US" altLang="ja-JP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)</a:t>
              </a:r>
              <a:endPara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1BAC9C28-ADE5-2B3F-5585-08A0346C46B0}"/>
                </a:ext>
              </a:extLst>
            </p:cNvPr>
            <p:cNvSpPr/>
            <p:nvPr/>
          </p:nvSpPr>
          <p:spPr>
            <a:xfrm>
              <a:off x="3925369" y="3326523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特定の</a:t>
              </a:r>
              <a:r>
                <a:rPr kumimoji="1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個体パーツの取引先検査データをより迅速に抽出し、分析に活用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する　</a:t>
              </a:r>
            </a:p>
          </p:txBody>
        </p: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441D67A6-7C0C-B266-7A32-51339C0043F1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3774989"/>
              <a:ext cx="811033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1ABC9A1D-71C3-6707-0677-D7A8B085CA94}"/>
              </a:ext>
            </a:extLst>
          </p:cNvPr>
          <p:cNvGrpSpPr/>
          <p:nvPr/>
        </p:nvGrpSpPr>
        <p:grpSpPr>
          <a:xfrm>
            <a:off x="918100" y="3973252"/>
            <a:ext cx="10686468" cy="448466"/>
            <a:chOff x="1110604" y="3899419"/>
            <a:chExt cx="10925096" cy="448466"/>
          </a:xfrm>
        </p:grpSpPr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3CC1A5A9-D459-6428-90C0-F025D833CD16}"/>
                </a:ext>
              </a:extLst>
            </p:cNvPr>
            <p:cNvSpPr/>
            <p:nvPr/>
          </p:nvSpPr>
          <p:spPr>
            <a:xfrm>
              <a:off x="1110604" y="3899419"/>
              <a:ext cx="2711398" cy="4484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トラブル分析 </a:t>
              </a:r>
              <a:r>
                <a:rPr kumimoji="1" lang="en-US" altLang="ja-JP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(</a:t>
              </a:r>
              <a:r>
                <a:rPr kumimoji="1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パーツ履歴</a:t>
              </a:r>
              <a:r>
                <a:rPr kumimoji="1" lang="en-US" altLang="ja-JP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)</a:t>
              </a:r>
              <a:endPara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B5A88B41-4483-C3B9-ACF1-0D873137947C}"/>
                </a:ext>
              </a:extLst>
            </p:cNvPr>
            <p:cNvSpPr/>
            <p:nvPr/>
          </p:nvSpPr>
          <p:spPr>
            <a:xfrm>
              <a:off x="3925369" y="3899419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特定の</a:t>
              </a:r>
              <a:r>
                <a:rPr kumimoji="1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個体パーツの生い立ち</a:t>
              </a:r>
              <a:r>
                <a:rPr kumimoji="0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・</a:t>
              </a:r>
              <a:r>
                <a:rPr kumimoji="1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履歴をより迅速に把握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する　</a:t>
              </a:r>
            </a:p>
          </p:txBody>
        </p: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0C4B464A-9675-FDB5-C8E2-83F1E626F432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4347885"/>
              <a:ext cx="811033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48A0E893-1B17-4625-197A-0C1A8F870FE9}"/>
              </a:ext>
            </a:extLst>
          </p:cNvPr>
          <p:cNvGrpSpPr/>
          <p:nvPr/>
        </p:nvGrpSpPr>
        <p:grpSpPr>
          <a:xfrm>
            <a:off x="918100" y="4539019"/>
            <a:ext cx="10686468" cy="448466"/>
            <a:chOff x="1110604" y="4472315"/>
            <a:chExt cx="10925096" cy="448466"/>
          </a:xfrm>
        </p:grpSpPr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EF8C71C7-2262-0E32-DAB6-700B8F946F98}"/>
                </a:ext>
              </a:extLst>
            </p:cNvPr>
            <p:cNvSpPr/>
            <p:nvPr/>
          </p:nvSpPr>
          <p:spPr>
            <a:xfrm>
              <a:off x="1110604" y="4472315"/>
              <a:ext cx="2711398" cy="4484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トラブル分析 </a:t>
              </a:r>
              <a:r>
                <a:rPr kumimoji="0" lang="en-US" altLang="ja-JP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(</a:t>
              </a:r>
              <a:r>
                <a:rPr kumimoji="0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複合分析</a:t>
              </a:r>
              <a:r>
                <a:rPr kumimoji="0" lang="en-US" altLang="ja-JP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)</a:t>
              </a:r>
              <a:endPara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970FB80D-7BDD-4C4B-B146-DC9870443B25}"/>
                </a:ext>
              </a:extLst>
            </p:cNvPr>
            <p:cNvSpPr/>
            <p:nvPr/>
          </p:nvSpPr>
          <p:spPr>
            <a:xfrm>
              <a:off x="3925369" y="4472315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トレーサビリティデータ</a:t>
              </a:r>
              <a:r>
                <a:rPr kumimoji="0" lang="en-US" altLang="ja-JP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(※)</a:t>
              </a:r>
              <a:r>
                <a:rPr kumimoji="0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比較することで、不具合要因可能性を抽出する</a:t>
              </a:r>
              <a:endPara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  <a:p>
              <a:pPr marL="0" marR="0" lvl="0" indent="0" algn="r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※</a:t>
              </a:r>
              <a:r>
                <a:rPr kumimoji="0" lang="ja-JP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不具合データ、作業履歴データ、検査データなど　</a:t>
              </a:r>
              <a:endParaRPr kumimoji="1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15C55527-46CB-FD2B-B988-FBA3570A14F2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4920781"/>
              <a:ext cx="811033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E95DB0D3-1771-27DB-2CCE-4D3D97A7C24F}"/>
              </a:ext>
            </a:extLst>
          </p:cNvPr>
          <p:cNvGrpSpPr/>
          <p:nvPr/>
        </p:nvGrpSpPr>
        <p:grpSpPr>
          <a:xfrm>
            <a:off x="918100" y="5104786"/>
            <a:ext cx="10686468" cy="448466"/>
            <a:chOff x="1110604" y="5045210"/>
            <a:chExt cx="10925096" cy="448466"/>
          </a:xfrm>
        </p:grpSpPr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ECD75FAC-B8A6-9D9E-A2B5-54B52D01F76B}"/>
                </a:ext>
              </a:extLst>
            </p:cNvPr>
            <p:cNvSpPr/>
            <p:nvPr/>
          </p:nvSpPr>
          <p:spPr>
            <a:xfrm>
              <a:off x="1110604" y="5045210"/>
              <a:ext cx="2711398" cy="4484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トラブル未然予防</a:t>
              </a:r>
              <a:endPara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D2B1BC19-8296-CA35-DC3E-CA80F9BED8AC}"/>
                </a:ext>
              </a:extLst>
            </p:cNvPr>
            <p:cNvSpPr/>
            <p:nvPr/>
          </p:nvSpPr>
          <p:spPr>
            <a:xfrm>
              <a:off x="3925369" y="5045210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保管寿命切れのリスクパーツを把握し、出荷を防止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する　</a:t>
              </a:r>
            </a:p>
          </p:txBody>
        </p: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38C3ED22-A5CF-0E7F-D9C8-6AFA40B8663C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5493676"/>
              <a:ext cx="811033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D7F3EFD8-D218-C246-8C14-E67386064F39}"/>
              </a:ext>
            </a:extLst>
          </p:cNvPr>
          <p:cNvGrpSpPr/>
          <p:nvPr/>
        </p:nvGrpSpPr>
        <p:grpSpPr>
          <a:xfrm>
            <a:off x="918100" y="5670553"/>
            <a:ext cx="10686468" cy="448466"/>
            <a:chOff x="1110604" y="5618104"/>
            <a:chExt cx="10925096" cy="448466"/>
          </a:xfrm>
        </p:grpSpPr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946A3419-5707-C81D-4DDB-C0F42620503C}"/>
                </a:ext>
              </a:extLst>
            </p:cNvPr>
            <p:cNvSpPr/>
            <p:nvPr/>
          </p:nvSpPr>
          <p:spPr>
            <a:xfrm>
              <a:off x="1110604" y="5618104"/>
              <a:ext cx="2711398" cy="4484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顧客ニーズへの対応</a:t>
              </a: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1273D30B-669B-74C6-E1B4-5B94BEFD8A77}"/>
                </a:ext>
              </a:extLst>
            </p:cNvPr>
            <p:cNvSpPr/>
            <p:nvPr/>
          </p:nvSpPr>
          <p:spPr>
            <a:xfrm>
              <a:off x="3925369" y="5618104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パーツ</a:t>
              </a:r>
              <a:r>
                <a:rPr kumimoji="0" lang="en-US" altLang="ja-JP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SN</a:t>
              </a:r>
              <a:r>
                <a:rPr kumimoji="0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ごとの</a:t>
              </a:r>
              <a:r>
                <a:rPr kumimoji="1" lang="en-US" altLang="ja-JP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CoA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データ提供により、データドリブンで装置ダウンタイムを削減したいという顧客ニーズにより迅速に対応する　</a:t>
              </a:r>
            </a:p>
          </p:txBody>
        </p: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971D9FC4-1CDE-9464-21D8-21D5D6F8D479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6066570"/>
              <a:ext cx="8110331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AAB54586-82A6-888C-D05D-D1C09F82E787}"/>
              </a:ext>
            </a:extLst>
          </p:cNvPr>
          <p:cNvGrpSpPr/>
          <p:nvPr/>
        </p:nvGrpSpPr>
        <p:grpSpPr>
          <a:xfrm>
            <a:off x="918100" y="2275951"/>
            <a:ext cx="10686468" cy="448466"/>
            <a:chOff x="1110604" y="2178204"/>
            <a:chExt cx="10925096" cy="448466"/>
          </a:xfrm>
        </p:grpSpPr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14AEFB85-CFDC-7A2D-8E4B-BA42A44C40A5}"/>
                </a:ext>
              </a:extLst>
            </p:cNvPr>
            <p:cNvSpPr/>
            <p:nvPr/>
          </p:nvSpPr>
          <p:spPr>
            <a:xfrm>
              <a:off x="1110604" y="2178204"/>
              <a:ext cx="2711398" cy="44846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半導体業界への対応</a:t>
              </a: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35341F4E-CF11-C587-1F88-7B32FC5A42BF}"/>
                </a:ext>
              </a:extLst>
            </p:cNvPr>
            <p:cNvSpPr/>
            <p:nvPr/>
          </p:nvSpPr>
          <p:spPr>
            <a:xfrm>
              <a:off x="3925369" y="2178204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半導体サプライチェーンのトレーサビリティを担保するという業界ニーズ・顧客ニーズに対応する　</a:t>
              </a:r>
              <a:r>
                <a:rPr kumimoji="1" lang="en-US" altLang="ja-JP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(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トレーサビリティラベル</a:t>
              </a:r>
              <a:r>
                <a:rPr kumimoji="1" lang="en-US" altLang="ja-JP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&amp;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データ要求</a:t>
              </a:r>
              <a:r>
                <a:rPr kumimoji="1" lang="en-US" altLang="ja-JP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)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　</a:t>
              </a: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FF584BE1-8338-7DAB-0543-70ACE2DDBBCD}"/>
                </a:ext>
              </a:extLst>
            </p:cNvPr>
            <p:cNvCxnSpPr>
              <a:cxnSpLocks/>
            </p:cNvCxnSpPr>
            <p:nvPr/>
          </p:nvCxnSpPr>
          <p:spPr>
            <a:xfrm>
              <a:off x="3925369" y="2626670"/>
              <a:ext cx="8110331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3FA15346-95F8-41F2-9DB9-6DF7ABB999E7}"/>
              </a:ext>
            </a:extLst>
          </p:cNvPr>
          <p:cNvGrpSpPr/>
          <p:nvPr/>
        </p:nvGrpSpPr>
        <p:grpSpPr>
          <a:xfrm>
            <a:off x="910080" y="6236317"/>
            <a:ext cx="10694314" cy="448466"/>
            <a:chOff x="1102583" y="6236317"/>
            <a:chExt cx="10933117" cy="448466"/>
          </a:xfrm>
        </p:grpSpPr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9501D8ED-88ED-4F47-1242-960C860651AF}"/>
                </a:ext>
              </a:extLst>
            </p:cNvPr>
            <p:cNvSpPr/>
            <p:nvPr/>
          </p:nvSpPr>
          <p:spPr>
            <a:xfrm>
              <a:off x="1102583" y="6236317"/>
              <a:ext cx="2711398" cy="44846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業務効率化</a:t>
              </a:r>
              <a:endPara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CC211237-567F-AA4F-9F3D-F531AB2BF8D2}"/>
                </a:ext>
              </a:extLst>
            </p:cNvPr>
            <p:cNvSpPr/>
            <p:nvPr/>
          </p:nvSpPr>
          <p:spPr>
            <a:xfrm>
              <a:off x="3925369" y="6236317"/>
              <a:ext cx="8110331" cy="4484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219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出荷済み部品・装置に関する情報への</a:t>
              </a:r>
              <a:r>
                <a:rPr kumimoji="1" lang="en-US" altLang="ja-JP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One-Stop</a:t>
              </a:r>
              <a:r>
                <a:rPr kumimoji="1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アクセスを可能</a:t>
              </a:r>
              <a:r>
                <a:rPr kumimoji="1" lang="ja-JP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 panose="020B0604020202020204" pitchFamily="34" charset="0"/>
                  <a:ea typeface="メイリオ" panose="020B0604030504040204" pitchFamily="50" charset="-128"/>
                  <a:cs typeface="Arial" panose="020B0604020202020204" pitchFamily="34" charset="0"/>
                </a:rPr>
                <a:t>にする</a:t>
              </a:r>
            </a:p>
          </p:txBody>
        </p: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FB895E00-492F-8846-BDD1-1A3CD09131A3}"/>
                </a:ext>
              </a:extLst>
            </p:cNvPr>
            <p:cNvCxnSpPr>
              <a:cxnSpLocks/>
            </p:cNvCxnSpPr>
            <p:nvPr/>
          </p:nvCxnSpPr>
          <p:spPr>
            <a:xfrm>
              <a:off x="3917348" y="6684783"/>
              <a:ext cx="8110331" cy="0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フローチャート: 処理 57">
            <a:extLst>
              <a:ext uri="{FF2B5EF4-FFF2-40B4-BE49-F238E27FC236}">
                <a16:creationId xmlns:a16="http://schemas.microsoft.com/office/drawing/2014/main" id="{8FD48C74-AF8D-E979-B43C-847F5C742B3D}"/>
              </a:ext>
            </a:extLst>
          </p:cNvPr>
          <p:cNvSpPr/>
          <p:nvPr/>
        </p:nvSpPr>
        <p:spPr>
          <a:xfrm>
            <a:off x="464948" y="1120354"/>
            <a:ext cx="349786" cy="1604062"/>
          </a:xfrm>
          <a:prstGeom prst="flowChartProcess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Compliance</a:t>
            </a:r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59" name="フローチャート: 処理 58">
            <a:extLst>
              <a:ext uri="{FF2B5EF4-FFF2-40B4-BE49-F238E27FC236}">
                <a16:creationId xmlns:a16="http://schemas.microsoft.com/office/drawing/2014/main" id="{B57D67E3-1A79-580E-C561-1AB7B8967658}"/>
              </a:ext>
            </a:extLst>
          </p:cNvPr>
          <p:cNvSpPr/>
          <p:nvPr/>
        </p:nvSpPr>
        <p:spPr>
          <a:xfrm>
            <a:off x="464948" y="2841718"/>
            <a:ext cx="349786" cy="3277299"/>
          </a:xfrm>
          <a:prstGeom prst="flowChartProcess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Quality</a:t>
            </a:r>
            <a:endParaRPr kumimoji="1" lang="ja-JP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60" name="フローチャート: 処理 59">
            <a:extLst>
              <a:ext uri="{FF2B5EF4-FFF2-40B4-BE49-F238E27FC236}">
                <a16:creationId xmlns:a16="http://schemas.microsoft.com/office/drawing/2014/main" id="{BAE8B413-0B25-EEAB-5CB4-6305E6DC5A5C}"/>
              </a:ext>
            </a:extLst>
          </p:cNvPr>
          <p:cNvSpPr/>
          <p:nvPr/>
        </p:nvSpPr>
        <p:spPr>
          <a:xfrm>
            <a:off x="456927" y="6236317"/>
            <a:ext cx="349786" cy="448466"/>
          </a:xfrm>
          <a:prstGeom prst="flowChartProcess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Efficiency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20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オブジェクト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7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660" imgH="659" progId="TCLayout.ActiveDocument.1">
                  <p:embed/>
                </p:oleObj>
              </mc:Choice>
              <mc:Fallback>
                <p:oleObj name="think-cell スライド" r:id="rId3" imgW="660" imgH="659" progId="TCLayout.ActiveDocument.1">
                  <p:embed/>
                  <p:pic>
                    <p:nvPicPr>
                      <p:cNvPr id="14" name="オブジェクト 1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7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60507" y="261993"/>
            <a:ext cx="10916165" cy="523220"/>
          </a:xfrm>
        </p:spPr>
        <p:txBody>
          <a:bodyPr/>
          <a:lstStyle/>
          <a:p>
            <a:r>
              <a:rPr lang="ja-JP" altLang="en-US"/>
              <a:t>トレーサビリティシステム </a:t>
            </a:r>
            <a:r>
              <a:rPr lang="en-US" altLang="ja-JP"/>
              <a:t>(TO-BE</a:t>
            </a:r>
            <a:r>
              <a:rPr lang="ja-JP" altLang="en-US"/>
              <a:t>イメージ</a:t>
            </a:r>
            <a:r>
              <a:rPr lang="en-US" altLang="ja-JP"/>
              <a:t>)</a:t>
            </a:r>
            <a:endParaRPr kumimoji="1" lang="ja-JP" altLang="en-US"/>
          </a:p>
        </p:txBody>
      </p:sp>
      <p:grpSp>
        <p:nvGrpSpPr>
          <p:cNvPr id="5" name="グループ化 4"/>
          <p:cNvGrpSpPr/>
          <p:nvPr/>
        </p:nvGrpSpPr>
        <p:grpSpPr>
          <a:xfrm>
            <a:off x="10271464" y="476673"/>
            <a:ext cx="1827050" cy="477765"/>
            <a:chOff x="10297308" y="863003"/>
            <a:chExt cx="1827050" cy="477765"/>
          </a:xfrm>
        </p:grpSpPr>
        <p:sp>
          <p:nvSpPr>
            <p:cNvPr id="200" name="角丸四角形 199"/>
            <p:cNvSpPr/>
            <p:nvPr/>
          </p:nvSpPr>
          <p:spPr>
            <a:xfrm>
              <a:off x="10297308" y="863003"/>
              <a:ext cx="1827050" cy="47776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cxnSp>
          <p:nvCxnSpPr>
            <p:cNvPr id="201" name="直線矢印コネクタ 200"/>
            <p:cNvCxnSpPr/>
            <p:nvPr/>
          </p:nvCxnSpPr>
          <p:spPr>
            <a:xfrm flipV="1">
              <a:off x="10444275" y="981433"/>
              <a:ext cx="601537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正方形/長方形 202"/>
            <p:cNvSpPr/>
            <p:nvPr/>
          </p:nvSpPr>
          <p:spPr>
            <a:xfrm>
              <a:off x="11022771" y="875092"/>
              <a:ext cx="786908" cy="180552"/>
            </a:xfrm>
            <a:prstGeom prst="rect">
              <a:avLst/>
            </a:prstGeom>
          </p:spPr>
          <p:txBody>
            <a:bodyPr wrap="none" bIns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モノの流れ</a:t>
              </a:r>
              <a:endParaRPr kumimoji="0" lang="en-US" altLang="ja-JP" sz="1100" b="1" i="0" u="none" strike="noStrike" kern="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cxnSp>
          <p:nvCxnSpPr>
            <p:cNvPr id="202" name="直線矢印コネクタ 201"/>
            <p:cNvCxnSpPr/>
            <p:nvPr/>
          </p:nvCxnSpPr>
          <p:spPr>
            <a:xfrm flipV="1">
              <a:off x="10453153" y="1216672"/>
              <a:ext cx="601537" cy="0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正方形/長方形 203"/>
            <p:cNvSpPr/>
            <p:nvPr/>
          </p:nvSpPr>
          <p:spPr>
            <a:xfrm>
              <a:off x="11031649" y="1115401"/>
              <a:ext cx="786908" cy="180552"/>
            </a:xfrm>
            <a:prstGeom prst="rect">
              <a:avLst/>
            </a:prstGeom>
          </p:spPr>
          <p:txBody>
            <a:bodyPr wrap="none" bIns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データの流れ</a:t>
              </a:r>
              <a:endParaRPr kumimoji="0" lang="en-US" altLang="ja-JP" sz="1100" b="1" i="0" u="none" strike="noStrike" kern="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62" name="グループ化 61"/>
          <p:cNvGrpSpPr/>
          <p:nvPr/>
        </p:nvGrpSpPr>
        <p:grpSpPr>
          <a:xfrm>
            <a:off x="119337" y="1032736"/>
            <a:ext cx="11869204" cy="5251687"/>
            <a:chOff x="117748" y="1040309"/>
            <a:chExt cx="11979179" cy="5629051"/>
          </a:xfrm>
        </p:grpSpPr>
        <p:sp>
          <p:nvSpPr>
            <p:cNvPr id="181" name="正方形/長方形 180"/>
            <p:cNvSpPr/>
            <p:nvPr/>
          </p:nvSpPr>
          <p:spPr>
            <a:xfrm>
              <a:off x="117748" y="2421689"/>
              <a:ext cx="11979178" cy="83945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04" name="正方形/長方形 103"/>
            <p:cNvSpPr/>
            <p:nvPr/>
          </p:nvSpPr>
          <p:spPr>
            <a:xfrm>
              <a:off x="117749" y="1509422"/>
              <a:ext cx="11979178" cy="83945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02" name="円柱 101"/>
            <p:cNvSpPr/>
            <p:nvPr/>
          </p:nvSpPr>
          <p:spPr>
            <a:xfrm>
              <a:off x="3862455" y="1651541"/>
              <a:ext cx="3814183" cy="562064"/>
            </a:xfrm>
            <a:prstGeom prst="can">
              <a:avLst>
                <a:gd name="adj" fmla="val 27628"/>
              </a:avLst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180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トレーサビリティデータマート</a:t>
              </a:r>
              <a:endPara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93" name="テキスト ボックス 92"/>
            <p:cNvSpPr txBox="1"/>
            <p:nvPr/>
          </p:nvSpPr>
          <p:spPr>
            <a:xfrm>
              <a:off x="1945178" y="5794973"/>
              <a:ext cx="145837" cy="26391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ja-JP" sz="10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92" name="ホームベース 91"/>
            <p:cNvSpPr/>
            <p:nvPr/>
          </p:nvSpPr>
          <p:spPr>
            <a:xfrm>
              <a:off x="7190888" y="6234363"/>
              <a:ext cx="4459836" cy="434997"/>
            </a:xfrm>
            <a:prstGeom prst="homePlate">
              <a:avLst>
                <a:gd name="adj" fmla="val 53314"/>
              </a:avLst>
            </a:prstGeom>
            <a:solidFill>
              <a:schemeClr val="accent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>
                    <a:glow rad="101600">
                      <a:srgbClr val="FFFFFF">
                        <a:alpha val="60000"/>
                      </a:srgbClr>
                    </a:glow>
                  </a:effectLst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稼働情報</a:t>
              </a:r>
            </a:p>
          </p:txBody>
        </p:sp>
        <p:sp>
          <p:nvSpPr>
            <p:cNvPr id="91" name="ホームベース 90"/>
            <p:cNvSpPr/>
            <p:nvPr/>
          </p:nvSpPr>
          <p:spPr>
            <a:xfrm>
              <a:off x="3968317" y="6234363"/>
              <a:ext cx="3532035" cy="434997"/>
            </a:xfrm>
            <a:prstGeom prst="homePlate">
              <a:avLst>
                <a:gd name="adj" fmla="val 53314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>
                    <a:glow rad="101600">
                      <a:srgbClr val="FFFFFF">
                        <a:alpha val="60000"/>
                      </a:srgbClr>
                    </a:glow>
                  </a:effectLst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装置生産情報</a:t>
              </a:r>
            </a:p>
          </p:txBody>
        </p:sp>
        <p:sp>
          <p:nvSpPr>
            <p:cNvPr id="141" name="角丸四角形 140"/>
            <p:cNvSpPr/>
            <p:nvPr/>
          </p:nvSpPr>
          <p:spPr>
            <a:xfrm>
              <a:off x="2358570" y="4222770"/>
              <a:ext cx="1692000" cy="1178186"/>
            </a:xfrm>
            <a:prstGeom prst="roundRect">
              <a:avLst>
                <a:gd name="adj" fmla="val 11026"/>
              </a:avLst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43" name="角丸四角形 142"/>
            <p:cNvSpPr/>
            <p:nvPr/>
          </p:nvSpPr>
          <p:spPr>
            <a:xfrm>
              <a:off x="550277" y="4559286"/>
              <a:ext cx="1616753" cy="1648376"/>
            </a:xfrm>
            <a:prstGeom prst="roundRect">
              <a:avLst>
                <a:gd name="adj" fmla="val 11026"/>
              </a:avLst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94" name="ホームベース 193"/>
            <p:cNvSpPr/>
            <p:nvPr/>
          </p:nvSpPr>
          <p:spPr>
            <a:xfrm>
              <a:off x="2545051" y="4887548"/>
              <a:ext cx="684268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製造</a:t>
              </a:r>
            </a:p>
          </p:txBody>
        </p:sp>
        <p:sp>
          <p:nvSpPr>
            <p:cNvPr id="195" name="ホームベース 194"/>
            <p:cNvSpPr/>
            <p:nvPr/>
          </p:nvSpPr>
          <p:spPr>
            <a:xfrm>
              <a:off x="3229318" y="4887548"/>
              <a:ext cx="684268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検査</a:t>
              </a:r>
            </a:p>
          </p:txBody>
        </p:sp>
        <p:sp>
          <p:nvSpPr>
            <p:cNvPr id="107" name="テキスト ボックス 106"/>
            <p:cNvSpPr txBox="1"/>
            <p:nvPr/>
          </p:nvSpPr>
          <p:spPr>
            <a:xfrm>
              <a:off x="1945178" y="5699398"/>
              <a:ext cx="145837" cy="26391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ja-JP" sz="10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sp>
          <p:nvSpPr>
            <p:cNvPr id="113" name="テキスト ボックス 112"/>
            <p:cNvSpPr txBox="1"/>
            <p:nvPr/>
          </p:nvSpPr>
          <p:spPr>
            <a:xfrm>
              <a:off x="1945178" y="5837679"/>
              <a:ext cx="145837" cy="26391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ja-JP" sz="10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pic>
          <p:nvPicPr>
            <p:cNvPr id="125" name="図 124"/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1788" y="4847319"/>
              <a:ext cx="638368" cy="433809"/>
            </a:xfrm>
            <a:prstGeom prst="rect">
              <a:avLst/>
            </a:prstGeom>
          </p:spPr>
        </p:pic>
        <p:sp>
          <p:nvSpPr>
            <p:cNvPr id="126" name="ホームベース 125"/>
            <p:cNvSpPr/>
            <p:nvPr/>
          </p:nvSpPr>
          <p:spPr>
            <a:xfrm>
              <a:off x="730422" y="5579711"/>
              <a:ext cx="684268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製造</a:t>
              </a:r>
            </a:p>
          </p:txBody>
        </p:sp>
        <p:sp>
          <p:nvSpPr>
            <p:cNvPr id="127" name="ホームベース 126"/>
            <p:cNvSpPr/>
            <p:nvPr/>
          </p:nvSpPr>
          <p:spPr>
            <a:xfrm>
              <a:off x="1414690" y="5579711"/>
              <a:ext cx="684268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検査</a:t>
              </a:r>
            </a:p>
          </p:txBody>
        </p:sp>
        <p:pic>
          <p:nvPicPr>
            <p:cNvPr id="128" name="図 127"/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1320" y="5157192"/>
              <a:ext cx="541442" cy="523878"/>
            </a:xfrm>
            <a:prstGeom prst="rect">
              <a:avLst/>
            </a:prstGeom>
          </p:spPr>
        </p:pic>
        <p:sp>
          <p:nvSpPr>
            <p:cNvPr id="4" name="角丸四角形 3"/>
            <p:cNvSpPr/>
            <p:nvPr/>
          </p:nvSpPr>
          <p:spPr>
            <a:xfrm>
              <a:off x="4230348" y="4543989"/>
              <a:ext cx="2846526" cy="1663673"/>
            </a:xfrm>
            <a:prstGeom prst="roundRect">
              <a:avLst>
                <a:gd name="adj" fmla="val 7164"/>
              </a:avLst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" name="角丸四角形 5"/>
            <p:cNvSpPr/>
            <p:nvPr/>
          </p:nvSpPr>
          <p:spPr>
            <a:xfrm>
              <a:off x="7270810" y="4543989"/>
              <a:ext cx="4397004" cy="1663673"/>
            </a:xfrm>
            <a:prstGeom prst="roundRect">
              <a:avLst>
                <a:gd name="adj" fmla="val 7716"/>
              </a:avLst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7" name="正方形/長方形 16"/>
            <p:cNvSpPr/>
            <p:nvPr/>
          </p:nvSpPr>
          <p:spPr>
            <a:xfrm>
              <a:off x="5565268" y="5218588"/>
              <a:ext cx="178311" cy="2831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pic>
          <p:nvPicPr>
            <p:cNvPr id="20" name="Picture 4" descr="C:\Users\071122\Desktop\pictureicon-3d-factory-icon-image-galleries-imagekb-com.jpg"/>
            <p:cNvPicPr>
              <a:picLocks noChangeAspect="1" noChangeArrowheads="1"/>
            </p:cNvPicPr>
            <p:nvPr/>
          </p:nvPicPr>
          <p:blipFill rotWithShape="1">
            <a:blip r:embed="rId7" cstate="screen">
              <a:clrChange>
                <a:clrFrom>
                  <a:srgbClr val="F4F4F4"/>
                </a:clrFrom>
                <a:clrTo>
                  <a:srgbClr val="F4F4F4">
                    <a:alpha val="0"/>
                  </a:srgbClr>
                </a:clrTo>
              </a:clrChange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052365" y="4559286"/>
              <a:ext cx="1097975" cy="720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正方形/長方形 21"/>
            <p:cNvSpPr/>
            <p:nvPr/>
          </p:nvSpPr>
          <p:spPr>
            <a:xfrm>
              <a:off x="8072065" y="5706372"/>
              <a:ext cx="158131" cy="20267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41" name="ホームベース 40"/>
            <p:cNvSpPr/>
            <p:nvPr/>
          </p:nvSpPr>
          <p:spPr>
            <a:xfrm>
              <a:off x="7418259" y="5548996"/>
              <a:ext cx="594303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搬入</a:t>
              </a:r>
            </a:p>
          </p:txBody>
        </p:sp>
        <p:sp>
          <p:nvSpPr>
            <p:cNvPr id="42" name="ホームベース 41"/>
            <p:cNvSpPr/>
            <p:nvPr/>
          </p:nvSpPr>
          <p:spPr>
            <a:xfrm>
              <a:off x="8012561" y="5548996"/>
              <a:ext cx="594303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S-UP</a:t>
              </a:r>
              <a:endParaRPr kumimoji="1" lang="ja-JP" altLang="en-US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43" name="ホームベース 42"/>
            <p:cNvSpPr/>
            <p:nvPr/>
          </p:nvSpPr>
          <p:spPr>
            <a:xfrm>
              <a:off x="8606864" y="5548996"/>
              <a:ext cx="594303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稼働</a:t>
              </a:r>
            </a:p>
          </p:txBody>
        </p:sp>
        <p:sp>
          <p:nvSpPr>
            <p:cNvPr id="44" name="ホームベース 43"/>
            <p:cNvSpPr/>
            <p:nvPr/>
          </p:nvSpPr>
          <p:spPr>
            <a:xfrm>
              <a:off x="9201169" y="5548996"/>
              <a:ext cx="594303" cy="361103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保守</a:t>
              </a:r>
            </a:p>
          </p:txBody>
        </p:sp>
        <p:grpSp>
          <p:nvGrpSpPr>
            <p:cNvPr id="13" name="グループ化 12"/>
            <p:cNvGrpSpPr/>
            <p:nvPr/>
          </p:nvGrpSpPr>
          <p:grpSpPr>
            <a:xfrm>
              <a:off x="9876282" y="5555086"/>
              <a:ext cx="1676452" cy="361103"/>
              <a:chOff x="11654753" y="3185793"/>
              <a:chExt cx="2613823" cy="372216"/>
            </a:xfrm>
            <a:solidFill>
              <a:schemeClr val="bg1">
                <a:lumMod val="85000"/>
              </a:schemeClr>
            </a:solidFill>
          </p:grpSpPr>
          <p:sp>
            <p:nvSpPr>
              <p:cNvPr id="137" name="ホームベース 136"/>
              <p:cNvSpPr/>
              <p:nvPr/>
            </p:nvSpPr>
            <p:spPr>
              <a:xfrm>
                <a:off x="11654753" y="3185793"/>
                <a:ext cx="870214" cy="372216"/>
              </a:xfrm>
              <a:prstGeom prst="homePlate">
                <a:avLst/>
              </a:prstGeom>
              <a:grpFill/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Meiryo" panose="020B0604030504040204" pitchFamily="50" charset="-128"/>
                    <a:cs typeface="Arial"/>
                  </a:rPr>
                  <a:t>搬入</a:t>
                </a:r>
              </a:p>
            </p:txBody>
          </p:sp>
          <p:sp>
            <p:nvSpPr>
              <p:cNvPr id="139" name="ホームベース 138"/>
              <p:cNvSpPr/>
              <p:nvPr/>
            </p:nvSpPr>
            <p:spPr>
              <a:xfrm>
                <a:off x="12528150" y="3185793"/>
                <a:ext cx="870214" cy="372216"/>
              </a:xfrm>
              <a:prstGeom prst="homePlate">
                <a:avLst/>
              </a:prstGeom>
              <a:grpFill/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Meiryo" panose="020B0604030504040204" pitchFamily="50" charset="-128"/>
                    <a:cs typeface="Arial"/>
                  </a:rPr>
                  <a:t>交換</a:t>
                </a:r>
              </a:p>
            </p:txBody>
          </p:sp>
          <p:sp>
            <p:nvSpPr>
              <p:cNvPr id="164" name="ホームベース 163"/>
              <p:cNvSpPr/>
              <p:nvPr/>
            </p:nvSpPr>
            <p:spPr>
              <a:xfrm>
                <a:off x="13398362" y="3185793"/>
                <a:ext cx="870214" cy="372216"/>
              </a:xfrm>
              <a:prstGeom prst="homePlate">
                <a:avLst/>
              </a:prstGeom>
              <a:grpFill/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Meiryo" panose="020B0604030504040204" pitchFamily="50" charset="-128"/>
                    <a:cs typeface="Arial"/>
                  </a:rPr>
                  <a:t>稼働</a:t>
                </a:r>
              </a:p>
            </p:txBody>
          </p:sp>
        </p:grpSp>
        <p:sp>
          <p:nvSpPr>
            <p:cNvPr id="165" name="正方形/長方形 164"/>
            <p:cNvSpPr/>
            <p:nvPr/>
          </p:nvSpPr>
          <p:spPr>
            <a:xfrm>
              <a:off x="9876282" y="5262596"/>
              <a:ext cx="1684049" cy="240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</a:ln>
            <a:effectLst/>
          </p:spPr>
          <p:txBody>
            <a:bodyPr wrap="none" lIns="90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Times New Roman"/>
                </a:rPr>
                <a:t>パーツ交換</a:t>
              </a:r>
            </a:p>
          </p:txBody>
        </p:sp>
        <p:cxnSp>
          <p:nvCxnSpPr>
            <p:cNvPr id="184" name="直線矢印コネクタ 183"/>
            <p:cNvCxnSpPr>
              <a:stCxn id="35" idx="3"/>
              <a:endCxn id="41" idx="1"/>
            </p:cNvCxnSpPr>
            <p:nvPr/>
          </p:nvCxnSpPr>
          <p:spPr>
            <a:xfrm flipV="1">
              <a:off x="6923981" y="5729548"/>
              <a:ext cx="504000" cy="605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線矢印コネクタ 189"/>
            <p:cNvCxnSpPr/>
            <p:nvPr/>
          </p:nvCxnSpPr>
          <p:spPr>
            <a:xfrm>
              <a:off x="7194730" y="5391447"/>
              <a:ext cx="2664000" cy="351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線矢印コネクタ 190"/>
            <p:cNvCxnSpPr>
              <a:stCxn id="35" idx="3"/>
            </p:cNvCxnSpPr>
            <p:nvPr/>
          </p:nvCxnSpPr>
          <p:spPr>
            <a:xfrm flipV="1">
              <a:off x="6923981" y="5394964"/>
              <a:ext cx="266906" cy="3406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グループ化 18"/>
            <p:cNvGrpSpPr/>
            <p:nvPr/>
          </p:nvGrpSpPr>
          <p:grpSpPr>
            <a:xfrm>
              <a:off x="4416474" y="5549107"/>
              <a:ext cx="2507507" cy="367042"/>
              <a:chOff x="4460215" y="2851415"/>
              <a:chExt cx="2377214" cy="367042"/>
            </a:xfrm>
            <a:solidFill>
              <a:schemeClr val="bg1">
                <a:lumMod val="85000"/>
              </a:schemeClr>
            </a:solidFill>
          </p:grpSpPr>
          <p:sp>
            <p:nvSpPr>
              <p:cNvPr id="18" name="正方形/長方形 17"/>
              <p:cNvSpPr/>
              <p:nvPr/>
            </p:nvSpPr>
            <p:spPr>
              <a:xfrm>
                <a:off x="5609658" y="2851415"/>
                <a:ext cx="178311" cy="283177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2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endParaRPr>
              </a:p>
            </p:txBody>
          </p:sp>
          <p:sp>
            <p:nvSpPr>
              <p:cNvPr id="33" name="ホームベース 32"/>
              <p:cNvSpPr/>
              <p:nvPr/>
            </p:nvSpPr>
            <p:spPr>
              <a:xfrm>
                <a:off x="5054518" y="2857354"/>
                <a:ext cx="594303" cy="361103"/>
              </a:xfrm>
              <a:prstGeom prst="homePlate">
                <a:avLst/>
              </a:prstGeom>
              <a:grpFill/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Meiryo" panose="020B0604030504040204" pitchFamily="50" charset="-128"/>
                    <a:cs typeface="Arial"/>
                  </a:rPr>
                  <a:t>組立</a:t>
                </a:r>
              </a:p>
            </p:txBody>
          </p:sp>
          <p:sp>
            <p:nvSpPr>
              <p:cNvPr id="34" name="ホームベース 33"/>
              <p:cNvSpPr/>
              <p:nvPr/>
            </p:nvSpPr>
            <p:spPr>
              <a:xfrm>
                <a:off x="5648821" y="2857354"/>
                <a:ext cx="594303" cy="361103"/>
              </a:xfrm>
              <a:prstGeom prst="homePlate">
                <a:avLst/>
              </a:prstGeom>
              <a:grpFill/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Meiryo" panose="020B0604030504040204" pitchFamily="50" charset="-128"/>
                    <a:cs typeface="Arial"/>
                  </a:rPr>
                  <a:t>検査</a:t>
                </a:r>
              </a:p>
            </p:txBody>
          </p:sp>
          <p:sp>
            <p:nvSpPr>
              <p:cNvPr id="35" name="ホームベース 34"/>
              <p:cNvSpPr/>
              <p:nvPr/>
            </p:nvSpPr>
            <p:spPr>
              <a:xfrm>
                <a:off x="6243126" y="2857354"/>
                <a:ext cx="594303" cy="361103"/>
              </a:xfrm>
              <a:prstGeom prst="homePlate">
                <a:avLst/>
              </a:prstGeom>
              <a:grpFill/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Meiryo" panose="020B0604030504040204" pitchFamily="50" charset="-128"/>
                    <a:cs typeface="Arial"/>
                  </a:rPr>
                  <a:t>出荷</a:t>
                </a:r>
              </a:p>
            </p:txBody>
          </p:sp>
          <p:sp>
            <p:nvSpPr>
              <p:cNvPr id="32" name="ホームベース 31"/>
              <p:cNvSpPr/>
              <p:nvPr/>
            </p:nvSpPr>
            <p:spPr>
              <a:xfrm>
                <a:off x="4460215" y="2857354"/>
                <a:ext cx="594303" cy="361103"/>
              </a:xfrm>
              <a:prstGeom prst="homePlate">
                <a:avLst/>
              </a:prstGeom>
              <a:grpFill/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Meiryo" panose="020B0604030504040204" pitchFamily="50" charset="-128"/>
                    <a:cs typeface="Arial"/>
                  </a:rPr>
                  <a:t>入荷</a:t>
                </a:r>
              </a:p>
            </p:txBody>
          </p:sp>
        </p:grpSp>
        <p:sp>
          <p:nvSpPr>
            <p:cNvPr id="148" name="正方形/長方形 147"/>
            <p:cNvSpPr/>
            <p:nvPr/>
          </p:nvSpPr>
          <p:spPr>
            <a:xfrm>
              <a:off x="9638774" y="3315533"/>
              <a:ext cx="2095142" cy="79208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pic>
          <p:nvPicPr>
            <p:cNvPr id="76" name="図 75"/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17475" y="5205828"/>
              <a:ext cx="288000" cy="426392"/>
            </a:xfrm>
            <a:prstGeom prst="rect">
              <a:avLst/>
            </a:prstGeom>
          </p:spPr>
        </p:pic>
        <p:cxnSp>
          <p:nvCxnSpPr>
            <p:cNvPr id="77" name="直線矢印コネクタ 76"/>
            <p:cNvCxnSpPr>
              <a:stCxn id="143" idx="0"/>
              <a:endCxn id="140" idx="2"/>
            </p:cNvCxnSpPr>
            <p:nvPr/>
          </p:nvCxnSpPr>
          <p:spPr>
            <a:xfrm flipV="1">
              <a:off x="1358654" y="3357213"/>
              <a:ext cx="2243840" cy="1202073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矢印コネクタ 77"/>
            <p:cNvCxnSpPr>
              <a:stCxn id="141" idx="0"/>
              <a:endCxn id="140" idx="3"/>
            </p:cNvCxnSpPr>
            <p:nvPr/>
          </p:nvCxnSpPr>
          <p:spPr>
            <a:xfrm flipV="1">
              <a:off x="3204570" y="3565169"/>
              <a:ext cx="759267" cy="657601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5" name="図 84"/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863393" y="4501622"/>
              <a:ext cx="638368" cy="433809"/>
            </a:xfrm>
            <a:prstGeom prst="rect">
              <a:avLst/>
            </a:prstGeom>
          </p:spPr>
        </p:pic>
        <p:pic>
          <p:nvPicPr>
            <p:cNvPr id="86" name="Picture 2" descr="C:\Users\071122\Desktop\database-5-512.pn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30661" y="3481770"/>
              <a:ext cx="1044000" cy="5186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7" name="カギ線コネクタ 26"/>
            <p:cNvCxnSpPr/>
            <p:nvPr/>
          </p:nvCxnSpPr>
          <p:spPr>
            <a:xfrm>
              <a:off x="3913586" y="5233486"/>
              <a:ext cx="520440" cy="346225"/>
            </a:xfrm>
            <a:prstGeom prst="bentConnector3">
              <a:avLst>
                <a:gd name="adj1" fmla="val 44729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カギ線コネクタ 99"/>
            <p:cNvCxnSpPr/>
            <p:nvPr/>
          </p:nvCxnSpPr>
          <p:spPr>
            <a:xfrm flipV="1">
              <a:off x="2039455" y="5233486"/>
              <a:ext cx="505596" cy="346225"/>
            </a:xfrm>
            <a:prstGeom prst="bentConnector3">
              <a:avLst>
                <a:gd name="adj1" fmla="val 44574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矢印コネクタ 129"/>
            <p:cNvCxnSpPr>
              <a:stCxn id="117" idx="1"/>
            </p:cNvCxnSpPr>
            <p:nvPr/>
          </p:nvCxnSpPr>
          <p:spPr>
            <a:xfrm flipH="1">
              <a:off x="9048137" y="2835678"/>
              <a:ext cx="590637" cy="7257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カギ線コネクタ 130"/>
            <p:cNvCxnSpPr/>
            <p:nvPr/>
          </p:nvCxnSpPr>
          <p:spPr>
            <a:xfrm>
              <a:off x="5967286" y="3374422"/>
              <a:ext cx="0" cy="2174574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テキスト ボックス 83"/>
            <p:cNvSpPr txBox="1"/>
            <p:nvPr/>
          </p:nvSpPr>
          <p:spPr>
            <a:xfrm>
              <a:off x="2778605" y="4280151"/>
              <a:ext cx="858513" cy="234775"/>
            </a:xfrm>
            <a:prstGeom prst="rect">
              <a:avLst/>
            </a:prstGeom>
            <a:noFill/>
          </p:spPr>
          <p:txBody>
            <a:bodyPr wrap="none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Assembly</a:t>
              </a:r>
              <a:r>
                <a:rPr kumimoji="0" lang="ja-JP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0" lang="en-US" altLang="ja-JP" sz="14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Supplier</a:t>
              </a:r>
            </a:p>
          </p:txBody>
        </p:sp>
        <p:sp>
          <p:nvSpPr>
            <p:cNvPr id="90" name="ホームベース 89"/>
            <p:cNvSpPr/>
            <p:nvPr/>
          </p:nvSpPr>
          <p:spPr>
            <a:xfrm>
              <a:off x="527583" y="6234363"/>
              <a:ext cx="3702765" cy="434997"/>
            </a:xfrm>
            <a:prstGeom prst="homePlate">
              <a:avLst>
                <a:gd name="adj" fmla="val 5331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>
                    <a:glow rad="101600">
                      <a:srgbClr val="FFFFFF">
                        <a:alpha val="60000"/>
                      </a:srgbClr>
                    </a:glow>
                  </a:effectLst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パーツ情報</a:t>
              </a:r>
            </a:p>
          </p:txBody>
        </p:sp>
        <p:sp>
          <p:nvSpPr>
            <p:cNvPr id="154" name="テキスト ボックス 153"/>
            <p:cNvSpPr txBox="1"/>
            <p:nvPr/>
          </p:nvSpPr>
          <p:spPr>
            <a:xfrm>
              <a:off x="5613136" y="3705550"/>
              <a:ext cx="763717" cy="75693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装置検査</a:t>
              </a:r>
              <a:br>
                <a:rPr kumimoji="1" lang="en-US" altLang="ja-JP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</a:b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データ</a:t>
              </a:r>
              <a:endParaRPr kumimoji="1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装置</a:t>
              </a:r>
              <a:endParaRPr kumimoji="1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パラメータ</a:t>
              </a:r>
            </a:p>
          </p:txBody>
        </p:sp>
        <p:cxnSp>
          <p:nvCxnSpPr>
            <p:cNvPr id="88" name="カギ線コネクタ 130"/>
            <p:cNvCxnSpPr/>
            <p:nvPr/>
          </p:nvCxnSpPr>
          <p:spPr>
            <a:xfrm>
              <a:off x="5322415" y="3356992"/>
              <a:ext cx="0" cy="2192004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テキスト ボックス 88"/>
            <p:cNvSpPr txBox="1"/>
            <p:nvPr/>
          </p:nvSpPr>
          <p:spPr>
            <a:xfrm>
              <a:off x="5025302" y="3886991"/>
              <a:ext cx="652196" cy="39405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装置生産データ</a:t>
              </a:r>
            </a:p>
          </p:txBody>
        </p:sp>
        <p:cxnSp>
          <p:nvCxnSpPr>
            <p:cNvPr id="94" name="カギ線コネクタ 130"/>
            <p:cNvCxnSpPr/>
            <p:nvPr/>
          </p:nvCxnSpPr>
          <p:spPr>
            <a:xfrm>
              <a:off x="4664784" y="3374422"/>
              <a:ext cx="13245" cy="2174574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テキスト ボックス 96"/>
            <p:cNvSpPr txBox="1"/>
            <p:nvPr/>
          </p:nvSpPr>
          <p:spPr>
            <a:xfrm>
              <a:off x="4386479" y="3896919"/>
              <a:ext cx="592905" cy="2126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部品</a:t>
              </a:r>
              <a:r>
                <a:rPr kumimoji="1" lang="en-US" altLang="ja-JP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S/N</a:t>
              </a:r>
              <a:endParaRPr kumimoji="1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</p:txBody>
        </p:sp>
        <p:cxnSp>
          <p:nvCxnSpPr>
            <p:cNvPr id="105" name="カギ線コネクタ 130"/>
            <p:cNvCxnSpPr/>
            <p:nvPr/>
          </p:nvCxnSpPr>
          <p:spPr>
            <a:xfrm>
              <a:off x="7057434" y="3346449"/>
              <a:ext cx="1187417" cy="2242791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カギ線コネクタ 130"/>
            <p:cNvCxnSpPr/>
            <p:nvPr/>
          </p:nvCxnSpPr>
          <p:spPr>
            <a:xfrm>
              <a:off x="7697632" y="3367353"/>
              <a:ext cx="1135959" cy="2221887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テキスト ボックス 107"/>
            <p:cNvSpPr txBox="1"/>
            <p:nvPr/>
          </p:nvSpPr>
          <p:spPr>
            <a:xfrm>
              <a:off x="7146877" y="3948490"/>
              <a:ext cx="652196" cy="39405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S-UP</a:t>
              </a:r>
              <a:br>
                <a:rPr kumimoji="1" lang="en-US" altLang="ja-JP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</a:b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データ</a:t>
              </a:r>
            </a:p>
          </p:txBody>
        </p:sp>
        <p:cxnSp>
          <p:nvCxnSpPr>
            <p:cNvPr id="116" name="カギ線コネクタ 115"/>
            <p:cNvCxnSpPr>
              <a:endCxn id="117" idx="3"/>
            </p:cNvCxnSpPr>
            <p:nvPr/>
          </p:nvCxnSpPr>
          <p:spPr>
            <a:xfrm rot="16200000" flipV="1">
              <a:off x="10092830" y="2854377"/>
              <a:ext cx="652358" cy="614960"/>
            </a:xfrm>
            <a:prstGeom prst="bentConnector2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7" name="Picture 5"/>
            <p:cNvPicPr>
              <a:picLocks noChangeAspect="1" noChangeArrowheads="1"/>
            </p:cNvPicPr>
            <p:nvPr/>
          </p:nvPicPr>
          <p:blipFill>
            <a:blip r:embed="rId10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8774" y="2576445"/>
              <a:ext cx="472755" cy="518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8" name="Picture 2" descr="C:\Users\071122\Desktop\padlock-512.jpg"/>
            <p:cNvPicPr>
              <a:picLocks noChangeAspect="1" noChangeArrowheads="1"/>
            </p:cNvPicPr>
            <p:nvPr/>
          </p:nvPicPr>
          <p:blipFill>
            <a:blip r:embed="rId11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00398" y="2877724"/>
              <a:ext cx="176903" cy="1746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21" name="直線矢印コネクタ 120"/>
            <p:cNvCxnSpPr/>
            <p:nvPr/>
          </p:nvCxnSpPr>
          <p:spPr>
            <a:xfrm flipV="1">
              <a:off x="2098958" y="5735598"/>
              <a:ext cx="2317516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テキスト ボックス 121"/>
            <p:cNvSpPr txBox="1"/>
            <p:nvPr/>
          </p:nvSpPr>
          <p:spPr>
            <a:xfrm>
              <a:off x="9638774" y="3376573"/>
              <a:ext cx="1314686" cy="288883"/>
            </a:xfrm>
            <a:prstGeom prst="rect">
              <a:avLst/>
            </a:prstGeom>
            <a:noFill/>
          </p:spPr>
          <p:txBody>
            <a:bodyPr wrap="none" bIns="4680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Customer</a:t>
              </a:r>
              <a:br>
                <a:rPr kumimoji="0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</a:br>
              <a:r>
                <a:rPr kumimoji="0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Data</a:t>
              </a:r>
              <a:endPara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03" name="テキスト ボックス 102"/>
            <p:cNvSpPr txBox="1"/>
            <p:nvPr/>
          </p:nvSpPr>
          <p:spPr>
            <a:xfrm>
              <a:off x="2296881" y="3622809"/>
              <a:ext cx="1068678" cy="57549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部品検査データ</a:t>
              </a:r>
              <a:endParaRPr kumimoji="1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部品生産データ</a:t>
              </a:r>
              <a:endParaRPr kumimoji="1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生産環境データ</a:t>
              </a:r>
            </a:p>
          </p:txBody>
        </p:sp>
        <p:sp>
          <p:nvSpPr>
            <p:cNvPr id="145" name="円柱 144"/>
            <p:cNvSpPr/>
            <p:nvPr/>
          </p:nvSpPr>
          <p:spPr>
            <a:xfrm>
              <a:off x="2460780" y="2331442"/>
              <a:ext cx="6617532" cy="1051913"/>
            </a:xfrm>
            <a:prstGeom prst="can">
              <a:avLst>
                <a:gd name="adj" fmla="val 27628"/>
              </a:avLst>
            </a:prstGeom>
            <a:solidFill>
              <a:schemeClr val="bg1"/>
            </a:solidFill>
            <a:ln w="19050">
              <a:solidFill>
                <a:schemeClr val="bg1">
                  <a:lumMod val="6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180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44" name="テキスト ボックス 143"/>
            <p:cNvSpPr txBox="1"/>
            <p:nvPr/>
          </p:nvSpPr>
          <p:spPr>
            <a:xfrm>
              <a:off x="655444" y="4596777"/>
              <a:ext cx="1424675" cy="25070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Part Supplier</a:t>
              </a:r>
            </a:p>
          </p:txBody>
        </p:sp>
        <p:sp>
          <p:nvSpPr>
            <p:cNvPr id="25" name="テキスト ボックス 24"/>
            <p:cNvSpPr txBox="1"/>
            <p:nvPr/>
          </p:nvSpPr>
          <p:spPr>
            <a:xfrm>
              <a:off x="4347725" y="4623264"/>
              <a:ext cx="474979" cy="2888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20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TEL</a:t>
              </a:r>
            </a:p>
          </p:txBody>
        </p:sp>
        <p:pic>
          <p:nvPicPr>
            <p:cNvPr id="101" name="Picture 2" descr="FACTORY green"/>
            <p:cNvPicPr>
              <a:picLocks noChangeAspect="1" noChangeArrowheads="1"/>
            </p:cNvPicPr>
            <p:nvPr/>
          </p:nvPicPr>
          <p:blipFill>
            <a:blip r:embed="rId12" cstate="print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4947" y="4326698"/>
              <a:ext cx="1620000" cy="1190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8" name="カギ線コネクタ 130"/>
            <p:cNvCxnSpPr/>
            <p:nvPr/>
          </p:nvCxnSpPr>
          <p:spPr>
            <a:xfrm>
              <a:off x="8244851" y="3319154"/>
              <a:ext cx="1175955" cy="2270086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テキスト ボックス 95"/>
            <p:cNvSpPr txBox="1"/>
            <p:nvPr/>
          </p:nvSpPr>
          <p:spPr>
            <a:xfrm>
              <a:off x="8395567" y="3849051"/>
              <a:ext cx="881704" cy="57549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メンテナンス</a:t>
              </a:r>
              <a:br>
                <a:rPr kumimoji="1" lang="en-US" altLang="ja-JP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</a:b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データ</a:t>
              </a:r>
              <a:endParaRPr kumimoji="1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メイリオ" panose="020B0604030504040204" pitchFamily="50" charset="-128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不具合データ</a:t>
              </a:r>
            </a:p>
          </p:txBody>
        </p:sp>
        <p:sp>
          <p:nvSpPr>
            <p:cNvPr id="21" name="テキスト ボックス 20"/>
            <p:cNvSpPr txBox="1"/>
            <p:nvPr/>
          </p:nvSpPr>
          <p:spPr>
            <a:xfrm>
              <a:off x="7500352" y="4630327"/>
              <a:ext cx="1547785" cy="25722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bIns="468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Customer FAB</a:t>
              </a:r>
              <a:endPara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76" name="正方形/長方形 175"/>
            <p:cNvSpPr/>
            <p:nvPr/>
          </p:nvSpPr>
          <p:spPr>
            <a:xfrm>
              <a:off x="117748" y="1056332"/>
              <a:ext cx="11979178" cy="40165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178" name="楕円 177"/>
            <p:cNvSpPr/>
            <p:nvPr/>
          </p:nvSpPr>
          <p:spPr>
            <a:xfrm>
              <a:off x="2638028" y="1042576"/>
              <a:ext cx="1424544" cy="43815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5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FCN</a:t>
              </a:r>
              <a:r>
                <a:rPr kumimoji="1" lang="ja-JP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・</a:t>
              </a:r>
              <a:r>
                <a:rPr kumimoji="1" lang="en-US" altLang="ja-JP" sz="105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パーツの</a:t>
              </a:r>
              <a:endPara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トラッキング</a:t>
              </a:r>
            </a:p>
          </p:txBody>
        </p:sp>
        <p:sp>
          <p:nvSpPr>
            <p:cNvPr id="166" name="正方形/長方形 165"/>
            <p:cNvSpPr/>
            <p:nvPr/>
          </p:nvSpPr>
          <p:spPr>
            <a:xfrm>
              <a:off x="145180" y="2466621"/>
              <a:ext cx="1647394" cy="20943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データ基盤</a:t>
              </a:r>
            </a:p>
          </p:txBody>
        </p:sp>
        <p:sp>
          <p:nvSpPr>
            <p:cNvPr id="183" name="正方形/長方形 182"/>
            <p:cNvSpPr/>
            <p:nvPr/>
          </p:nvSpPr>
          <p:spPr>
            <a:xfrm>
              <a:off x="145180" y="1539777"/>
              <a:ext cx="1647394" cy="20943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データ活用基盤</a:t>
              </a:r>
            </a:p>
          </p:txBody>
        </p:sp>
        <p:sp>
          <p:nvSpPr>
            <p:cNvPr id="185" name="正方形/長方形 184"/>
            <p:cNvSpPr/>
            <p:nvPr/>
          </p:nvSpPr>
          <p:spPr>
            <a:xfrm>
              <a:off x="145180" y="1095241"/>
              <a:ext cx="1647394" cy="20943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アプリケーション</a:t>
              </a:r>
            </a:p>
          </p:txBody>
        </p:sp>
        <p:cxnSp>
          <p:nvCxnSpPr>
            <p:cNvPr id="186" name="カギ線コネクタ 130"/>
            <p:cNvCxnSpPr>
              <a:endCxn id="129" idx="4"/>
            </p:cNvCxnSpPr>
            <p:nvPr/>
          </p:nvCxnSpPr>
          <p:spPr>
            <a:xfrm flipH="1">
              <a:off x="3556929" y="2202899"/>
              <a:ext cx="1150837" cy="445342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カギ線コネクタ 130"/>
            <p:cNvCxnSpPr>
              <a:endCxn id="123" idx="1"/>
            </p:cNvCxnSpPr>
            <p:nvPr/>
          </p:nvCxnSpPr>
          <p:spPr>
            <a:xfrm flipH="1">
              <a:off x="4563114" y="2261374"/>
              <a:ext cx="416271" cy="563913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カギ線コネクタ 130"/>
            <p:cNvCxnSpPr>
              <a:endCxn id="136" idx="1"/>
            </p:cNvCxnSpPr>
            <p:nvPr/>
          </p:nvCxnSpPr>
          <p:spPr>
            <a:xfrm>
              <a:off x="5805901" y="2213605"/>
              <a:ext cx="13935" cy="182192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カギ線コネクタ 130"/>
            <p:cNvCxnSpPr>
              <a:endCxn id="133" idx="1"/>
            </p:cNvCxnSpPr>
            <p:nvPr/>
          </p:nvCxnSpPr>
          <p:spPr>
            <a:xfrm>
              <a:off x="6477591" y="2222107"/>
              <a:ext cx="883281" cy="603180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楕円 109"/>
            <p:cNvSpPr/>
            <p:nvPr/>
          </p:nvSpPr>
          <p:spPr>
            <a:xfrm>
              <a:off x="4331078" y="1040309"/>
              <a:ext cx="1424544" cy="43815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パーツ</a:t>
              </a:r>
              <a:endPara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寿命管理</a:t>
              </a:r>
            </a:p>
          </p:txBody>
        </p:sp>
        <p:sp>
          <p:nvSpPr>
            <p:cNvPr id="114" name="楕円 113"/>
            <p:cNvSpPr/>
            <p:nvPr/>
          </p:nvSpPr>
          <p:spPr>
            <a:xfrm>
              <a:off x="6037240" y="1057649"/>
              <a:ext cx="1424544" cy="43815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問合せパーツ検査結果加工</a:t>
              </a:r>
            </a:p>
          </p:txBody>
        </p:sp>
        <p:sp>
          <p:nvSpPr>
            <p:cNvPr id="115" name="楕円 114"/>
            <p:cNvSpPr/>
            <p:nvPr/>
          </p:nvSpPr>
          <p:spPr>
            <a:xfrm>
              <a:off x="7707586" y="1050400"/>
              <a:ext cx="1424544" cy="438155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機差</a:t>
              </a:r>
              <a:endPara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トラブル分析</a:t>
              </a:r>
            </a:p>
          </p:txBody>
        </p:sp>
        <p:sp>
          <p:nvSpPr>
            <p:cNvPr id="123" name="円柱 122"/>
            <p:cNvSpPr/>
            <p:nvPr/>
          </p:nvSpPr>
          <p:spPr>
            <a:xfrm>
              <a:off x="4117340" y="2825287"/>
              <a:ext cx="891548" cy="473826"/>
            </a:xfrm>
            <a:prstGeom prst="can">
              <a:avLst>
                <a:gd name="adj" fmla="val 27628"/>
              </a:avLst>
            </a:prstGeom>
            <a:solidFill>
              <a:schemeClr val="accent2">
                <a:lumMod val="60000"/>
                <a:lumOff val="40000"/>
              </a:schemeClr>
            </a:solidFill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tIns="18000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SCM</a:t>
              </a:r>
            </a:p>
          </p:txBody>
        </p:sp>
        <p:sp>
          <p:nvSpPr>
            <p:cNvPr id="124" name="円柱 123"/>
            <p:cNvSpPr/>
            <p:nvPr/>
          </p:nvSpPr>
          <p:spPr>
            <a:xfrm>
              <a:off x="2665381" y="2825287"/>
              <a:ext cx="891548" cy="473826"/>
            </a:xfrm>
            <a:prstGeom prst="can">
              <a:avLst>
                <a:gd name="adj" fmla="val 27628"/>
              </a:avLst>
            </a:prstGeom>
            <a:solidFill>
              <a:schemeClr val="accent2">
                <a:lumMod val="60000"/>
                <a:lumOff val="40000"/>
              </a:schemeClr>
            </a:solidFill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tIns="18000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JOE</a:t>
              </a:r>
            </a:p>
          </p:txBody>
        </p:sp>
        <p:sp>
          <p:nvSpPr>
            <p:cNvPr id="129" name="円柱 128"/>
            <p:cNvSpPr/>
            <p:nvPr/>
          </p:nvSpPr>
          <p:spPr>
            <a:xfrm>
              <a:off x="2665381" y="2411328"/>
              <a:ext cx="891548" cy="473826"/>
            </a:xfrm>
            <a:prstGeom prst="can">
              <a:avLst>
                <a:gd name="adj" fmla="val 27628"/>
              </a:avLst>
            </a:prstGeom>
            <a:solidFill>
              <a:schemeClr val="accent2">
                <a:lumMod val="60000"/>
                <a:lumOff val="40000"/>
              </a:schemeClr>
            </a:solidFill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tIns="18000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IPDB</a:t>
              </a:r>
            </a:p>
          </p:txBody>
        </p:sp>
        <p:sp>
          <p:nvSpPr>
            <p:cNvPr id="132" name="円柱 131"/>
            <p:cNvSpPr/>
            <p:nvPr/>
          </p:nvSpPr>
          <p:spPr>
            <a:xfrm>
              <a:off x="5049964" y="2825287"/>
              <a:ext cx="891548" cy="473826"/>
            </a:xfrm>
            <a:prstGeom prst="can">
              <a:avLst>
                <a:gd name="adj" fmla="val 27628"/>
              </a:avLst>
            </a:prstGeom>
            <a:solidFill>
              <a:schemeClr val="accent2">
                <a:lumMod val="60000"/>
                <a:lumOff val="40000"/>
              </a:schemeClr>
            </a:solidFill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tIns="18000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WMS</a:t>
              </a:r>
            </a:p>
          </p:txBody>
        </p:sp>
        <p:sp>
          <p:nvSpPr>
            <p:cNvPr id="133" name="円柱 132"/>
            <p:cNvSpPr/>
            <p:nvPr/>
          </p:nvSpPr>
          <p:spPr>
            <a:xfrm>
              <a:off x="6915098" y="2825287"/>
              <a:ext cx="891548" cy="473826"/>
            </a:xfrm>
            <a:prstGeom prst="can">
              <a:avLst>
                <a:gd name="adj" fmla="val 27628"/>
              </a:avLst>
            </a:prstGeom>
            <a:solidFill>
              <a:schemeClr val="accent2">
                <a:lumMod val="60000"/>
                <a:lumOff val="40000"/>
              </a:schemeClr>
            </a:solidFill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tIns="18000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Merit</a:t>
              </a:r>
            </a:p>
          </p:txBody>
        </p:sp>
        <p:sp>
          <p:nvSpPr>
            <p:cNvPr id="135" name="円柱 134"/>
            <p:cNvSpPr/>
            <p:nvPr/>
          </p:nvSpPr>
          <p:spPr>
            <a:xfrm>
              <a:off x="7946679" y="2825287"/>
              <a:ext cx="891548" cy="473826"/>
            </a:xfrm>
            <a:prstGeom prst="can">
              <a:avLst>
                <a:gd name="adj" fmla="val 27628"/>
              </a:avLst>
            </a:prstGeom>
            <a:solidFill>
              <a:schemeClr val="accent2">
                <a:lumMod val="60000"/>
                <a:lumOff val="40000"/>
              </a:schemeClr>
            </a:solidFill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tIns="18000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Service CRM</a:t>
              </a:r>
            </a:p>
          </p:txBody>
        </p:sp>
        <p:sp>
          <p:nvSpPr>
            <p:cNvPr id="136" name="円柱 135"/>
            <p:cNvSpPr/>
            <p:nvPr/>
          </p:nvSpPr>
          <p:spPr>
            <a:xfrm>
              <a:off x="5374062" y="2395797"/>
              <a:ext cx="891548" cy="473826"/>
            </a:xfrm>
            <a:prstGeom prst="can">
              <a:avLst>
                <a:gd name="adj" fmla="val 27628"/>
              </a:avLst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tIns="18000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SAP</a:t>
              </a:r>
            </a:p>
          </p:txBody>
        </p:sp>
        <p:sp>
          <p:nvSpPr>
            <p:cNvPr id="138" name="円柱 137"/>
            <p:cNvSpPr/>
            <p:nvPr/>
          </p:nvSpPr>
          <p:spPr>
            <a:xfrm>
              <a:off x="5990128" y="2825287"/>
              <a:ext cx="891548" cy="473826"/>
            </a:xfrm>
            <a:prstGeom prst="can">
              <a:avLst>
                <a:gd name="adj" fmla="val 27628"/>
              </a:avLst>
            </a:prstGeom>
            <a:solidFill>
              <a:schemeClr val="accent2">
                <a:lumMod val="60000"/>
                <a:lumOff val="40000"/>
              </a:schemeClr>
            </a:solidFill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tIns="18000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MES</a:t>
              </a:r>
            </a:p>
          </p:txBody>
        </p:sp>
        <p:sp>
          <p:nvSpPr>
            <p:cNvPr id="140" name="円柱 139"/>
            <p:cNvSpPr/>
            <p:nvPr/>
          </p:nvSpPr>
          <p:spPr>
            <a:xfrm>
              <a:off x="3602494" y="3149257"/>
              <a:ext cx="722685" cy="415912"/>
            </a:xfrm>
            <a:prstGeom prst="can">
              <a:avLst>
                <a:gd name="adj" fmla="val 27628"/>
              </a:avLst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180000"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DCS</a:t>
              </a:r>
            </a:p>
          </p:txBody>
        </p:sp>
        <p:pic>
          <p:nvPicPr>
            <p:cNvPr id="109" name="Picture 5"/>
            <p:cNvPicPr>
              <a:picLocks noChangeAspect="1" noChangeArrowheads="1"/>
            </p:cNvPicPr>
            <p:nvPr/>
          </p:nvPicPr>
          <p:blipFill>
            <a:blip r:embed="rId10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74" y="3325874"/>
              <a:ext cx="472755" cy="518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2" descr="C:\Users\071122\Desktop\padlock-512.jpg"/>
            <p:cNvPicPr>
              <a:picLocks noChangeAspect="1" noChangeArrowheads="1"/>
            </p:cNvPicPr>
            <p:nvPr/>
          </p:nvPicPr>
          <p:blipFill>
            <a:blip r:embed="rId11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94260" y="3598617"/>
              <a:ext cx="176903" cy="1746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2" name="テキスト ボックス 111"/>
            <p:cNvSpPr txBox="1"/>
            <p:nvPr/>
          </p:nvSpPr>
          <p:spPr>
            <a:xfrm>
              <a:off x="7766138" y="3933142"/>
              <a:ext cx="652196" cy="39405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稼働</a:t>
              </a:r>
              <a:br>
                <a:rPr kumimoji="1" lang="en-US" altLang="ja-JP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</a:b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データ</a:t>
              </a:r>
            </a:p>
          </p:txBody>
        </p:sp>
        <p:cxnSp>
          <p:nvCxnSpPr>
            <p:cNvPr id="142" name="カギ線コネクタ 130"/>
            <p:cNvCxnSpPr/>
            <p:nvPr/>
          </p:nvCxnSpPr>
          <p:spPr>
            <a:xfrm>
              <a:off x="8965553" y="3307205"/>
              <a:ext cx="1678998" cy="1941446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カギ線コネクタ 130"/>
            <p:cNvCxnSpPr>
              <a:stCxn id="86" idx="2"/>
            </p:cNvCxnSpPr>
            <p:nvPr/>
          </p:nvCxnSpPr>
          <p:spPr>
            <a:xfrm>
              <a:off x="10752661" y="4000426"/>
              <a:ext cx="18235" cy="1422790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テキスト ボックス 119"/>
            <p:cNvSpPr txBox="1"/>
            <p:nvPr/>
          </p:nvSpPr>
          <p:spPr>
            <a:xfrm>
              <a:off x="10378961" y="4224321"/>
              <a:ext cx="735788" cy="2126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部品</a:t>
              </a:r>
              <a:r>
                <a:rPr kumimoji="1" lang="en-US" altLang="ja-JP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S/N</a:t>
              </a:r>
            </a:p>
          </p:txBody>
        </p:sp>
        <p:sp>
          <p:nvSpPr>
            <p:cNvPr id="153" name="テキスト ボックス 152"/>
            <p:cNvSpPr txBox="1"/>
            <p:nvPr/>
          </p:nvSpPr>
          <p:spPr>
            <a:xfrm>
              <a:off x="9395599" y="4093678"/>
              <a:ext cx="735788" cy="2126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14400" tIns="14400" rIns="14400" bIns="144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部品</a:t>
              </a:r>
              <a:r>
                <a:rPr kumimoji="1" lang="en-US" altLang="ja-JP" sz="1100" b="1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メイリオ" panose="020B0604030504040204" pitchFamily="50" charset="-128"/>
                  <a:cs typeface="Arial" panose="020B0604020202020204" pitchFamily="34" charset="0"/>
                </a:rPr>
                <a:t>S/N</a:t>
              </a:r>
            </a:p>
          </p:txBody>
        </p:sp>
        <p:cxnSp>
          <p:nvCxnSpPr>
            <p:cNvPr id="155" name="カギ線コネクタ 130"/>
            <p:cNvCxnSpPr>
              <a:endCxn id="135" idx="1"/>
            </p:cNvCxnSpPr>
            <p:nvPr/>
          </p:nvCxnSpPr>
          <p:spPr>
            <a:xfrm>
              <a:off x="7165195" y="2183103"/>
              <a:ext cx="1227258" cy="642184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カギ線コネクタ 130"/>
            <p:cNvCxnSpPr/>
            <p:nvPr/>
          </p:nvCxnSpPr>
          <p:spPr>
            <a:xfrm flipH="1">
              <a:off x="5220870" y="2247577"/>
              <a:ext cx="223059" cy="579057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カギ線コネクタ 130"/>
            <p:cNvCxnSpPr>
              <a:endCxn id="138" idx="1"/>
            </p:cNvCxnSpPr>
            <p:nvPr/>
          </p:nvCxnSpPr>
          <p:spPr>
            <a:xfrm>
              <a:off x="6153493" y="2222107"/>
              <a:ext cx="282409" cy="603180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prstDash val="solid"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5739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B064C07D-E852-6E31-B8B3-495FE7B8F1A7}"/>
              </a:ext>
            </a:extLst>
          </p:cNvPr>
          <p:cNvCxnSpPr>
            <a:cxnSpLocks/>
          </p:cNvCxnSpPr>
          <p:nvPr/>
        </p:nvCxnSpPr>
        <p:spPr>
          <a:xfrm>
            <a:off x="8192231" y="1824484"/>
            <a:ext cx="0" cy="4576959"/>
          </a:xfrm>
          <a:prstGeom prst="line">
            <a:avLst/>
          </a:prstGeom>
          <a:ln w="381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F5269B9-E77D-E06E-9CC2-294ED9D902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トレーサビリティ実現</a:t>
            </a:r>
            <a:r>
              <a:rPr kumimoji="1" lang="en-US" altLang="ja-JP"/>
              <a:t>Step</a:t>
            </a:r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C5A4CEE-A9AF-E9CC-4C94-A19156DC8742}"/>
              </a:ext>
            </a:extLst>
          </p:cNvPr>
          <p:cNvCxnSpPr>
            <a:cxnSpLocks/>
          </p:cNvCxnSpPr>
          <p:nvPr/>
        </p:nvCxnSpPr>
        <p:spPr>
          <a:xfrm>
            <a:off x="5419589" y="2002002"/>
            <a:ext cx="0" cy="4399441"/>
          </a:xfrm>
          <a:prstGeom prst="line">
            <a:avLst/>
          </a:prstGeom>
          <a:ln w="381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2C8230A-0E2F-4C77-4024-0F77C8DF4DE9}"/>
              </a:ext>
            </a:extLst>
          </p:cNvPr>
          <p:cNvCxnSpPr>
            <a:cxnSpLocks/>
          </p:cNvCxnSpPr>
          <p:nvPr/>
        </p:nvCxnSpPr>
        <p:spPr>
          <a:xfrm>
            <a:off x="3995072" y="1991602"/>
            <a:ext cx="0" cy="4409841"/>
          </a:xfrm>
          <a:prstGeom prst="line">
            <a:avLst/>
          </a:prstGeom>
          <a:ln w="381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A02A056-8897-BFD2-22D2-FE784382A12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2722692" y="1991602"/>
            <a:ext cx="12620" cy="4409841"/>
          </a:xfrm>
          <a:prstGeom prst="line">
            <a:avLst/>
          </a:prstGeom>
          <a:ln w="381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ホームベース 4">
            <a:extLst>
              <a:ext uri="{FF2B5EF4-FFF2-40B4-BE49-F238E27FC236}">
                <a16:creationId xmlns:a16="http://schemas.microsoft.com/office/drawing/2014/main" id="{A3B2B511-EE15-8C6F-A5C4-B6CF917D715E}"/>
              </a:ext>
            </a:extLst>
          </p:cNvPr>
          <p:cNvSpPr/>
          <p:nvPr/>
        </p:nvSpPr>
        <p:spPr>
          <a:xfrm>
            <a:off x="2735312" y="4639327"/>
            <a:ext cx="8582394" cy="756000"/>
          </a:xfrm>
          <a:prstGeom prst="homePlate">
            <a:avLst>
              <a:gd name="adj" fmla="val 9502"/>
            </a:avLst>
          </a:prstGeom>
          <a:solidFill>
            <a:srgbClr val="1DB5DF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パーツの所在把握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</a:t>
            </a: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入出庫履歴参照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、検査データ・製造実績参照、保管寿命管理</a:t>
            </a:r>
          </a:p>
        </p:txBody>
      </p:sp>
      <p:sp>
        <p:nvSpPr>
          <p:cNvPr id="4" name="ホームベース 5">
            <a:extLst>
              <a:ext uri="{FF2B5EF4-FFF2-40B4-BE49-F238E27FC236}">
                <a16:creationId xmlns:a16="http://schemas.microsoft.com/office/drawing/2014/main" id="{55F8FA32-F1A8-B55D-E217-0C2A462CAC37}"/>
              </a:ext>
            </a:extLst>
          </p:cNvPr>
          <p:cNvSpPr/>
          <p:nvPr/>
        </p:nvSpPr>
        <p:spPr>
          <a:xfrm>
            <a:off x="1323210" y="5467925"/>
            <a:ext cx="9994495" cy="756000"/>
          </a:xfrm>
          <a:prstGeom prst="homePlate">
            <a:avLst>
              <a:gd name="adj" fmla="val 9502"/>
            </a:avLst>
          </a:prstGeom>
          <a:solidFill>
            <a:srgbClr val="8ED018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パーツ検査データ自動収集</a:t>
            </a:r>
          </a:p>
        </p:txBody>
      </p:sp>
      <p:sp>
        <p:nvSpPr>
          <p:cNvPr id="5" name="ホームベース 7">
            <a:extLst>
              <a:ext uri="{FF2B5EF4-FFF2-40B4-BE49-F238E27FC236}">
                <a16:creationId xmlns:a16="http://schemas.microsoft.com/office/drawing/2014/main" id="{1F021443-75E7-1524-7B8D-4C4381D20766}"/>
              </a:ext>
            </a:extLst>
          </p:cNvPr>
          <p:cNvSpPr/>
          <p:nvPr/>
        </p:nvSpPr>
        <p:spPr>
          <a:xfrm>
            <a:off x="4021778" y="3826771"/>
            <a:ext cx="7295928" cy="756000"/>
          </a:xfrm>
          <a:prstGeom prst="homePlate">
            <a:avLst>
              <a:gd name="adj" fmla="val 9502"/>
            </a:avLst>
          </a:prstGeom>
          <a:solidFill>
            <a:srgbClr val="0070C0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サービス作業履歴、パーツ交換履歴の把握</a:t>
            </a:r>
          </a:p>
        </p:txBody>
      </p:sp>
      <p:sp>
        <p:nvSpPr>
          <p:cNvPr id="6" name="ホームベース 8">
            <a:extLst>
              <a:ext uri="{FF2B5EF4-FFF2-40B4-BE49-F238E27FC236}">
                <a16:creationId xmlns:a16="http://schemas.microsoft.com/office/drawing/2014/main" id="{AD4589C4-7BE3-235C-4105-9B45110E06B1}"/>
              </a:ext>
            </a:extLst>
          </p:cNvPr>
          <p:cNvSpPr/>
          <p:nvPr/>
        </p:nvSpPr>
        <p:spPr>
          <a:xfrm>
            <a:off x="5443652" y="3001861"/>
            <a:ext cx="5874053" cy="756000"/>
          </a:xfrm>
          <a:prstGeom prst="homePlate">
            <a:avLst>
              <a:gd name="adj" fmla="val 9502"/>
            </a:avLst>
          </a:prstGeom>
          <a:solidFill>
            <a:schemeClr val="accent2"/>
          </a:solidFill>
          <a:ln w="28575">
            <a:noFill/>
            <a:prstDash val="dash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Step3</a:t>
            </a: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Small</a:t>
            </a: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Start</a:t>
            </a: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　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</a:t>
            </a: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トライアル</a:t>
            </a: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装置履歴比較・機差分析支援</a:t>
            </a:r>
            <a:endParaRPr kumimoji="1" lang="en-US" altLang="ja-JP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3" name="ホームベース 8">
            <a:extLst>
              <a:ext uri="{FF2B5EF4-FFF2-40B4-BE49-F238E27FC236}">
                <a16:creationId xmlns:a16="http://schemas.microsoft.com/office/drawing/2014/main" id="{EE394E95-6D19-65E9-A6B3-4594B1DAEB0A}"/>
              </a:ext>
            </a:extLst>
          </p:cNvPr>
          <p:cNvSpPr/>
          <p:nvPr/>
        </p:nvSpPr>
        <p:spPr>
          <a:xfrm>
            <a:off x="8221579" y="2133414"/>
            <a:ext cx="3023937" cy="756000"/>
          </a:xfrm>
          <a:prstGeom prst="homePlate">
            <a:avLst>
              <a:gd name="adj" fmla="val 9502"/>
            </a:avLst>
          </a:prstGeom>
          <a:solidFill>
            <a:schemeClr val="bg1">
              <a:lumMod val="65000"/>
            </a:schemeClr>
          </a:solidFill>
          <a:ln w="28575">
            <a:noFill/>
            <a:prstDash val="dash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Step3 Full-Scale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装置履歴比較・機差分析支援</a:t>
            </a:r>
            <a:endParaRPr kumimoji="1" lang="en-US" altLang="ja-JP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(TBD)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047CD0C-B0AF-F56F-A4E9-7B3CB3C20E4C}"/>
              </a:ext>
            </a:extLst>
          </p:cNvPr>
          <p:cNvSpPr/>
          <p:nvPr/>
        </p:nvSpPr>
        <p:spPr>
          <a:xfrm>
            <a:off x="2114444" y="1402389"/>
            <a:ext cx="1216496" cy="5892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G1P</a:t>
            </a: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＆</a:t>
            </a:r>
            <a:r>
              <a:rPr kumimoji="1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MES</a:t>
            </a: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導入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6E352AC-4D9D-39EF-56B3-BEE84B353481}"/>
              </a:ext>
            </a:extLst>
          </p:cNvPr>
          <p:cNvSpPr/>
          <p:nvPr/>
        </p:nvSpPr>
        <p:spPr>
          <a:xfrm>
            <a:off x="3426929" y="1402389"/>
            <a:ext cx="1216496" cy="5892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Service CRM</a:t>
            </a: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連携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D202318-78E9-4862-D26D-92F21A388ADD}"/>
              </a:ext>
            </a:extLst>
          </p:cNvPr>
          <p:cNvSpPr/>
          <p:nvPr/>
        </p:nvSpPr>
        <p:spPr>
          <a:xfrm>
            <a:off x="4762450" y="1412789"/>
            <a:ext cx="1389698" cy="5892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装置構成データ連携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B43D23AF-D364-FFA7-5BC5-D66D7E2CB3EF}"/>
              </a:ext>
            </a:extLst>
          </p:cNvPr>
          <p:cNvCxnSpPr/>
          <p:nvPr/>
        </p:nvCxnSpPr>
        <p:spPr>
          <a:xfrm>
            <a:off x="1171073" y="6401443"/>
            <a:ext cx="10562061" cy="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76B99CED-41EC-76D3-4F7E-F9DB9549A36D}"/>
              </a:ext>
            </a:extLst>
          </p:cNvPr>
          <p:cNvCxnSpPr>
            <a:cxnSpLocks/>
          </p:cNvCxnSpPr>
          <p:nvPr/>
        </p:nvCxnSpPr>
        <p:spPr>
          <a:xfrm flipV="1">
            <a:off x="1203158" y="1292474"/>
            <a:ext cx="0" cy="5141054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BFDD83E-BFB0-75E7-6013-009F9AF5A1B9}"/>
              </a:ext>
            </a:extLst>
          </p:cNvPr>
          <p:cNvSpPr txBox="1"/>
          <p:nvPr/>
        </p:nvSpPr>
        <p:spPr>
          <a:xfrm>
            <a:off x="10722670" y="6497697"/>
            <a:ext cx="59503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時間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3E4DC80-DB30-6F44-12C4-65E67DDD36F7}"/>
              </a:ext>
            </a:extLst>
          </p:cNvPr>
          <p:cNvSpPr txBox="1"/>
          <p:nvPr/>
        </p:nvSpPr>
        <p:spPr>
          <a:xfrm>
            <a:off x="548611" y="1581507"/>
            <a:ext cx="5950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価値</a:t>
            </a:r>
            <a:endParaRPr kumimoji="1" lang="en-US" altLang="ja-JP" sz="16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・</a:t>
            </a:r>
            <a:endParaRPr kumimoji="1" lang="en-US" altLang="ja-JP" sz="16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機能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494183C-C88C-BA8A-F191-5EA5FE77C839}"/>
              </a:ext>
            </a:extLst>
          </p:cNvPr>
          <p:cNvSpPr/>
          <p:nvPr/>
        </p:nvSpPr>
        <p:spPr>
          <a:xfrm>
            <a:off x="6705107" y="1412789"/>
            <a:ext cx="2914287" cy="5892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装置構成・不具合データ連携＋顧客装置稼働データ連携</a:t>
            </a:r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3576C3B3-29A4-48CF-BF21-ED5805051D7D}"/>
              </a:ext>
            </a:extLst>
          </p:cNvPr>
          <p:cNvSpPr/>
          <p:nvPr/>
        </p:nvSpPr>
        <p:spPr>
          <a:xfrm>
            <a:off x="2401850" y="1148538"/>
            <a:ext cx="641684" cy="22557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>
              <a:solidFill>
                <a:schemeClr val="accent6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6B14A22-B6F7-EED9-F278-2941E4A40839}"/>
              </a:ext>
            </a:extLst>
          </p:cNvPr>
          <p:cNvSpPr txBox="1"/>
          <p:nvPr/>
        </p:nvSpPr>
        <p:spPr>
          <a:xfrm>
            <a:off x="2401850" y="89285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>
                <a:solidFill>
                  <a:schemeClr val="accent6"/>
                </a:solidFill>
              </a:rPr>
              <a:t>今ここ！</a:t>
            </a:r>
          </a:p>
        </p:txBody>
      </p:sp>
    </p:spTree>
    <p:extLst>
      <p:ext uri="{BB962C8B-B14F-4D97-AF65-F5344CB8AC3E}">
        <p14:creationId xmlns:p14="http://schemas.microsoft.com/office/powerpoint/2010/main" val="115075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47019BA-B935-73DC-8AA2-2D8E99B891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4908" y="157427"/>
            <a:ext cx="10918493" cy="530368"/>
          </a:xfrm>
        </p:spPr>
        <p:txBody>
          <a:bodyPr/>
          <a:lstStyle/>
          <a:p>
            <a:r>
              <a:rPr kumimoji="1" lang="ja-JP" altLang="en-US"/>
              <a:t>パーツトレーサビリティロードマップ　</a:t>
            </a:r>
            <a:r>
              <a:rPr kumimoji="1" lang="en-US" altLang="ja-JP" sz="1800"/>
              <a:t>(2025/01/17</a:t>
            </a:r>
            <a:r>
              <a:rPr kumimoji="1" lang="ja-JP" altLang="en-US" sz="1800"/>
              <a:t>改訂版</a:t>
            </a:r>
            <a:r>
              <a:rPr kumimoji="1" lang="en-US" altLang="ja-JP" sz="1800"/>
              <a:t>)</a:t>
            </a:r>
            <a:endParaRPr kumimoji="1" lang="ja-JP" altLang="en-US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FADE963E-0076-C7C0-8491-2667AAC3262E}"/>
              </a:ext>
            </a:extLst>
          </p:cNvPr>
          <p:cNvGraphicFramePr>
            <a:graphicFrameLocks noGrp="1"/>
          </p:cNvGraphicFramePr>
          <p:nvPr/>
        </p:nvGraphicFramePr>
        <p:xfrm>
          <a:off x="130830" y="838646"/>
          <a:ext cx="11912305" cy="5800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3234943784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62295088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1491960051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842812118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4206092536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3518023003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730651714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326762468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210941005"/>
                    </a:ext>
                  </a:extLst>
                </a:gridCol>
                <a:gridCol w="614449">
                  <a:extLst>
                    <a:ext uri="{9D8B030D-6E8A-4147-A177-3AD203B41FA5}">
                      <a16:colId xmlns:a16="http://schemas.microsoft.com/office/drawing/2014/main" val="2574415748"/>
                    </a:ext>
                  </a:extLst>
                </a:gridCol>
              </a:tblGrid>
              <a:tr h="315106">
                <a:tc rowSpan="2">
                  <a:txBody>
                    <a:bodyPr/>
                    <a:lstStyle/>
                    <a:p>
                      <a:pPr algn="ctr"/>
                      <a:endParaRPr kumimoji="1" lang="ja-JP" altLang="en-US" sz="1800" b="1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ja-JP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FY2021</a:t>
                      </a:r>
                      <a:endParaRPr kumimoji="1" lang="ja-JP" altLang="en-US" sz="14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ja-JP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FY2022</a:t>
                      </a:r>
                      <a:endParaRPr kumimoji="1" lang="ja-JP" altLang="en-US" sz="14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ja-JP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FY2023</a:t>
                      </a:r>
                      <a:endParaRPr kumimoji="1" lang="ja-JP" altLang="en-US" sz="14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ja-JP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FY2024</a:t>
                      </a:r>
                      <a:endParaRPr kumimoji="1" lang="ja-JP" altLang="en-US" sz="14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ja-JP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FY2025</a:t>
                      </a: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ja-JP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FY2026</a:t>
                      </a:r>
                      <a:endParaRPr kumimoji="1" lang="ja-JP" altLang="en-US" sz="14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ja-JP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FY2027</a:t>
                      </a:r>
                      <a:endParaRPr kumimoji="1" lang="ja-JP" altLang="en-US" sz="14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344" marR="91344" marT="45672" marB="4567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en-US" altLang="ja-JP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FY2028</a:t>
                      </a:r>
                      <a:endParaRPr kumimoji="1" lang="ja-JP" altLang="en-US" sz="14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ja-JP" altLang="en-US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344" marR="91344" marT="45672" marB="4567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106">
                <a:tc vMerge="1">
                  <a:txBody>
                    <a:bodyPr/>
                    <a:lstStyle/>
                    <a:p>
                      <a:pPr algn="ctr"/>
                      <a:endParaRPr kumimoji="1" lang="ja-JP" altLang="en-US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1H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2H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1H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2H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1H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2H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1H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2H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1H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2H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1H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2H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1H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2H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1H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solidFill>
                            <a:schemeClr val="bg1"/>
                          </a:solidFill>
                        </a:rPr>
                        <a:t>2H</a:t>
                      </a:r>
                      <a:endParaRPr kumimoji="1" lang="ja-JP" altLang="en-US" sz="1400">
                        <a:solidFill>
                          <a:schemeClr val="bg1"/>
                        </a:solidFill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881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G1P</a:t>
                      </a:r>
                      <a:r>
                        <a:rPr kumimoji="1" lang="ja-JP" altLang="en-US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マイルストン</a:t>
                      </a: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33134"/>
                  </a:ext>
                </a:extLst>
              </a:tr>
              <a:tr h="37816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MES</a:t>
                      </a:r>
                      <a:r>
                        <a:rPr kumimoji="1" lang="ja-JP" altLang="en-US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マイルストン</a:t>
                      </a: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410026"/>
                  </a:ext>
                </a:extLst>
              </a:tr>
              <a:tr h="516935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トレーサビリティ</a:t>
                      </a:r>
                      <a:r>
                        <a:rPr kumimoji="1" lang="en-US" altLang="ja-JP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Step</a:t>
                      </a:r>
                      <a:endParaRPr kumimoji="1" lang="ja-JP" altLang="en-US" sz="1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メイリオ" panose="020B0604030504040204" pitchFamily="50" charset="-128"/>
                        <a:cs typeface="Arial" panose="020B0604020202020204" pitchFamily="34" charset="0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594953"/>
                  </a:ext>
                </a:extLst>
              </a:tr>
              <a:tr h="2393098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❶データを貯める</a:t>
                      </a:r>
                      <a:endParaRPr kumimoji="1" lang="en-US" altLang="ja-JP" sz="1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メイリオ" panose="020B0604030504040204" pitchFamily="50" charset="-128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kumimoji="1" lang="en-US" altLang="ja-JP" sz="12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SAP</a:t>
                      </a:r>
                      <a:r>
                        <a:rPr kumimoji="1" lang="ja-JP" altLang="en-US" sz="12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を利用した業務運用</a:t>
                      </a:r>
                      <a:endParaRPr kumimoji="1" lang="en-US" altLang="ja-JP" sz="12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メイリオ" panose="020B0604030504040204" pitchFamily="50" charset="-128"/>
                        <a:cs typeface="Arial" panose="020B0604020202020204" pitchFamily="34" charset="0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03324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❷データを活用する</a:t>
                      </a:r>
                      <a:endParaRPr kumimoji="1" lang="en-US" altLang="ja-JP" sz="14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メイリオ" panose="020B0604030504040204" pitchFamily="50" charset="-128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kumimoji="1" lang="ja-JP" altLang="en-US" sz="12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anose="020B0604030504040204" pitchFamily="50" charset="-128"/>
                          <a:cs typeface="Arial" panose="020B0604020202020204" pitchFamily="34" charset="0"/>
                        </a:rPr>
                        <a:t>アプリケーション構築</a:t>
                      </a:r>
                      <a:endParaRPr kumimoji="1" lang="en-US" altLang="ja-JP" sz="12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メイリオ" panose="020B0604030504040204" pitchFamily="50" charset="-128"/>
                        <a:cs typeface="Arial" panose="020B0604020202020204" pitchFamily="34" charset="0"/>
                      </a:endParaRPr>
                    </a:p>
                  </a:txBody>
                  <a:tcPr marL="91248" marR="91248" marT="45624" marB="4562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800">
                        <a:solidFill>
                          <a:schemeClr val="accent3"/>
                        </a:solidFill>
                      </a:endParaRPr>
                    </a:p>
                  </a:txBody>
                  <a:tcPr marL="91248" marR="91248" marT="45624" marB="4562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911947"/>
                  </a:ext>
                </a:extLst>
              </a:tr>
            </a:tbl>
          </a:graphicData>
        </a:graphic>
      </p:graphicFrame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31F56436-0BC2-8AE5-5F60-56FFE937E74D}"/>
              </a:ext>
            </a:extLst>
          </p:cNvPr>
          <p:cNvGrpSpPr/>
          <p:nvPr/>
        </p:nvGrpSpPr>
        <p:grpSpPr>
          <a:xfrm>
            <a:off x="2231596" y="1475527"/>
            <a:ext cx="413680" cy="449500"/>
            <a:chOff x="5292898" y="2203982"/>
            <a:chExt cx="413896" cy="449734"/>
          </a:xfrm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CF3D4FD0-69E9-6E4B-0991-1C1721A6D1D2}"/>
                </a:ext>
              </a:extLst>
            </p:cNvPr>
            <p:cNvSpPr/>
            <p:nvPr/>
          </p:nvSpPr>
          <p:spPr>
            <a:xfrm flipV="1">
              <a:off x="5399223" y="2455517"/>
              <a:ext cx="184814" cy="198199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792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424AD55-5469-846C-78DE-5CC2B739C29E}"/>
                </a:ext>
              </a:extLst>
            </p:cNvPr>
            <p:cNvSpPr txBox="1"/>
            <p:nvPr/>
          </p:nvSpPr>
          <p:spPr>
            <a:xfrm>
              <a:off x="5292898" y="2203982"/>
              <a:ext cx="4138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1" i="0" u="none" strike="noStrike" kern="1200" cap="none" spc="0" normalizeH="0" baseline="0" noProof="0">
                  <a:ln>
                    <a:noFill/>
                  </a:ln>
                  <a:solidFill>
                    <a:srgbClr val="8031A7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R1</a:t>
              </a:r>
              <a:endParaRPr kumimoji="1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sp>
        <p:nvSpPr>
          <p:cNvPr id="7" name="二等辺三角形 6">
            <a:extLst>
              <a:ext uri="{FF2B5EF4-FFF2-40B4-BE49-F238E27FC236}">
                <a16:creationId xmlns:a16="http://schemas.microsoft.com/office/drawing/2014/main" id="{8A0D7012-CA6E-07A9-E9CD-35372AB12B53}"/>
              </a:ext>
            </a:extLst>
          </p:cNvPr>
          <p:cNvSpPr/>
          <p:nvPr/>
        </p:nvSpPr>
        <p:spPr>
          <a:xfrm flipV="1">
            <a:off x="5557972" y="1758730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F52922-6F98-59BB-1A81-8963F924E188}"/>
              </a:ext>
            </a:extLst>
          </p:cNvPr>
          <p:cNvSpPr txBox="1"/>
          <p:nvPr/>
        </p:nvSpPr>
        <p:spPr>
          <a:xfrm>
            <a:off x="5378063" y="1392113"/>
            <a:ext cx="529173" cy="430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R2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EWM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76BD8FA2-3196-0B59-DE1E-2BB4E5EB17F4}"/>
              </a:ext>
            </a:extLst>
          </p:cNvPr>
          <p:cNvSpPr/>
          <p:nvPr/>
        </p:nvSpPr>
        <p:spPr>
          <a:xfrm flipV="1">
            <a:off x="5978888" y="1758729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816A483-C29D-8701-A5CA-54C0CF604DA2}"/>
              </a:ext>
            </a:extLst>
          </p:cNvPr>
          <p:cNvSpPr txBox="1"/>
          <p:nvPr/>
        </p:nvSpPr>
        <p:spPr>
          <a:xfrm>
            <a:off x="5836639" y="1392110"/>
            <a:ext cx="453853" cy="4153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R2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TEA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" name="二等辺三角形 10">
            <a:extLst>
              <a:ext uri="{FF2B5EF4-FFF2-40B4-BE49-F238E27FC236}">
                <a16:creationId xmlns:a16="http://schemas.microsoft.com/office/drawing/2014/main" id="{4CBB63D3-2FD8-9FF6-BBD5-C1652A70D3CD}"/>
              </a:ext>
            </a:extLst>
          </p:cNvPr>
          <p:cNvSpPr/>
          <p:nvPr/>
        </p:nvSpPr>
        <p:spPr>
          <a:xfrm flipV="1">
            <a:off x="6267611" y="1758730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CD95138-B944-BBF3-D019-EE40460B8BD9}"/>
              </a:ext>
            </a:extLst>
          </p:cNvPr>
          <p:cNvSpPr txBox="1"/>
          <p:nvPr/>
        </p:nvSpPr>
        <p:spPr>
          <a:xfrm>
            <a:off x="6122155" y="1392111"/>
            <a:ext cx="460262" cy="4153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R3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TML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7035C3B0-CD1E-1F25-413E-D5800D214B1B}"/>
              </a:ext>
            </a:extLst>
          </p:cNvPr>
          <p:cNvSpPr/>
          <p:nvPr/>
        </p:nvSpPr>
        <p:spPr>
          <a:xfrm flipV="1">
            <a:off x="7453387" y="1770150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437B87B-0C28-2365-27D2-E2AB545F0C0F}"/>
              </a:ext>
            </a:extLst>
          </p:cNvPr>
          <p:cNvSpPr txBox="1"/>
          <p:nvPr/>
        </p:nvSpPr>
        <p:spPr>
          <a:xfrm>
            <a:off x="7315143" y="1403531"/>
            <a:ext cx="445840" cy="4153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R5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TKL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1AA99BDF-7FFF-D00D-99B9-A511E92B832A}"/>
              </a:ext>
            </a:extLst>
          </p:cNvPr>
          <p:cNvSpPr/>
          <p:nvPr/>
        </p:nvSpPr>
        <p:spPr>
          <a:xfrm flipV="1">
            <a:off x="11153872" y="1767527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0F20AEF-EF99-19E9-9ACC-47C1B5AAF9AC}"/>
              </a:ext>
            </a:extLst>
          </p:cNvPr>
          <p:cNvSpPr txBox="1"/>
          <p:nvPr/>
        </p:nvSpPr>
        <p:spPr>
          <a:xfrm>
            <a:off x="11019634" y="1400908"/>
            <a:ext cx="437826" cy="4153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R7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TTS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7" name="二等辺三角形 16">
            <a:extLst>
              <a:ext uri="{FF2B5EF4-FFF2-40B4-BE49-F238E27FC236}">
                <a16:creationId xmlns:a16="http://schemas.microsoft.com/office/drawing/2014/main" id="{3D26D054-921E-2F13-879A-2DC67C32DC0A}"/>
              </a:ext>
            </a:extLst>
          </p:cNvPr>
          <p:cNvSpPr/>
          <p:nvPr/>
        </p:nvSpPr>
        <p:spPr>
          <a:xfrm flipV="1">
            <a:off x="7608583" y="2091770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ECB41C7-0FEF-600A-BBA0-CFFB9EC2FD67}"/>
              </a:ext>
            </a:extLst>
          </p:cNvPr>
          <p:cNvSpPr txBox="1"/>
          <p:nvPr/>
        </p:nvSpPr>
        <p:spPr>
          <a:xfrm>
            <a:off x="7478106" y="1886140"/>
            <a:ext cx="46038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TML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9" name="二等辺三角形 18">
            <a:extLst>
              <a:ext uri="{FF2B5EF4-FFF2-40B4-BE49-F238E27FC236}">
                <a16:creationId xmlns:a16="http://schemas.microsoft.com/office/drawing/2014/main" id="{2BEC15EC-BEBD-339E-F00B-D74156DE6028}"/>
              </a:ext>
            </a:extLst>
          </p:cNvPr>
          <p:cNvSpPr/>
          <p:nvPr/>
        </p:nvSpPr>
        <p:spPr>
          <a:xfrm flipV="1">
            <a:off x="8868326" y="2091771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ED2D564-45B0-C192-D82C-A857F42518B0}"/>
              </a:ext>
            </a:extLst>
          </p:cNvPr>
          <p:cNvSpPr txBox="1"/>
          <p:nvPr/>
        </p:nvSpPr>
        <p:spPr>
          <a:xfrm>
            <a:off x="8745061" y="1886140"/>
            <a:ext cx="44595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TKL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1" name="二等辺三角形 20">
            <a:extLst>
              <a:ext uri="{FF2B5EF4-FFF2-40B4-BE49-F238E27FC236}">
                <a16:creationId xmlns:a16="http://schemas.microsoft.com/office/drawing/2014/main" id="{64FF8094-435B-6B0C-ADCF-674A9B5424E9}"/>
              </a:ext>
            </a:extLst>
          </p:cNvPr>
          <p:cNvSpPr/>
          <p:nvPr/>
        </p:nvSpPr>
        <p:spPr>
          <a:xfrm flipV="1">
            <a:off x="11174039" y="2095547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B850D97-73D3-476B-3D9E-05BEC221E3E0}"/>
              </a:ext>
            </a:extLst>
          </p:cNvPr>
          <p:cNvSpPr txBox="1"/>
          <p:nvPr/>
        </p:nvSpPr>
        <p:spPr>
          <a:xfrm>
            <a:off x="11030994" y="1889917"/>
            <a:ext cx="437827" cy="253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TTS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FBDB9A98-36D1-8DE5-EC8C-41468D5D7C80}"/>
              </a:ext>
            </a:extLst>
          </p:cNvPr>
          <p:cNvGrpSpPr/>
          <p:nvPr/>
        </p:nvGrpSpPr>
        <p:grpSpPr>
          <a:xfrm>
            <a:off x="2216101" y="2345831"/>
            <a:ext cx="9725237" cy="415390"/>
            <a:chOff x="2216101" y="2225516"/>
            <a:chExt cx="9725237" cy="415390"/>
          </a:xfrm>
        </p:grpSpPr>
        <p:sp>
          <p:nvSpPr>
            <p:cNvPr id="24" name="ホームベース 11">
              <a:extLst>
                <a:ext uri="{FF2B5EF4-FFF2-40B4-BE49-F238E27FC236}">
                  <a16:creationId xmlns:a16="http://schemas.microsoft.com/office/drawing/2014/main" id="{68E6B5BE-26D9-CDD8-ECE5-9BA234A2294C}"/>
                </a:ext>
              </a:extLst>
            </p:cNvPr>
            <p:cNvSpPr/>
            <p:nvPr/>
          </p:nvSpPr>
          <p:spPr>
            <a:xfrm>
              <a:off x="2216101" y="2225516"/>
              <a:ext cx="9725237" cy="415390"/>
            </a:xfrm>
            <a:prstGeom prst="homePlate">
              <a:avLst>
                <a:gd name="adj" fmla="val 31546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Step1: </a:t>
              </a:r>
              <a:r>
                <a:rPr kumimoji="1" lang="ja-JP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パーツの所在把握・検査データ</a:t>
              </a:r>
              <a:r>
                <a:rPr kumimoji="1" lang="en-US" altLang="ja-JP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/</a:t>
              </a:r>
              <a:r>
                <a:rPr kumimoji="1" lang="ja-JP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製造実績参照・保管寿命管理</a:t>
              </a:r>
            </a:p>
          </p:txBody>
        </p:sp>
        <p:sp>
          <p:nvSpPr>
            <p:cNvPr id="25" name="ホームベース 13">
              <a:extLst>
                <a:ext uri="{FF2B5EF4-FFF2-40B4-BE49-F238E27FC236}">
                  <a16:creationId xmlns:a16="http://schemas.microsoft.com/office/drawing/2014/main" id="{8088B59F-9BAB-1AE0-F011-F8CC00D77AFA}"/>
                </a:ext>
              </a:extLst>
            </p:cNvPr>
            <p:cNvSpPr/>
            <p:nvPr/>
          </p:nvSpPr>
          <p:spPr>
            <a:xfrm>
              <a:off x="8361895" y="2242138"/>
              <a:ext cx="3469158" cy="190386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Step2:</a:t>
              </a: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サービス作業履歴、パーツ交換履歴の把握</a:t>
              </a:r>
            </a:p>
          </p:txBody>
        </p:sp>
        <p:sp>
          <p:nvSpPr>
            <p:cNvPr id="26" name="ホームベース 14">
              <a:extLst>
                <a:ext uri="{FF2B5EF4-FFF2-40B4-BE49-F238E27FC236}">
                  <a16:creationId xmlns:a16="http://schemas.microsoft.com/office/drawing/2014/main" id="{8530563B-E441-4BF9-5572-B368FEF7279B}"/>
                </a:ext>
              </a:extLst>
            </p:cNvPr>
            <p:cNvSpPr/>
            <p:nvPr/>
          </p:nvSpPr>
          <p:spPr>
            <a:xfrm>
              <a:off x="8361895" y="2434957"/>
              <a:ext cx="3469158" cy="190386"/>
            </a:xfrm>
            <a:prstGeom prst="homePlate">
              <a:avLst/>
            </a:prstGeom>
            <a:solidFill>
              <a:schemeClr val="accent2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Step3:</a:t>
              </a:r>
              <a:r>
                <a:rPr kumimoji="1" lang="ja-JP" alt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装置履歴比較・機差分析支援</a:t>
              </a:r>
              <a:endParaRPr kumimoji="1" lang="en-US" altLang="ja-JP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sp>
        <p:nvSpPr>
          <p:cNvPr id="28" name="ホームベース 34">
            <a:extLst>
              <a:ext uri="{FF2B5EF4-FFF2-40B4-BE49-F238E27FC236}">
                <a16:creationId xmlns:a16="http://schemas.microsoft.com/office/drawing/2014/main" id="{DC403096-AC4F-3D46-45A6-297785877144}"/>
              </a:ext>
            </a:extLst>
          </p:cNvPr>
          <p:cNvSpPr/>
          <p:nvPr/>
        </p:nvSpPr>
        <p:spPr>
          <a:xfrm>
            <a:off x="2231596" y="2922561"/>
            <a:ext cx="3354571" cy="2159466"/>
          </a:xfrm>
          <a:prstGeom prst="homePlate">
            <a:avLst>
              <a:gd name="adj" fmla="val 11184"/>
            </a:avLst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D2D2D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業務運用開始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2D2D2D">
                  <a:lumMod val="75000"/>
                  <a:lumOff val="25000"/>
                </a:srgbClr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D2D2D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準備</a:t>
            </a:r>
          </a:p>
        </p:txBody>
      </p:sp>
      <p:sp>
        <p:nvSpPr>
          <p:cNvPr id="44" name="二等辺三角形 43">
            <a:extLst>
              <a:ext uri="{FF2B5EF4-FFF2-40B4-BE49-F238E27FC236}">
                <a16:creationId xmlns:a16="http://schemas.microsoft.com/office/drawing/2014/main" id="{B921D80E-4B56-DF3D-678B-F092E8A9D172}"/>
              </a:ext>
            </a:extLst>
          </p:cNvPr>
          <p:cNvSpPr/>
          <p:nvPr/>
        </p:nvSpPr>
        <p:spPr>
          <a:xfrm flipV="1">
            <a:off x="10163130" y="1744657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F785F6B7-0E8C-2DFC-93B7-ECBCEDBBCB0D}"/>
              </a:ext>
            </a:extLst>
          </p:cNvPr>
          <p:cNvSpPr txBox="1"/>
          <p:nvPr/>
        </p:nvSpPr>
        <p:spPr>
          <a:xfrm>
            <a:off x="9978675" y="1383387"/>
            <a:ext cx="43794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R6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TET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8D1D900-7FD5-4062-A21C-08A369A4F75E}"/>
              </a:ext>
            </a:extLst>
          </p:cNvPr>
          <p:cNvGrpSpPr/>
          <p:nvPr/>
        </p:nvGrpSpPr>
        <p:grpSpPr>
          <a:xfrm>
            <a:off x="5623395" y="2922561"/>
            <a:ext cx="6419739" cy="1226717"/>
            <a:chOff x="5623395" y="2714015"/>
            <a:chExt cx="6419739" cy="1226717"/>
          </a:xfrm>
        </p:grpSpPr>
        <p:sp>
          <p:nvSpPr>
            <p:cNvPr id="30" name="ホームベース 8">
              <a:extLst>
                <a:ext uri="{FF2B5EF4-FFF2-40B4-BE49-F238E27FC236}">
                  <a16:creationId xmlns:a16="http://schemas.microsoft.com/office/drawing/2014/main" id="{27C7D365-2106-4559-8202-7809E4AD7165}"/>
                </a:ext>
              </a:extLst>
            </p:cNvPr>
            <p:cNvSpPr/>
            <p:nvPr/>
          </p:nvSpPr>
          <p:spPr>
            <a:xfrm>
              <a:off x="5623395" y="2714015"/>
              <a:ext cx="6419739" cy="1226717"/>
            </a:xfrm>
            <a:prstGeom prst="homePlate">
              <a:avLst>
                <a:gd name="adj" fmla="val 7635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パーツ</a:t>
              </a:r>
              <a:r>
                <a:rPr kumimoji="1" lang="en-US" altLang="ja-JP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S/N&amp;</a:t>
              </a: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バッチ管理</a:t>
              </a:r>
            </a:p>
          </p:txBody>
        </p:sp>
        <p:sp>
          <p:nvSpPr>
            <p:cNvPr id="31" name="ホームベース 9">
              <a:extLst>
                <a:ext uri="{FF2B5EF4-FFF2-40B4-BE49-F238E27FC236}">
                  <a16:creationId xmlns:a16="http://schemas.microsoft.com/office/drawing/2014/main" id="{B2A371C6-447C-20CA-B0CA-51A8D0590A51}"/>
                </a:ext>
              </a:extLst>
            </p:cNvPr>
            <p:cNvSpPr/>
            <p:nvPr/>
          </p:nvSpPr>
          <p:spPr>
            <a:xfrm>
              <a:off x="5688745" y="2923203"/>
              <a:ext cx="6223302" cy="144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国内スペアパーツ</a:t>
              </a:r>
            </a:p>
          </p:txBody>
        </p:sp>
        <p:sp>
          <p:nvSpPr>
            <p:cNvPr id="32" name="ホームベース 131">
              <a:extLst>
                <a:ext uri="{FF2B5EF4-FFF2-40B4-BE49-F238E27FC236}">
                  <a16:creationId xmlns:a16="http://schemas.microsoft.com/office/drawing/2014/main" id="{148A6D48-1AC0-9C9A-B20D-60DB0F72CE2C}"/>
                </a:ext>
              </a:extLst>
            </p:cNvPr>
            <p:cNvSpPr/>
            <p:nvPr/>
          </p:nvSpPr>
          <p:spPr>
            <a:xfrm>
              <a:off x="5985611" y="3090478"/>
              <a:ext cx="5926436" cy="144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US</a:t>
              </a:r>
              <a:r>
                <a:rPr kumimoji="1" lang="ja-JP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スペアパーツ</a:t>
              </a:r>
            </a:p>
          </p:txBody>
        </p:sp>
        <p:sp>
          <p:nvSpPr>
            <p:cNvPr id="33" name="ホームベース 132">
              <a:extLst>
                <a:ext uri="{FF2B5EF4-FFF2-40B4-BE49-F238E27FC236}">
                  <a16:creationId xmlns:a16="http://schemas.microsoft.com/office/drawing/2014/main" id="{91CB7623-7734-E003-4330-0AD0464AB001}"/>
                </a:ext>
              </a:extLst>
            </p:cNvPr>
            <p:cNvSpPr/>
            <p:nvPr/>
          </p:nvSpPr>
          <p:spPr>
            <a:xfrm>
              <a:off x="6284823" y="3259476"/>
              <a:ext cx="5627223" cy="144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TML</a:t>
              </a:r>
              <a:r>
                <a:rPr kumimoji="1" lang="ja-JP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スペアパーツ</a:t>
              </a: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&amp;</a:t>
              </a:r>
              <a:r>
                <a:rPr kumimoji="1" lang="ja-JP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装置組み込みパーツ</a:t>
              </a:r>
            </a:p>
          </p:txBody>
        </p:sp>
        <p:sp>
          <p:nvSpPr>
            <p:cNvPr id="34" name="ホームベース 133">
              <a:extLst>
                <a:ext uri="{FF2B5EF4-FFF2-40B4-BE49-F238E27FC236}">
                  <a16:creationId xmlns:a16="http://schemas.microsoft.com/office/drawing/2014/main" id="{6F7846ED-F53D-996C-CB74-31DE90E1F8FA}"/>
                </a:ext>
              </a:extLst>
            </p:cNvPr>
            <p:cNvSpPr/>
            <p:nvPr/>
          </p:nvSpPr>
          <p:spPr>
            <a:xfrm>
              <a:off x="7484118" y="3425703"/>
              <a:ext cx="4427927" cy="144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TKL</a:t>
              </a:r>
              <a:r>
                <a:rPr kumimoji="1" lang="ja-JP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スペアパーツ</a:t>
              </a: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&amp;</a:t>
              </a:r>
              <a:r>
                <a:rPr kumimoji="1" lang="ja-JP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装置組み込みパーツ</a:t>
              </a:r>
            </a:p>
          </p:txBody>
        </p:sp>
        <p:sp>
          <p:nvSpPr>
            <p:cNvPr id="35" name="ホームベース 134">
              <a:extLst>
                <a:ext uri="{FF2B5EF4-FFF2-40B4-BE49-F238E27FC236}">
                  <a16:creationId xmlns:a16="http://schemas.microsoft.com/office/drawing/2014/main" id="{AD6CA239-33E1-DD3F-B92C-21AA07AB40BB}"/>
                </a:ext>
              </a:extLst>
            </p:cNvPr>
            <p:cNvSpPr/>
            <p:nvPr/>
          </p:nvSpPr>
          <p:spPr>
            <a:xfrm>
              <a:off x="10194758" y="3594692"/>
              <a:ext cx="1717287" cy="144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海外スペアパーツ</a:t>
              </a:r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85323AA1-4F60-0A6E-83F6-257F2740779C}"/>
                </a:ext>
              </a:extLst>
            </p:cNvPr>
            <p:cNvSpPr/>
            <p:nvPr/>
          </p:nvSpPr>
          <p:spPr>
            <a:xfrm>
              <a:off x="5699170" y="2943673"/>
              <a:ext cx="653715" cy="10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R2 EWM</a:t>
              </a:r>
              <a:endPara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AAC5E033-EFF5-FDBC-7E36-4C255F6574DA}"/>
                </a:ext>
              </a:extLst>
            </p:cNvPr>
            <p:cNvSpPr/>
            <p:nvPr/>
          </p:nvSpPr>
          <p:spPr>
            <a:xfrm>
              <a:off x="6023460" y="3103735"/>
              <a:ext cx="607431" cy="10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R2 TEA</a:t>
              </a:r>
              <a:endPara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FC857BEA-29E1-9C9B-1DE5-7D7D9A223280}"/>
                </a:ext>
              </a:extLst>
            </p:cNvPr>
            <p:cNvSpPr/>
            <p:nvPr/>
          </p:nvSpPr>
          <p:spPr>
            <a:xfrm>
              <a:off x="6317392" y="3276501"/>
              <a:ext cx="651837" cy="10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R3TML</a:t>
              </a:r>
              <a:endPara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7E0464DD-FE80-F87D-B73B-063E9D2DC95B}"/>
                </a:ext>
              </a:extLst>
            </p:cNvPr>
            <p:cNvSpPr/>
            <p:nvPr/>
          </p:nvSpPr>
          <p:spPr>
            <a:xfrm>
              <a:off x="7512687" y="3429596"/>
              <a:ext cx="651837" cy="10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R5 TKL</a:t>
              </a:r>
              <a:endPara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CF743E2A-1335-7CE7-EA14-58D8540F840C}"/>
                </a:ext>
              </a:extLst>
            </p:cNvPr>
            <p:cNvSpPr/>
            <p:nvPr/>
          </p:nvSpPr>
          <p:spPr>
            <a:xfrm>
              <a:off x="10205614" y="3614729"/>
              <a:ext cx="682694" cy="96792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R6/8</a:t>
              </a:r>
              <a:r>
                <a:rPr kumimoji="1" lang="ja-JP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現法</a:t>
              </a:r>
            </a:p>
          </p:txBody>
        </p:sp>
        <p:sp>
          <p:nvSpPr>
            <p:cNvPr id="48" name="ホームベース 134">
              <a:extLst>
                <a:ext uri="{FF2B5EF4-FFF2-40B4-BE49-F238E27FC236}">
                  <a16:creationId xmlns:a16="http://schemas.microsoft.com/office/drawing/2014/main" id="{F15487DE-A3DA-FEAC-3E0D-11EF19A4910A}"/>
                </a:ext>
              </a:extLst>
            </p:cNvPr>
            <p:cNvSpPr/>
            <p:nvPr/>
          </p:nvSpPr>
          <p:spPr>
            <a:xfrm>
              <a:off x="11288055" y="3762069"/>
              <a:ext cx="623990" cy="144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1BC8E8C7-0F69-7A51-0FA6-8A925F197153}"/>
                </a:ext>
              </a:extLst>
            </p:cNvPr>
            <p:cNvSpPr/>
            <p:nvPr/>
          </p:nvSpPr>
          <p:spPr>
            <a:xfrm>
              <a:off x="11280610" y="3774185"/>
              <a:ext cx="585884" cy="10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R7</a:t>
              </a:r>
              <a:r>
                <a:rPr kumimoji="1" lang="ja-JP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1" lang="en-US" altLang="ja-JP" sz="8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TTS</a:t>
              </a:r>
              <a:endPara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2B0F1243-C76F-2E1B-93D6-62E580B3FC49}"/>
              </a:ext>
            </a:extLst>
          </p:cNvPr>
          <p:cNvGrpSpPr/>
          <p:nvPr/>
        </p:nvGrpSpPr>
        <p:grpSpPr>
          <a:xfrm>
            <a:off x="6338768" y="4173178"/>
            <a:ext cx="5704366" cy="916128"/>
            <a:chOff x="6338768" y="4149115"/>
            <a:chExt cx="5704366" cy="916128"/>
          </a:xfrm>
        </p:grpSpPr>
        <p:sp>
          <p:nvSpPr>
            <p:cNvPr id="52" name="ホームベース 113">
              <a:extLst>
                <a:ext uri="{FF2B5EF4-FFF2-40B4-BE49-F238E27FC236}">
                  <a16:creationId xmlns:a16="http://schemas.microsoft.com/office/drawing/2014/main" id="{C6E7DFE2-66D6-196C-047E-56460DC99983}"/>
                </a:ext>
              </a:extLst>
            </p:cNvPr>
            <p:cNvSpPr/>
            <p:nvPr/>
          </p:nvSpPr>
          <p:spPr>
            <a:xfrm>
              <a:off x="6338768" y="4149115"/>
              <a:ext cx="5704366" cy="916128"/>
            </a:xfrm>
            <a:prstGeom prst="homePlate">
              <a:avLst>
                <a:gd name="adj" fmla="val 11793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保管寿命管理</a:t>
              </a:r>
            </a:p>
          </p:txBody>
        </p:sp>
        <p:sp>
          <p:nvSpPr>
            <p:cNvPr id="53" name="ホームベース 135">
              <a:extLst>
                <a:ext uri="{FF2B5EF4-FFF2-40B4-BE49-F238E27FC236}">
                  <a16:creationId xmlns:a16="http://schemas.microsoft.com/office/drawing/2014/main" id="{A239EBC5-3F8A-37F8-2BA0-6D6AEFFC9465}"/>
                </a:ext>
              </a:extLst>
            </p:cNvPr>
            <p:cNvSpPr/>
            <p:nvPr/>
          </p:nvSpPr>
          <p:spPr>
            <a:xfrm>
              <a:off x="6406827" y="4347564"/>
              <a:ext cx="5571735" cy="167794"/>
            </a:xfrm>
            <a:prstGeom prst="homePlat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TEL</a:t>
              </a:r>
              <a:r>
                <a:rPr kumimoji="1" lang="ja-JP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・</a:t>
              </a: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TEA</a:t>
              </a:r>
              <a:r>
                <a:rPr kumimoji="1" lang="ja-JP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・</a:t>
              </a: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TML</a:t>
              </a:r>
              <a:r>
                <a:rPr kumimoji="1" lang="ja-JP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在庫点検・寿命チェック</a:t>
              </a:r>
            </a:p>
          </p:txBody>
        </p:sp>
        <p:sp>
          <p:nvSpPr>
            <p:cNvPr id="54" name="ホームベース 136">
              <a:extLst>
                <a:ext uri="{FF2B5EF4-FFF2-40B4-BE49-F238E27FC236}">
                  <a16:creationId xmlns:a16="http://schemas.microsoft.com/office/drawing/2014/main" id="{350985C2-CEF9-5CD8-CD59-86ABC1D86C35}"/>
                </a:ext>
              </a:extLst>
            </p:cNvPr>
            <p:cNvSpPr/>
            <p:nvPr/>
          </p:nvSpPr>
          <p:spPr>
            <a:xfrm>
              <a:off x="7568833" y="4542170"/>
              <a:ext cx="4409729" cy="150215"/>
            </a:xfrm>
            <a:prstGeom prst="homePlat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TKL</a:t>
              </a:r>
              <a:r>
                <a:rPr kumimoji="1" lang="ja-JP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在庫点検・寿命チェック</a:t>
              </a: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5CC821C8-5B24-9BFA-70DC-2F42707833F6}"/>
                </a:ext>
              </a:extLst>
            </p:cNvPr>
            <p:cNvSpPr/>
            <p:nvPr/>
          </p:nvSpPr>
          <p:spPr>
            <a:xfrm>
              <a:off x="6426882" y="4349663"/>
              <a:ext cx="684815" cy="125846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R3 TML</a:t>
              </a:r>
              <a:endPara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5AC2B00E-3AA6-886C-8E1B-361CDDD5E195}"/>
                </a:ext>
              </a:extLst>
            </p:cNvPr>
            <p:cNvSpPr/>
            <p:nvPr/>
          </p:nvSpPr>
          <p:spPr>
            <a:xfrm>
              <a:off x="7608583" y="4546197"/>
              <a:ext cx="651837" cy="10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R5 TKL</a:t>
              </a:r>
              <a:endPara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59" name="ホームベース 134">
              <a:extLst>
                <a:ext uri="{FF2B5EF4-FFF2-40B4-BE49-F238E27FC236}">
                  <a16:creationId xmlns:a16="http://schemas.microsoft.com/office/drawing/2014/main" id="{31DC276D-8C9A-5BFB-27DC-168898AE7049}"/>
                </a:ext>
              </a:extLst>
            </p:cNvPr>
            <p:cNvSpPr/>
            <p:nvPr/>
          </p:nvSpPr>
          <p:spPr>
            <a:xfrm>
              <a:off x="10218822" y="4725654"/>
              <a:ext cx="1717287" cy="144000"/>
            </a:xfrm>
            <a:prstGeom prst="homePlat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7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TTS</a:t>
              </a:r>
              <a:r>
                <a:rPr kumimoji="1" lang="ja-JP" alt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在庫点検・寿命チェック</a:t>
              </a:r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30BD74D8-BCD9-4700-3D3B-2B7B8392BAF5}"/>
                </a:ext>
              </a:extLst>
            </p:cNvPr>
            <p:cNvSpPr/>
            <p:nvPr/>
          </p:nvSpPr>
          <p:spPr>
            <a:xfrm>
              <a:off x="10181552" y="4745691"/>
              <a:ext cx="658630" cy="95541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R6/8</a:t>
              </a:r>
              <a:r>
                <a:rPr kumimoji="1" lang="ja-JP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現法</a:t>
              </a:r>
            </a:p>
          </p:txBody>
        </p:sp>
        <p:sp>
          <p:nvSpPr>
            <p:cNvPr id="61" name="ホームベース 134">
              <a:extLst>
                <a:ext uri="{FF2B5EF4-FFF2-40B4-BE49-F238E27FC236}">
                  <a16:creationId xmlns:a16="http://schemas.microsoft.com/office/drawing/2014/main" id="{1267A606-A06E-550B-4CA6-50996602DC09}"/>
                </a:ext>
              </a:extLst>
            </p:cNvPr>
            <p:cNvSpPr/>
            <p:nvPr/>
          </p:nvSpPr>
          <p:spPr>
            <a:xfrm>
              <a:off x="11312119" y="4893031"/>
              <a:ext cx="623990" cy="154668"/>
            </a:xfrm>
            <a:prstGeom prst="homePlat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2" name="正方形/長方形 61">
              <a:extLst>
                <a:ext uri="{FF2B5EF4-FFF2-40B4-BE49-F238E27FC236}">
                  <a16:creationId xmlns:a16="http://schemas.microsoft.com/office/drawing/2014/main" id="{F3CE11EB-4205-7A7D-2EF9-25FE2059594F}"/>
                </a:ext>
              </a:extLst>
            </p:cNvPr>
            <p:cNvSpPr/>
            <p:nvPr/>
          </p:nvSpPr>
          <p:spPr>
            <a:xfrm>
              <a:off x="11304674" y="4905147"/>
              <a:ext cx="585884" cy="10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R7</a:t>
              </a:r>
              <a:r>
                <a:rPr kumimoji="1" lang="ja-JP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1" lang="en-US" altLang="ja-JP" sz="8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TTS</a:t>
              </a:r>
              <a:endPara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</p:grpSp>
      <p:sp>
        <p:nvSpPr>
          <p:cNvPr id="75" name="吹き出し: 四角形 74">
            <a:extLst>
              <a:ext uri="{FF2B5EF4-FFF2-40B4-BE49-F238E27FC236}">
                <a16:creationId xmlns:a16="http://schemas.microsoft.com/office/drawing/2014/main" id="{BC83F2F7-210E-7EEE-98AC-F0499B15742B}"/>
              </a:ext>
            </a:extLst>
          </p:cNvPr>
          <p:cNvSpPr/>
          <p:nvPr/>
        </p:nvSpPr>
        <p:spPr>
          <a:xfrm>
            <a:off x="9780172" y="5058912"/>
            <a:ext cx="2302423" cy="497517"/>
          </a:xfrm>
          <a:prstGeom prst="wedgeRectCallout">
            <a:avLst>
              <a:gd name="adj1" fmla="val -56367"/>
              <a:gd name="adj2" fmla="val 4916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要件定義</a:t>
            </a:r>
            <a: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&amp;</a:t>
            </a: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実装済み機能でリリース予定</a:t>
            </a: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srgbClr val="DA1884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当初</a:t>
            </a:r>
            <a: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R3</a:t>
            </a: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時に稼働想定だったため、</a:t>
            </a:r>
            <a: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TML/ES</a:t>
            </a: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パーツデータトレースに限定</a:t>
            </a:r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6" name="吹き出し: 四角形 75">
            <a:extLst>
              <a:ext uri="{FF2B5EF4-FFF2-40B4-BE49-F238E27FC236}">
                <a16:creationId xmlns:a16="http://schemas.microsoft.com/office/drawing/2014/main" id="{B274188D-390E-E328-E534-816ADA5BCFA0}"/>
              </a:ext>
            </a:extLst>
          </p:cNvPr>
          <p:cNvSpPr/>
          <p:nvPr/>
        </p:nvSpPr>
        <p:spPr>
          <a:xfrm>
            <a:off x="9548273" y="6272446"/>
            <a:ext cx="2570284" cy="344562"/>
          </a:xfrm>
          <a:prstGeom prst="wedgeRectCallout">
            <a:avLst>
              <a:gd name="adj1" fmla="val -56770"/>
              <a:gd name="adj2" fmla="val -5509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コンプラ対応、</a:t>
            </a:r>
            <a:r>
              <a:rPr kumimoji="1" lang="en-US" altLang="ja-JP" sz="900" b="0" i="0" u="none" strike="noStrike" kern="1200" cap="none" spc="0" normalizeH="0" baseline="0" noProof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TML</a:t>
            </a:r>
            <a:r>
              <a:rPr kumimoji="1" lang="ja-JP" altLang="en-US" sz="900" b="0" i="0" u="none" strike="noStrike" kern="1200" cap="none" spc="0" normalizeH="0" baseline="0" noProof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以外拠点接続など追加要件を定義の上、スケジュール見直し予定</a:t>
            </a: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D5F62EDE-9646-B557-51BA-10F3CBD16413}"/>
              </a:ext>
            </a:extLst>
          </p:cNvPr>
          <p:cNvGrpSpPr/>
          <p:nvPr/>
        </p:nvGrpSpPr>
        <p:grpSpPr>
          <a:xfrm>
            <a:off x="3449118" y="5289248"/>
            <a:ext cx="7439190" cy="1277174"/>
            <a:chOff x="3449118" y="5505815"/>
            <a:chExt cx="7439190" cy="1277174"/>
          </a:xfrm>
        </p:grpSpPr>
        <p:sp>
          <p:nvSpPr>
            <p:cNvPr id="64" name="ホームベース 156">
              <a:extLst>
                <a:ext uri="{FF2B5EF4-FFF2-40B4-BE49-F238E27FC236}">
                  <a16:creationId xmlns:a16="http://schemas.microsoft.com/office/drawing/2014/main" id="{CD613FDF-DBA0-7767-2DA4-D76CD620BB8C}"/>
                </a:ext>
              </a:extLst>
            </p:cNvPr>
            <p:cNvSpPr/>
            <p:nvPr/>
          </p:nvSpPr>
          <p:spPr>
            <a:xfrm>
              <a:off x="3449118" y="5556322"/>
              <a:ext cx="1671779" cy="279513"/>
            </a:xfrm>
            <a:prstGeom prst="homePlate">
              <a:avLst>
                <a:gd name="adj" fmla="val 365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要件定義</a:t>
              </a:r>
            </a:p>
          </p:txBody>
        </p:sp>
        <p:sp>
          <p:nvSpPr>
            <p:cNvPr id="65" name="ホームベース 157">
              <a:extLst>
                <a:ext uri="{FF2B5EF4-FFF2-40B4-BE49-F238E27FC236}">
                  <a16:creationId xmlns:a16="http://schemas.microsoft.com/office/drawing/2014/main" id="{6740D35C-2C07-62BC-D166-7C5F005C13E2}"/>
                </a:ext>
              </a:extLst>
            </p:cNvPr>
            <p:cNvSpPr/>
            <p:nvPr/>
          </p:nvSpPr>
          <p:spPr>
            <a:xfrm>
              <a:off x="4367778" y="5851558"/>
              <a:ext cx="1539458" cy="279513"/>
            </a:xfrm>
            <a:prstGeom prst="homePlate">
              <a:avLst>
                <a:gd name="adj" fmla="val 365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1</a:t>
              </a:r>
              <a:r>
                <a:rPr kumimoji="1" lang="en-US" altLang="ja-JP" sz="1000" b="0" i="0" u="none" strike="noStrike" kern="1200" cap="none" spc="0" normalizeH="0" baseline="30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st</a:t>
              </a:r>
              <a:r>
                <a:rPr kumimoji="1" lang="ja-JP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リリース構築・実装</a:t>
              </a:r>
              <a:endParaRPr kumimoji="1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(TML/ES</a:t>
              </a:r>
              <a:r>
                <a:rPr kumimoji="1" lang="ja-JP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関連システム連携</a:t>
              </a:r>
              <a:r>
                <a:rPr kumimoji="1" lang="en-US" altLang="ja-JP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)</a:t>
              </a:r>
              <a:endParaRPr kumimoji="1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6" name="左右矢印 175">
              <a:extLst>
                <a:ext uri="{FF2B5EF4-FFF2-40B4-BE49-F238E27FC236}">
                  <a16:creationId xmlns:a16="http://schemas.microsoft.com/office/drawing/2014/main" id="{7FC99EF7-280C-574F-9DAC-F18F817D115A}"/>
                </a:ext>
              </a:extLst>
            </p:cNvPr>
            <p:cNvSpPr/>
            <p:nvPr/>
          </p:nvSpPr>
          <p:spPr>
            <a:xfrm>
              <a:off x="5907236" y="5811989"/>
              <a:ext cx="2454659" cy="358650"/>
            </a:xfrm>
            <a:prstGeom prst="leftRight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活動停止</a:t>
              </a:r>
            </a:p>
          </p:txBody>
        </p:sp>
        <p:sp>
          <p:nvSpPr>
            <p:cNvPr id="67" name="ホームベース 158">
              <a:extLst>
                <a:ext uri="{FF2B5EF4-FFF2-40B4-BE49-F238E27FC236}">
                  <a16:creationId xmlns:a16="http://schemas.microsoft.com/office/drawing/2014/main" id="{6D2EE403-3E27-57FA-2E46-478277D62257}"/>
                </a:ext>
              </a:extLst>
            </p:cNvPr>
            <p:cNvSpPr/>
            <p:nvPr/>
          </p:nvSpPr>
          <p:spPr>
            <a:xfrm>
              <a:off x="8361895" y="5851558"/>
              <a:ext cx="829122" cy="279513"/>
            </a:xfrm>
            <a:prstGeom prst="homePlate">
              <a:avLst>
                <a:gd name="adj" fmla="val 365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1</a:t>
              </a:r>
              <a:r>
                <a:rPr kumimoji="1" lang="en-US" altLang="ja-JP" sz="800" b="0" i="0" u="none" strike="noStrike" kern="1200" cap="none" spc="0" normalizeH="0" baseline="30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st</a:t>
              </a:r>
              <a:r>
                <a:rPr kumimoji="1" lang="ja-JP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リリーステスト</a:t>
              </a:r>
            </a:p>
          </p:txBody>
        </p:sp>
        <p:sp>
          <p:nvSpPr>
            <p:cNvPr id="68" name="星 5 30">
              <a:extLst>
                <a:ext uri="{FF2B5EF4-FFF2-40B4-BE49-F238E27FC236}">
                  <a16:creationId xmlns:a16="http://schemas.microsoft.com/office/drawing/2014/main" id="{388AC56C-9CD5-6476-D966-A9C8020DB175}"/>
                </a:ext>
              </a:extLst>
            </p:cNvPr>
            <p:cNvSpPr/>
            <p:nvPr/>
          </p:nvSpPr>
          <p:spPr>
            <a:xfrm>
              <a:off x="9093801" y="5785084"/>
              <a:ext cx="329285" cy="313903"/>
            </a:xfrm>
            <a:prstGeom prst="star5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69" name="テキスト ボックス 68">
              <a:extLst>
                <a:ext uri="{FF2B5EF4-FFF2-40B4-BE49-F238E27FC236}">
                  <a16:creationId xmlns:a16="http://schemas.microsoft.com/office/drawing/2014/main" id="{CDD86F6F-FB24-4425-842C-81821131334C}"/>
                </a:ext>
              </a:extLst>
            </p:cNvPr>
            <p:cNvSpPr txBox="1"/>
            <p:nvPr/>
          </p:nvSpPr>
          <p:spPr>
            <a:xfrm>
              <a:off x="8860825" y="5505815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00" b="1" i="0" u="none" strike="noStrike" kern="1200" cap="none" spc="0" normalizeH="0" baseline="0" noProof="0">
                  <a:ln>
                    <a:noFill/>
                  </a:ln>
                  <a:solidFill>
                    <a:srgbClr val="2D2D2D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2025/12</a:t>
              </a:r>
            </a:p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D2D2D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リリース</a:t>
              </a:r>
              <a:r>
                <a:rPr kumimoji="1" lang="en-US" altLang="ja-JP" sz="1000" b="1" i="0" u="none" strike="noStrike" kern="1200" cap="none" spc="0" normalizeH="0" baseline="0" noProof="0">
                  <a:ln>
                    <a:noFill/>
                  </a:ln>
                  <a:solidFill>
                    <a:srgbClr val="DA1884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※</a:t>
              </a:r>
              <a:endParaRPr kumimoji="1" lang="ja-JP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71" name="ホームベース 156">
              <a:extLst>
                <a:ext uri="{FF2B5EF4-FFF2-40B4-BE49-F238E27FC236}">
                  <a16:creationId xmlns:a16="http://schemas.microsoft.com/office/drawing/2014/main" id="{9CDF7DF7-F887-004D-3681-5E586C257384}"/>
                </a:ext>
              </a:extLst>
            </p:cNvPr>
            <p:cNvSpPr/>
            <p:nvPr/>
          </p:nvSpPr>
          <p:spPr>
            <a:xfrm>
              <a:off x="8361896" y="6165141"/>
              <a:ext cx="829121" cy="295631"/>
            </a:xfrm>
            <a:prstGeom prst="homePlate">
              <a:avLst>
                <a:gd name="adj" fmla="val 365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2</a:t>
              </a:r>
              <a:r>
                <a:rPr kumimoji="1" lang="en-US" altLang="ja-JP" sz="800" b="0" i="0" u="none" strike="noStrike" kern="1200" cap="none" spc="0" normalizeH="0" baseline="3000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nd</a:t>
              </a:r>
              <a:r>
                <a:rPr kumimoji="1" lang="ja-JP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リリース要件定義</a:t>
              </a:r>
            </a:p>
          </p:txBody>
        </p:sp>
        <p:sp>
          <p:nvSpPr>
            <p:cNvPr id="72" name="ホームベース 156">
              <a:extLst>
                <a:ext uri="{FF2B5EF4-FFF2-40B4-BE49-F238E27FC236}">
                  <a16:creationId xmlns:a16="http://schemas.microsoft.com/office/drawing/2014/main" id="{E3DCD107-8AB5-DC29-C518-C568A0093DB0}"/>
                </a:ext>
              </a:extLst>
            </p:cNvPr>
            <p:cNvSpPr/>
            <p:nvPr/>
          </p:nvSpPr>
          <p:spPr>
            <a:xfrm>
              <a:off x="9272131" y="6157120"/>
              <a:ext cx="957547" cy="295631"/>
            </a:xfrm>
            <a:prstGeom prst="homePlate">
              <a:avLst>
                <a:gd name="adj" fmla="val 3652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8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2</a:t>
              </a:r>
              <a:r>
                <a:rPr kumimoji="1" lang="en-US" altLang="ja-JP" sz="800" b="0" i="0" u="none" strike="noStrike" kern="1200" cap="none" spc="0" normalizeH="0" baseline="3000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nd</a:t>
              </a:r>
              <a:r>
                <a:rPr kumimoji="1" lang="en-US" altLang="ja-JP" sz="8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 </a:t>
              </a:r>
              <a:r>
                <a:rPr kumimoji="1" lang="ja-JP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リリース</a:t>
              </a:r>
              <a:endPara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基本設計・実装</a:t>
              </a:r>
            </a:p>
          </p:txBody>
        </p:sp>
        <p:sp>
          <p:nvSpPr>
            <p:cNvPr id="73" name="星 5 30">
              <a:extLst>
                <a:ext uri="{FF2B5EF4-FFF2-40B4-BE49-F238E27FC236}">
                  <a16:creationId xmlns:a16="http://schemas.microsoft.com/office/drawing/2014/main" id="{CA9262DD-4141-8BD3-734B-F0F947800FD3}"/>
                </a:ext>
              </a:extLst>
            </p:cNvPr>
            <p:cNvSpPr/>
            <p:nvPr/>
          </p:nvSpPr>
          <p:spPr>
            <a:xfrm>
              <a:off x="10171181" y="6127205"/>
              <a:ext cx="329285" cy="313903"/>
            </a:xfrm>
            <a:prstGeom prst="star5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799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26611B89-6524-E804-BE6D-1C62147FD446}"/>
                </a:ext>
              </a:extLst>
            </p:cNvPr>
            <p:cNvSpPr txBox="1"/>
            <p:nvPr/>
          </p:nvSpPr>
          <p:spPr>
            <a:xfrm>
              <a:off x="9813975" y="5871999"/>
              <a:ext cx="10743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00" b="1" i="0" u="none" strike="noStrike" kern="1200" cap="none" spc="0" normalizeH="0" baseline="0" noProof="0">
                  <a:ln>
                    <a:noFill/>
                  </a:ln>
                  <a:solidFill>
                    <a:srgbClr val="2D2D2D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2026</a:t>
              </a:r>
              <a:r>
                <a:rPr kumimoji="1" lang="ja-JP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D2D2D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年中</a:t>
              </a:r>
              <a:r>
                <a:rPr kumimoji="1" lang="en-US" altLang="ja-JP" sz="1000" b="1" i="0" u="none" strike="noStrike" kern="1200" cap="none" spc="0" normalizeH="0" baseline="0" noProof="0">
                  <a:ln>
                    <a:noFill/>
                  </a:ln>
                  <a:solidFill>
                    <a:srgbClr val="2D2D2D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(TBD)</a:t>
              </a:r>
            </a:p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D2D2D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リリース</a:t>
              </a:r>
              <a:r>
                <a:rPr kumimoji="1" lang="en-US" altLang="ja-JP" sz="1000" b="1" i="0" u="none" strike="noStrike" kern="1200" cap="none" spc="0" normalizeH="0" baseline="0" noProof="0">
                  <a:ln>
                    <a:noFill/>
                  </a:ln>
                  <a:solidFill>
                    <a:srgbClr val="DA1884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※</a:t>
              </a:r>
              <a:endParaRPr kumimoji="1" lang="ja-JP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DA1884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</p:txBody>
        </p:sp>
        <p:sp>
          <p:nvSpPr>
            <p:cNvPr id="77" name="ホームベース 156">
              <a:extLst>
                <a:ext uri="{FF2B5EF4-FFF2-40B4-BE49-F238E27FC236}">
                  <a16:creationId xmlns:a16="http://schemas.microsoft.com/office/drawing/2014/main" id="{1C51F5D2-B048-6800-93FC-309FBCF06FDD}"/>
                </a:ext>
              </a:extLst>
            </p:cNvPr>
            <p:cNvSpPr/>
            <p:nvPr/>
          </p:nvSpPr>
          <p:spPr>
            <a:xfrm>
              <a:off x="8361895" y="6487358"/>
              <a:ext cx="829121" cy="295631"/>
            </a:xfrm>
            <a:prstGeom prst="homePlate">
              <a:avLst>
                <a:gd name="adj" fmla="val 365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アプリ展開</a:t>
              </a:r>
              <a:endPara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endParaRPr>
            </a:p>
            <a:p>
              <a:pPr marL="0" marR="0" lvl="0" indent="0" algn="l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eiryo" panose="020B0604030504040204" pitchFamily="50" charset="-128"/>
                  <a:cs typeface="Arial"/>
                </a:rPr>
                <a:t>検討</a:t>
              </a:r>
            </a:p>
          </p:txBody>
        </p:sp>
      </p:grp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E83DC3C7-D3AA-5900-239A-6BEB2B48EF24}"/>
              </a:ext>
            </a:extLst>
          </p:cNvPr>
          <p:cNvCxnSpPr>
            <a:cxnSpLocks/>
          </p:cNvCxnSpPr>
          <p:nvPr/>
        </p:nvCxnSpPr>
        <p:spPr>
          <a:xfrm>
            <a:off x="8267901" y="855658"/>
            <a:ext cx="0" cy="578360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29550E20-2C43-B794-C8CE-7F44935E5A57}"/>
              </a:ext>
            </a:extLst>
          </p:cNvPr>
          <p:cNvSpPr txBox="1"/>
          <p:nvPr/>
        </p:nvSpPr>
        <p:spPr>
          <a:xfrm>
            <a:off x="7998506" y="640270"/>
            <a:ext cx="538790" cy="2153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TODAY</a:t>
            </a:r>
            <a:endParaRPr kumimoji="1" lang="ja-JP" alt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3" name="二等辺三角形 42">
            <a:extLst>
              <a:ext uri="{FF2B5EF4-FFF2-40B4-BE49-F238E27FC236}">
                <a16:creationId xmlns:a16="http://schemas.microsoft.com/office/drawing/2014/main" id="{E34F48DD-8EEA-789F-66D6-D173186548F2}"/>
              </a:ext>
            </a:extLst>
          </p:cNvPr>
          <p:cNvSpPr/>
          <p:nvPr/>
        </p:nvSpPr>
        <p:spPr>
          <a:xfrm flipV="1">
            <a:off x="10426667" y="1752790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08B1D954-6F4D-72C3-B7DA-8732368947CA}"/>
              </a:ext>
            </a:extLst>
          </p:cNvPr>
          <p:cNvSpPr txBox="1"/>
          <p:nvPr/>
        </p:nvSpPr>
        <p:spPr>
          <a:xfrm>
            <a:off x="10255489" y="1399082"/>
            <a:ext cx="590225" cy="377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R6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TSI/TMY</a:t>
            </a:r>
            <a:endParaRPr kumimoji="1" lang="ja-JP" altLang="en-US" sz="80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7" name="二等辺三角形 46">
            <a:extLst>
              <a:ext uri="{FF2B5EF4-FFF2-40B4-BE49-F238E27FC236}">
                <a16:creationId xmlns:a16="http://schemas.microsoft.com/office/drawing/2014/main" id="{F16F246F-AD41-CE1F-F514-B59837DCA05D}"/>
              </a:ext>
            </a:extLst>
          </p:cNvPr>
          <p:cNvSpPr/>
          <p:nvPr/>
        </p:nvSpPr>
        <p:spPr>
          <a:xfrm flipV="1">
            <a:off x="10753355" y="1745583"/>
            <a:ext cx="184718" cy="19809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792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B290F5B8-5522-B98D-216A-885F9F6F56F1}"/>
              </a:ext>
            </a:extLst>
          </p:cNvPr>
          <p:cNvSpPr txBox="1"/>
          <p:nvPr/>
        </p:nvSpPr>
        <p:spPr>
          <a:xfrm>
            <a:off x="10621437" y="1388681"/>
            <a:ext cx="44595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R8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TEE</a:t>
            </a:r>
            <a:endParaRPr kumimoji="1" lang="ja-JP" altLang="en-US" sz="1050" b="1" i="0" u="none" strike="noStrike" kern="1200" cap="none" spc="0" normalizeH="0" baseline="0" noProof="0">
              <a:ln>
                <a:noFill/>
              </a:ln>
              <a:solidFill>
                <a:srgbClr val="8031A7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8F37C5D1-2704-2A71-7781-32A38A8C1595}"/>
              </a:ext>
            </a:extLst>
          </p:cNvPr>
          <p:cNvSpPr txBox="1"/>
          <p:nvPr/>
        </p:nvSpPr>
        <p:spPr>
          <a:xfrm>
            <a:off x="11684621" y="1342401"/>
            <a:ext cx="5661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R10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TEK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TES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1" i="0" u="none" strike="noStrike" kern="1200" cap="none" spc="0" normalizeH="0" baseline="0" noProof="0">
                <a:ln>
                  <a:noFill/>
                </a:ln>
                <a:solidFill>
                  <a:srgbClr val="8031A7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TMEA</a:t>
            </a:r>
          </a:p>
        </p:txBody>
      </p:sp>
      <p:sp>
        <p:nvSpPr>
          <p:cNvPr id="42" name="フローチャート: 処理 41">
            <a:extLst>
              <a:ext uri="{FF2B5EF4-FFF2-40B4-BE49-F238E27FC236}">
                <a16:creationId xmlns:a16="http://schemas.microsoft.com/office/drawing/2014/main" id="{887DB886-07CE-673A-7AD3-A79E1D192926}"/>
              </a:ext>
            </a:extLst>
          </p:cNvPr>
          <p:cNvSpPr/>
          <p:nvPr/>
        </p:nvSpPr>
        <p:spPr>
          <a:xfrm>
            <a:off x="8361895" y="5122575"/>
            <a:ext cx="3681232" cy="1568877"/>
          </a:xfrm>
          <a:prstGeom prst="flowChartProcess">
            <a:avLst/>
          </a:prstGeom>
          <a:solidFill>
            <a:schemeClr val="tx1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今後再検討</a:t>
            </a:r>
          </a:p>
        </p:txBody>
      </p:sp>
    </p:spTree>
    <p:extLst>
      <p:ext uri="{BB962C8B-B14F-4D97-AF65-F5344CB8AC3E}">
        <p14:creationId xmlns:p14="http://schemas.microsoft.com/office/powerpoint/2010/main" val="283907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オブジェクト 90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5" y="2483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660" imgH="659" progId="TCLayout.ActiveDocument.1">
                  <p:embed/>
                </p:oleObj>
              </mc:Choice>
              <mc:Fallback>
                <p:oleObj name="think-cell スライド" r:id="rId3" imgW="660" imgH="659" progId="TCLayout.ActiveDocument.1">
                  <p:embed/>
                  <p:pic>
                    <p:nvPicPr>
                      <p:cNvPr id="91" name="オブジェクト 90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65" y="2483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トレーサビリティシステム</a:t>
            </a:r>
            <a:r>
              <a:rPr lang="en-US" altLang="ja-JP" sz="1799"/>
              <a:t>(</a:t>
            </a:r>
            <a:r>
              <a:rPr lang="ja-JP" altLang="en-US" sz="1799"/>
              <a:t>照会アプリ</a:t>
            </a:r>
            <a:r>
              <a:rPr lang="en-US" altLang="ja-JP" sz="1799"/>
              <a:t>) </a:t>
            </a:r>
            <a:r>
              <a:rPr lang="ja-JP" altLang="en-US" sz="2800"/>
              <a:t>想定</a:t>
            </a:r>
            <a:r>
              <a:rPr lang="ja-JP" altLang="en-US"/>
              <a:t>ユースケース　</a:t>
            </a:r>
            <a:endParaRPr lang="ja-JP" altLang="en-US" sz="1799"/>
          </a:p>
        </p:txBody>
      </p:sp>
      <p:sp>
        <p:nvSpPr>
          <p:cNvPr id="76" name="正方形/長方形 75"/>
          <p:cNvSpPr/>
          <p:nvPr/>
        </p:nvSpPr>
        <p:spPr>
          <a:xfrm>
            <a:off x="6797691" y="2858115"/>
            <a:ext cx="645911" cy="54621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履歴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調査</a:t>
            </a:r>
          </a:p>
        </p:txBody>
      </p:sp>
      <p:sp>
        <p:nvSpPr>
          <p:cNvPr id="80" name="正方形/長方形 79"/>
          <p:cNvSpPr/>
          <p:nvPr/>
        </p:nvSpPr>
        <p:spPr>
          <a:xfrm>
            <a:off x="6797691" y="3544163"/>
            <a:ext cx="645911" cy="121400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検査データ</a:t>
            </a:r>
          </a:p>
        </p:txBody>
      </p:sp>
      <p:sp>
        <p:nvSpPr>
          <p:cNvPr id="92" name="正方形/長方形 91"/>
          <p:cNvSpPr/>
          <p:nvPr/>
        </p:nvSpPr>
        <p:spPr>
          <a:xfrm>
            <a:off x="6797691" y="4899294"/>
            <a:ext cx="645911" cy="1187196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保管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寿命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管理</a:t>
            </a:r>
            <a:endParaRPr kumimoji="0" lang="ja-JP" altLang="en-US" sz="105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4" name="正方形/長方形 93"/>
          <p:cNvSpPr/>
          <p:nvPr/>
        </p:nvSpPr>
        <p:spPr>
          <a:xfrm>
            <a:off x="6806586" y="1488789"/>
            <a:ext cx="645911" cy="122239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波及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確認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5" name="正方形/長方形 94"/>
          <p:cNvSpPr/>
          <p:nvPr/>
        </p:nvSpPr>
        <p:spPr>
          <a:xfrm>
            <a:off x="6537509" y="1493609"/>
            <a:ext cx="227049" cy="546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1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6" name="正方形/長方形 95"/>
          <p:cNvSpPr/>
          <p:nvPr/>
        </p:nvSpPr>
        <p:spPr>
          <a:xfrm>
            <a:off x="6537509" y="2173774"/>
            <a:ext cx="227049" cy="546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2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7" name="正方形/長方形 96"/>
          <p:cNvSpPr/>
          <p:nvPr/>
        </p:nvSpPr>
        <p:spPr>
          <a:xfrm>
            <a:off x="6529804" y="2853939"/>
            <a:ext cx="227049" cy="546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3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8" name="正方形/長方形 97"/>
          <p:cNvSpPr/>
          <p:nvPr/>
        </p:nvSpPr>
        <p:spPr>
          <a:xfrm>
            <a:off x="6528339" y="3539228"/>
            <a:ext cx="227049" cy="546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4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99" name="正方形/長方形 98"/>
          <p:cNvSpPr/>
          <p:nvPr/>
        </p:nvSpPr>
        <p:spPr>
          <a:xfrm>
            <a:off x="6518998" y="4211953"/>
            <a:ext cx="227049" cy="546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5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0" name="正方形/長方形 99"/>
          <p:cNvSpPr/>
          <p:nvPr/>
        </p:nvSpPr>
        <p:spPr>
          <a:xfrm>
            <a:off x="6527593" y="4897242"/>
            <a:ext cx="227049" cy="546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6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3" name="正方形/長方形 102"/>
          <p:cNvSpPr/>
          <p:nvPr/>
        </p:nvSpPr>
        <p:spPr>
          <a:xfrm>
            <a:off x="6535321" y="5547477"/>
            <a:ext cx="227049" cy="546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7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4" name="正方形/長方形 103"/>
          <p:cNvSpPr/>
          <p:nvPr/>
        </p:nvSpPr>
        <p:spPr>
          <a:xfrm>
            <a:off x="8912450" y="1485333"/>
            <a:ext cx="2063836" cy="54621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パーツの所在を確認する</a:t>
            </a:r>
            <a:endParaRPr kumimoji="0" lang="en-US" altLang="ja-JP" sz="10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</a:t>
            </a:r>
            <a:r>
              <a:rPr kumimoji="0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</a:t>
            </a:r>
            <a:r>
              <a:rPr kumimoji="0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S/N</a:t>
            </a:r>
            <a:r>
              <a:rPr kumimoji="0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単位</a:t>
            </a:r>
            <a:r>
              <a:rPr kumimoji="0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  <a:endParaRPr kumimoji="0" lang="ja-JP" altLang="en-US" sz="10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5" name="正方形/長方形 104"/>
          <p:cNvSpPr/>
          <p:nvPr/>
        </p:nvSpPr>
        <p:spPr>
          <a:xfrm>
            <a:off x="8912450" y="2170237"/>
            <a:ext cx="2063836" cy="54621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パーツの所在を確認する</a:t>
            </a:r>
            <a:endParaRPr kumimoji="0" lang="en-US" altLang="ja-JP" sz="10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</a:t>
            </a:r>
            <a:r>
              <a:rPr kumimoji="0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入庫ロット単位</a:t>
            </a:r>
            <a:r>
              <a:rPr kumimoji="0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  <a:endParaRPr kumimoji="0" lang="ja-JP" altLang="en-US" sz="10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6" name="正方形/長方形 105"/>
          <p:cNvSpPr/>
          <p:nvPr/>
        </p:nvSpPr>
        <p:spPr>
          <a:xfrm>
            <a:off x="8912450" y="2860802"/>
            <a:ext cx="2063836" cy="54621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パーツの経歴を確認する</a:t>
            </a:r>
          </a:p>
        </p:txBody>
      </p:sp>
      <p:sp>
        <p:nvSpPr>
          <p:cNvPr id="107" name="正方形/長方形 106"/>
          <p:cNvSpPr/>
          <p:nvPr/>
        </p:nvSpPr>
        <p:spPr>
          <a:xfrm>
            <a:off x="8912450" y="3539909"/>
            <a:ext cx="2063836" cy="54621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パーツのサプライヤ検査データを抽出・確認する</a:t>
            </a:r>
          </a:p>
        </p:txBody>
      </p:sp>
      <p:sp>
        <p:nvSpPr>
          <p:cNvPr id="108" name="正方形/長方形 107"/>
          <p:cNvSpPr/>
          <p:nvPr/>
        </p:nvSpPr>
        <p:spPr>
          <a:xfrm>
            <a:off x="8912450" y="4206147"/>
            <a:ext cx="2063836" cy="54621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装置出荷検査データを抽出・確認する</a:t>
            </a:r>
          </a:p>
        </p:txBody>
      </p:sp>
      <p:sp>
        <p:nvSpPr>
          <p:cNvPr id="109" name="正方形/長方形 108"/>
          <p:cNvSpPr/>
          <p:nvPr/>
        </p:nvSpPr>
        <p:spPr>
          <a:xfrm>
            <a:off x="8911429" y="4899850"/>
            <a:ext cx="2063836" cy="54621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在庫パーツの保管寿命を確認する</a:t>
            </a:r>
            <a:r>
              <a:rPr kumimoji="0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</a:t>
            </a:r>
            <a:r>
              <a:rPr kumimoji="0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入庫ロット、パーツ</a:t>
            </a:r>
            <a:r>
              <a:rPr kumimoji="0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S/N</a:t>
            </a:r>
            <a:r>
              <a:rPr kumimoji="0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単位</a:t>
            </a:r>
            <a:r>
              <a:rPr kumimoji="0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  <a:endParaRPr kumimoji="0" lang="ja-JP" altLang="en-US" sz="10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0" name="正方形/長方形 109"/>
          <p:cNvSpPr/>
          <p:nvPr/>
        </p:nvSpPr>
        <p:spPr>
          <a:xfrm>
            <a:off x="8917135" y="5547477"/>
            <a:ext cx="2063836" cy="54621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在庫装置に組付けられたパーツの寿命を確認する</a:t>
            </a: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7847400" y="1115962"/>
            <a:ext cx="2995553" cy="3076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sng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想定ユースケース</a:t>
            </a:r>
            <a:r>
              <a:rPr kumimoji="0" lang="en-US" altLang="ja-JP" sz="1400" b="1" i="0" u="sng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</a:t>
            </a:r>
            <a:r>
              <a:rPr kumimoji="0" lang="ja-JP" altLang="en-US" sz="1400" b="1" i="0" u="sng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照会アプリ画面</a:t>
            </a:r>
            <a:r>
              <a:rPr kumimoji="0" lang="en-US" altLang="ja-JP" sz="1400" b="1" i="0" u="sng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  <a:endParaRPr kumimoji="0" lang="ja-JP" altLang="en-US" sz="1400" b="1" i="0" u="sng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64" name="直線コネクタ 63"/>
          <p:cNvCxnSpPr>
            <a:cxnSpLocks/>
            <a:stCxn id="22" idx="3"/>
            <a:endCxn id="97" idx="1"/>
          </p:cNvCxnSpPr>
          <p:nvPr/>
        </p:nvCxnSpPr>
        <p:spPr>
          <a:xfrm>
            <a:off x="4981074" y="2362079"/>
            <a:ext cx="1548730" cy="7649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コネクタ 110"/>
          <p:cNvCxnSpPr>
            <a:cxnSpLocks/>
            <a:stCxn id="23" idx="3"/>
            <a:endCxn id="95" idx="1"/>
          </p:cNvCxnSpPr>
          <p:nvPr/>
        </p:nvCxnSpPr>
        <p:spPr>
          <a:xfrm flipV="1">
            <a:off x="4981074" y="1766715"/>
            <a:ext cx="1556435" cy="148032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コネクタ 112"/>
          <p:cNvCxnSpPr>
            <a:cxnSpLocks/>
            <a:stCxn id="23" idx="3"/>
            <a:endCxn id="96" idx="1"/>
          </p:cNvCxnSpPr>
          <p:nvPr/>
        </p:nvCxnSpPr>
        <p:spPr>
          <a:xfrm flipV="1">
            <a:off x="4981074" y="2446880"/>
            <a:ext cx="1556435" cy="80015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コネクタ 122"/>
          <p:cNvCxnSpPr>
            <a:cxnSpLocks/>
            <a:stCxn id="24" idx="3"/>
            <a:endCxn id="98" idx="1"/>
          </p:cNvCxnSpPr>
          <p:nvPr/>
        </p:nvCxnSpPr>
        <p:spPr>
          <a:xfrm flipV="1">
            <a:off x="4981074" y="3812334"/>
            <a:ext cx="1547265" cy="3196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コネクタ 134"/>
          <p:cNvCxnSpPr>
            <a:cxnSpLocks/>
            <a:stCxn id="26" idx="3"/>
            <a:endCxn id="100" idx="1"/>
          </p:cNvCxnSpPr>
          <p:nvPr/>
        </p:nvCxnSpPr>
        <p:spPr>
          <a:xfrm>
            <a:off x="4981074" y="5025639"/>
            <a:ext cx="1546519" cy="14470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コネクタ 137"/>
          <p:cNvCxnSpPr>
            <a:cxnSpLocks/>
            <a:stCxn id="26" idx="3"/>
            <a:endCxn id="103" idx="1"/>
          </p:cNvCxnSpPr>
          <p:nvPr/>
        </p:nvCxnSpPr>
        <p:spPr>
          <a:xfrm>
            <a:off x="4981074" y="5025639"/>
            <a:ext cx="1554247" cy="79494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正方形/長方形 70"/>
          <p:cNvSpPr/>
          <p:nvPr/>
        </p:nvSpPr>
        <p:spPr>
          <a:xfrm>
            <a:off x="7495546" y="2169679"/>
            <a:ext cx="1367439" cy="54621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品目検索</a:t>
            </a: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(※)</a:t>
            </a:r>
            <a:endParaRPr kumimoji="0" lang="ja-JP" altLang="en-US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2" name="正方形/長方形 71"/>
          <p:cNvSpPr/>
          <p:nvPr/>
        </p:nvSpPr>
        <p:spPr>
          <a:xfrm>
            <a:off x="7486651" y="2854020"/>
            <a:ext cx="1367439" cy="54621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履歴調査</a:t>
            </a:r>
          </a:p>
        </p:txBody>
      </p:sp>
      <p:sp>
        <p:nvSpPr>
          <p:cNvPr id="73" name="正方形/長方形 72"/>
          <p:cNvSpPr/>
          <p:nvPr/>
        </p:nvSpPr>
        <p:spPr>
          <a:xfrm>
            <a:off x="7486651" y="3540068"/>
            <a:ext cx="1367439" cy="54621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パーツ検査</a:t>
            </a:r>
          </a:p>
        </p:txBody>
      </p:sp>
      <p:sp>
        <p:nvSpPr>
          <p:cNvPr id="74" name="正方形/長方形 73"/>
          <p:cNvSpPr/>
          <p:nvPr/>
        </p:nvSpPr>
        <p:spPr>
          <a:xfrm>
            <a:off x="7486651" y="4202052"/>
            <a:ext cx="1367439" cy="54621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装置検査データ</a:t>
            </a:r>
            <a:endParaRPr kumimoji="0" lang="ja-JP" altLang="en-US" sz="105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5" name="正方形/長方形 74"/>
          <p:cNvSpPr/>
          <p:nvPr/>
        </p:nvSpPr>
        <p:spPr>
          <a:xfrm>
            <a:off x="7486651" y="4895199"/>
            <a:ext cx="1367439" cy="54621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在庫パーツ</a:t>
            </a:r>
            <a:endParaRPr kumimoji="0" lang="ja-JP" altLang="en-US" sz="105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7" name="正方形/長方形 76"/>
          <p:cNvSpPr/>
          <p:nvPr/>
        </p:nvSpPr>
        <p:spPr>
          <a:xfrm>
            <a:off x="7496279" y="5540279"/>
            <a:ext cx="1367439" cy="54621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在庫装置</a:t>
            </a:r>
            <a:endParaRPr kumimoji="0" lang="ja-JP" altLang="en-US" sz="105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8" name="正方形/長方形 77"/>
          <p:cNvSpPr/>
          <p:nvPr/>
        </p:nvSpPr>
        <p:spPr>
          <a:xfrm>
            <a:off x="7495546" y="1484694"/>
            <a:ext cx="1367439" cy="54621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</a:t>
            </a: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S/N</a:t>
            </a: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検索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527215" y="6129007"/>
            <a:ext cx="42755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※</a:t>
            </a:r>
            <a:r>
              <a: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トレーサビリティ対象品以外の全パーツ品目で検索可能とする</a:t>
            </a:r>
            <a:endParaRPr kumimoji="1" lang="en-US" altLang="ja-JP" sz="11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　</a:t>
            </a: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</a:t>
            </a:r>
            <a:r>
              <a:rPr kumimoji="1" lang="ja-JP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ただし、情報の詳細度は異なる</a:t>
            </a:r>
            <a:r>
              <a:rPr kumimoji="1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7036" y="1484820"/>
            <a:ext cx="1072148" cy="559700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5376" y="2159053"/>
            <a:ext cx="1072148" cy="546376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  <p:pic>
        <p:nvPicPr>
          <p:cNvPr id="12" name="図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2794" y="2840201"/>
            <a:ext cx="1059871" cy="559951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  <p:pic>
        <p:nvPicPr>
          <p:cNvPr id="13" name="図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1153" y="3540068"/>
            <a:ext cx="1061512" cy="545372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  <p:pic>
        <p:nvPicPr>
          <p:cNvPr id="84" name="図 8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5834" y="4204514"/>
            <a:ext cx="1061512" cy="545372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  <p:pic>
        <p:nvPicPr>
          <p:cNvPr id="15" name="図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1154" y="4881239"/>
            <a:ext cx="1056193" cy="564856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  <p:pic>
        <p:nvPicPr>
          <p:cNvPr id="85" name="図 8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20041" y="5530957"/>
            <a:ext cx="1056193" cy="564856"/>
          </a:xfrm>
          <a:prstGeom prst="rect">
            <a:avLst/>
          </a:prstGeom>
          <a:ln w="12700">
            <a:solidFill>
              <a:schemeClr val="bg1">
                <a:lumMod val="65000"/>
              </a:schemeClr>
            </a:solidFill>
          </a:ln>
        </p:spPr>
      </p:pic>
      <p:cxnSp>
        <p:nvCxnSpPr>
          <p:cNvPr id="115" name="直線コネクタ 114"/>
          <p:cNvCxnSpPr>
            <a:cxnSpLocks/>
            <a:stCxn id="24" idx="3"/>
            <a:endCxn id="97" idx="1"/>
          </p:cNvCxnSpPr>
          <p:nvPr/>
        </p:nvCxnSpPr>
        <p:spPr>
          <a:xfrm flipV="1">
            <a:off x="4981074" y="3127045"/>
            <a:ext cx="1548730" cy="100495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コネクタ 117"/>
          <p:cNvCxnSpPr>
            <a:cxnSpLocks/>
            <a:stCxn id="22" idx="3"/>
            <a:endCxn id="99" idx="1"/>
          </p:cNvCxnSpPr>
          <p:nvPr/>
        </p:nvCxnSpPr>
        <p:spPr>
          <a:xfrm>
            <a:off x="4981074" y="2362079"/>
            <a:ext cx="1537924" cy="212298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コネクタ 120"/>
          <p:cNvCxnSpPr>
            <a:cxnSpLocks/>
            <a:stCxn id="23" idx="3"/>
            <a:endCxn id="97" idx="1"/>
          </p:cNvCxnSpPr>
          <p:nvPr/>
        </p:nvCxnSpPr>
        <p:spPr>
          <a:xfrm flipV="1">
            <a:off x="4981074" y="3127045"/>
            <a:ext cx="1548730" cy="11999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コネクタ 121"/>
          <p:cNvCxnSpPr>
            <a:cxnSpLocks/>
            <a:stCxn id="22" idx="3"/>
            <a:endCxn id="95" idx="1"/>
          </p:cNvCxnSpPr>
          <p:nvPr/>
        </p:nvCxnSpPr>
        <p:spPr>
          <a:xfrm flipV="1">
            <a:off x="4981074" y="1766715"/>
            <a:ext cx="1556435" cy="59536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コネクタ 123"/>
          <p:cNvCxnSpPr>
            <a:cxnSpLocks/>
            <a:stCxn id="22" idx="3"/>
            <a:endCxn id="96" idx="1"/>
          </p:cNvCxnSpPr>
          <p:nvPr/>
        </p:nvCxnSpPr>
        <p:spPr>
          <a:xfrm>
            <a:off x="4981074" y="2362079"/>
            <a:ext cx="1556435" cy="8480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1"/>
          <p:cNvSpPr txBox="1"/>
          <p:nvPr/>
        </p:nvSpPr>
        <p:spPr>
          <a:xfrm>
            <a:off x="6729421" y="6523367"/>
            <a:ext cx="2182008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  <a:hlinkClick r:id="rId10"/>
              </a:rPr>
              <a:t>2021/12/27</a:t>
            </a:r>
            <a:r>
              <a: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  <a:hlinkClick r:id="rId10"/>
              </a:rPr>
              <a:t>時点画面イメージ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5" name="ホームベース 8">
            <a:extLst>
              <a:ext uri="{FF2B5EF4-FFF2-40B4-BE49-F238E27FC236}">
                <a16:creationId xmlns:a16="http://schemas.microsoft.com/office/drawing/2014/main" id="{AECB8698-A16F-94FA-E809-B143ABC35542}"/>
              </a:ext>
            </a:extLst>
          </p:cNvPr>
          <p:cNvSpPr/>
          <p:nvPr/>
        </p:nvSpPr>
        <p:spPr>
          <a:xfrm>
            <a:off x="9623035" y="156426"/>
            <a:ext cx="683822" cy="287925"/>
          </a:xfrm>
          <a:prstGeom prst="homePlate">
            <a:avLst>
              <a:gd name="adj" fmla="val 9502"/>
            </a:avLst>
          </a:prstGeom>
          <a:solidFill>
            <a:schemeClr val="accent2"/>
          </a:solidFill>
          <a:ln w="2857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Step3</a:t>
            </a:r>
          </a:p>
        </p:txBody>
      </p:sp>
      <p:sp>
        <p:nvSpPr>
          <p:cNvPr id="7" name="ホームベース 7">
            <a:extLst>
              <a:ext uri="{FF2B5EF4-FFF2-40B4-BE49-F238E27FC236}">
                <a16:creationId xmlns:a16="http://schemas.microsoft.com/office/drawing/2014/main" id="{763065B5-FFE7-7A86-F899-8DF5214C2BBD}"/>
              </a:ext>
            </a:extLst>
          </p:cNvPr>
          <p:cNvSpPr/>
          <p:nvPr/>
        </p:nvSpPr>
        <p:spPr>
          <a:xfrm>
            <a:off x="8981860" y="156426"/>
            <a:ext cx="683822" cy="287925"/>
          </a:xfrm>
          <a:prstGeom prst="homePlate">
            <a:avLst>
              <a:gd name="adj" fmla="val 9502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Step2</a:t>
            </a:r>
          </a:p>
        </p:txBody>
      </p:sp>
      <p:sp>
        <p:nvSpPr>
          <p:cNvPr id="16" name="ホームベース 4">
            <a:extLst>
              <a:ext uri="{FF2B5EF4-FFF2-40B4-BE49-F238E27FC236}">
                <a16:creationId xmlns:a16="http://schemas.microsoft.com/office/drawing/2014/main" id="{9EE1865E-5A8E-1834-0476-EE91AC50DD6E}"/>
              </a:ext>
            </a:extLst>
          </p:cNvPr>
          <p:cNvSpPr/>
          <p:nvPr/>
        </p:nvSpPr>
        <p:spPr>
          <a:xfrm>
            <a:off x="8340684" y="156426"/>
            <a:ext cx="683822" cy="287925"/>
          </a:xfrm>
          <a:prstGeom prst="homePlate">
            <a:avLst>
              <a:gd name="adj" fmla="val 9502"/>
            </a:avLst>
          </a:prstGeom>
          <a:solidFill>
            <a:srgbClr val="1DB5D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Step1</a:t>
            </a:r>
            <a:endParaRPr kumimoji="0" lang="ja-JP" alt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DE6B87E-2830-683D-0E46-A6ADAE39356D}"/>
              </a:ext>
            </a:extLst>
          </p:cNvPr>
          <p:cNvSpPr/>
          <p:nvPr/>
        </p:nvSpPr>
        <p:spPr>
          <a:xfrm>
            <a:off x="8340686" y="135390"/>
            <a:ext cx="1324998" cy="321243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799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AF1BF41-71C9-58B6-E323-336ECD5DF75E}"/>
              </a:ext>
            </a:extLst>
          </p:cNvPr>
          <p:cNvSpPr/>
          <p:nvPr/>
        </p:nvSpPr>
        <p:spPr>
          <a:xfrm>
            <a:off x="507892" y="1981538"/>
            <a:ext cx="580101" cy="34246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Step1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7598361-5537-01FC-BE4B-C1F448D53900}"/>
              </a:ext>
            </a:extLst>
          </p:cNvPr>
          <p:cNvSpPr/>
          <p:nvPr/>
        </p:nvSpPr>
        <p:spPr>
          <a:xfrm>
            <a:off x="1116736" y="1981538"/>
            <a:ext cx="580101" cy="34246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Step2</a:t>
            </a: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4C09D49-BAA7-8015-B55A-7ED4B32F3C3E}"/>
              </a:ext>
            </a:extLst>
          </p:cNvPr>
          <p:cNvSpPr/>
          <p:nvPr/>
        </p:nvSpPr>
        <p:spPr>
          <a:xfrm>
            <a:off x="1747749" y="1981538"/>
            <a:ext cx="3233325" cy="76108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装置ならびに部品の状態・履歴を即時に特定する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4E5CB7B-8C00-D1E2-001B-DA7932044D45}"/>
              </a:ext>
            </a:extLst>
          </p:cNvPr>
          <p:cNvSpPr/>
          <p:nvPr/>
        </p:nvSpPr>
        <p:spPr>
          <a:xfrm>
            <a:off x="1747749" y="2866497"/>
            <a:ext cx="3233325" cy="76108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不具合部品ならびに波及装置の所在を即時に特定する</a:t>
            </a:r>
            <a:endParaRPr kumimoji="1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6CD5AAD-4ACE-B15D-647C-F0D7F41ADF83}"/>
              </a:ext>
            </a:extLst>
          </p:cNvPr>
          <p:cNvSpPr/>
          <p:nvPr/>
        </p:nvSpPr>
        <p:spPr>
          <a:xfrm>
            <a:off x="1747749" y="3751456"/>
            <a:ext cx="3233325" cy="76108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パーツ検査データを即時に提供する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74661E4-1055-55CE-203E-604EDF3B9E3F}"/>
              </a:ext>
            </a:extLst>
          </p:cNvPr>
          <p:cNvSpPr/>
          <p:nvPr/>
        </p:nvSpPr>
        <p:spPr>
          <a:xfrm>
            <a:off x="1747749" y="4645098"/>
            <a:ext cx="3233325" cy="76108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保管寿命に起因したトラブルを未然に予防する</a:t>
            </a: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CFAEECA8-22BC-09A5-C0E5-55D5DA0FCFE7}"/>
              </a:ext>
            </a:extLst>
          </p:cNvPr>
          <p:cNvCxnSpPr>
            <a:cxnSpLocks/>
            <a:stCxn id="24" idx="3"/>
            <a:endCxn id="99" idx="1"/>
          </p:cNvCxnSpPr>
          <p:nvPr/>
        </p:nvCxnSpPr>
        <p:spPr>
          <a:xfrm>
            <a:off x="4981074" y="4131997"/>
            <a:ext cx="1537924" cy="3530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1703AB09-99C1-30D3-B687-A814573D147D}"/>
              </a:ext>
            </a:extLst>
          </p:cNvPr>
          <p:cNvCxnSpPr>
            <a:cxnSpLocks/>
            <a:stCxn id="22" idx="3"/>
            <a:endCxn id="98" idx="1"/>
          </p:cNvCxnSpPr>
          <p:nvPr/>
        </p:nvCxnSpPr>
        <p:spPr>
          <a:xfrm>
            <a:off x="4981074" y="2362079"/>
            <a:ext cx="1547265" cy="145025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7061267B-0799-D780-4373-964201C7A014}"/>
              </a:ext>
            </a:extLst>
          </p:cNvPr>
          <p:cNvSpPr txBox="1"/>
          <p:nvPr/>
        </p:nvSpPr>
        <p:spPr>
          <a:xfrm>
            <a:off x="2259173" y="1603911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sng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トレーサビリティの役割</a:t>
            </a:r>
          </a:p>
        </p:txBody>
      </p:sp>
    </p:spTree>
    <p:extLst>
      <p:ext uri="{BB962C8B-B14F-4D97-AF65-F5344CB8AC3E}">
        <p14:creationId xmlns:p14="http://schemas.microsoft.com/office/powerpoint/2010/main" val="416670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4762" y="248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610" imgH="623" progId="TCLayout.ActiveDocument.1">
                  <p:embed/>
                </p:oleObj>
              </mc:Choice>
              <mc:Fallback>
                <p:oleObj name="think-cell スライド" r:id="rId3" imgW="610" imgH="623" progId="TCLayout.ActiveDocument.1">
                  <p:embed/>
                  <p:pic>
                    <p:nvPicPr>
                      <p:cNvPr id="6" name="オブジェクト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62" y="248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/>
          <p:cNvSpPr/>
          <p:nvPr/>
        </p:nvSpPr>
        <p:spPr>
          <a:xfrm>
            <a:off x="72899" y="6063581"/>
            <a:ext cx="12027160" cy="620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799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1" name="正方形/長方形 111"/>
          <p:cNvSpPr/>
          <p:nvPr/>
        </p:nvSpPr>
        <p:spPr>
          <a:xfrm>
            <a:off x="8104764" y="2419195"/>
            <a:ext cx="2779632" cy="1074494"/>
          </a:xfrm>
          <a:prstGeom prst="rect">
            <a:avLst/>
          </a:prstGeom>
          <a:solidFill>
            <a:schemeClr val="bg1"/>
          </a:solidFill>
          <a:ln w="381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トレサビ照会ツール（アプリ）</a:t>
            </a:r>
          </a:p>
        </p:txBody>
      </p:sp>
      <p:sp>
        <p:nvSpPr>
          <p:cNvPr id="79" name="正方形/長方形 13"/>
          <p:cNvSpPr/>
          <p:nvPr/>
        </p:nvSpPr>
        <p:spPr>
          <a:xfrm>
            <a:off x="1582461" y="2309023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</a:t>
            </a: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SAP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/IPDB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0" name="正方形/長方形 20"/>
          <p:cNvSpPr/>
          <p:nvPr/>
        </p:nvSpPr>
        <p:spPr>
          <a:xfrm>
            <a:off x="1582461" y="3558294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Merit21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2" name="正方形/長方形 21"/>
          <p:cNvSpPr/>
          <p:nvPr/>
        </p:nvSpPr>
        <p:spPr>
          <a:xfrm>
            <a:off x="1582461" y="2933659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WISDOM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5" name="Freeform 765"/>
          <p:cNvSpPr>
            <a:spLocks noChangeAspect="1" noEditPoints="1"/>
          </p:cNvSpPr>
          <p:nvPr/>
        </p:nvSpPr>
        <p:spPr bwMode="gray">
          <a:xfrm>
            <a:off x="11069879" y="2731733"/>
            <a:ext cx="459033" cy="459033"/>
          </a:xfrm>
          <a:custGeom>
            <a:avLst/>
            <a:gdLst>
              <a:gd name="T0" fmla="*/ 213 w 512"/>
              <a:gd name="T1" fmla="*/ 160 h 512"/>
              <a:gd name="T2" fmla="*/ 256 w 512"/>
              <a:gd name="T3" fmla="*/ 117 h 512"/>
              <a:gd name="T4" fmla="*/ 298 w 512"/>
              <a:gd name="T5" fmla="*/ 160 h 512"/>
              <a:gd name="T6" fmla="*/ 256 w 512"/>
              <a:gd name="T7" fmla="*/ 202 h 512"/>
              <a:gd name="T8" fmla="*/ 213 w 512"/>
              <a:gd name="T9" fmla="*/ 160 h 512"/>
              <a:gd name="T10" fmla="*/ 512 w 512"/>
              <a:gd name="T11" fmla="*/ 256 h 512"/>
              <a:gd name="T12" fmla="*/ 256 w 512"/>
              <a:gd name="T13" fmla="*/ 512 h 512"/>
              <a:gd name="T14" fmla="*/ 0 w 512"/>
              <a:gd name="T15" fmla="*/ 256 h 512"/>
              <a:gd name="T16" fmla="*/ 256 w 512"/>
              <a:gd name="T17" fmla="*/ 0 h 512"/>
              <a:gd name="T18" fmla="*/ 512 w 512"/>
              <a:gd name="T19" fmla="*/ 256 h 512"/>
              <a:gd name="T20" fmla="*/ 192 w 512"/>
              <a:gd name="T21" fmla="*/ 160 h 512"/>
              <a:gd name="T22" fmla="*/ 256 w 512"/>
              <a:gd name="T23" fmla="*/ 224 h 512"/>
              <a:gd name="T24" fmla="*/ 320 w 512"/>
              <a:gd name="T25" fmla="*/ 160 h 512"/>
              <a:gd name="T26" fmla="*/ 256 w 512"/>
              <a:gd name="T27" fmla="*/ 96 h 512"/>
              <a:gd name="T28" fmla="*/ 192 w 512"/>
              <a:gd name="T29" fmla="*/ 160 h 512"/>
              <a:gd name="T30" fmla="*/ 384 w 512"/>
              <a:gd name="T31" fmla="*/ 309 h 512"/>
              <a:gd name="T32" fmla="*/ 320 w 512"/>
              <a:gd name="T33" fmla="*/ 245 h 512"/>
              <a:gd name="T34" fmla="*/ 192 w 512"/>
              <a:gd name="T35" fmla="*/ 245 h 512"/>
              <a:gd name="T36" fmla="*/ 128 w 512"/>
              <a:gd name="T37" fmla="*/ 309 h 512"/>
              <a:gd name="T38" fmla="*/ 128 w 512"/>
              <a:gd name="T39" fmla="*/ 405 h 512"/>
              <a:gd name="T40" fmla="*/ 138 w 512"/>
              <a:gd name="T41" fmla="*/ 416 h 512"/>
              <a:gd name="T42" fmla="*/ 149 w 512"/>
              <a:gd name="T43" fmla="*/ 405 h 512"/>
              <a:gd name="T44" fmla="*/ 149 w 512"/>
              <a:gd name="T45" fmla="*/ 309 h 512"/>
              <a:gd name="T46" fmla="*/ 192 w 512"/>
              <a:gd name="T47" fmla="*/ 266 h 512"/>
              <a:gd name="T48" fmla="*/ 320 w 512"/>
              <a:gd name="T49" fmla="*/ 266 h 512"/>
              <a:gd name="T50" fmla="*/ 362 w 512"/>
              <a:gd name="T51" fmla="*/ 309 h 512"/>
              <a:gd name="T52" fmla="*/ 362 w 512"/>
              <a:gd name="T53" fmla="*/ 405 h 512"/>
              <a:gd name="T54" fmla="*/ 373 w 512"/>
              <a:gd name="T55" fmla="*/ 416 h 512"/>
              <a:gd name="T56" fmla="*/ 384 w 512"/>
              <a:gd name="T57" fmla="*/ 405 h 512"/>
              <a:gd name="T58" fmla="*/ 384 w 512"/>
              <a:gd name="T59" fmla="*/ 309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512" h="512">
                <a:moveTo>
                  <a:pt x="213" y="160"/>
                </a:moveTo>
                <a:cubicBezTo>
                  <a:pt x="213" y="136"/>
                  <a:pt x="232" y="117"/>
                  <a:pt x="256" y="117"/>
                </a:cubicBezTo>
                <a:cubicBezTo>
                  <a:pt x="279" y="117"/>
                  <a:pt x="298" y="136"/>
                  <a:pt x="298" y="160"/>
                </a:cubicBezTo>
                <a:cubicBezTo>
                  <a:pt x="298" y="183"/>
                  <a:pt x="279" y="202"/>
                  <a:pt x="256" y="202"/>
                </a:cubicBezTo>
                <a:cubicBezTo>
                  <a:pt x="232" y="202"/>
                  <a:pt x="213" y="183"/>
                  <a:pt x="213" y="160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192" y="160"/>
                </a:moveTo>
                <a:cubicBezTo>
                  <a:pt x="192" y="195"/>
                  <a:pt x="220" y="224"/>
                  <a:pt x="256" y="224"/>
                </a:cubicBezTo>
                <a:cubicBezTo>
                  <a:pt x="291" y="224"/>
                  <a:pt x="320" y="195"/>
                  <a:pt x="320" y="160"/>
                </a:cubicBezTo>
                <a:cubicBezTo>
                  <a:pt x="320" y="124"/>
                  <a:pt x="291" y="96"/>
                  <a:pt x="256" y="96"/>
                </a:cubicBezTo>
                <a:cubicBezTo>
                  <a:pt x="220" y="96"/>
                  <a:pt x="192" y="124"/>
                  <a:pt x="192" y="160"/>
                </a:cubicBezTo>
                <a:close/>
                <a:moveTo>
                  <a:pt x="384" y="309"/>
                </a:moveTo>
                <a:cubicBezTo>
                  <a:pt x="384" y="274"/>
                  <a:pt x="355" y="245"/>
                  <a:pt x="320" y="245"/>
                </a:cubicBezTo>
                <a:cubicBezTo>
                  <a:pt x="192" y="245"/>
                  <a:pt x="192" y="245"/>
                  <a:pt x="192" y="245"/>
                </a:cubicBezTo>
                <a:cubicBezTo>
                  <a:pt x="156" y="245"/>
                  <a:pt x="128" y="274"/>
                  <a:pt x="128" y="309"/>
                </a:cubicBezTo>
                <a:cubicBezTo>
                  <a:pt x="128" y="405"/>
                  <a:pt x="128" y="405"/>
                  <a:pt x="128" y="405"/>
                </a:cubicBezTo>
                <a:cubicBezTo>
                  <a:pt x="128" y="411"/>
                  <a:pt x="132" y="416"/>
                  <a:pt x="138" y="416"/>
                </a:cubicBezTo>
                <a:cubicBezTo>
                  <a:pt x="144" y="416"/>
                  <a:pt x="149" y="411"/>
                  <a:pt x="149" y="405"/>
                </a:cubicBezTo>
                <a:cubicBezTo>
                  <a:pt x="149" y="309"/>
                  <a:pt x="149" y="309"/>
                  <a:pt x="149" y="309"/>
                </a:cubicBezTo>
                <a:cubicBezTo>
                  <a:pt x="149" y="285"/>
                  <a:pt x="168" y="266"/>
                  <a:pt x="192" y="266"/>
                </a:cubicBezTo>
                <a:cubicBezTo>
                  <a:pt x="320" y="266"/>
                  <a:pt x="320" y="266"/>
                  <a:pt x="320" y="266"/>
                </a:cubicBezTo>
                <a:cubicBezTo>
                  <a:pt x="343" y="266"/>
                  <a:pt x="362" y="285"/>
                  <a:pt x="362" y="309"/>
                </a:cubicBezTo>
                <a:cubicBezTo>
                  <a:pt x="362" y="405"/>
                  <a:pt x="362" y="405"/>
                  <a:pt x="362" y="405"/>
                </a:cubicBezTo>
                <a:cubicBezTo>
                  <a:pt x="362" y="411"/>
                  <a:pt x="367" y="416"/>
                  <a:pt x="373" y="416"/>
                </a:cubicBezTo>
                <a:cubicBezTo>
                  <a:pt x="379" y="416"/>
                  <a:pt x="384" y="411"/>
                  <a:pt x="384" y="405"/>
                </a:cubicBezTo>
                <a:lnTo>
                  <a:pt x="384" y="3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/>
              <a:cs typeface="Arial"/>
            </a:endParaRPr>
          </a:p>
        </p:txBody>
      </p:sp>
      <p:grpSp>
        <p:nvGrpSpPr>
          <p:cNvPr id="88" name="Group 87"/>
          <p:cNvGrpSpPr/>
          <p:nvPr/>
        </p:nvGrpSpPr>
        <p:grpSpPr>
          <a:xfrm>
            <a:off x="8143611" y="2645943"/>
            <a:ext cx="2293567" cy="713648"/>
            <a:chOff x="8836615" y="1777011"/>
            <a:chExt cx="2372471" cy="713834"/>
          </a:xfrm>
        </p:grpSpPr>
        <p:sp>
          <p:nvSpPr>
            <p:cNvPr id="89" name="楕円 182"/>
            <p:cNvSpPr/>
            <p:nvPr/>
          </p:nvSpPr>
          <p:spPr>
            <a:xfrm>
              <a:off x="8836615" y="1777011"/>
              <a:ext cx="1225655" cy="332135"/>
            </a:xfrm>
            <a:prstGeom prst="ellipse">
              <a:avLst/>
            </a:prstGeom>
            <a:solidFill>
              <a:srgbClr val="00A9E0">
                <a:lumMod val="20000"/>
                <a:lumOff val="80000"/>
              </a:srgbClr>
            </a:solidFill>
            <a:ln w="190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7427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000" b="0" i="0" u="none" strike="noStrike" kern="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FCN</a:t>
              </a: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・</a:t>
              </a:r>
              <a:r>
                <a:rPr kumimoji="0" lang="en-US" altLang="ja-JP" sz="1000" b="0" i="0" u="none" strike="noStrike" kern="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SI</a:t>
              </a: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パーツ</a:t>
              </a:r>
              <a:endParaRPr kumimoji="0" lang="en-US" altLang="ja-JP" sz="1000" b="0" i="0" u="none" strike="noStrike" kern="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/>
              </a:endParaRPr>
            </a:p>
            <a:p>
              <a:pPr marL="0" marR="0" lvl="0" indent="0" algn="ctr" defTabSz="7427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のトラッキング</a:t>
              </a:r>
            </a:p>
          </p:txBody>
        </p:sp>
        <p:sp>
          <p:nvSpPr>
            <p:cNvPr id="90" name="楕円 183"/>
            <p:cNvSpPr/>
            <p:nvPr/>
          </p:nvSpPr>
          <p:spPr>
            <a:xfrm>
              <a:off x="8836615" y="2158710"/>
              <a:ext cx="1146816" cy="332135"/>
            </a:xfrm>
            <a:prstGeom prst="ellipse">
              <a:avLst/>
            </a:prstGeom>
            <a:solidFill>
              <a:srgbClr val="EEDC00">
                <a:lumMod val="20000"/>
                <a:lumOff val="80000"/>
              </a:srgbClr>
            </a:solidFill>
            <a:ln w="190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7427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パーツ</a:t>
              </a:r>
              <a:endParaRPr kumimoji="0" lang="en-US" altLang="ja-JP" sz="1000" b="0" i="0" u="none" strike="noStrike" kern="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/>
              </a:endParaRPr>
            </a:p>
            <a:p>
              <a:pPr marL="0" marR="0" lvl="0" indent="0" algn="ctr" defTabSz="7427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寿命管理</a:t>
              </a:r>
            </a:p>
          </p:txBody>
        </p:sp>
        <p:sp>
          <p:nvSpPr>
            <p:cNvPr id="91" name="楕円 184"/>
            <p:cNvSpPr/>
            <p:nvPr/>
          </p:nvSpPr>
          <p:spPr>
            <a:xfrm>
              <a:off x="10062270" y="1777011"/>
              <a:ext cx="1146816" cy="332135"/>
            </a:xfrm>
            <a:prstGeom prst="ellipse">
              <a:avLst/>
            </a:prstGeom>
            <a:solidFill>
              <a:srgbClr val="8031A7">
                <a:lumMod val="20000"/>
                <a:lumOff val="80000"/>
              </a:srgbClr>
            </a:solidFill>
            <a:ln w="190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7427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問合せパーツ検査結果加工</a:t>
              </a:r>
            </a:p>
          </p:txBody>
        </p:sp>
        <p:sp>
          <p:nvSpPr>
            <p:cNvPr id="93" name="楕円 185"/>
            <p:cNvSpPr/>
            <p:nvPr/>
          </p:nvSpPr>
          <p:spPr>
            <a:xfrm>
              <a:off x="10062270" y="2158710"/>
              <a:ext cx="1146816" cy="332135"/>
            </a:xfrm>
            <a:prstGeom prst="ellipse">
              <a:avLst/>
            </a:prstGeom>
            <a:solidFill>
              <a:srgbClr val="78BE20">
                <a:lumMod val="20000"/>
                <a:lumOff val="80000"/>
              </a:srgbClr>
            </a:solidFill>
            <a:ln w="1905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7427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機差</a:t>
              </a:r>
              <a:endParaRPr kumimoji="0" lang="en-US" altLang="ja-JP" sz="1000" b="0" i="0" u="none" strike="noStrike" kern="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/>
              </a:endParaRPr>
            </a:p>
            <a:p>
              <a:pPr marL="0" marR="0" lvl="0" indent="0" algn="ctr" defTabSz="7427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2D2D2D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Arial"/>
                </a:rPr>
                <a:t>トラブル</a:t>
              </a:r>
            </a:p>
          </p:txBody>
        </p:sp>
      </p:grpSp>
      <p:sp>
        <p:nvSpPr>
          <p:cNvPr id="94" name="円柱 47"/>
          <p:cNvSpPr/>
          <p:nvPr/>
        </p:nvSpPr>
        <p:spPr>
          <a:xfrm>
            <a:off x="5107452" y="2659034"/>
            <a:ext cx="1116268" cy="745006"/>
          </a:xfrm>
          <a:prstGeom prst="can">
            <a:avLst>
              <a:gd name="adj" fmla="val 27628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ctr"/>
          <a:lstStyle/>
          <a:p>
            <a:pPr marL="0" marR="0" lvl="0" indent="0" algn="ctr" defTabSz="7427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GMX</a:t>
            </a:r>
          </a:p>
          <a:p>
            <a:pPr marL="0" marR="0" lvl="0" indent="0" algn="ctr" defTabSz="7427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00" b="1" i="0" u="none" strike="noStrike" kern="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※</a:t>
            </a:r>
            <a:r>
              <a:rPr kumimoji="0" lang="ja-JP" altLang="en-US" sz="700" b="1" i="0" u="none" strike="noStrike" kern="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緑字</a:t>
            </a:r>
            <a:r>
              <a:rPr kumimoji="0" lang="en-US" altLang="ja-JP" sz="700" b="1" i="0" u="none" strike="noStrike" kern="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:GMX</a:t>
            </a:r>
            <a:r>
              <a:rPr kumimoji="0" lang="ja-JP" altLang="en-US" sz="700" b="1" i="0" u="none" strike="noStrike" kern="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経由で取得</a:t>
            </a:r>
            <a:endParaRPr kumimoji="0" lang="en-US" altLang="ja-JP" sz="700" b="1" i="0" u="none" strike="noStrike" kern="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98" name="直線矢印コネクタ 2"/>
          <p:cNvCxnSpPr>
            <a:cxnSpLocks/>
            <a:stCxn id="79" idx="3"/>
          </p:cNvCxnSpPr>
          <p:nvPr/>
        </p:nvCxnSpPr>
        <p:spPr>
          <a:xfrm>
            <a:off x="2518321" y="2596980"/>
            <a:ext cx="23483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テキスト ボックス 61"/>
          <p:cNvSpPr txBox="1"/>
          <p:nvPr/>
        </p:nvSpPr>
        <p:spPr>
          <a:xfrm>
            <a:off x="2716486" y="2364737"/>
            <a:ext cx="1160187" cy="4924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パーツ品目コード情報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品目コード情報</a:t>
            </a: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トレサビフラグ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5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項目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パーツマスター情報</a:t>
            </a:r>
          </a:p>
        </p:txBody>
      </p:sp>
      <p:cxnSp>
        <p:nvCxnSpPr>
          <p:cNvPr id="100" name="カギ線コネクタ 15"/>
          <p:cNvCxnSpPr>
            <a:cxnSpLocks/>
            <a:stCxn id="82" idx="3"/>
            <a:endCxn id="135" idx="1"/>
          </p:cNvCxnSpPr>
          <p:nvPr/>
        </p:nvCxnSpPr>
        <p:spPr>
          <a:xfrm flipV="1">
            <a:off x="2518321" y="2913399"/>
            <a:ext cx="2348368" cy="30821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60"/>
          <p:cNvSpPr txBox="1"/>
          <p:nvPr/>
        </p:nvSpPr>
        <p:spPr>
          <a:xfrm>
            <a:off x="2716486" y="3098540"/>
            <a:ext cx="91178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装置マスター情報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装置履歴実績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　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移設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,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立下げ等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  <a:endParaRPr kumimoji="0" lang="ja-JP" altLang="en-US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02" name="カギ線コネクタ 58"/>
          <p:cNvCxnSpPr>
            <a:cxnSpLocks/>
            <a:stCxn id="80" idx="3"/>
          </p:cNvCxnSpPr>
          <p:nvPr/>
        </p:nvCxnSpPr>
        <p:spPr>
          <a:xfrm flipV="1">
            <a:off x="2518321" y="3285882"/>
            <a:ext cx="2348368" cy="56036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テキスト ボックス 137"/>
          <p:cNvSpPr txBox="1"/>
          <p:nvPr/>
        </p:nvSpPr>
        <p:spPr>
          <a:xfrm>
            <a:off x="2716485" y="3784715"/>
            <a:ext cx="501930" cy="1230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装置構成</a:t>
            </a:r>
          </a:p>
        </p:txBody>
      </p:sp>
      <p:cxnSp>
        <p:nvCxnSpPr>
          <p:cNvPr id="105" name="カギ線コネクタ 63"/>
          <p:cNvCxnSpPr>
            <a:cxnSpLocks/>
          </p:cNvCxnSpPr>
          <p:nvPr/>
        </p:nvCxnSpPr>
        <p:spPr>
          <a:xfrm rot="5400000" flipH="1" flipV="1">
            <a:off x="1666384" y="2773035"/>
            <a:ext cx="2628310" cy="3991372"/>
          </a:xfrm>
          <a:prstGeom prst="bentConnector3">
            <a:avLst>
              <a:gd name="adj1" fmla="val 7164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テキスト ボックス 140"/>
          <p:cNvSpPr txBox="1"/>
          <p:nvPr/>
        </p:nvSpPr>
        <p:spPr>
          <a:xfrm>
            <a:off x="561402" y="5481138"/>
            <a:ext cx="82682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サプライヤ情報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パーツ検査実績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検査実績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10" name="カギ線コネクタ 80"/>
          <p:cNvCxnSpPr>
            <a:cxnSpLocks/>
          </p:cNvCxnSpPr>
          <p:nvPr/>
        </p:nvCxnSpPr>
        <p:spPr>
          <a:xfrm rot="5400000" flipH="1" flipV="1">
            <a:off x="3721070" y="3670566"/>
            <a:ext cx="1980000" cy="1548000"/>
          </a:xfrm>
          <a:prstGeom prst="bentConnector3">
            <a:avLst>
              <a:gd name="adj1" fmla="val 5157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テキスト ボックス 142"/>
          <p:cNvSpPr txBox="1"/>
          <p:nvPr/>
        </p:nvSpPr>
        <p:spPr>
          <a:xfrm>
            <a:off x="3140847" y="4513238"/>
            <a:ext cx="1573829" cy="8617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工場装置生産実績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生産実績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サプライヤ生産実績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製造時パーツ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廃棄実績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工程内検査実績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出荷前検査実績</a:t>
            </a: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工場装置工程内検査実績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14" name="カギ線コネクタ 71"/>
          <p:cNvCxnSpPr>
            <a:cxnSpLocks/>
          </p:cNvCxnSpPr>
          <p:nvPr/>
        </p:nvCxnSpPr>
        <p:spPr>
          <a:xfrm rot="5400000" flipH="1" flipV="1">
            <a:off x="4246518" y="4573587"/>
            <a:ext cx="2664000" cy="425959"/>
          </a:xfrm>
          <a:prstGeom prst="bentConnector3">
            <a:avLst>
              <a:gd name="adj1" fmla="val 5373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カギ線コネクタ 107"/>
          <p:cNvCxnSpPr>
            <a:cxnSpLocks/>
          </p:cNvCxnSpPr>
          <p:nvPr/>
        </p:nvCxnSpPr>
        <p:spPr>
          <a:xfrm rot="16200000" flipV="1">
            <a:off x="6096984" y="3831039"/>
            <a:ext cx="2531626" cy="1778682"/>
          </a:xfrm>
          <a:prstGeom prst="bentConnector3">
            <a:avLst>
              <a:gd name="adj1" fmla="val 7719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カギ線コネクタ 107"/>
          <p:cNvCxnSpPr>
            <a:cxnSpLocks/>
          </p:cNvCxnSpPr>
          <p:nvPr/>
        </p:nvCxnSpPr>
        <p:spPr>
          <a:xfrm rot="16200000" flipV="1">
            <a:off x="6953641" y="3418521"/>
            <a:ext cx="2621841" cy="2693932"/>
          </a:xfrm>
          <a:prstGeom prst="bentConnector3">
            <a:avLst>
              <a:gd name="adj1" fmla="val 9024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テキスト ボックス 162"/>
          <p:cNvSpPr txBox="1"/>
          <p:nvPr/>
        </p:nvSpPr>
        <p:spPr>
          <a:xfrm>
            <a:off x="9310262" y="5288422"/>
            <a:ext cx="952184" cy="6155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パーツ組付実績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パーツ取外実績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組付実績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取外実績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※FE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の顧客作業実績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32" name="カギ線コネクタ 89"/>
          <p:cNvCxnSpPr>
            <a:cxnSpLocks/>
            <a:stCxn id="71" idx="2"/>
            <a:endCxn id="130" idx="0"/>
          </p:cNvCxnSpPr>
          <p:nvPr/>
        </p:nvCxnSpPr>
        <p:spPr>
          <a:xfrm rot="16200000" flipH="1">
            <a:off x="9576069" y="3412200"/>
            <a:ext cx="1320293" cy="1483270"/>
          </a:xfrm>
          <a:prstGeom prst="bentConnector3">
            <a:avLst>
              <a:gd name="adj1" fmla="val 21624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テキスト ボックス 91"/>
          <p:cNvSpPr txBox="1"/>
          <p:nvPr/>
        </p:nvSpPr>
        <p:spPr>
          <a:xfrm>
            <a:off x="10264064" y="4337562"/>
            <a:ext cx="1286891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トラブル情報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サプライヤ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トラブル情報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  <a:endParaRPr kumimoji="0" lang="ja-JP" altLang="en-US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トラブル情報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工場出荷後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  <a:endParaRPr kumimoji="0" lang="ja-JP" altLang="en-US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34" name="テキスト ボックス 91"/>
          <p:cNvSpPr txBox="1"/>
          <p:nvPr/>
        </p:nvSpPr>
        <p:spPr>
          <a:xfrm>
            <a:off x="10371569" y="3846251"/>
            <a:ext cx="512827" cy="12307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リンク参照</a:t>
            </a:r>
          </a:p>
        </p:txBody>
      </p:sp>
      <p:sp>
        <p:nvSpPr>
          <p:cNvPr id="135" name="正方形/長方形 14"/>
          <p:cNvSpPr/>
          <p:nvPr/>
        </p:nvSpPr>
        <p:spPr>
          <a:xfrm>
            <a:off x="4866691" y="2373375"/>
            <a:ext cx="3036632" cy="1080047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トレサビデータ</a:t>
            </a:r>
          </a:p>
        </p:txBody>
      </p:sp>
      <p:cxnSp>
        <p:nvCxnSpPr>
          <p:cNvPr id="75" name="カギ線コネクタ 69"/>
          <p:cNvCxnSpPr>
            <a:cxnSpLocks/>
          </p:cNvCxnSpPr>
          <p:nvPr/>
        </p:nvCxnSpPr>
        <p:spPr>
          <a:xfrm rot="5400000" flipH="1" flipV="1">
            <a:off x="2539905" y="3359741"/>
            <a:ext cx="2621839" cy="2811490"/>
          </a:xfrm>
          <a:prstGeom prst="bentConnector3">
            <a:avLst>
              <a:gd name="adj1" fmla="val 6906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カギ線コネクタ 103"/>
          <p:cNvCxnSpPr>
            <a:cxnSpLocks/>
          </p:cNvCxnSpPr>
          <p:nvPr/>
        </p:nvCxnSpPr>
        <p:spPr>
          <a:xfrm rot="16200000" flipV="1">
            <a:off x="5494368" y="4103170"/>
            <a:ext cx="1980000" cy="682794"/>
          </a:xfrm>
          <a:prstGeom prst="bentConnector3">
            <a:avLst>
              <a:gd name="adj1" fmla="val 6365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正方形/長方形 10"/>
          <p:cNvSpPr/>
          <p:nvPr/>
        </p:nvSpPr>
        <p:spPr>
          <a:xfrm>
            <a:off x="1963053" y="5441928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WMS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7" name="正方形/長方形 11"/>
          <p:cNvSpPr/>
          <p:nvPr/>
        </p:nvSpPr>
        <p:spPr>
          <a:xfrm>
            <a:off x="516917" y="6006537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TEXAS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DB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(3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システム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  <a:endParaRPr kumimoji="0" lang="ja-JP" altLang="en-US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8" name="正方形/長方形 12"/>
          <p:cNvSpPr/>
          <p:nvPr/>
        </p:nvSpPr>
        <p:spPr>
          <a:xfrm>
            <a:off x="9138526" y="5979697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Service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CRM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3" name="正方形/長方形 64"/>
          <p:cNvSpPr/>
          <p:nvPr/>
        </p:nvSpPr>
        <p:spPr>
          <a:xfrm>
            <a:off x="7813979" y="5987042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未確定</a:t>
            </a:r>
            <a:endParaRPr kumimoji="0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(SAP/SMARTS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等検討中</a:t>
            </a:r>
            <a:r>
              <a:rPr kumimoji="0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  <a:endParaRPr kumimoji="0" lang="ja-JP" altLang="en-US" sz="10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07" name="正方形/長方形 9"/>
          <p:cNvSpPr/>
          <p:nvPr/>
        </p:nvSpPr>
        <p:spPr>
          <a:xfrm>
            <a:off x="3437375" y="5423920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各工場</a:t>
            </a:r>
            <a:endParaRPr kumimoji="0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MES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(3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システム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  <a:endParaRPr kumimoji="0" lang="ja-JP" altLang="en-US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6" name="正方形/長方形 95"/>
          <p:cNvSpPr/>
          <p:nvPr/>
        </p:nvSpPr>
        <p:spPr>
          <a:xfrm>
            <a:off x="4881457" y="5422951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SAP MM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7" name="正方形/長方形 96"/>
          <p:cNvSpPr/>
          <p:nvPr/>
        </p:nvSpPr>
        <p:spPr>
          <a:xfrm>
            <a:off x="4881457" y="5995082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EWM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19" name="正方形/長方形 7"/>
          <p:cNvSpPr/>
          <p:nvPr/>
        </p:nvSpPr>
        <p:spPr>
          <a:xfrm>
            <a:off x="6341686" y="5422951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SAP(MM)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0" name="正方形/長方形 57"/>
          <p:cNvSpPr/>
          <p:nvPr/>
        </p:nvSpPr>
        <p:spPr>
          <a:xfrm>
            <a:off x="6341686" y="5995082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EWM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30" name="正方形/長方形 52"/>
          <p:cNvSpPr/>
          <p:nvPr/>
        </p:nvSpPr>
        <p:spPr>
          <a:xfrm>
            <a:off x="10509920" y="4813982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SCM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</a:t>
            </a:r>
            <a:r>
              <a:rPr kumimoji="0" lang="ja-JP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特採</a:t>
            </a:r>
            <a:r>
              <a:rPr kumimoji="0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78BE20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  <a:endParaRPr kumimoji="0" lang="ja-JP" altLang="en-US" sz="1050" b="0" i="0" u="none" strike="noStrike" kern="1200" cap="none" spc="0" normalizeH="0" baseline="0" noProof="0">
              <a:ln>
                <a:noFill/>
              </a:ln>
              <a:solidFill>
                <a:srgbClr val="78BE20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6" name="テキスト ボックス 144"/>
          <p:cNvSpPr txBox="1"/>
          <p:nvPr/>
        </p:nvSpPr>
        <p:spPr>
          <a:xfrm>
            <a:off x="7691332" y="5022265"/>
            <a:ext cx="1527341" cy="8617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サプライヤリワーク実績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サプライヤリペア実績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サプライヤオーバーホール実績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工場リワーク実績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工場リペア実績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工場オーバーホール実績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S/N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変更実績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31" name="テキスト ボックス 143"/>
          <p:cNvSpPr txBox="1"/>
          <p:nvPr/>
        </p:nvSpPr>
        <p:spPr>
          <a:xfrm>
            <a:off x="4776323" y="4747058"/>
            <a:ext cx="1397498" cy="6155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 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入出荷実績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 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入出庫実績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在庫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成田パーツ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入出荷実績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成田パーツ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在庫情報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1" name="正方形/長方形 52"/>
          <p:cNvSpPr/>
          <p:nvPr/>
        </p:nvSpPr>
        <p:spPr>
          <a:xfrm>
            <a:off x="434232" y="1353923"/>
            <a:ext cx="3736902" cy="8081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rIns="71981" rtlCol="0" anchor="ctr"/>
          <a:lstStyle/>
          <a:p>
            <a:pPr marL="171399" marR="0" lvl="0" indent="-1713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多数のデータ発生源システムから、</a:t>
            </a: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GMX</a:t>
            </a: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コンテナ、</a:t>
            </a: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ADP</a:t>
            </a: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データレイク、生産コンテナにトレサビの必要データが集められる想定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2" name="正方形/長方形 52"/>
          <p:cNvSpPr/>
          <p:nvPr/>
        </p:nvSpPr>
        <p:spPr>
          <a:xfrm>
            <a:off x="4234492" y="1353923"/>
            <a:ext cx="3736902" cy="8081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rIns="71981" rtlCol="0" anchor="ctr"/>
          <a:lstStyle/>
          <a:p>
            <a:pPr marL="171399" marR="0" lvl="0" indent="-1713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各コンテナに集められた情報は、トレサビの照会アプリから検索できる形で格納いただく想定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171399" marR="0" lvl="0" indent="-1713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各コンテナの主用途で定めるデータの保持期間から外れる情報は、長期保存コンテナに格納される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64" name="正方形/長方形 52"/>
          <p:cNvSpPr/>
          <p:nvPr/>
        </p:nvSpPr>
        <p:spPr>
          <a:xfrm>
            <a:off x="8034750" y="1334246"/>
            <a:ext cx="3702356" cy="8278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rIns="71981" rtlCol="0" anchor="ctr"/>
          <a:lstStyle/>
          <a:p>
            <a:pPr marL="171399" marR="0" lvl="0" indent="-1713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各種トレサビデータからパーツの履歴を照会するレポートを構築する</a:t>
            </a:r>
            <a:endParaRPr kumimoji="0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171399" marR="0" lvl="0" indent="-17139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装置構成からのパーツ履歴の誘導、パーツ</a:t>
            </a: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S/N</a:t>
            </a:r>
            <a:r>
              <a:rPr kumimoji="0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の変化の追跡などの動きにも対応する</a:t>
            </a:r>
          </a:p>
        </p:txBody>
      </p:sp>
      <p:sp>
        <p:nvSpPr>
          <p:cNvPr id="170" name="正方形/長方形 52"/>
          <p:cNvSpPr/>
          <p:nvPr/>
        </p:nvSpPr>
        <p:spPr>
          <a:xfrm>
            <a:off x="434232" y="1111218"/>
            <a:ext cx="3736902" cy="24270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rIns="7198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①収集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(EAI/ETL)</a:t>
            </a:r>
          </a:p>
        </p:txBody>
      </p:sp>
      <p:sp>
        <p:nvSpPr>
          <p:cNvPr id="171" name="正方形/長方形 52"/>
          <p:cNvSpPr/>
          <p:nvPr/>
        </p:nvSpPr>
        <p:spPr>
          <a:xfrm>
            <a:off x="4234492" y="1111218"/>
            <a:ext cx="3736902" cy="24270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rIns="7198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②格納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(DWH)</a:t>
            </a:r>
          </a:p>
        </p:txBody>
      </p:sp>
      <p:sp>
        <p:nvSpPr>
          <p:cNvPr id="172" name="正方形/長方形 52"/>
          <p:cNvSpPr/>
          <p:nvPr/>
        </p:nvSpPr>
        <p:spPr>
          <a:xfrm>
            <a:off x="8034750" y="1111218"/>
            <a:ext cx="3702356" cy="2427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81" rIns="7198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③照会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パーツトレーサビリティシステム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</a:p>
        </p:txBody>
      </p:sp>
      <p:sp>
        <p:nvSpPr>
          <p:cNvPr id="176" name="Freeform 175"/>
          <p:cNvSpPr/>
          <p:nvPr/>
        </p:nvSpPr>
        <p:spPr>
          <a:xfrm>
            <a:off x="433115" y="2214761"/>
            <a:ext cx="11303991" cy="4407064"/>
          </a:xfrm>
          <a:custGeom>
            <a:avLst/>
            <a:gdLst>
              <a:gd name="connsiteX0" fmla="*/ 0 w 11306936"/>
              <a:gd name="connsiteY0" fmla="*/ 0 h 4408212"/>
              <a:gd name="connsiteX1" fmla="*/ 3703320 w 11306936"/>
              <a:gd name="connsiteY1" fmla="*/ 0 h 4408212"/>
              <a:gd name="connsiteX2" fmla="*/ 3703320 w 11306936"/>
              <a:gd name="connsiteY2" fmla="*/ 1446182 h 4408212"/>
              <a:gd name="connsiteX3" fmla="*/ 11306936 w 11306936"/>
              <a:gd name="connsiteY3" fmla="*/ 1446182 h 4408212"/>
              <a:gd name="connsiteX4" fmla="*/ 11306936 w 11306936"/>
              <a:gd name="connsiteY4" fmla="*/ 4408212 h 4408212"/>
              <a:gd name="connsiteX5" fmla="*/ 0 w 11306936"/>
              <a:gd name="connsiteY5" fmla="*/ 4408212 h 4408212"/>
              <a:gd name="connsiteX6" fmla="*/ 0 w 11306936"/>
              <a:gd name="connsiteY6" fmla="*/ 1820057 h 4408212"/>
              <a:gd name="connsiteX7" fmla="*/ 0 w 11306936"/>
              <a:gd name="connsiteY7" fmla="*/ 1446182 h 4408212"/>
              <a:gd name="connsiteX0" fmla="*/ 0 w 11306936"/>
              <a:gd name="connsiteY0" fmla="*/ 0 h 4408212"/>
              <a:gd name="connsiteX1" fmla="*/ 3703320 w 11306936"/>
              <a:gd name="connsiteY1" fmla="*/ 0 h 4408212"/>
              <a:gd name="connsiteX2" fmla="*/ 3703320 w 11306936"/>
              <a:gd name="connsiteY2" fmla="*/ 1494734 h 4408212"/>
              <a:gd name="connsiteX3" fmla="*/ 11306936 w 11306936"/>
              <a:gd name="connsiteY3" fmla="*/ 1446182 h 4408212"/>
              <a:gd name="connsiteX4" fmla="*/ 11306936 w 11306936"/>
              <a:gd name="connsiteY4" fmla="*/ 4408212 h 4408212"/>
              <a:gd name="connsiteX5" fmla="*/ 0 w 11306936"/>
              <a:gd name="connsiteY5" fmla="*/ 4408212 h 4408212"/>
              <a:gd name="connsiteX6" fmla="*/ 0 w 11306936"/>
              <a:gd name="connsiteY6" fmla="*/ 1820057 h 4408212"/>
              <a:gd name="connsiteX7" fmla="*/ 0 w 11306936"/>
              <a:gd name="connsiteY7" fmla="*/ 1446182 h 4408212"/>
              <a:gd name="connsiteX8" fmla="*/ 0 w 11306936"/>
              <a:gd name="connsiteY8" fmla="*/ 0 h 4408212"/>
              <a:gd name="connsiteX0" fmla="*/ 0 w 11306936"/>
              <a:gd name="connsiteY0" fmla="*/ 0 h 4408212"/>
              <a:gd name="connsiteX1" fmla="*/ 3703320 w 11306936"/>
              <a:gd name="connsiteY1" fmla="*/ 0 h 4408212"/>
              <a:gd name="connsiteX2" fmla="*/ 3703320 w 11306936"/>
              <a:gd name="connsiteY2" fmla="*/ 1494734 h 4408212"/>
              <a:gd name="connsiteX3" fmla="*/ 11306936 w 11306936"/>
              <a:gd name="connsiteY3" fmla="*/ 1502826 h 4408212"/>
              <a:gd name="connsiteX4" fmla="*/ 11306936 w 11306936"/>
              <a:gd name="connsiteY4" fmla="*/ 4408212 h 4408212"/>
              <a:gd name="connsiteX5" fmla="*/ 0 w 11306936"/>
              <a:gd name="connsiteY5" fmla="*/ 4408212 h 4408212"/>
              <a:gd name="connsiteX6" fmla="*/ 0 w 11306936"/>
              <a:gd name="connsiteY6" fmla="*/ 1820057 h 4408212"/>
              <a:gd name="connsiteX7" fmla="*/ 0 w 11306936"/>
              <a:gd name="connsiteY7" fmla="*/ 1446182 h 4408212"/>
              <a:gd name="connsiteX8" fmla="*/ 0 w 11306936"/>
              <a:gd name="connsiteY8" fmla="*/ 0 h 440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06936" h="4408212">
                <a:moveTo>
                  <a:pt x="0" y="0"/>
                </a:moveTo>
                <a:lnTo>
                  <a:pt x="3703320" y="0"/>
                </a:lnTo>
                <a:lnTo>
                  <a:pt x="3703320" y="1494734"/>
                </a:lnTo>
                <a:lnTo>
                  <a:pt x="11306936" y="1502826"/>
                </a:lnTo>
                <a:lnTo>
                  <a:pt x="11306936" y="4408212"/>
                </a:lnTo>
                <a:lnTo>
                  <a:pt x="0" y="4408212"/>
                </a:lnTo>
                <a:lnTo>
                  <a:pt x="0" y="1820057"/>
                </a:lnTo>
                <a:lnTo>
                  <a:pt x="0" y="1446182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999" b="1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4897" y="2245628"/>
            <a:ext cx="1028741" cy="305479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kumimoji="1" sz="20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99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収集</a:t>
            </a:r>
          </a:p>
        </p:txBody>
      </p:sp>
      <p:sp>
        <p:nvSpPr>
          <p:cNvPr id="60" name="正方形/長方形 69"/>
          <p:cNvSpPr/>
          <p:nvPr/>
        </p:nvSpPr>
        <p:spPr>
          <a:xfrm>
            <a:off x="4244822" y="2223220"/>
            <a:ext cx="3702356" cy="1357827"/>
          </a:xfrm>
          <a:prstGeom prst="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999" b="1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4244825" y="2245628"/>
            <a:ext cx="1028741" cy="305479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kumimoji="1" sz="20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99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格納</a:t>
            </a:r>
          </a:p>
        </p:txBody>
      </p:sp>
      <p:sp>
        <p:nvSpPr>
          <p:cNvPr id="57" name="正方形/長方形 2"/>
          <p:cNvSpPr/>
          <p:nvPr/>
        </p:nvSpPr>
        <p:spPr>
          <a:xfrm>
            <a:off x="8034750" y="2223927"/>
            <a:ext cx="3702356" cy="1363840"/>
          </a:xfrm>
          <a:prstGeom prst="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999" b="1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10926326" y="2245628"/>
            <a:ext cx="1028741" cy="305479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kumimoji="1" sz="20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999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照会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Step1/2</a:t>
            </a:r>
            <a:r>
              <a:rPr lang="ja-JP" altLang="en-US"/>
              <a:t>トレーサビリティシステム　連携全体像</a:t>
            </a:r>
            <a:endParaRPr lang="ja-JP" altLang="en-US" sz="2000"/>
          </a:p>
        </p:txBody>
      </p:sp>
      <p:sp>
        <p:nvSpPr>
          <p:cNvPr id="74" name="正方形/長方形 73"/>
          <p:cNvSpPr/>
          <p:nvPr/>
        </p:nvSpPr>
        <p:spPr>
          <a:xfrm>
            <a:off x="7988983" y="1080307"/>
            <a:ext cx="3798091" cy="2568807"/>
          </a:xfrm>
          <a:prstGeom prst="rect">
            <a:avLst/>
          </a:prstGeom>
          <a:noFill/>
          <a:ln w="3810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1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49" name="正方形/長方形 52">
            <a:extLst>
              <a:ext uri="{FF2B5EF4-FFF2-40B4-BE49-F238E27FC236}">
                <a16:creationId xmlns:a16="http://schemas.microsoft.com/office/drawing/2014/main" id="{8027C99F-4AC0-4D05-B117-A510564F448D}"/>
              </a:ext>
            </a:extLst>
          </p:cNvPr>
          <p:cNvSpPr/>
          <p:nvPr/>
        </p:nvSpPr>
        <p:spPr>
          <a:xfrm>
            <a:off x="10509920" y="5395007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QVICS-</a:t>
            </a:r>
            <a:r>
              <a:rPr kumimoji="0" lang="en-US" altLang="ja-JP" sz="1400" b="0" i="0" u="none" strike="noStrike" kern="1200" cap="none" spc="0" normalizeH="0" baseline="0" noProof="0" err="1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i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50" name="正方形/長方形 52">
            <a:extLst>
              <a:ext uri="{FF2B5EF4-FFF2-40B4-BE49-F238E27FC236}">
                <a16:creationId xmlns:a16="http://schemas.microsoft.com/office/drawing/2014/main" id="{CF1C6C6C-3A6E-4D29-94FF-58AFF3908EAD}"/>
              </a:ext>
            </a:extLst>
          </p:cNvPr>
          <p:cNvSpPr/>
          <p:nvPr/>
        </p:nvSpPr>
        <p:spPr>
          <a:xfrm>
            <a:off x="10509920" y="5976032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TEL e</a:t>
            </a: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 　</a:t>
            </a: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Search</a:t>
            </a:r>
            <a:endParaRPr kumimoji="0" lang="ja-JP" altLang="en-US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58" name="正方形/長方形 9">
            <a:extLst>
              <a:ext uri="{FF2B5EF4-FFF2-40B4-BE49-F238E27FC236}">
                <a16:creationId xmlns:a16="http://schemas.microsoft.com/office/drawing/2014/main" id="{1A6FD391-5ABF-4B75-A2C5-8FEC7D5A15E5}"/>
              </a:ext>
            </a:extLst>
          </p:cNvPr>
          <p:cNvSpPr/>
          <p:nvPr/>
        </p:nvSpPr>
        <p:spPr>
          <a:xfrm>
            <a:off x="3437375" y="6004327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各工場</a:t>
            </a:r>
            <a:endParaRPr kumimoji="0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ローカルシステム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(8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システム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  <a:endParaRPr kumimoji="0" lang="ja-JP" altLang="en-US" sz="9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260" name="正方形/長方形 9">
            <a:extLst>
              <a:ext uri="{FF2B5EF4-FFF2-40B4-BE49-F238E27FC236}">
                <a16:creationId xmlns:a16="http://schemas.microsoft.com/office/drawing/2014/main" id="{F2E18B93-6E1C-46B1-B081-6500921266C0}"/>
              </a:ext>
            </a:extLst>
          </p:cNvPr>
          <p:cNvSpPr/>
          <p:nvPr/>
        </p:nvSpPr>
        <p:spPr>
          <a:xfrm>
            <a:off x="1963053" y="6004327"/>
            <a:ext cx="935860" cy="57591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1" tIns="35991" rIns="35991" bIns="3599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 err="1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BaaN</a:t>
            </a:r>
            <a:endParaRPr kumimoji="0" lang="en-US" altLang="ja-JP" sz="14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(</a:t>
            </a:r>
            <a:r>
              <a:rPr kumimoji="0" lang="ja-JP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過去データ</a:t>
            </a:r>
            <a:r>
              <a:rPr kumimoji="0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)</a:t>
            </a:r>
            <a:endParaRPr kumimoji="0" lang="ja-JP" altLang="en-US" sz="105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2" name="テキスト ボックス 149"/>
          <p:cNvSpPr txBox="1"/>
          <p:nvPr/>
        </p:nvSpPr>
        <p:spPr>
          <a:xfrm>
            <a:off x="1605191" y="4285344"/>
            <a:ext cx="1500091" cy="11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工場装置生産実績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生産実績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サプライヤ生産実績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工場装置入出荷実績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 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入出荷実績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 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入出庫実績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 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廃棄実績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 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受入検査実績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工場パーツ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/Assy/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装置在庫情報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5" name="テキスト ボックス 49"/>
          <p:cNvSpPr txBox="1"/>
          <p:nvPr/>
        </p:nvSpPr>
        <p:spPr>
          <a:xfrm>
            <a:off x="6212823" y="5022265"/>
            <a:ext cx="139749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現法パーツ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 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入出荷実績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現法パーツ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 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廃棄実績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90461" marR="0" lvl="0" indent="-9046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預託パーツ</a:t>
            </a:r>
            <a:r>
              <a:rPr kumimoji="0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/Assy</a:t>
            </a:r>
            <a:r>
              <a:rPr kumimoji="0" lang="ja-JP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在庫情報</a:t>
            </a:r>
            <a:endParaRPr kumimoji="0" lang="en-US" altLang="ja-JP" sz="8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81" name="円柱 47">
            <a:extLst>
              <a:ext uri="{FF2B5EF4-FFF2-40B4-BE49-F238E27FC236}">
                <a16:creationId xmlns:a16="http://schemas.microsoft.com/office/drawing/2014/main" id="{90DD199A-2B73-4D3B-A997-65EAC064611B}"/>
              </a:ext>
            </a:extLst>
          </p:cNvPr>
          <p:cNvSpPr/>
          <p:nvPr/>
        </p:nvSpPr>
        <p:spPr>
          <a:xfrm>
            <a:off x="6439865" y="2659034"/>
            <a:ext cx="1170455" cy="745006"/>
          </a:xfrm>
          <a:prstGeom prst="can">
            <a:avLst>
              <a:gd name="adj" fmla="val 27628"/>
            </a:avLst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rtlCol="0" anchor="ctr"/>
          <a:lstStyle/>
          <a:p>
            <a:pPr marL="0" marR="0" lvl="0" indent="0" algn="ctr" defTabSz="7427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トレサビ</a:t>
            </a:r>
            <a:endParaRPr kumimoji="0" lang="en-US" altLang="ja-JP" sz="1200" b="1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  <a:p>
            <a:pPr marL="0" marR="0" lvl="0" indent="0" algn="ctr" defTabSz="7427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データマート</a:t>
            </a:r>
            <a:endParaRPr kumimoji="0" lang="en-US" altLang="ja-JP" sz="1200" b="1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104" name="直線矢印コネクタ 2">
            <a:extLst>
              <a:ext uri="{FF2B5EF4-FFF2-40B4-BE49-F238E27FC236}">
                <a16:creationId xmlns:a16="http://schemas.microsoft.com/office/drawing/2014/main" id="{31EB9E2E-7220-4DE0-8AF7-BD9A2A7AD3CA}"/>
              </a:ext>
            </a:extLst>
          </p:cNvPr>
          <p:cNvCxnSpPr>
            <a:cxnSpLocks/>
            <a:stCxn id="94" idx="4"/>
            <a:endCxn id="81" idx="2"/>
          </p:cNvCxnSpPr>
          <p:nvPr/>
        </p:nvCxnSpPr>
        <p:spPr>
          <a:xfrm>
            <a:off x="6223720" y="3031537"/>
            <a:ext cx="21614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ホームベース 8">
            <a:extLst>
              <a:ext uri="{FF2B5EF4-FFF2-40B4-BE49-F238E27FC236}">
                <a16:creationId xmlns:a16="http://schemas.microsoft.com/office/drawing/2014/main" id="{933EFC01-0EC9-A1C4-2755-60E1DBCFFA6D}"/>
              </a:ext>
            </a:extLst>
          </p:cNvPr>
          <p:cNvSpPr/>
          <p:nvPr/>
        </p:nvSpPr>
        <p:spPr>
          <a:xfrm>
            <a:off x="9623035" y="156426"/>
            <a:ext cx="683822" cy="287925"/>
          </a:xfrm>
          <a:prstGeom prst="homePlate">
            <a:avLst>
              <a:gd name="adj" fmla="val 9502"/>
            </a:avLst>
          </a:prstGeom>
          <a:solidFill>
            <a:schemeClr val="accent2"/>
          </a:solidFill>
          <a:ln w="2857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Step3</a:t>
            </a:r>
          </a:p>
        </p:txBody>
      </p:sp>
      <p:sp>
        <p:nvSpPr>
          <p:cNvPr id="4" name="ホームベース 7">
            <a:extLst>
              <a:ext uri="{FF2B5EF4-FFF2-40B4-BE49-F238E27FC236}">
                <a16:creationId xmlns:a16="http://schemas.microsoft.com/office/drawing/2014/main" id="{6B22F200-CEAA-EA25-B390-54DFB12E1291}"/>
              </a:ext>
            </a:extLst>
          </p:cNvPr>
          <p:cNvSpPr/>
          <p:nvPr/>
        </p:nvSpPr>
        <p:spPr>
          <a:xfrm>
            <a:off x="8981860" y="156426"/>
            <a:ext cx="683822" cy="287925"/>
          </a:xfrm>
          <a:prstGeom prst="homePlate">
            <a:avLst>
              <a:gd name="adj" fmla="val 9502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Step2</a:t>
            </a:r>
          </a:p>
        </p:txBody>
      </p:sp>
      <p:sp>
        <p:nvSpPr>
          <p:cNvPr id="5" name="ホームベース 4">
            <a:extLst>
              <a:ext uri="{FF2B5EF4-FFF2-40B4-BE49-F238E27FC236}">
                <a16:creationId xmlns:a16="http://schemas.microsoft.com/office/drawing/2014/main" id="{3DF5C7DF-18A2-86B4-9DD4-10BE7A364AE7}"/>
              </a:ext>
            </a:extLst>
          </p:cNvPr>
          <p:cNvSpPr/>
          <p:nvPr/>
        </p:nvSpPr>
        <p:spPr>
          <a:xfrm>
            <a:off x="8340684" y="156426"/>
            <a:ext cx="683822" cy="287925"/>
          </a:xfrm>
          <a:prstGeom prst="homePlate">
            <a:avLst>
              <a:gd name="adj" fmla="val 9502"/>
            </a:avLst>
          </a:prstGeom>
          <a:solidFill>
            <a:srgbClr val="1DB5D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Step1</a:t>
            </a:r>
            <a:endParaRPr kumimoji="0" lang="ja-JP" alt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E92A948-F015-8C49-4A15-61FB9186C2C0}"/>
              </a:ext>
            </a:extLst>
          </p:cNvPr>
          <p:cNvSpPr/>
          <p:nvPr/>
        </p:nvSpPr>
        <p:spPr>
          <a:xfrm>
            <a:off x="8340686" y="135390"/>
            <a:ext cx="1324998" cy="321243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799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515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4"/>
          </p:nvPr>
        </p:nvSpPr>
        <p:spPr>
          <a:xfrm>
            <a:off x="537309" y="465886"/>
            <a:ext cx="10918493" cy="530368"/>
          </a:xfrm>
        </p:spPr>
        <p:txBody>
          <a:bodyPr/>
          <a:lstStyle/>
          <a:p>
            <a:r>
              <a:rPr lang="en-US" altLang="ja-JP"/>
              <a:t>Step1/2</a:t>
            </a:r>
            <a:r>
              <a:rPr kumimoji="1" lang="ja-JP" altLang="en-US"/>
              <a:t>パーツトレーサビリティシステム画面イメージ</a:t>
            </a:r>
            <a:endParaRPr lang="ja-JP" altLang="en-US" sz="240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49" y="1208038"/>
            <a:ext cx="3950875" cy="245659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62" y="1173608"/>
            <a:ext cx="4044038" cy="252546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09" y="3814714"/>
            <a:ext cx="4061957" cy="253837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27" y="3814714"/>
            <a:ext cx="4070252" cy="253837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9974" y="2932265"/>
            <a:ext cx="4031312" cy="176489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テキスト ボックス 9"/>
          <p:cNvSpPr txBox="1"/>
          <p:nvPr/>
        </p:nvSpPr>
        <p:spPr>
          <a:xfrm rot="20005228">
            <a:off x="3865096" y="3358296"/>
            <a:ext cx="2056973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SAMPLE</a:t>
            </a:r>
            <a:endParaRPr kumimoji="1" lang="ja-JP" altLang="en-US" sz="36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3" name="ホームベース 8">
            <a:extLst>
              <a:ext uri="{FF2B5EF4-FFF2-40B4-BE49-F238E27FC236}">
                <a16:creationId xmlns:a16="http://schemas.microsoft.com/office/drawing/2014/main" id="{4BD7D2F2-508B-DA0B-95F7-A731420066A2}"/>
              </a:ext>
            </a:extLst>
          </p:cNvPr>
          <p:cNvSpPr/>
          <p:nvPr/>
        </p:nvSpPr>
        <p:spPr>
          <a:xfrm>
            <a:off x="9623035" y="156426"/>
            <a:ext cx="683822" cy="287925"/>
          </a:xfrm>
          <a:prstGeom prst="homePlate">
            <a:avLst>
              <a:gd name="adj" fmla="val 9502"/>
            </a:avLst>
          </a:prstGeom>
          <a:solidFill>
            <a:schemeClr val="accent2"/>
          </a:solidFill>
          <a:ln w="2857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Step3</a:t>
            </a:r>
          </a:p>
        </p:txBody>
      </p:sp>
      <p:sp>
        <p:nvSpPr>
          <p:cNvPr id="4" name="ホームベース 7">
            <a:extLst>
              <a:ext uri="{FF2B5EF4-FFF2-40B4-BE49-F238E27FC236}">
                <a16:creationId xmlns:a16="http://schemas.microsoft.com/office/drawing/2014/main" id="{7DBA716A-8A11-44DF-EDCF-3AB6FA5CDBCC}"/>
              </a:ext>
            </a:extLst>
          </p:cNvPr>
          <p:cNvSpPr/>
          <p:nvPr/>
        </p:nvSpPr>
        <p:spPr>
          <a:xfrm>
            <a:off x="8981860" y="156426"/>
            <a:ext cx="683822" cy="287925"/>
          </a:xfrm>
          <a:prstGeom prst="homePlate">
            <a:avLst>
              <a:gd name="adj" fmla="val 9502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Step2</a:t>
            </a:r>
          </a:p>
        </p:txBody>
      </p:sp>
      <p:sp>
        <p:nvSpPr>
          <p:cNvPr id="11" name="ホームベース 4">
            <a:extLst>
              <a:ext uri="{FF2B5EF4-FFF2-40B4-BE49-F238E27FC236}">
                <a16:creationId xmlns:a16="http://schemas.microsoft.com/office/drawing/2014/main" id="{22CC54B9-BDAA-765B-8185-07CEC711929D}"/>
              </a:ext>
            </a:extLst>
          </p:cNvPr>
          <p:cNvSpPr/>
          <p:nvPr/>
        </p:nvSpPr>
        <p:spPr>
          <a:xfrm>
            <a:off x="8340684" y="156426"/>
            <a:ext cx="683822" cy="287925"/>
          </a:xfrm>
          <a:prstGeom prst="homePlate">
            <a:avLst>
              <a:gd name="adj" fmla="val 9502"/>
            </a:avLst>
          </a:prstGeom>
          <a:solidFill>
            <a:srgbClr val="1DB5D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eiryo" panose="020B0604030504040204" pitchFamily="50" charset="-128"/>
                <a:cs typeface="Arial"/>
              </a:rPr>
              <a:t>Step1</a:t>
            </a:r>
            <a:endParaRPr kumimoji="0" lang="ja-JP" alt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46093DB-3407-5AA3-4AD1-C3852FDE9AF7}"/>
              </a:ext>
            </a:extLst>
          </p:cNvPr>
          <p:cNvSpPr/>
          <p:nvPr/>
        </p:nvSpPr>
        <p:spPr>
          <a:xfrm>
            <a:off x="8340686" y="135390"/>
            <a:ext cx="1324998" cy="321243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799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rial"/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893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タイトル 1"/>
          <p:cNvSpPr>
            <a:spLocks noGrp="1"/>
          </p:cNvSpPr>
          <p:nvPr>
            <p:ph type="title"/>
          </p:nvPr>
        </p:nvSpPr>
        <p:spPr bwMode="auto">
          <a:xfrm>
            <a:off x="1645430" y="248992"/>
            <a:ext cx="8871694" cy="6993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2000">
                <a:latin typeface="+mn-lt"/>
                <a:ea typeface="メイリオ" panose="020B0604030504040204" pitchFamily="50" charset="-128"/>
              </a:rPr>
              <a:t>SD2002_Inventory management</a:t>
            </a:r>
            <a:br>
              <a:rPr lang="en-US" altLang="ja-JP">
                <a:latin typeface="+mn-lt"/>
                <a:ea typeface="メイリオ" panose="020B0604030504040204" pitchFamily="50" charset="-128"/>
              </a:rPr>
            </a:br>
            <a:r>
              <a:rPr lang="en-US" altLang="ja-JP">
                <a:latin typeface="+mn-lt"/>
                <a:ea typeface="メイリオ" panose="020B0604030504040204" pitchFamily="50" charset="-128"/>
              </a:rPr>
              <a:t>Inventory Shelf-Life</a:t>
            </a:r>
            <a:r>
              <a:rPr lang="ja-JP" altLang="en-US">
                <a:latin typeface="+mn-lt"/>
                <a:ea typeface="メイリオ" panose="020B0604030504040204" pitchFamily="50" charset="-128"/>
              </a:rPr>
              <a:t> </a:t>
            </a:r>
            <a:r>
              <a:rPr lang="en-US" altLang="ja-JP">
                <a:latin typeface="+mn-lt"/>
                <a:ea typeface="メイリオ" panose="020B0604030504040204" pitchFamily="50" charset="-128"/>
              </a:rPr>
              <a:t>(SLED/BBD)</a:t>
            </a:r>
            <a:r>
              <a:rPr lang="ja-JP" altLang="en-US">
                <a:latin typeface="+mn-lt"/>
                <a:ea typeface="メイリオ" panose="020B0604030504040204" pitchFamily="50" charset="-128"/>
              </a:rPr>
              <a:t> </a:t>
            </a:r>
            <a:r>
              <a:rPr lang="en-US" altLang="ja-JP">
                <a:latin typeface="+mn-lt"/>
                <a:ea typeface="メイリオ" panose="020B0604030504040204" pitchFamily="50" charset="-128"/>
              </a:rPr>
              <a:t>Check (1/2)</a:t>
            </a:r>
            <a:endParaRPr lang="ja-JP" altLang="en-US">
              <a:latin typeface="+mn-lt"/>
            </a:endParaRPr>
          </a:p>
        </p:txBody>
      </p:sp>
      <p:sp>
        <p:nvSpPr>
          <p:cNvPr id="122" name="Rectangle 5"/>
          <p:cNvSpPr>
            <a:spLocks noChangeArrowheads="1"/>
          </p:cNvSpPr>
          <p:nvPr/>
        </p:nvSpPr>
        <p:spPr bwMode="auto">
          <a:xfrm>
            <a:off x="1377045" y="1258707"/>
            <a:ext cx="9451545" cy="30859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kumimoji="0" lang="en-US" altLang="ja-JP" sz="1000" b="1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Inventory Shelf-life (SLED/BBD) Check – Identify SLED/BBD-Expired Parts</a:t>
            </a:r>
            <a:endParaRPr kumimoji="0" lang="ja-JP" altLang="en-US" sz="10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131" name="Rectangle 6"/>
          <p:cNvSpPr>
            <a:spLocks noChangeArrowheads="1"/>
          </p:cNvSpPr>
          <p:nvPr/>
        </p:nvSpPr>
        <p:spPr bwMode="auto">
          <a:xfrm>
            <a:off x="1375595" y="1567304"/>
            <a:ext cx="685518" cy="494433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kumimoji="0" lang="ja-JP" altLang="en-US" sz="10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142" name="Rectangle 4"/>
          <p:cNvSpPr>
            <a:spLocks noChangeArrowheads="1"/>
          </p:cNvSpPr>
          <p:nvPr/>
        </p:nvSpPr>
        <p:spPr bwMode="auto">
          <a:xfrm>
            <a:off x="1377045" y="1264776"/>
            <a:ext cx="9455479" cy="52468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kumimoji="0" lang="ja-JP" altLang="en-US" sz="10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47" name="Rectangle 6"/>
          <p:cNvSpPr>
            <a:spLocks noChangeArrowheads="1"/>
          </p:cNvSpPr>
          <p:nvPr/>
        </p:nvSpPr>
        <p:spPr bwMode="auto">
          <a:xfrm>
            <a:off x="1372663" y="2564540"/>
            <a:ext cx="685518" cy="320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 defTabSz="703402">
              <a:lnSpc>
                <a:spcPct val="85000"/>
              </a:lnSpc>
              <a:defRPr/>
            </a:pPr>
            <a:r>
              <a:rPr lang="en-US" altLang="ja-JP" sz="1000" err="1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Genpo</a:t>
            </a:r>
            <a:endParaRPr lang="en-US" altLang="ja-JP" sz="10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  <a:p>
            <a:pPr algn="ctr" defTabSz="703402">
              <a:lnSpc>
                <a:spcPct val="85000"/>
              </a:lnSpc>
              <a:defRPr/>
            </a:pPr>
            <a:r>
              <a:rPr kumimoji="0" lang="en-US" altLang="ja-JP" sz="10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Warehouse</a:t>
            </a:r>
          </a:p>
          <a:p>
            <a:pPr algn="ctr" defTabSz="703402">
              <a:lnSpc>
                <a:spcPct val="85000"/>
              </a:lnSpc>
              <a:defRPr/>
            </a:pPr>
            <a:r>
              <a:rPr lang="en-US" altLang="ja-JP" sz="10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PIC</a:t>
            </a:r>
            <a:endParaRPr kumimoji="0" lang="en-US" altLang="ja-JP" sz="10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57" name="Rectangle 6"/>
          <p:cNvSpPr>
            <a:spLocks noChangeArrowheads="1"/>
          </p:cNvSpPr>
          <p:nvPr/>
        </p:nvSpPr>
        <p:spPr bwMode="auto">
          <a:xfrm>
            <a:off x="1355375" y="5826347"/>
            <a:ext cx="685518" cy="28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 defTabSz="703402">
              <a:lnSpc>
                <a:spcPct val="85000"/>
              </a:lnSpc>
              <a:defRPr/>
            </a:pPr>
            <a:r>
              <a:rPr kumimoji="0" lang="en-US" altLang="ja-JP" sz="1000" err="1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Syste</a:t>
            </a:r>
            <a:r>
              <a:rPr lang="en-US" altLang="ja-JP" sz="10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m</a:t>
            </a:r>
            <a:endParaRPr kumimoji="0" lang="en-US" altLang="ja-JP" sz="10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63" name="Rectangle 6">
            <a:extLst>
              <a:ext uri="{FF2B5EF4-FFF2-40B4-BE49-F238E27FC236}">
                <a16:creationId xmlns:a16="http://schemas.microsoft.com/office/drawing/2014/main" id="{E60E47C3-4004-43BD-833D-87C535650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994" y="4581989"/>
            <a:ext cx="685518" cy="28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 defTabSz="703402">
              <a:lnSpc>
                <a:spcPct val="85000"/>
              </a:lnSpc>
              <a:defRPr/>
            </a:pPr>
            <a:r>
              <a:rPr kumimoji="0" lang="en-US" altLang="ja-JP" sz="10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3PL</a:t>
            </a:r>
          </a:p>
        </p:txBody>
      </p:sp>
      <p:sp>
        <p:nvSpPr>
          <p:cNvPr id="141" name="Line 5">
            <a:extLst>
              <a:ext uri="{FF2B5EF4-FFF2-40B4-BE49-F238E27FC236}">
                <a16:creationId xmlns:a16="http://schemas.microsoft.com/office/drawing/2014/main" id="{0EF2B399-43D0-4451-8845-CB7CC5C431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4311" y="5534138"/>
            <a:ext cx="945154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kumimoji="0" lang="ja-JP" altLang="en-US" sz="10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15" name="Line 5">
            <a:extLst>
              <a:ext uri="{FF2B5EF4-FFF2-40B4-BE49-F238E27FC236}">
                <a16:creationId xmlns:a16="http://schemas.microsoft.com/office/drawing/2014/main" id="{0EF2B399-43D0-4451-8845-CB7CC5C431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5596" y="3793621"/>
            <a:ext cx="945154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kumimoji="0" lang="ja-JP" altLang="en-US" sz="10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97" name="Rectangle 12">
            <a:extLst>
              <a:ext uri="{FF2B5EF4-FFF2-40B4-BE49-F238E27FC236}">
                <a16:creationId xmlns:a16="http://schemas.microsoft.com/office/drawing/2014/main" id="{C5AABA8E-6172-4F34-A0FF-FB06EBBDF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3450" y="2272206"/>
            <a:ext cx="677334" cy="45744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kumimoji="0" lang="en-US" altLang="ja-JP" sz="7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Export </a:t>
            </a:r>
          </a:p>
          <a:p>
            <a:pPr algn="ctr">
              <a:defRPr/>
            </a:pPr>
            <a:r>
              <a:rPr kumimoji="0" lang="en-US" altLang="ja-JP" sz="7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SLED/BBD</a:t>
            </a:r>
          </a:p>
          <a:p>
            <a:pPr algn="ctr">
              <a:defRPr/>
            </a:pPr>
            <a:r>
              <a:rPr kumimoji="0" lang="en-US" altLang="ja-JP" sz="7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-expired</a:t>
            </a:r>
          </a:p>
          <a:p>
            <a:pPr algn="ctr">
              <a:defRPr/>
            </a:pPr>
            <a:r>
              <a:rPr kumimoji="0" lang="en-US" altLang="ja-JP" sz="7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parts list</a:t>
            </a:r>
          </a:p>
        </p:txBody>
      </p:sp>
      <p:cxnSp>
        <p:nvCxnSpPr>
          <p:cNvPr id="65" name="カギ線コネクタ 63"/>
          <p:cNvCxnSpPr>
            <a:cxnSpLocks/>
            <a:stCxn id="97" idx="3"/>
            <a:endCxn id="68" idx="1"/>
          </p:cNvCxnSpPr>
          <p:nvPr/>
        </p:nvCxnSpPr>
        <p:spPr>
          <a:xfrm flipV="1">
            <a:off x="3620785" y="2499771"/>
            <a:ext cx="387653" cy="1159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AutoShape 102">
            <a:extLst>
              <a:ext uri="{FF2B5EF4-FFF2-40B4-BE49-F238E27FC236}">
                <a16:creationId xmlns:a16="http://schemas.microsoft.com/office/drawing/2014/main" id="{7C28BDB5-EE22-4F9A-8AE7-4C3153A98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5332" y="2313080"/>
            <a:ext cx="663378" cy="380414"/>
          </a:xfrm>
          <a:prstGeom prst="flowChartTerminator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103015" tIns="49847" rIns="103015" bIns="49847" anchor="ctr"/>
          <a:lstStyle/>
          <a:p>
            <a:pPr algn="ctr">
              <a:defRPr/>
            </a:pPr>
            <a:r>
              <a:rPr kumimoji="0" lang="en-US" altLang="ja-JP" sz="10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Start</a:t>
            </a:r>
          </a:p>
        </p:txBody>
      </p:sp>
      <p:cxnSp>
        <p:nvCxnSpPr>
          <p:cNvPr id="82" name="カギ線コネクタ 63"/>
          <p:cNvCxnSpPr>
            <a:stCxn id="59" idx="3"/>
            <a:endCxn id="97" idx="1"/>
          </p:cNvCxnSpPr>
          <p:nvPr/>
        </p:nvCxnSpPr>
        <p:spPr>
          <a:xfrm flipV="1">
            <a:off x="2768710" y="2500929"/>
            <a:ext cx="174740" cy="2358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表 60">
            <a:extLst>
              <a:ext uri="{FF2B5EF4-FFF2-40B4-BE49-F238E27FC236}">
                <a16:creationId xmlns:a16="http://schemas.microsoft.com/office/drawing/2014/main" id="{17D8E267-5ADF-49A4-8FA2-B4D91284A6C6}"/>
              </a:ext>
            </a:extLst>
          </p:cNvPr>
          <p:cNvGraphicFramePr>
            <a:graphicFrameLocks noGrp="1"/>
          </p:cNvGraphicFramePr>
          <p:nvPr/>
        </p:nvGraphicFramePr>
        <p:xfrm>
          <a:off x="2943288" y="2024587"/>
          <a:ext cx="677334" cy="24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4">
                  <a:extLst>
                    <a:ext uri="{9D8B030D-6E8A-4147-A177-3AD203B41FA5}">
                      <a16:colId xmlns:a16="http://schemas.microsoft.com/office/drawing/2014/main" val="3548530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>
                          <a:latin typeface="+mj-ea"/>
                          <a:ea typeface="+mj-ea"/>
                        </a:rPr>
                        <a:t>SLED/BBD</a:t>
                      </a:r>
                      <a:endParaRPr kumimoji="1" lang="ja-JP" altLang="en-US" sz="800">
                        <a:latin typeface="+mj-ea"/>
                        <a:ea typeface="+mj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290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>
                          <a:latin typeface="+mj-ea"/>
                          <a:ea typeface="+mj-ea"/>
                        </a:rPr>
                        <a:t>Report</a:t>
                      </a:r>
                      <a:endParaRPr kumimoji="1" lang="ja-JP" altLang="en-US" sz="800">
                        <a:latin typeface="+mj-ea"/>
                        <a:ea typeface="+mj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333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277704"/>
                  </a:ext>
                </a:extLst>
              </a:tr>
            </a:tbl>
          </a:graphicData>
        </a:graphic>
      </p:graphicFrame>
      <p:sp>
        <p:nvSpPr>
          <p:cNvPr id="18" name="AutoShape 17"/>
          <p:cNvSpPr>
            <a:spLocks noChangeArrowheads="1"/>
          </p:cNvSpPr>
          <p:nvPr/>
        </p:nvSpPr>
        <p:spPr bwMode="auto">
          <a:xfrm>
            <a:off x="3507110" y="2598148"/>
            <a:ext cx="365617" cy="282550"/>
          </a:xfrm>
          <a:prstGeom prst="flowChartDocument">
            <a:avLst/>
          </a:prstGeom>
          <a:solidFill>
            <a:srgbClr val="FF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ja-JP" sz="6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List</a:t>
            </a:r>
          </a:p>
          <a:p>
            <a:pPr algn="ctr">
              <a:defRPr/>
            </a:pPr>
            <a:r>
              <a:rPr lang="en-US" altLang="ja-JP" sz="6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/Report</a:t>
            </a:r>
          </a:p>
        </p:txBody>
      </p:sp>
      <p:sp>
        <p:nvSpPr>
          <p:cNvPr id="68" name="AutoShape 10">
            <a:extLst>
              <a:ext uri="{FF2B5EF4-FFF2-40B4-BE49-F238E27FC236}">
                <a16:creationId xmlns:a16="http://schemas.microsoft.com/office/drawing/2014/main" id="{AA2B51A8-E300-442E-BF12-5CAF67B3F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8" y="2269646"/>
            <a:ext cx="766641" cy="460249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ja-JP" sz="6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Any </a:t>
            </a:r>
            <a:r>
              <a:rPr kumimoji="0" lang="en-US" altLang="ja-JP" sz="6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SLED/BBD</a:t>
            </a:r>
          </a:p>
          <a:p>
            <a:pPr algn="ctr">
              <a:defRPr/>
            </a:pPr>
            <a:r>
              <a:rPr lang="en-US" altLang="ja-JP" sz="6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Expired parts?</a:t>
            </a:r>
            <a:endParaRPr kumimoji="0" lang="en-US" altLang="ja-JP" sz="6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BA36A589-2AE2-42C5-BF00-5A70437972F3}"/>
              </a:ext>
            </a:extLst>
          </p:cNvPr>
          <p:cNvSpPr txBox="1"/>
          <p:nvPr/>
        </p:nvSpPr>
        <p:spPr>
          <a:xfrm>
            <a:off x="4685771" y="2281278"/>
            <a:ext cx="51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ja-JP" sz="8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Yes</a:t>
            </a:r>
            <a:endParaRPr lang="ja-JP" altLang="en-US" sz="8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A2B84C47-3C00-433D-A4BA-3476BEFE1532}"/>
              </a:ext>
            </a:extLst>
          </p:cNvPr>
          <p:cNvSpPr txBox="1"/>
          <p:nvPr/>
        </p:nvSpPr>
        <p:spPr>
          <a:xfrm>
            <a:off x="4377240" y="2698281"/>
            <a:ext cx="51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ja-JP" sz="8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No</a:t>
            </a:r>
            <a:endParaRPr lang="ja-JP" altLang="en-US" sz="8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76" name="カギ線コネクタ 63">
            <a:extLst>
              <a:ext uri="{FF2B5EF4-FFF2-40B4-BE49-F238E27FC236}">
                <a16:creationId xmlns:a16="http://schemas.microsoft.com/office/drawing/2014/main" id="{2362FB78-20D6-4A3C-A6C2-591C75B9C871}"/>
              </a:ext>
            </a:extLst>
          </p:cNvPr>
          <p:cNvCxnSpPr>
            <a:cxnSpLocks/>
            <a:stCxn id="68" idx="3"/>
            <a:endCxn id="9" idx="1"/>
          </p:cNvCxnSpPr>
          <p:nvPr/>
        </p:nvCxnSpPr>
        <p:spPr>
          <a:xfrm>
            <a:off x="4775078" y="2499770"/>
            <a:ext cx="655400" cy="676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カギ線コネクタ 55">
            <a:extLst>
              <a:ext uri="{FF2B5EF4-FFF2-40B4-BE49-F238E27FC236}">
                <a16:creationId xmlns:a16="http://schemas.microsoft.com/office/drawing/2014/main" id="{582EDC55-6A6A-400C-B66B-45071AB41767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6261531" y="2500447"/>
            <a:ext cx="281793" cy="2201767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utoShape 10">
            <a:extLst>
              <a:ext uri="{FF2B5EF4-FFF2-40B4-BE49-F238E27FC236}">
                <a16:creationId xmlns:a16="http://schemas.microsoft.com/office/drawing/2014/main" id="{60B9A085-AD53-4B0F-937E-F29E160A2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5629" y="2283704"/>
            <a:ext cx="600074" cy="52141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kumimoji="0" lang="en-US" altLang="ja-JP" sz="10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Expiration </a:t>
            </a:r>
          </a:p>
          <a:p>
            <a:pPr algn="ctr">
              <a:defRPr/>
            </a:pPr>
            <a:r>
              <a:rPr kumimoji="0" lang="en-US" altLang="ja-JP" sz="10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Type</a:t>
            </a:r>
          </a:p>
        </p:txBody>
      </p:sp>
      <p:cxnSp>
        <p:nvCxnSpPr>
          <p:cNvPr id="88" name="カギ線コネクタ 63">
            <a:extLst>
              <a:ext uri="{FF2B5EF4-FFF2-40B4-BE49-F238E27FC236}">
                <a16:creationId xmlns:a16="http://schemas.microsoft.com/office/drawing/2014/main" id="{D50BD323-3187-4292-B7F9-BF3E414AF13E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7374376" y="4702013"/>
            <a:ext cx="392917" cy="20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AutoShape 25">
            <a:extLst>
              <a:ext uri="{FF2B5EF4-FFF2-40B4-BE49-F238E27FC236}">
                <a16:creationId xmlns:a16="http://schemas.microsoft.com/office/drawing/2014/main" id="{235845F6-925A-4597-82FF-B0CA1E8CB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6159" y="2065478"/>
            <a:ext cx="312177" cy="221778"/>
          </a:xfrm>
          <a:prstGeom prst="homePlate">
            <a:avLst>
              <a:gd name="adj" fmla="val 38889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kumimoji="0" lang="en-US" altLang="ja-JP" sz="1000">
                <a:solidFill>
                  <a:srgbClr val="FFFFFF"/>
                </a:solidFill>
                <a:ea typeface="Meiryo" panose="020B0604030504040204" pitchFamily="50" charset="-128"/>
                <a:cs typeface="Arial"/>
              </a:rPr>
              <a:t>A</a:t>
            </a:r>
          </a:p>
        </p:txBody>
      </p:sp>
      <p:sp>
        <p:nvSpPr>
          <p:cNvPr id="92" name="AutoShape 25">
            <a:extLst>
              <a:ext uri="{FF2B5EF4-FFF2-40B4-BE49-F238E27FC236}">
                <a16:creationId xmlns:a16="http://schemas.microsoft.com/office/drawing/2014/main" id="{CCC083CD-F739-4153-9B8B-DD375C7F2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6159" y="2815871"/>
            <a:ext cx="312177" cy="221778"/>
          </a:xfrm>
          <a:prstGeom prst="homePlate">
            <a:avLst>
              <a:gd name="adj" fmla="val 38889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kumimoji="0" lang="en-US" altLang="ja-JP" sz="1000">
                <a:solidFill>
                  <a:srgbClr val="FFFFFF"/>
                </a:solidFill>
                <a:ea typeface="Meiryo" panose="020B0604030504040204" pitchFamily="50" charset="-128"/>
                <a:cs typeface="Arial"/>
              </a:rPr>
              <a:t>B</a:t>
            </a:r>
          </a:p>
        </p:txBody>
      </p:sp>
      <p:sp>
        <p:nvSpPr>
          <p:cNvPr id="93" name="AutoShape 102">
            <a:extLst>
              <a:ext uri="{FF2B5EF4-FFF2-40B4-BE49-F238E27FC236}">
                <a16:creationId xmlns:a16="http://schemas.microsoft.com/office/drawing/2014/main" id="{01B29090-BE79-4A37-A058-93F2A18DF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9556" y="3241081"/>
            <a:ext cx="663378" cy="380414"/>
          </a:xfrm>
          <a:prstGeom prst="flowChartTerminator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103015" tIns="49847" rIns="103015" bIns="49847" anchor="ctr"/>
          <a:lstStyle/>
          <a:p>
            <a:pPr algn="ctr">
              <a:defRPr/>
            </a:pPr>
            <a:r>
              <a:rPr kumimoji="0" lang="en-US" altLang="ja-JP" sz="10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End</a:t>
            </a:r>
          </a:p>
        </p:txBody>
      </p:sp>
      <p:cxnSp>
        <p:nvCxnSpPr>
          <p:cNvPr id="94" name="カギ線コネクタ 55">
            <a:extLst>
              <a:ext uri="{FF2B5EF4-FFF2-40B4-BE49-F238E27FC236}">
                <a16:creationId xmlns:a16="http://schemas.microsoft.com/office/drawing/2014/main" id="{D0D7C367-C8B1-4919-BBE4-5A1B0A804EBE}"/>
              </a:ext>
            </a:extLst>
          </p:cNvPr>
          <p:cNvCxnSpPr>
            <a:cxnSpLocks/>
            <a:stCxn id="68" idx="2"/>
            <a:endCxn id="93" idx="1"/>
          </p:cNvCxnSpPr>
          <p:nvPr/>
        </p:nvCxnSpPr>
        <p:spPr>
          <a:xfrm rot="16200000" flipH="1">
            <a:off x="4149960" y="2971692"/>
            <a:ext cx="701394" cy="217798"/>
          </a:xfrm>
          <a:prstGeom prst="bentConnector2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カギ線コネクタ 55">
            <a:extLst>
              <a:ext uri="{FF2B5EF4-FFF2-40B4-BE49-F238E27FC236}">
                <a16:creationId xmlns:a16="http://schemas.microsoft.com/office/drawing/2014/main" id="{9D5E813D-5429-4428-9ED2-1140AA485D61}"/>
              </a:ext>
            </a:extLst>
          </p:cNvPr>
          <p:cNvCxnSpPr>
            <a:cxnSpLocks/>
            <a:stCxn id="87" idx="3"/>
            <a:endCxn id="89" idx="1"/>
          </p:cNvCxnSpPr>
          <p:nvPr/>
        </p:nvCxnSpPr>
        <p:spPr>
          <a:xfrm flipV="1">
            <a:off x="9405704" y="2176367"/>
            <a:ext cx="680455" cy="368042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カギ線コネクタ 55">
            <a:extLst>
              <a:ext uri="{FF2B5EF4-FFF2-40B4-BE49-F238E27FC236}">
                <a16:creationId xmlns:a16="http://schemas.microsoft.com/office/drawing/2014/main" id="{B86D3218-31F0-4916-AAC7-EFDE1E3C9CFE}"/>
              </a:ext>
            </a:extLst>
          </p:cNvPr>
          <p:cNvCxnSpPr>
            <a:cxnSpLocks/>
            <a:stCxn id="87" idx="3"/>
            <a:endCxn id="92" idx="1"/>
          </p:cNvCxnSpPr>
          <p:nvPr/>
        </p:nvCxnSpPr>
        <p:spPr>
          <a:xfrm>
            <a:off x="9405704" y="2544410"/>
            <a:ext cx="680455" cy="382351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AutoShape 15">
            <a:extLst>
              <a:ext uri="{FF2B5EF4-FFF2-40B4-BE49-F238E27FC236}">
                <a16:creationId xmlns:a16="http://schemas.microsoft.com/office/drawing/2014/main" id="{4E12668E-AECC-4F60-8FAE-8F3EC23D1853}"/>
              </a:ext>
            </a:extLst>
          </p:cNvPr>
          <p:cNvSpPr>
            <a:spLocks/>
          </p:cNvSpPr>
          <p:nvPr/>
        </p:nvSpPr>
        <p:spPr bwMode="auto">
          <a:xfrm>
            <a:off x="4721063" y="1626103"/>
            <a:ext cx="2941270" cy="553470"/>
          </a:xfrm>
          <a:prstGeom prst="borderCallout2">
            <a:avLst>
              <a:gd name="adj1" fmla="val 49561"/>
              <a:gd name="adj2" fmla="val -244"/>
              <a:gd name="adj3" fmla="val 49562"/>
              <a:gd name="adj4" fmla="val -11037"/>
              <a:gd name="adj5" fmla="val 133710"/>
              <a:gd name="adj6" fmla="val -15055"/>
            </a:avLst>
          </a:prstGeom>
          <a:solidFill>
            <a:srgbClr val="FF9933"/>
          </a:solidFill>
          <a:ln w="9525">
            <a:solidFill>
              <a:srgbClr val="FF9933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altLang="ja-JP" sz="900"/>
              <a:t>The frequency of inventory shelf-life (SLED/BBD) checks and which parts to kept away from the good stock based on their expiration dates will be determined by the local entity.</a:t>
            </a:r>
            <a:endParaRPr kumimoji="0" lang="ja-JP" altLang="en-US" sz="813">
              <a:ea typeface="Meiryo" panose="020B0604030504040204" pitchFamily="50" charset="-128"/>
              <a:cs typeface="Arial"/>
            </a:endParaRP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8D95E6B1-DCF7-4126-BEA7-CE782B4A25C4}"/>
              </a:ext>
            </a:extLst>
          </p:cNvPr>
          <p:cNvSpPr txBox="1"/>
          <p:nvPr/>
        </p:nvSpPr>
        <p:spPr>
          <a:xfrm>
            <a:off x="9587878" y="1841440"/>
            <a:ext cx="10983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SLED-Expired</a:t>
            </a:r>
            <a:endParaRPr lang="ja-JP" altLang="en-US" sz="9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5FD21954-ED5E-4424-BC49-3B02A801378F}"/>
              </a:ext>
            </a:extLst>
          </p:cNvPr>
          <p:cNvSpPr txBox="1"/>
          <p:nvPr/>
        </p:nvSpPr>
        <p:spPr>
          <a:xfrm>
            <a:off x="9630896" y="3082806"/>
            <a:ext cx="10123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BBD-Expired</a:t>
            </a:r>
            <a:endParaRPr lang="ja-JP" altLang="en-US" sz="9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7" name="AutoShape 456">
            <a:extLst>
              <a:ext uri="{FF2B5EF4-FFF2-40B4-BE49-F238E27FC236}">
                <a16:creationId xmlns:a16="http://schemas.microsoft.com/office/drawing/2014/main" id="{4A42BE29-4BB5-897C-5CF3-686B940CB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3323" y="4461018"/>
            <a:ext cx="831052" cy="482391"/>
          </a:xfrm>
          <a:prstGeom prst="flowChartPredefined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kumimoji="0" lang="en-US" altLang="ja-JP" sz="800">
                <a:latin typeface="+mn-lt"/>
                <a:ea typeface="メイリオ" panose="020B0604030504040204" pitchFamily="50" charset="-128"/>
                <a:cs typeface="Arial" panose="020B0604020202020204" pitchFamily="34" charset="0"/>
              </a:rPr>
              <a:t>3PL</a:t>
            </a:r>
          </a:p>
          <a:p>
            <a:pPr algn="ctr"/>
            <a:r>
              <a:rPr kumimoji="0" lang="en-US" altLang="ja-JP" sz="800">
                <a:latin typeface="+mn-lt"/>
                <a:ea typeface="メイリオ" panose="020B0604030504040204" pitchFamily="50" charset="-128"/>
                <a:cs typeface="Arial" panose="020B0604020202020204" pitchFamily="34" charset="0"/>
              </a:rPr>
              <a:t>Inventory</a:t>
            </a:r>
          </a:p>
          <a:p>
            <a:pPr algn="ctr"/>
            <a:r>
              <a:rPr kumimoji="0" lang="en-US" altLang="ja-JP" sz="800">
                <a:latin typeface="+mn-lt"/>
                <a:ea typeface="メイリオ" panose="020B0604030504040204" pitchFamily="50" charset="-128"/>
                <a:cs typeface="Arial" panose="020B0604020202020204" pitchFamily="34" charset="0"/>
              </a:rPr>
              <a:t>Movement</a:t>
            </a:r>
          </a:p>
        </p:txBody>
      </p:sp>
      <p:sp>
        <p:nvSpPr>
          <p:cNvPr id="9" name="AutoShape 456">
            <a:extLst>
              <a:ext uri="{FF2B5EF4-FFF2-40B4-BE49-F238E27FC236}">
                <a16:creationId xmlns:a16="http://schemas.microsoft.com/office/drawing/2014/main" id="{B7F7E0E2-0DE5-62F8-4826-DDA28B279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0478" y="2259251"/>
            <a:ext cx="831052" cy="482391"/>
          </a:xfrm>
          <a:prstGeom prst="flowChartPredefined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/>
            <a:r>
              <a:rPr kumimoji="0" lang="en-US" altLang="ja-JP" sz="800">
                <a:latin typeface="+mn-lt"/>
                <a:ea typeface="メイリオ" panose="020B0604030504040204" pitchFamily="50" charset="-128"/>
                <a:cs typeface="Arial" panose="020B0604020202020204" pitchFamily="34" charset="0"/>
              </a:rPr>
              <a:t>Material </a:t>
            </a:r>
          </a:p>
          <a:p>
            <a:pPr algn="ctr"/>
            <a:r>
              <a:rPr kumimoji="0" lang="en-US" altLang="ja-JP" sz="800">
                <a:latin typeface="+mn-lt"/>
                <a:ea typeface="メイリオ" panose="020B0604030504040204" pitchFamily="50" charset="-128"/>
                <a:cs typeface="Arial" panose="020B0604020202020204" pitchFamily="34" charset="0"/>
              </a:rPr>
              <a:t>Transfer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4BF826-3B6F-5360-53B6-C187A32C4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292" y="4471400"/>
            <a:ext cx="677334" cy="4612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kumimoji="0" lang="en-US" altLang="ja-JP" sz="800">
                <a:solidFill>
                  <a:srgbClr val="2D2D2D"/>
                </a:solidFill>
                <a:latin typeface="Meiryo" panose="020B0604030504040204" pitchFamily="50" charset="-128"/>
                <a:ea typeface="Meiryo" panose="020B0604030504040204" pitchFamily="50" charset="-128"/>
                <a:cs typeface="Arial"/>
              </a:rPr>
              <a:t>Report </a:t>
            </a:r>
          </a:p>
          <a:p>
            <a:pPr algn="ctr">
              <a:defRPr/>
            </a:pPr>
            <a:r>
              <a:rPr kumimoji="0" lang="en-US" altLang="ja-JP" sz="800">
                <a:solidFill>
                  <a:srgbClr val="2D2D2D"/>
                </a:solidFill>
                <a:latin typeface="Meiryo" panose="020B0604030504040204" pitchFamily="50" charset="-128"/>
                <a:ea typeface="Meiryo" panose="020B0604030504040204" pitchFamily="50" charset="-128"/>
                <a:cs typeface="Arial"/>
              </a:rPr>
              <a:t>completion</a:t>
            </a:r>
          </a:p>
        </p:txBody>
      </p:sp>
      <p:cxnSp>
        <p:nvCxnSpPr>
          <p:cNvPr id="28" name="カギ線コネクタ 55">
            <a:extLst>
              <a:ext uri="{FF2B5EF4-FFF2-40B4-BE49-F238E27FC236}">
                <a16:creationId xmlns:a16="http://schemas.microsoft.com/office/drawing/2014/main" id="{85F06179-EB7C-780E-FE8A-B0146500390E}"/>
              </a:ext>
            </a:extLst>
          </p:cNvPr>
          <p:cNvCxnSpPr>
            <a:cxnSpLocks/>
            <a:stCxn id="13" idx="3"/>
            <a:endCxn id="87" idx="1"/>
          </p:cNvCxnSpPr>
          <p:nvPr/>
        </p:nvCxnSpPr>
        <p:spPr>
          <a:xfrm flipV="1">
            <a:off x="8444627" y="2544410"/>
            <a:ext cx="361003" cy="2157603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AutoShape 15">
            <a:extLst>
              <a:ext uri="{FF2B5EF4-FFF2-40B4-BE49-F238E27FC236}">
                <a16:creationId xmlns:a16="http://schemas.microsoft.com/office/drawing/2014/main" id="{FA01EDB8-B37D-4ED9-B779-D917D9079FC8}"/>
              </a:ext>
            </a:extLst>
          </p:cNvPr>
          <p:cNvSpPr>
            <a:spLocks/>
          </p:cNvSpPr>
          <p:nvPr/>
        </p:nvSpPr>
        <p:spPr bwMode="auto">
          <a:xfrm>
            <a:off x="7104467" y="3920089"/>
            <a:ext cx="1861301" cy="276536"/>
          </a:xfrm>
          <a:prstGeom prst="borderCallout2">
            <a:avLst>
              <a:gd name="adj1" fmla="val 49561"/>
              <a:gd name="adj2" fmla="val -244"/>
              <a:gd name="adj3" fmla="val 49562"/>
              <a:gd name="adj4" fmla="val -11037"/>
              <a:gd name="adj5" fmla="val 205623"/>
              <a:gd name="adj6" fmla="val -21635"/>
            </a:avLst>
          </a:prstGeom>
          <a:solidFill>
            <a:srgbClr val="FF9933"/>
          </a:solidFill>
          <a:ln w="9525">
            <a:solidFill>
              <a:srgbClr val="FF9933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Move the expired parts to the non-good stock.</a:t>
            </a:r>
            <a:endParaRPr kumimoji="0" lang="ja-JP" altLang="en-US" sz="9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585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タイトル 1"/>
          <p:cNvSpPr>
            <a:spLocks noGrp="1"/>
          </p:cNvSpPr>
          <p:nvPr>
            <p:ph type="title"/>
          </p:nvPr>
        </p:nvSpPr>
        <p:spPr bwMode="auto">
          <a:xfrm>
            <a:off x="1645430" y="248992"/>
            <a:ext cx="8871694" cy="6993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2000">
                <a:latin typeface="+mn-lt"/>
                <a:ea typeface="メイリオ" panose="020B0604030504040204" pitchFamily="50" charset="-128"/>
              </a:rPr>
              <a:t>SD2002_Inventory management</a:t>
            </a:r>
            <a:br>
              <a:rPr lang="en-US" altLang="ja-JP">
                <a:latin typeface="+mn-lt"/>
                <a:ea typeface="メイリオ" panose="020B0604030504040204" pitchFamily="50" charset="-128"/>
              </a:rPr>
            </a:br>
            <a:r>
              <a:rPr lang="en-US" altLang="ja-JP">
                <a:latin typeface="+mn-lt"/>
                <a:ea typeface="メイリオ" panose="020B0604030504040204" pitchFamily="50" charset="-128"/>
              </a:rPr>
              <a:t>Inventory Shelf-Life</a:t>
            </a:r>
            <a:r>
              <a:rPr lang="ja-JP" altLang="en-US">
                <a:latin typeface="+mn-lt"/>
                <a:ea typeface="メイリオ" panose="020B0604030504040204" pitchFamily="50" charset="-128"/>
              </a:rPr>
              <a:t> </a:t>
            </a:r>
            <a:r>
              <a:rPr lang="en-US" altLang="ja-JP">
                <a:latin typeface="+mn-lt"/>
                <a:ea typeface="メイリオ" panose="020B0604030504040204" pitchFamily="50" charset="-128"/>
              </a:rPr>
              <a:t>(SLED/BBD)</a:t>
            </a:r>
            <a:r>
              <a:rPr lang="ja-JP" altLang="en-US">
                <a:latin typeface="+mn-lt"/>
                <a:ea typeface="メイリオ" panose="020B0604030504040204" pitchFamily="50" charset="-128"/>
              </a:rPr>
              <a:t> </a:t>
            </a:r>
            <a:r>
              <a:rPr lang="en-US" altLang="ja-JP">
                <a:latin typeface="+mn-lt"/>
                <a:ea typeface="メイリオ" panose="020B0604030504040204" pitchFamily="50" charset="-128"/>
              </a:rPr>
              <a:t>Check (2/2) </a:t>
            </a:r>
            <a:endParaRPr lang="ja-JP" altLang="en-US">
              <a:latin typeface="+mn-lt"/>
            </a:endParaRPr>
          </a:p>
        </p:txBody>
      </p:sp>
      <p:sp>
        <p:nvSpPr>
          <p:cNvPr id="122" name="Rectangle 5"/>
          <p:cNvSpPr>
            <a:spLocks noChangeArrowheads="1"/>
          </p:cNvSpPr>
          <p:nvPr/>
        </p:nvSpPr>
        <p:spPr bwMode="auto">
          <a:xfrm>
            <a:off x="1377045" y="1258707"/>
            <a:ext cx="9451545" cy="30859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kumimoji="0" lang="en-US" altLang="ja-JP" sz="1000" b="1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Inventory Shelf-life (SLED/BBD) Check – Identify SLED/BBD-Expired Parts</a:t>
            </a:r>
            <a:endParaRPr kumimoji="0" lang="ja-JP" altLang="en-US" sz="10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131" name="Rectangle 6"/>
          <p:cNvSpPr>
            <a:spLocks noChangeArrowheads="1"/>
          </p:cNvSpPr>
          <p:nvPr/>
        </p:nvSpPr>
        <p:spPr bwMode="auto">
          <a:xfrm>
            <a:off x="1375595" y="1567304"/>
            <a:ext cx="685518" cy="494433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kumimoji="0" lang="ja-JP" altLang="en-US" sz="10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142" name="Rectangle 4"/>
          <p:cNvSpPr>
            <a:spLocks noChangeArrowheads="1"/>
          </p:cNvSpPr>
          <p:nvPr/>
        </p:nvSpPr>
        <p:spPr bwMode="auto">
          <a:xfrm>
            <a:off x="1377045" y="1264776"/>
            <a:ext cx="9455479" cy="52468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kumimoji="0" lang="ja-JP" altLang="en-US" sz="10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47" name="Rectangle 6"/>
          <p:cNvSpPr>
            <a:spLocks noChangeArrowheads="1"/>
          </p:cNvSpPr>
          <p:nvPr/>
        </p:nvSpPr>
        <p:spPr bwMode="auto">
          <a:xfrm>
            <a:off x="1372663" y="2564540"/>
            <a:ext cx="685518" cy="320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 defTabSz="703402">
              <a:lnSpc>
                <a:spcPct val="85000"/>
              </a:lnSpc>
              <a:defRPr/>
            </a:pPr>
            <a:r>
              <a:rPr lang="en-US" altLang="ja-JP" sz="1000" err="1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Genpo</a:t>
            </a:r>
            <a:endParaRPr lang="en-US" altLang="ja-JP" sz="10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  <a:p>
            <a:pPr algn="ctr" defTabSz="703402">
              <a:lnSpc>
                <a:spcPct val="85000"/>
              </a:lnSpc>
              <a:defRPr/>
            </a:pPr>
            <a:r>
              <a:rPr kumimoji="0" lang="en-US" altLang="ja-JP" sz="10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Warehouse</a:t>
            </a:r>
          </a:p>
          <a:p>
            <a:pPr algn="ctr" defTabSz="703402">
              <a:lnSpc>
                <a:spcPct val="85000"/>
              </a:lnSpc>
              <a:defRPr/>
            </a:pPr>
            <a:r>
              <a:rPr lang="en-US" altLang="ja-JP" sz="10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PIC</a:t>
            </a:r>
            <a:endParaRPr kumimoji="0" lang="en-US" altLang="ja-JP" sz="10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57" name="Rectangle 6"/>
          <p:cNvSpPr>
            <a:spLocks noChangeArrowheads="1"/>
          </p:cNvSpPr>
          <p:nvPr/>
        </p:nvSpPr>
        <p:spPr bwMode="auto">
          <a:xfrm>
            <a:off x="1355375" y="5826347"/>
            <a:ext cx="685518" cy="28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 defTabSz="703402">
              <a:lnSpc>
                <a:spcPct val="85000"/>
              </a:lnSpc>
              <a:defRPr/>
            </a:pPr>
            <a:r>
              <a:rPr kumimoji="0" lang="en-US" altLang="ja-JP" sz="1000" err="1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Syste</a:t>
            </a:r>
            <a:r>
              <a:rPr lang="en-US" altLang="ja-JP" sz="10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m</a:t>
            </a:r>
            <a:endParaRPr kumimoji="0" lang="en-US" altLang="ja-JP" sz="10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63" name="Rectangle 6">
            <a:extLst>
              <a:ext uri="{FF2B5EF4-FFF2-40B4-BE49-F238E27FC236}">
                <a16:creationId xmlns:a16="http://schemas.microsoft.com/office/drawing/2014/main" id="{E60E47C3-4004-43BD-833D-87C535650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2263" y="4736476"/>
            <a:ext cx="685518" cy="28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 defTabSz="703402">
              <a:lnSpc>
                <a:spcPct val="85000"/>
              </a:lnSpc>
              <a:defRPr/>
            </a:pPr>
            <a:r>
              <a:rPr kumimoji="0" lang="en-US" altLang="ja-JP" sz="10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3PL</a:t>
            </a:r>
          </a:p>
        </p:txBody>
      </p:sp>
      <p:sp>
        <p:nvSpPr>
          <p:cNvPr id="141" name="Line 5">
            <a:extLst>
              <a:ext uri="{FF2B5EF4-FFF2-40B4-BE49-F238E27FC236}">
                <a16:creationId xmlns:a16="http://schemas.microsoft.com/office/drawing/2014/main" id="{0EF2B399-43D0-4451-8845-CB7CC5C431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4311" y="5534138"/>
            <a:ext cx="945154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kumimoji="0" lang="ja-JP" altLang="en-US" sz="10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15" name="Line 5">
            <a:extLst>
              <a:ext uri="{FF2B5EF4-FFF2-40B4-BE49-F238E27FC236}">
                <a16:creationId xmlns:a16="http://schemas.microsoft.com/office/drawing/2014/main" id="{0EF2B399-43D0-4451-8845-CB7CC5C431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4311" y="4191555"/>
            <a:ext cx="945154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kumimoji="0" lang="ja-JP" altLang="en-US" sz="10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2" name="AutoShape 25">
            <a:extLst>
              <a:ext uri="{FF2B5EF4-FFF2-40B4-BE49-F238E27FC236}">
                <a16:creationId xmlns:a16="http://schemas.microsoft.com/office/drawing/2014/main" id="{18B800FD-C639-CCAF-E20C-3337FC2E6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244" y="2011164"/>
            <a:ext cx="312177" cy="221778"/>
          </a:xfrm>
          <a:prstGeom prst="homePlate">
            <a:avLst>
              <a:gd name="adj" fmla="val 38889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kumimoji="0" lang="en-US" altLang="ja-JP" sz="1000">
                <a:solidFill>
                  <a:srgbClr val="FFFFFF"/>
                </a:solidFill>
                <a:latin typeface="Meiryo" panose="020B0604030504040204" pitchFamily="50" charset="-128"/>
                <a:ea typeface="Meiryo" panose="020B0604030504040204" pitchFamily="50" charset="-128"/>
                <a:cs typeface="Arial"/>
              </a:rPr>
              <a:t>A</a:t>
            </a:r>
          </a:p>
        </p:txBody>
      </p:sp>
      <p:sp>
        <p:nvSpPr>
          <p:cNvPr id="3" name="AutoShape 25">
            <a:extLst>
              <a:ext uri="{FF2B5EF4-FFF2-40B4-BE49-F238E27FC236}">
                <a16:creationId xmlns:a16="http://schemas.microsoft.com/office/drawing/2014/main" id="{015B1CCD-AF85-822C-0D36-8DC96923E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503" y="3117497"/>
            <a:ext cx="312177" cy="221778"/>
          </a:xfrm>
          <a:prstGeom prst="homePlate">
            <a:avLst>
              <a:gd name="adj" fmla="val 38889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kumimoji="0" lang="en-US" altLang="ja-JP" sz="1000">
                <a:solidFill>
                  <a:srgbClr val="FFFFFF"/>
                </a:solidFill>
                <a:latin typeface="Meiryo" panose="020B0604030504040204" pitchFamily="50" charset="-128"/>
                <a:ea typeface="Meiryo" panose="020B0604030504040204" pitchFamily="50" charset="-128"/>
                <a:cs typeface="Arial"/>
              </a:rPr>
              <a:t>B</a:t>
            </a:r>
          </a:p>
        </p:txBody>
      </p:sp>
      <p:sp>
        <p:nvSpPr>
          <p:cNvPr id="4" name="AutoShape 24">
            <a:extLst>
              <a:ext uri="{FF2B5EF4-FFF2-40B4-BE49-F238E27FC236}">
                <a16:creationId xmlns:a16="http://schemas.microsoft.com/office/drawing/2014/main" id="{89656E40-7315-3064-EF28-326908232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0856" y="1902723"/>
            <a:ext cx="1035130" cy="438661"/>
          </a:xfrm>
          <a:prstGeom prst="flowChartPredefined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kumimoji="0" lang="en-US" altLang="ja-JP" sz="800">
                <a:latin typeface="Meiryo" panose="020B0604030504040204" pitchFamily="50" charset="-128"/>
                <a:ea typeface="Meiryo" panose="020B0604030504040204" pitchFamily="50" charset="-128"/>
                <a:cs typeface="Arial"/>
              </a:rPr>
              <a:t>Disposition</a:t>
            </a:r>
            <a:endParaRPr kumimoji="0" lang="ja-JP" altLang="en-US" sz="800">
              <a:latin typeface="Meiryo" panose="020B0604030504040204" pitchFamily="50" charset="-128"/>
              <a:ea typeface="Meiryo" panose="020B0604030504040204" pitchFamily="50" charset="-128"/>
              <a:cs typeface="Arial"/>
            </a:endParaRPr>
          </a:p>
        </p:txBody>
      </p:sp>
      <p:sp>
        <p:nvSpPr>
          <p:cNvPr id="5" name="AutoShape 102">
            <a:extLst>
              <a:ext uri="{FF2B5EF4-FFF2-40B4-BE49-F238E27FC236}">
                <a16:creationId xmlns:a16="http://schemas.microsoft.com/office/drawing/2014/main" id="{F10A5719-F932-FF37-4F4C-02EC2152D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685" y="1931845"/>
            <a:ext cx="663378" cy="380414"/>
          </a:xfrm>
          <a:prstGeom prst="flowChartTerminator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103015" tIns="49847" rIns="103015" bIns="49847" anchor="ctr"/>
          <a:lstStyle/>
          <a:p>
            <a:pPr algn="ctr">
              <a:defRPr/>
            </a:pPr>
            <a:r>
              <a:rPr kumimoji="0" lang="en-US" altLang="ja-JP" sz="1000">
                <a:solidFill>
                  <a:srgbClr val="2D2D2D"/>
                </a:solidFill>
                <a:latin typeface="Meiryo" panose="020B0604030504040204" pitchFamily="50" charset="-128"/>
                <a:ea typeface="Meiryo" panose="020B0604030504040204" pitchFamily="50" charset="-128"/>
                <a:cs typeface="Arial"/>
              </a:rPr>
              <a:t>End</a:t>
            </a:r>
          </a:p>
        </p:txBody>
      </p:sp>
      <p:cxnSp>
        <p:nvCxnSpPr>
          <p:cNvPr id="6" name="カギ線コネクタ 63">
            <a:extLst>
              <a:ext uri="{FF2B5EF4-FFF2-40B4-BE49-F238E27FC236}">
                <a16:creationId xmlns:a16="http://schemas.microsoft.com/office/drawing/2014/main" id="{E9753C52-F3EA-F8F1-1D7E-D7C68C8BDDAF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2610679" y="3228387"/>
            <a:ext cx="374134" cy="4205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カギ線コネクタ 63">
            <a:extLst>
              <a:ext uri="{FF2B5EF4-FFF2-40B4-BE49-F238E27FC236}">
                <a16:creationId xmlns:a16="http://schemas.microsoft.com/office/drawing/2014/main" id="{7B46B13F-BA65-3741-1833-4776E6929ED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3985987" y="2122053"/>
            <a:ext cx="282699" cy="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2">
            <a:extLst>
              <a:ext uri="{FF2B5EF4-FFF2-40B4-BE49-F238E27FC236}">
                <a16:creationId xmlns:a16="http://schemas.microsoft.com/office/drawing/2014/main" id="{A7466184-F6CF-40E2-9892-D6C808518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813" y="3001979"/>
            <a:ext cx="946452" cy="4612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kumimoji="0" lang="en-US" altLang="ja-JP" sz="800">
                <a:solidFill>
                  <a:srgbClr val="2D2D2D"/>
                </a:solidFill>
                <a:latin typeface="Meiryo" panose="020B0604030504040204" pitchFamily="50" charset="-128"/>
                <a:ea typeface="Meiryo" panose="020B0604030504040204" pitchFamily="50" charset="-128"/>
                <a:cs typeface="Arial"/>
              </a:rPr>
              <a:t>Add to the </a:t>
            </a:r>
          </a:p>
          <a:p>
            <a:pPr algn="ctr">
              <a:defRPr/>
            </a:pPr>
            <a:r>
              <a:rPr kumimoji="0" lang="en-US" altLang="ja-JP" sz="800">
                <a:solidFill>
                  <a:srgbClr val="2D2D2D"/>
                </a:solidFill>
                <a:latin typeface="Meiryo" panose="020B0604030504040204" pitchFamily="50" charset="-128"/>
                <a:ea typeface="Meiryo" panose="020B0604030504040204" pitchFamily="50" charset="-128"/>
                <a:cs typeface="Arial"/>
              </a:rPr>
              <a:t>buy-back </a:t>
            </a:r>
          </a:p>
          <a:p>
            <a:pPr algn="ctr">
              <a:defRPr/>
            </a:pPr>
            <a:r>
              <a:rPr kumimoji="0" lang="en-US" altLang="ja-JP" sz="800">
                <a:solidFill>
                  <a:srgbClr val="2D2D2D"/>
                </a:solidFill>
                <a:latin typeface="Meiryo" panose="020B0604030504040204" pitchFamily="50" charset="-128"/>
                <a:ea typeface="Meiryo" panose="020B0604030504040204" pitchFamily="50" charset="-128"/>
                <a:cs typeface="Arial"/>
              </a:rPr>
              <a:t>parts list</a:t>
            </a:r>
          </a:p>
        </p:txBody>
      </p:sp>
      <p:cxnSp>
        <p:nvCxnSpPr>
          <p:cNvPr id="11" name="カギ線コネクタ 63">
            <a:extLst>
              <a:ext uri="{FF2B5EF4-FFF2-40B4-BE49-F238E27FC236}">
                <a16:creationId xmlns:a16="http://schemas.microsoft.com/office/drawing/2014/main" id="{07A2E385-C303-1723-5C3A-CE2D8D30ED0B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2628420" y="2122053"/>
            <a:ext cx="322436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カギ線コネクタ 63">
            <a:extLst>
              <a:ext uri="{FF2B5EF4-FFF2-40B4-BE49-F238E27FC236}">
                <a16:creationId xmlns:a16="http://schemas.microsoft.com/office/drawing/2014/main" id="{160BD379-E380-6AD3-B999-DC1617CEE91D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 flipV="1">
            <a:off x="3931265" y="3227007"/>
            <a:ext cx="1214572" cy="5584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utoShape 10">
            <a:extLst>
              <a:ext uri="{FF2B5EF4-FFF2-40B4-BE49-F238E27FC236}">
                <a16:creationId xmlns:a16="http://schemas.microsoft.com/office/drawing/2014/main" id="{29B2A5F1-500B-8BB8-A25E-E053C76AA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5837" y="2966302"/>
            <a:ext cx="600074" cy="521410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kumimoji="0" lang="en-US" altLang="ja-JP" sz="1000">
                <a:solidFill>
                  <a:srgbClr val="2D2D2D"/>
                </a:solidFill>
                <a:latin typeface="Meiryo" panose="020B0604030504040204" pitchFamily="50" charset="-128"/>
                <a:ea typeface="Meiryo" panose="020B0604030504040204" pitchFamily="50" charset="-128"/>
                <a:cs typeface="Arial"/>
              </a:rPr>
              <a:t>BBK</a:t>
            </a:r>
          </a:p>
          <a:p>
            <a:pPr algn="ctr">
              <a:defRPr/>
            </a:pPr>
            <a:r>
              <a:rPr lang="en-US" altLang="ja-JP" sz="1000">
                <a:solidFill>
                  <a:srgbClr val="2D2D2D"/>
                </a:solidFill>
                <a:latin typeface="Meiryo" panose="020B0604030504040204" pitchFamily="50" charset="-128"/>
                <a:ea typeface="Meiryo" panose="020B0604030504040204" pitchFamily="50" charset="-128"/>
                <a:cs typeface="Arial"/>
              </a:rPr>
              <a:t>OK?</a:t>
            </a:r>
            <a:endParaRPr kumimoji="0" lang="en-US" altLang="ja-JP" sz="1000">
              <a:solidFill>
                <a:srgbClr val="2D2D2D"/>
              </a:solidFill>
              <a:latin typeface="Meiryo" panose="020B0604030504040204" pitchFamily="50" charset="-128"/>
              <a:ea typeface="Meiryo" panose="020B0604030504040204" pitchFamily="50" charset="-128"/>
              <a:cs typeface="Arial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E61C2C7-7800-4794-E0E0-7F70E8289FF4}"/>
              </a:ext>
            </a:extLst>
          </p:cNvPr>
          <p:cNvSpPr txBox="1"/>
          <p:nvPr/>
        </p:nvSpPr>
        <p:spPr>
          <a:xfrm>
            <a:off x="2176513" y="1713841"/>
            <a:ext cx="10983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SLED-Expired</a:t>
            </a:r>
            <a:endParaRPr lang="ja-JP" altLang="en-US" sz="9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3D777F3-070B-17F5-ED84-55CA63C9DBA8}"/>
              </a:ext>
            </a:extLst>
          </p:cNvPr>
          <p:cNvSpPr txBox="1"/>
          <p:nvPr/>
        </p:nvSpPr>
        <p:spPr>
          <a:xfrm>
            <a:off x="2208334" y="2882358"/>
            <a:ext cx="10123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BBD-Expired</a:t>
            </a:r>
            <a:endParaRPr lang="ja-JP" altLang="en-US" sz="9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33" name="AutoShape 24">
            <a:extLst>
              <a:ext uri="{FF2B5EF4-FFF2-40B4-BE49-F238E27FC236}">
                <a16:creationId xmlns:a16="http://schemas.microsoft.com/office/drawing/2014/main" id="{C51A0443-3B25-E07C-93E3-560817455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0988" y="2488521"/>
            <a:ext cx="1035130" cy="438661"/>
          </a:xfrm>
          <a:prstGeom prst="flowChartPredefined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kumimoji="0" lang="en-US" altLang="ja-JP" sz="800">
                <a:latin typeface="Meiryo" panose="020B0604030504040204" pitchFamily="50" charset="-128"/>
                <a:ea typeface="Meiryo" panose="020B0604030504040204" pitchFamily="50" charset="-128"/>
                <a:cs typeface="Arial"/>
              </a:rPr>
              <a:t>Disposition</a:t>
            </a:r>
            <a:endParaRPr kumimoji="0" lang="ja-JP" altLang="en-US" sz="800">
              <a:latin typeface="Meiryo" panose="020B0604030504040204" pitchFamily="50" charset="-128"/>
              <a:ea typeface="Meiryo" panose="020B0604030504040204" pitchFamily="50" charset="-128"/>
              <a:cs typeface="Arial"/>
            </a:endParaRPr>
          </a:p>
        </p:txBody>
      </p:sp>
      <p:cxnSp>
        <p:nvCxnSpPr>
          <p:cNvPr id="34" name="カギ線コネクタ 55">
            <a:extLst>
              <a:ext uri="{FF2B5EF4-FFF2-40B4-BE49-F238E27FC236}">
                <a16:creationId xmlns:a16="http://schemas.microsoft.com/office/drawing/2014/main" id="{4BA86673-7BE6-95DC-8AF2-D94E856E1CD6}"/>
              </a:ext>
            </a:extLst>
          </p:cNvPr>
          <p:cNvCxnSpPr>
            <a:cxnSpLocks/>
            <a:stCxn id="13" idx="3"/>
            <a:endCxn id="33" idx="1"/>
          </p:cNvCxnSpPr>
          <p:nvPr/>
        </p:nvCxnSpPr>
        <p:spPr>
          <a:xfrm flipV="1">
            <a:off x="5745912" y="2707851"/>
            <a:ext cx="925077" cy="519156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カギ線コネクタ 55">
            <a:extLst>
              <a:ext uri="{FF2B5EF4-FFF2-40B4-BE49-F238E27FC236}">
                <a16:creationId xmlns:a16="http://schemas.microsoft.com/office/drawing/2014/main" id="{F6DDA80F-51B4-B05B-1B88-ADFC04505E51}"/>
              </a:ext>
            </a:extLst>
          </p:cNvPr>
          <p:cNvCxnSpPr>
            <a:cxnSpLocks/>
            <a:stCxn id="13" idx="3"/>
            <a:endCxn id="44" idx="1"/>
          </p:cNvCxnSpPr>
          <p:nvPr/>
        </p:nvCxnSpPr>
        <p:spPr>
          <a:xfrm>
            <a:off x="5745911" y="3227008"/>
            <a:ext cx="929260" cy="485681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05EDE29-EED4-4DF3-131E-2E558352E60D}"/>
              </a:ext>
            </a:extLst>
          </p:cNvPr>
          <p:cNvSpPr txBox="1"/>
          <p:nvPr/>
        </p:nvSpPr>
        <p:spPr>
          <a:xfrm>
            <a:off x="6164051" y="3739256"/>
            <a:ext cx="51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ja-JP" sz="8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Yes</a:t>
            </a:r>
            <a:endParaRPr lang="ja-JP" altLang="en-US" sz="8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77A807DA-B9D0-943B-C271-C0FB134A78AC}"/>
              </a:ext>
            </a:extLst>
          </p:cNvPr>
          <p:cNvSpPr txBox="1"/>
          <p:nvPr/>
        </p:nvSpPr>
        <p:spPr>
          <a:xfrm>
            <a:off x="6164051" y="2452062"/>
            <a:ext cx="51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ja-JP" sz="8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No</a:t>
            </a:r>
            <a:endParaRPr lang="ja-JP" altLang="en-US" sz="8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44" name="AutoShape 24">
            <a:extLst>
              <a:ext uri="{FF2B5EF4-FFF2-40B4-BE49-F238E27FC236}">
                <a16:creationId xmlns:a16="http://schemas.microsoft.com/office/drawing/2014/main" id="{A5F18DAD-D2D7-155D-70D8-8C499F111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171" y="3493358"/>
            <a:ext cx="1035130" cy="438661"/>
          </a:xfrm>
          <a:prstGeom prst="flowChartPredefined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kumimoji="0" lang="en-US" altLang="ja-JP" sz="800">
                <a:latin typeface="Meiryo" panose="020B0604030504040204" pitchFamily="50" charset="-128"/>
                <a:ea typeface="Meiryo" panose="020B0604030504040204" pitchFamily="50" charset="-128"/>
                <a:cs typeface="Arial"/>
              </a:rPr>
              <a:t>Buy-Back Process</a:t>
            </a:r>
            <a:endParaRPr kumimoji="0" lang="ja-JP" altLang="en-US" sz="800">
              <a:latin typeface="Meiryo" panose="020B0604030504040204" pitchFamily="50" charset="-128"/>
              <a:ea typeface="Meiryo" panose="020B0604030504040204" pitchFamily="50" charset="-128"/>
              <a:cs typeface="Arial"/>
            </a:endParaRPr>
          </a:p>
        </p:txBody>
      </p:sp>
      <p:sp>
        <p:nvSpPr>
          <p:cNvPr id="46" name="AutoShape 102">
            <a:extLst>
              <a:ext uri="{FF2B5EF4-FFF2-40B4-BE49-F238E27FC236}">
                <a16:creationId xmlns:a16="http://schemas.microsoft.com/office/drawing/2014/main" id="{C3045880-2EE0-F26C-3F73-18010B2FB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817" y="2515715"/>
            <a:ext cx="663378" cy="380414"/>
          </a:xfrm>
          <a:prstGeom prst="flowChartTerminator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103015" tIns="49847" rIns="103015" bIns="49847" anchor="ctr"/>
          <a:lstStyle/>
          <a:p>
            <a:pPr algn="ctr">
              <a:defRPr/>
            </a:pPr>
            <a:r>
              <a:rPr kumimoji="0" lang="en-US" altLang="ja-JP" sz="1000">
                <a:solidFill>
                  <a:srgbClr val="2D2D2D"/>
                </a:solidFill>
                <a:latin typeface="Meiryo" panose="020B0604030504040204" pitchFamily="50" charset="-128"/>
                <a:ea typeface="Meiryo" panose="020B0604030504040204" pitchFamily="50" charset="-128"/>
                <a:cs typeface="Arial"/>
              </a:rPr>
              <a:t>End</a:t>
            </a:r>
          </a:p>
        </p:txBody>
      </p:sp>
      <p:sp>
        <p:nvSpPr>
          <p:cNvPr id="48" name="AutoShape 102">
            <a:extLst>
              <a:ext uri="{FF2B5EF4-FFF2-40B4-BE49-F238E27FC236}">
                <a16:creationId xmlns:a16="http://schemas.microsoft.com/office/drawing/2014/main" id="{44479993-078B-0E1D-7A7A-DF6AA152E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6183" y="3522480"/>
            <a:ext cx="663378" cy="380414"/>
          </a:xfrm>
          <a:prstGeom prst="flowChartTerminator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103015" tIns="49847" rIns="103015" bIns="49847" anchor="ctr"/>
          <a:lstStyle/>
          <a:p>
            <a:pPr algn="ctr">
              <a:defRPr/>
            </a:pPr>
            <a:r>
              <a:rPr kumimoji="0" lang="en-US" altLang="ja-JP" sz="1000">
                <a:solidFill>
                  <a:srgbClr val="2D2D2D"/>
                </a:solidFill>
                <a:latin typeface="Meiryo" panose="020B0604030504040204" pitchFamily="50" charset="-128"/>
                <a:ea typeface="Meiryo" panose="020B0604030504040204" pitchFamily="50" charset="-128"/>
                <a:cs typeface="Arial"/>
              </a:rPr>
              <a:t>End</a:t>
            </a:r>
          </a:p>
        </p:txBody>
      </p:sp>
      <p:cxnSp>
        <p:nvCxnSpPr>
          <p:cNvPr id="49" name="カギ線コネクタ 63">
            <a:extLst>
              <a:ext uri="{FF2B5EF4-FFF2-40B4-BE49-F238E27FC236}">
                <a16:creationId xmlns:a16="http://schemas.microsoft.com/office/drawing/2014/main" id="{08B73AE2-ABD2-DF9B-9240-D14E8920FA37}"/>
              </a:ext>
            </a:extLst>
          </p:cNvPr>
          <p:cNvCxnSpPr>
            <a:cxnSpLocks/>
            <a:stCxn id="33" idx="3"/>
            <a:endCxn id="46" idx="1"/>
          </p:cNvCxnSpPr>
          <p:nvPr/>
        </p:nvCxnSpPr>
        <p:spPr>
          <a:xfrm flipV="1">
            <a:off x="7706119" y="2705923"/>
            <a:ext cx="261699" cy="1929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カギ線コネクタ 63">
            <a:extLst>
              <a:ext uri="{FF2B5EF4-FFF2-40B4-BE49-F238E27FC236}">
                <a16:creationId xmlns:a16="http://schemas.microsoft.com/office/drawing/2014/main" id="{3E60D65C-09B0-9664-52EC-C3B5A959AC29}"/>
              </a:ext>
            </a:extLst>
          </p:cNvPr>
          <p:cNvCxnSpPr>
            <a:cxnSpLocks/>
            <a:stCxn id="44" idx="3"/>
            <a:endCxn id="48" idx="1"/>
          </p:cNvCxnSpPr>
          <p:nvPr/>
        </p:nvCxnSpPr>
        <p:spPr>
          <a:xfrm flipV="1">
            <a:off x="7710301" y="3712688"/>
            <a:ext cx="265882" cy="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AutoShape 15">
            <a:extLst>
              <a:ext uri="{FF2B5EF4-FFF2-40B4-BE49-F238E27FC236}">
                <a16:creationId xmlns:a16="http://schemas.microsoft.com/office/drawing/2014/main" id="{B3961CCD-F6AC-9E26-B716-F9E2A9A4497E}"/>
              </a:ext>
            </a:extLst>
          </p:cNvPr>
          <p:cNvSpPr>
            <a:spLocks/>
          </p:cNvSpPr>
          <p:nvPr/>
        </p:nvSpPr>
        <p:spPr bwMode="auto">
          <a:xfrm>
            <a:off x="4261278" y="1465543"/>
            <a:ext cx="2325844" cy="425543"/>
          </a:xfrm>
          <a:prstGeom prst="borderCallout2">
            <a:avLst>
              <a:gd name="adj1" fmla="val 49561"/>
              <a:gd name="adj2" fmla="val -244"/>
              <a:gd name="adj3" fmla="val 49562"/>
              <a:gd name="adj4" fmla="val -11037"/>
              <a:gd name="adj5" fmla="val 122657"/>
              <a:gd name="adj6" fmla="val -21446"/>
            </a:avLst>
          </a:prstGeom>
          <a:solidFill>
            <a:srgbClr val="FF9933"/>
          </a:solidFill>
          <a:ln w="9525">
            <a:solidFill>
              <a:srgbClr val="FF9933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Physical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parts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should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be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processed and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disposed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at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the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3PL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warehouse following </a:t>
            </a:r>
            <a:r>
              <a:rPr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G</a:t>
            </a:r>
            <a:r>
              <a:rPr kumimoji="0" lang="en-US" altLang="ja-JP" sz="900" err="1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enpo’s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instructions.</a:t>
            </a:r>
            <a:endParaRPr kumimoji="0" lang="ja-JP" altLang="en-US" sz="9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58" name="AutoShape 15">
            <a:extLst>
              <a:ext uri="{FF2B5EF4-FFF2-40B4-BE49-F238E27FC236}">
                <a16:creationId xmlns:a16="http://schemas.microsoft.com/office/drawing/2014/main" id="{D2809E8C-6509-7F38-DF83-7C1FAE870563}"/>
              </a:ext>
            </a:extLst>
          </p:cNvPr>
          <p:cNvSpPr>
            <a:spLocks/>
          </p:cNvSpPr>
          <p:nvPr/>
        </p:nvSpPr>
        <p:spPr bwMode="auto">
          <a:xfrm>
            <a:off x="7835316" y="2035026"/>
            <a:ext cx="2325844" cy="425543"/>
          </a:xfrm>
          <a:prstGeom prst="borderCallout2">
            <a:avLst>
              <a:gd name="adj1" fmla="val 49561"/>
              <a:gd name="adj2" fmla="val -244"/>
              <a:gd name="adj3" fmla="val 49562"/>
              <a:gd name="adj4" fmla="val -11037"/>
              <a:gd name="adj5" fmla="val 122657"/>
              <a:gd name="adj6" fmla="val -21446"/>
            </a:avLst>
          </a:prstGeom>
          <a:solidFill>
            <a:srgbClr val="FF9933"/>
          </a:solidFill>
          <a:ln w="9525">
            <a:solidFill>
              <a:srgbClr val="FF9933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Physical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parts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should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be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processed and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disposed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at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the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3PL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warehouse following </a:t>
            </a:r>
            <a:r>
              <a:rPr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G</a:t>
            </a:r>
            <a:r>
              <a:rPr kumimoji="0" lang="en-US" altLang="ja-JP" sz="900" err="1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enpo’s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instructions.</a:t>
            </a:r>
            <a:endParaRPr kumimoji="0" lang="ja-JP" altLang="en-US" sz="9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  <p:sp>
        <p:nvSpPr>
          <p:cNvPr id="62" name="AutoShape 15">
            <a:extLst>
              <a:ext uri="{FF2B5EF4-FFF2-40B4-BE49-F238E27FC236}">
                <a16:creationId xmlns:a16="http://schemas.microsoft.com/office/drawing/2014/main" id="{13AD0E5E-59C2-C993-C26F-DA95B2D78062}"/>
              </a:ext>
            </a:extLst>
          </p:cNvPr>
          <p:cNvSpPr>
            <a:spLocks/>
          </p:cNvSpPr>
          <p:nvPr/>
        </p:nvSpPr>
        <p:spPr bwMode="auto">
          <a:xfrm>
            <a:off x="7872832" y="4038879"/>
            <a:ext cx="2325844" cy="507300"/>
          </a:xfrm>
          <a:prstGeom prst="borderCallout2">
            <a:avLst>
              <a:gd name="adj1" fmla="val 49561"/>
              <a:gd name="adj2" fmla="val -244"/>
              <a:gd name="adj3" fmla="val 49562"/>
              <a:gd name="adj4" fmla="val -11037"/>
              <a:gd name="adj5" fmla="val -32533"/>
              <a:gd name="adj6" fmla="val -23994"/>
            </a:avLst>
          </a:prstGeom>
          <a:solidFill>
            <a:srgbClr val="FF9933"/>
          </a:solidFill>
          <a:ln w="9525">
            <a:solidFill>
              <a:srgbClr val="FF9933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Physical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parts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should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be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processed and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send back to Japan factories from the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3PL</a:t>
            </a:r>
            <a:r>
              <a:rPr kumimoji="0" lang="ja-JP" altLang="en-US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warehouse following </a:t>
            </a:r>
            <a:r>
              <a:rPr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G</a:t>
            </a:r>
            <a:r>
              <a:rPr kumimoji="0" lang="en-US" altLang="ja-JP" sz="900" err="1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enpo’s</a:t>
            </a:r>
            <a:r>
              <a:rPr kumimoji="0" lang="en-US" altLang="ja-JP" sz="900">
                <a:solidFill>
                  <a:srgbClr val="2D2D2D"/>
                </a:solidFill>
                <a:ea typeface="Meiryo" panose="020B0604030504040204" pitchFamily="50" charset="-128"/>
                <a:cs typeface="Arial"/>
              </a:rPr>
              <a:t> instructions.</a:t>
            </a:r>
            <a:endParaRPr kumimoji="0" lang="ja-JP" altLang="en-US" sz="900">
              <a:solidFill>
                <a:srgbClr val="2D2D2D"/>
              </a:solidFill>
              <a:ea typeface="Meiryo" panose="020B0604030504040204" pitchFamily="50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542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8g5qOBltwpsxTu8qYHWM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VY4RmKCQiOOEtc0M4Foh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R3yMV7KxNt6ewhOvkI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jGCgVoK7anpLMB10WPQy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.7F5ObCGCVJUIjkfx5er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8y0fQjRgZAM13q3ai4S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lpGnlKmiqQHDA1HNLFBU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NepMNhnyogT9mnzoOafU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NepMNhnyogT9mnzoOafU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U7ZvUHS7yK6yiHtNo1Jq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_DyJG3pot8TrmeiQf9e6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NepMNhnyogT9mnzoOafU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lSxXxElBgDEk6SihmfF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_DyJG3pot8TrmeiQf9e6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I209TOqUHlG08DrslgF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L_PPT_16X9_JPN_Internal_Use_Only_printfriendly_20160601">
  <a:themeElements>
    <a:clrScheme name="TEL　Brand　color">
      <a:dk1>
        <a:srgbClr val="2D2D2D"/>
      </a:dk1>
      <a:lt1>
        <a:srgbClr val="FFFFFF"/>
      </a:lt1>
      <a:dk2>
        <a:srgbClr val="EEDC00"/>
      </a:dk2>
      <a:lt2>
        <a:srgbClr val="F4F4F4"/>
      </a:lt2>
      <a:accent1>
        <a:srgbClr val="00A9E0"/>
      </a:accent1>
      <a:accent2>
        <a:srgbClr val="8031A7"/>
      </a:accent2>
      <a:accent3>
        <a:srgbClr val="78BE20"/>
      </a:accent3>
      <a:accent4>
        <a:srgbClr val="FF6A13"/>
      </a:accent4>
      <a:accent5>
        <a:srgbClr val="00B2A9"/>
      </a:accent5>
      <a:accent6>
        <a:srgbClr val="DA1884"/>
      </a:accent6>
      <a:hlink>
        <a:srgbClr val="00A9E0"/>
      </a:hlink>
      <a:folHlink>
        <a:srgbClr val="A7A8AA"/>
      </a:folHlink>
    </a:clrScheme>
    <a:fontScheme name="Eteris">
      <a:majorFont>
        <a:latin typeface="Arial"/>
        <a:ea typeface="Meiryo"/>
        <a:cs typeface="Arial"/>
        <a:font script="Jpan" typeface="Meiryo"/>
        <a:font script="Hang" typeface="Gulim"/>
        <a:font script="Hans" typeface="SimSun"/>
        <a:font script="Hant" typeface="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Meiryo"/>
        <a:cs typeface="Arial"/>
        <a:font script="Jpan" typeface="Meiryo"/>
        <a:font script="Hang" typeface="Gulim"/>
        <a:font script="Hans" typeface="SimSun"/>
        <a:font script="Hant" typeface="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200"/>
        </a:defPPr>
      </a:lstStyle>
    </a:txDef>
  </a:objectDefaults>
  <a:extraClrSchemeLst/>
  <a:custClrLst>
    <a:custClr name="R89 | G73 | B167">
      <a:srgbClr val="5949A7"/>
    </a:custClr>
    <a:custClr name="R142 | G208 | B24">
      <a:srgbClr val="8ED018"/>
    </a:custClr>
    <a:custClr name="R20 | G123 | B209">
      <a:srgbClr val="147BD1"/>
    </a:custClr>
    <a:custClr name="R29 | G181 | B223">
      <a:srgbClr val="1DB5DF"/>
    </a:custClr>
    <a:custClr name="R143 | G214 | B189">
      <a:srgbClr val="8FD6BD"/>
    </a:custClr>
    <a:custClr name="R152 | G29 | B151">
      <a:srgbClr val="981D97"/>
    </a:custClr>
    <a:custClr name="R206 | G0 | B88">
      <a:srgbClr val="CE0058"/>
    </a:custClr>
    <a:custClr name="R242 | G131 | B8">
      <a:srgbClr val="F28308"/>
    </a:custClr>
    <a:custClr name="R242 | G193 | B12">
      <a:srgbClr val="F2C10C"/>
    </a:custClr>
    <a:custClr name="R32 | G21 | B71">
      <a:srgbClr val="201547"/>
    </a:custClr>
    <a:custClr name="R255 | G255 | B255">
      <a:srgbClr val="FFFFFF"/>
    </a:custClr>
    <a:custClr name="R218 | G220 | B222">
      <a:srgbClr val="DADCDE"/>
    </a:custClr>
    <a:custClr name="R181 | G184 | B189">
      <a:srgbClr val="B5B8BD"/>
    </a:custClr>
    <a:custClr name="R144 | G149 | B156">
      <a:srgbClr val="90959C"/>
    </a:custClr>
    <a:custClr name="R75 | G79 | B84">
      <a:srgbClr val="4B4F54"/>
    </a:custClr>
    <a:custClr name="R0 | G0 | B0">
      <a:srgbClr val="000000"/>
    </a:custClr>
  </a:custClrLst>
  <a:extLst>
    <a:ext uri="{05A4C25C-085E-4340-85A3-A5531E510DB2}">
      <thm15:themeFamily xmlns:thm15="http://schemas.microsoft.com/office/thememl/2012/main" name="TEL_PPT_16X9_JPN_Internal_Use_Only_printfriendly_20180710.potx" id="{05EAD425-2088-498F-880A-3AB92304DA5C}" vid="{87983160-C9D4-418A-8E48-308585235465}"/>
    </a:ext>
  </a:extLst>
</a:theme>
</file>

<file path=ppt/theme/theme2.xml><?xml version="1.0" encoding="utf-8"?>
<a:theme xmlns:a="http://schemas.openxmlformats.org/drawingml/2006/main" name="TEL_PPT_16X9_ENG_Internal_Use_Only_20241001">
  <a:themeElements>
    <a:clrScheme name="TEL　Brand　color">
      <a:dk1>
        <a:srgbClr val="2D2D2D"/>
      </a:dk1>
      <a:lt1>
        <a:srgbClr val="FFFFFF"/>
      </a:lt1>
      <a:dk2>
        <a:srgbClr val="EEDC00"/>
      </a:dk2>
      <a:lt2>
        <a:srgbClr val="F4F4F4"/>
      </a:lt2>
      <a:accent1>
        <a:srgbClr val="00A9E0"/>
      </a:accent1>
      <a:accent2>
        <a:srgbClr val="8031A7"/>
      </a:accent2>
      <a:accent3>
        <a:srgbClr val="78BE20"/>
      </a:accent3>
      <a:accent4>
        <a:srgbClr val="FF6A13"/>
      </a:accent4>
      <a:accent5>
        <a:srgbClr val="00B2A9"/>
      </a:accent5>
      <a:accent6>
        <a:srgbClr val="DA1884"/>
      </a:accent6>
      <a:hlink>
        <a:srgbClr val="00A9E0"/>
      </a:hlink>
      <a:folHlink>
        <a:srgbClr val="A7A8AA"/>
      </a:folHlink>
    </a:clrScheme>
    <a:fontScheme name="Eteris">
      <a:majorFont>
        <a:latin typeface="Arial"/>
        <a:ea typeface="Meiryo"/>
        <a:cs typeface="Arial"/>
        <a:font script="Jpan" typeface="Meiryo"/>
        <a:font script="Hang" typeface="Gulim"/>
        <a:font script="Hans" typeface="SimSun"/>
        <a:font script="Hant" typeface="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Meiryo"/>
        <a:cs typeface="Arial"/>
        <a:font script="Jpan" typeface="Meiryo"/>
        <a:font script="Hang" typeface="Gulim"/>
        <a:font script="Hans" typeface="SimSun"/>
        <a:font script="Hant" typeface="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200"/>
        </a:defPPr>
      </a:lstStyle>
    </a:txDef>
  </a:objectDefaults>
  <a:extraClrSchemeLst/>
  <a:extLst>
    <a:ext uri="{05A4C25C-085E-4340-85A3-A5531E510DB2}">
      <thm15:themeFamily xmlns:thm15="http://schemas.microsoft.com/office/thememl/2012/main" name="TEL_PPT_16X9_ENG_Internal_Use_Only_20230329" id="{C87D2601-BE6F-4C22-BA4B-EED28BCE45B5}" vid="{4EBA53CF-E6B9-4987-83C9-02B51CD60181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F5518FDB9C2374C9C2BB86E323A0DC4" ma:contentTypeVersion="12" ma:contentTypeDescription="新しいドキュメントを作成します。" ma:contentTypeScope="" ma:versionID="3f52000c307af9b510d9886ba1bd9aef">
  <xsd:schema xmlns:xsd="http://www.w3.org/2001/XMLSchema" xmlns:xs="http://www.w3.org/2001/XMLSchema" xmlns:p="http://schemas.microsoft.com/office/2006/metadata/properties" xmlns:ns2="8907c2f0-85f4-4fa0-987e-898746e6f7da" xmlns:ns3="8e2438cc-215f-47f9-8d0a-75040c603be8" targetNamespace="http://schemas.microsoft.com/office/2006/metadata/properties" ma:root="true" ma:fieldsID="ed225fb5409c1f4342c2e94f000764bd" ns2:_="" ns3:_="">
    <xsd:import namespace="8907c2f0-85f4-4fa0-987e-898746e6f7da"/>
    <xsd:import namespace="8e2438cc-215f-47f9-8d0a-75040c603b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07c2f0-85f4-4fa0-987e-898746e6f7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6f75f885-7f83-43b7-b208-8b483c8a98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438cc-215f-47f9-8d0a-75040c603be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aca69c2-c4f9-4475-ad62-8d3ea2f374d7}" ma:internalName="TaxCatchAll" ma:showField="CatchAllData" ma:web="8e2438cc-215f-47f9-8d0a-75040c603b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07c2f0-85f4-4fa0-987e-898746e6f7da">
      <Terms xmlns="http://schemas.microsoft.com/office/infopath/2007/PartnerControls"/>
    </lcf76f155ced4ddcb4097134ff3c332f>
    <TaxCatchAll xmlns="8e2438cc-215f-47f9-8d0a-75040c603be8" xsi:nil="true"/>
  </documentManagement>
</p:properties>
</file>

<file path=customXml/itemProps1.xml><?xml version="1.0" encoding="utf-8"?>
<ds:datastoreItem xmlns:ds="http://schemas.openxmlformats.org/officeDocument/2006/customXml" ds:itemID="{06995BE6-D5A0-4A8B-9714-FEBB924F5D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61F0583-DB06-41EA-BDE1-66BFE12757CF}">
  <ds:schemaRefs>
    <ds:schemaRef ds:uri="8907c2f0-85f4-4fa0-987e-898746e6f7da"/>
    <ds:schemaRef ds:uri="8e2438cc-215f-47f9-8d0a-75040c603b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5162C63-B3F2-47AD-994F-E39DF90A40ED}">
  <ds:schemaRefs>
    <ds:schemaRef ds:uri="8907c2f0-85f4-4fa0-987e-898746e6f7da"/>
    <ds:schemaRef ds:uri="8e2438cc-215f-47f9-8d0a-75040c603be8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5982</Words>
  <Application>Microsoft Office PowerPoint</Application>
  <PresentationFormat>와이드스크린</PresentationFormat>
  <Paragraphs>1457</Paragraphs>
  <Slides>36</Slides>
  <Notes>9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36</vt:i4>
      </vt:variant>
    </vt:vector>
  </HeadingPairs>
  <TitlesOfParts>
    <vt:vector size="46" baseType="lpstr">
      <vt:lpstr>Meiryo</vt:lpstr>
      <vt:lpstr>Meiryo</vt:lpstr>
      <vt:lpstr>Meiryo UI</vt:lpstr>
      <vt:lpstr>Yu Gothic</vt:lpstr>
      <vt:lpstr>Arial</vt:lpstr>
      <vt:lpstr>Wingdings</vt:lpstr>
      <vt:lpstr>TEL_PPT_16X9_JPN_Internal_Use_Only_printfriendly_20160601</vt:lpstr>
      <vt:lpstr>TEL_PPT_16X9_ENG_Internal_Use_Only_20241001</vt:lpstr>
      <vt:lpstr>think-cell スライド</vt:lpstr>
      <vt:lpstr>think-cell Slide</vt:lpstr>
      <vt:lpstr>Parts Traceability Concept and Requests for GENPO</vt:lpstr>
      <vt:lpstr>PowerPoint 프레젠테이션</vt:lpstr>
      <vt:lpstr>Agenda</vt:lpstr>
      <vt:lpstr>Concept and Roadmap</vt:lpstr>
      <vt:lpstr>Purpose of Parts Traceability</vt:lpstr>
      <vt:lpstr>What Can be Achieved through Traceability System</vt:lpstr>
      <vt:lpstr>Traceability System (To-Be Image)</vt:lpstr>
      <vt:lpstr>PowerPoint 프레젠테이션</vt:lpstr>
      <vt:lpstr>PowerPoint 프레젠테이션</vt:lpstr>
      <vt:lpstr>Step 1/2 Traceability System Collaboration Overview</vt:lpstr>
      <vt:lpstr>Traceability System(Tracing App) Themes to be Covered</vt:lpstr>
      <vt:lpstr>PowerPoint 프레젠테이션</vt:lpstr>
      <vt:lpstr>How to Manage Tracing Parts</vt:lpstr>
      <vt:lpstr>What Kind of Parts Will be Traced (Overview)</vt:lpstr>
      <vt:lpstr>How to Manage Tracing Parts</vt:lpstr>
      <vt:lpstr>How to Manage Tracing Parts</vt:lpstr>
      <vt:lpstr>Business Operation Requirements</vt:lpstr>
      <vt:lpstr>Overview of Operational Changes</vt:lpstr>
      <vt:lpstr>Overview of Operational Changes</vt:lpstr>
      <vt:lpstr>(Recap) How to Manage Tracing Parts</vt:lpstr>
      <vt:lpstr>A: Keeping Track of Spare Parts Subject to S/N Mgmt. (3PL)</vt:lpstr>
      <vt:lpstr>B: Shelf-life Parts Mgmt. (3PL)</vt:lpstr>
      <vt:lpstr>C: Traceability Indicators (SN Profile &amp; Shelf-life) Linkage to 3PL system</vt:lpstr>
      <vt:lpstr>PowerPoint 프레젠테이션</vt:lpstr>
      <vt:lpstr>PowerPoint 프레젠테이션</vt:lpstr>
      <vt:lpstr>Traceability Construction Project Structure (April 1, 2025)</vt:lpstr>
      <vt:lpstr>トレーサビリティ構築プロジェクト体制(2025/4/1)</vt:lpstr>
      <vt:lpstr>トレーサビリティで実現したいこと</vt:lpstr>
      <vt:lpstr>トレーサビリティシステム (TO-BEイメージ)</vt:lpstr>
      <vt:lpstr>PowerPoint 프레젠테이션</vt:lpstr>
      <vt:lpstr>PowerPoint 프레젠테이션</vt:lpstr>
      <vt:lpstr>トレーサビリティシステム(照会アプリ) 想定ユースケース　</vt:lpstr>
      <vt:lpstr>Step1/2トレーサビリティシステム　連携全体像</vt:lpstr>
      <vt:lpstr>PowerPoint 프레젠테이션</vt:lpstr>
      <vt:lpstr>SD2002_Inventory management Inventory Shelf-Life (SLED/BBD) Check (1/2)</vt:lpstr>
      <vt:lpstr>SD2002_Inventory management Inventory Shelf-Life (SLED/BBD) Check (2/2)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TEL BIP Kusakabe, Atsuko</dc:creator>
  <cp:lastModifiedBy>TEK IS Baek, Seungkwan</cp:lastModifiedBy>
  <cp:revision>6</cp:revision>
  <dcterms:created xsi:type="dcterms:W3CDTF">2025-04-14T02:23:54Z</dcterms:created>
  <dcterms:modified xsi:type="dcterms:W3CDTF">2025-04-18T08:12:03Z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0x010100CF5518FDB9C2374C9C2BB86E323A0DC4</vt:lpwstr>
  </property>
  <property fmtid="{D5CDD505-2E9C-101B-9397-08002B2CF9AE}" pid="3" name="MediaServiceImageTags">
    <vt:lpwstr/>
  </property>
</Properties>
</file>